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58"/>
    <p:restoredTop sz="83518"/>
  </p:normalViewPr>
  <p:slideViewPr>
    <p:cSldViewPr snapToGrid="0">
      <p:cViewPr varScale="1">
        <p:scale>
          <a:sx n="104" d="100"/>
          <a:sy n="104" d="100"/>
        </p:scale>
        <p:origin x="7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0:35</a:t>
            </a:r>
            <a:br>
              <a:rPr dirty="0"/>
            </a:br>
            <a:r>
              <a:rPr b="1" dirty="0"/>
              <a:t>Move On At:</a:t>
            </a:r>
            <a:r>
              <a:rPr dirty="0"/>
              <a:t> 0:35</a:t>
            </a:r>
          </a:p>
          <a:p>
            <a:r>
              <a:rPr dirty="0"/>
              <a:t>Good afternoon. I am Dennis Berger, and this defense presents my master thesis on newline-only transcription alignment for historical and modern documents with vision-language models.</a:t>
            </a:r>
          </a:p>
          <a:p>
            <a:endParaRPr dirty="0"/>
          </a:p>
          <a:p>
            <a:r>
              <a:rPr dirty="0"/>
              <a:t>The central task is seemingly trivial. The transcription is already available, and the system should recover the line breaks without changing any non-newline character. So this is an alignment task, not OCR or HTR.</a:t>
            </a:r>
          </a:p>
          <a:p>
            <a:endParaRPr dirty="0"/>
          </a:p>
          <a:p>
            <a:r>
              <a:rPr dirty="0"/>
              <a:t>I first motivate why line-level alignment matters. Then I explain the research questions, datasets, methods, and metrics. After that I show the main results, explain how fixed-transcription validity is enforced, compare the best evaluated VLM setup with NNTP, and close with the main limitations and future work.</a:t>
            </a:r>
          </a:p>
          <a:p>
            <a:endParaRPr dirty="0"/>
          </a:p>
          <a:p>
            <a:r>
              <a:rPr dirty="0"/>
              <a:t>Transition: I start with the problem that motivates the task.</a:t>
            </a:r>
          </a:p>
          <a:p>
            <a:endParaRPr dirty="0"/>
          </a:p>
          <a:p>
            <a:r>
              <a:rPr dirty="0"/>
              <a:t>Optional: A useful way to keep the whole talk in mind is: the text is trusted, but the line structure has to be recovered.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1:25</a:t>
            </a:r>
            <a:br>
              <a:rPr dirty="0"/>
            </a:br>
            <a:r>
              <a:rPr b="1" dirty="0"/>
              <a:t>Move On At:</a:t>
            </a:r>
            <a:r>
              <a:rPr dirty="0"/>
              <a:t> 2:00</a:t>
            </a:r>
          </a:p>
          <a:p>
            <a:r>
              <a:rPr dirty="0"/>
              <a:t>This slide shows the basic problem &amp; motivation.</a:t>
            </a:r>
          </a:p>
          <a:p>
            <a:r>
              <a:rPr dirty="0"/>
              <a:t>On the left, we have a manuscript crop with four visible text lines. On the right, the same text appears in two forms.</a:t>
            </a:r>
          </a:p>
          <a:p>
            <a:r>
              <a:rPr dirty="0"/>
              <a:t>The page-level transcription keeps the words and their order, but it removes the local connection to the page. It does not tell us which span of text belongs to line 1, line 2, line 3, or line 4.</a:t>
            </a:r>
          </a:p>
          <a:p>
            <a:r>
              <a:rPr dirty="0"/>
              <a:t>The aligned line transcription adds back exactly that structure. The text is the same fixed transcription, but newline characters are inserted so that the transcription can be read line by line against the image.</a:t>
            </a:r>
          </a:p>
          <a:p>
            <a:r>
              <a:rPr dirty="0"/>
              <a:t>This matters because line boundaries connect text back to evidence. For humanities work, this helps someone inspect a phrase on the manuscript page, check a reading, or understand where a line wraps. For computer-science workflows, it helps create line-image and line-text pairs for training, validation, and error analysis.</a:t>
            </a:r>
          </a:p>
          <a:p>
            <a:r>
              <a:rPr dirty="0"/>
              <a:t>The important constraint is that the task is not to recognize the text again. The characters are already supplied. The system only decides where newline boundaries should be inserted.</a:t>
            </a:r>
          </a:p>
          <a:p>
            <a:r>
              <a:rPr dirty="0"/>
              <a:t>Transition: once the task is defined as alignment rather than recognition, the next question is why VLMs are useful, and why they need control.</a:t>
            </a:r>
          </a:p>
          <a:p>
            <a:r>
              <a:rPr dirty="0"/>
              <a:t>Optional: This is why line alignment is not just formatting. If the same character stream is attached to the wrong visual line, local inspection and line-level evaluation become unreliable.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1:15</a:t>
            </a:r>
            <a:br>
              <a:rPr dirty="0"/>
            </a:br>
            <a:r>
              <a:rPr b="1" dirty="0"/>
              <a:t>Move On At:</a:t>
            </a:r>
            <a:r>
              <a:rPr dirty="0"/>
              <a:t> 3:15</a:t>
            </a:r>
          </a:p>
          <a:p>
            <a:r>
              <a:rPr dirty="0"/>
              <a:t>This slide explains the rationale for using VLMs.</a:t>
            </a:r>
          </a:p>
          <a:p>
            <a:pPr marL="0" indent="0" algn="l">
              <a:lnSpc>
                <a:spcPct val="100000"/>
              </a:lnSpc>
              <a:spcBef>
                <a:spcPts val="0"/>
              </a:spcBef>
              <a:spcAft>
                <a:spcPts val="0"/>
              </a:spcAft>
              <a:buNone/>
            </a:pPr>
            <a:r>
              <a:rPr dirty="0"/>
              <a:t>The opportunity is that with VLMs. Instead of training a separate aligner for every dataset and evidence combination, a general VLM can be tested across different input setups without training.</a:t>
            </a:r>
          </a:p>
          <a:p>
            <a:r>
              <a:rPr dirty="0"/>
              <a:t>A second reason is practical. VLMs can combine different evidence types in one setup. They can receive the page image, line crops, OCR or HTR hints, and the fixed transcription. That is useful because line placement can depend on both layout and text.</a:t>
            </a:r>
          </a:p>
          <a:p>
            <a:r>
              <a:rPr dirty="0"/>
              <a:t>For example, the page image may show where line breaks occur visually, while OCR or HTR hints may provide a rough line order, and the fixed transcription provides the trusted character sequence.</a:t>
            </a:r>
          </a:p>
          <a:p>
            <a:r>
              <a:rPr dirty="0"/>
              <a:t>But the challenge is validity. A generative model may omit text, normalize spelling, add words, or copy an OCR error. In an open transcription task, those would be recognition errors. In this task, they are constraint violations, because the fixed transcription must not be rewritten.</a:t>
            </a:r>
          </a:p>
          <a:p>
            <a:r>
              <a:rPr dirty="0"/>
              <a:t>That is why the structured methods do not trust copied model text as final content. The model can provide boundary hints, but the final output has to be validated and projected back onto the supplied transcription.</a:t>
            </a:r>
          </a:p>
          <a:p>
            <a:r>
              <a:rPr dirty="0"/>
              <a:t>So the thesis evaluates input combinations together with output-control setups, not only model names.</a:t>
            </a:r>
          </a:p>
          <a:p>
            <a:r>
              <a:rPr dirty="0"/>
              <a:t>Transition: these design tensions lead to the research questions.</a:t>
            </a:r>
          </a:p>
          <a:p>
            <a:endParaRPr dirty="0"/>
          </a:p>
          <a:p>
            <a:r>
              <a:rPr dirty="0"/>
              <a:t>Optional: The key distinction is between using the model as a source of text and using the model as a source of boundary evidence. The structured methods aim for the second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1:10</a:t>
            </a:r>
            <a:br>
              <a:rPr dirty="0"/>
            </a:br>
            <a:r>
              <a:rPr b="1" dirty="0"/>
              <a:t>Move On At:</a:t>
            </a:r>
            <a:r>
              <a:rPr dirty="0"/>
              <a:t> 4:25</a:t>
            </a:r>
          </a:p>
          <a:p>
            <a:r>
              <a:rPr dirty="0"/>
              <a:t>This slide structures the defense around three research questions.</a:t>
            </a:r>
          </a:p>
          <a:p>
            <a:r>
              <a:rPr dirty="0"/>
              <a:t>RQ1 asks which input and method variants improve newline-boundary accuracy for fixed transcriptions. In other words, given the same trusted text, what evidence helps us place line breaks correctly?</a:t>
            </a:r>
          </a:p>
          <a:p>
            <a:r>
              <a:rPr dirty="0"/>
              <a:t>RQ2 asks how generated outputs can be constrained so the fixed transcription is preserved. This is necessary because raw model output can look plausible while still changing the text. The thesis therefore evaluates repair, recovery, fallback, and projection as part of the structured output path.</a:t>
            </a:r>
          </a:p>
          <a:p>
            <a:r>
              <a:rPr dirty="0"/>
              <a:t>RQ3 asks how the highest-scoring evaluated VLM setup compares with NNTP, the deterministic forced-alignment reference. I present output validity before the NNTP comparison because we first need to understand what the VLM output actually is. In M5, the final scored output is not raw copied model text. It is a projected boundary plan over the fixed transcription.</a:t>
            </a:r>
          </a:p>
          <a:p>
            <a:r>
              <a:rPr dirty="0"/>
              <a:t>The contribution row summarizes the thesis: a newline-only protocol and benchmark, a comparison of input and method variants, a structured output-control path, projection that preserves the fixed transcription when successful, and a comparison with NNTP.</a:t>
            </a:r>
          </a:p>
          <a:p>
            <a:r>
              <a:rPr dirty="0"/>
              <a:t>Transition: before explaining the methods, I define the datasets used for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1:10</a:t>
            </a:r>
            <a:br>
              <a:rPr dirty="0"/>
            </a:br>
            <a:r>
              <a:rPr b="1" dirty="0"/>
              <a:t>Move On At:</a:t>
            </a:r>
            <a:r>
              <a:rPr dirty="0"/>
              <a:t> 5:35</a:t>
            </a:r>
          </a:p>
          <a:p>
            <a:r>
              <a:rPr dirty="0"/>
              <a:t>This slide shows the evaluation portfolio.</a:t>
            </a:r>
          </a:p>
          <a:p>
            <a:r>
              <a:rPr dirty="0"/>
              <a:t>The main evaluation is handwritten-first and covers four datasets.</a:t>
            </a:r>
          </a:p>
          <a:p>
            <a:r>
              <a:rPr dirty="0"/>
              <a:t>Bullinger is historical correspondence. It is linguistically diverse, including Latin, premodern German, and multilingual material. It has 59 samples, 100 pages, 2,535 lines, and about 134,000 characters. It is the largest and most difficult handwritten dataset in the main result story.</a:t>
            </a:r>
          </a:p>
          <a:p>
            <a:r>
              <a:rPr dirty="0"/>
              <a:t>Children is German child handwriting. It contributes a different handwriting style, a different writer population, and modern German material. The slide reports 63 pages, 394 lines, and about 10,000 characters.</a:t>
            </a:r>
          </a:p>
          <a:p>
            <a:r>
              <a:rPr dirty="0"/>
              <a:t>IAM is modern English handwriting. It acts as a public benchmark anchor and is more regular than the historical datasets. Here the thesis uses 20 pages or forms, with 180 lines and about 7,600 characters.</a:t>
            </a:r>
          </a:p>
          <a:p>
            <a:r>
              <a:rPr dirty="0"/>
              <a:t>Washington is historical English manuscript material. It has 20 pages, 656 lines, and about 26,000 characters. It adds another historical setting, but with a different language and page style from Bullinger.</a:t>
            </a:r>
          </a:p>
          <a:p>
            <a:r>
              <a:rPr dirty="0"/>
              <a:t>At the bottom are the supporting printed-context datasets: Bullinger Print and IAM Print. These are part of the thesis, but they are secondary context. They were evaluated for M1 to M3 only, not for the full M1 to M5 plus NNTP comparison.</a:t>
            </a:r>
          </a:p>
          <a:p>
            <a:r>
              <a:rPr dirty="0"/>
              <a:t>The reason for this portfolio is diversity: language, period, handwriting style, document type, and difficulty. Newline placement is not the same problem across all these document types.</a:t>
            </a:r>
          </a:p>
          <a:p>
            <a:r>
              <a:rPr dirty="0"/>
              <a:t>Transition: with the data scope defined, I now explain the evaluated methods.</a:t>
            </a:r>
          </a:p>
          <a:p>
            <a:endParaRPr dirty="0"/>
          </a:p>
          <a:p>
            <a:r>
              <a:rPr dirty="0"/>
              <a:t>Optional: The known-count caveat later is connected to this data staging: the structured methods use stored line metadata in the handwritten setup, so they test boundary assignment under available line evidence, not blind page segmentation.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1:55</a:t>
            </a:r>
            <a:br>
              <a:rPr dirty="0"/>
            </a:br>
            <a:r>
              <a:rPr b="1" dirty="0"/>
              <a:t>Move On At:</a:t>
            </a:r>
            <a:r>
              <a:rPr dirty="0"/>
              <a:t> 7:30</a:t>
            </a:r>
          </a:p>
          <a:p>
            <a:r>
              <a:rPr dirty="0"/>
              <a:t>This slide is the method map, and the result claims later should be read as claims about these complete setups.</a:t>
            </a:r>
          </a:p>
          <a:p>
            <a:r>
              <a:rPr dirty="0"/>
              <a:t>The first group is M1 to M3. These are raw-output LLM or VLM setups. The model is asked to return the line-broken transcription directly, and that raw returned text is scored.</a:t>
            </a:r>
          </a:p>
          <a:p>
            <a:r>
              <a:rPr dirty="0"/>
              <a:t>M1 receives page images plus the fixed transcription. The reason for M1 is to test whether the model can infer line breaks from visual layout while preserving the supplied text.</a:t>
            </a:r>
          </a:p>
          <a:p>
            <a:r>
              <a:rPr dirty="0"/>
              <a:t>M2 adds OCR or HTR hints. The reason for M2 is that OCR or HTR may expose rough line order or line breaks. But it is only a structural hint, not a replacement transcription.</a:t>
            </a:r>
          </a:p>
          <a:p>
            <a:r>
              <a:rPr dirty="0"/>
              <a:t>M3 removes the image and uses OCR or HTR text plus the fixed transcription. This tests how much line structure is already recoverable from the recognized text hint alone, without visual correction.</a:t>
            </a:r>
          </a:p>
          <a:p>
            <a:r>
              <a:rPr dirty="0"/>
              <a:t>The second group is M4 and M5. These change the output path. Instead of scoring raw copied text, they ask for strict JSON with a list of lines, validate the line count, and project the selected boundary plan back onto the fixed transcription.</a:t>
            </a:r>
          </a:p>
          <a:p>
            <a:r>
              <a:rPr dirty="0"/>
              <a:t>M4 uses an ordered OCR-line scaffold, the expected line count, and the fixed transcription. It adds strict JSON, repair or fallback, and projection.</a:t>
            </a:r>
          </a:p>
          <a:p>
            <a:r>
              <a:rPr dirty="0"/>
              <a:t>M5 is the richest evaluated VLM setup. It uses ordered line crops, OCR or HTR line text, page context, the expected line count, and the fixed transcription. It also uses strict JSON, repair, recovery, fallback, and projection.</a:t>
            </a:r>
          </a:p>
          <a:p>
            <a:r>
              <a:rPr dirty="0"/>
              <a:t>The model list shows that this was not only one provider. The evaluated landscape includes OpenAI, Gemini, Qwen3-VL, and Mistral configurations. But the thesis does not claim an intrinsic model leaderboard. The comparison is about complete configurations.</a:t>
            </a:r>
          </a:p>
          <a:p>
            <a:r>
              <a:rPr dirty="0"/>
              <a:t>NNTP is separate. It is the deterministic non-prompt reference. It uses line images, recognizer evidence, and the fixed transcription to perform forced alignment. It does not freely generate new text.</a:t>
            </a:r>
          </a:p>
          <a:p>
            <a:r>
              <a:rPr dirty="0"/>
              <a:t>The key interpretation is that M5 combines several ingredients. So when I say M5 performs best among the evaluated VLM setups, that is a configuration-level statement, not proof that one isolated component caused the whole gain.</a:t>
            </a:r>
          </a:p>
          <a:p>
            <a:endParaRPr dirty="0"/>
          </a:p>
          <a:p>
            <a:r>
              <a:rPr dirty="0"/>
              <a:t>Transition: to evaluate these methods, the metric has to measure line structure, not only character correctness.</a:t>
            </a:r>
          </a:p>
          <a:p>
            <a:r>
              <a:rPr dirty="0"/>
              <a:t>Optional: The reason for choosing M1 to M5 is that they separate two design axes. M1 to M3 vary the evidence under weak control. M4 and M5 add structured output and projection. NNTP then anchors the comparison against a deterministic forced-alignment family.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2:00</a:t>
            </a:r>
            <a:br>
              <a:rPr dirty="0"/>
            </a:br>
            <a:r>
              <a:rPr b="1" dirty="0"/>
              <a:t>Move On At:</a:t>
            </a:r>
            <a:r>
              <a:rPr dirty="0"/>
              <a:t> 9:30</a:t>
            </a:r>
          </a:p>
          <a:p>
            <a:r>
              <a:rPr dirty="0"/>
              <a:t>This slide explains the metric calculation with a example.</a:t>
            </a:r>
          </a:p>
          <a:p>
            <a:r>
              <a:rPr dirty="0"/>
              <a:t>The ground truth has four lines: Alpha, Beta, Gamma, Delta. The prediction has three lines because Alpha and Beta are merged into one line. Gamma and Delta remain correct.</a:t>
            </a:r>
          </a:p>
          <a:p>
            <a:r>
              <a:rPr dirty="0"/>
              <a:t>After whitespace normalization, both full texts are identical: Alpha Beta Gamma Delta. That is why the character and word metrics are zero-error here. </a:t>
            </a:r>
            <a:r>
              <a:rPr dirty="0" err="1"/>
              <a:t>CERnorm</a:t>
            </a:r>
            <a:r>
              <a:rPr dirty="0"/>
              <a:t> is zero, and </a:t>
            </a:r>
            <a:r>
              <a:rPr dirty="0" err="1"/>
              <a:t>WERnorm</a:t>
            </a:r>
            <a:r>
              <a:rPr dirty="0"/>
              <a:t> is zero.</a:t>
            </a:r>
          </a:p>
          <a:p>
            <a:endParaRPr dirty="0"/>
          </a:p>
          <a:p>
            <a:r>
              <a:rPr dirty="0"/>
              <a:t>But the structure is wrong, because one newline boundary is missing.</a:t>
            </a:r>
          </a:p>
          <a:p>
            <a:r>
              <a:rPr dirty="0"/>
              <a:t>The table shows how the line metrics capture this.</a:t>
            </a:r>
          </a:p>
          <a:p>
            <a:r>
              <a:rPr dirty="0"/>
              <a:t>For forward LA, we compare the sequences from the top. The first ground-truth line is Alpha, but the first predicted line is Alpha Beta. That does not match. After that, the sequence is shifted, so there are no top-down exact matches. LA forward is 0 divided by 4, so 0.000.</a:t>
            </a:r>
          </a:p>
          <a:p>
            <a:r>
              <a:rPr dirty="0"/>
              <a:t>For reverse LA, we compare from the bottom. Delta matches Delta, and Gamma matches Gamma. So two of the four ground-truth positions are recovered from the end. LA reverse is 2 divided by 4, so 0.500.</a:t>
            </a:r>
          </a:p>
          <a:p>
            <a:r>
              <a:rPr dirty="0" err="1"/>
              <a:t>LAnorm</a:t>
            </a:r>
            <a:r>
              <a:rPr dirty="0"/>
              <a:t>± averages these two views. So it is 0 plus 0.500, divided by 2, which gives 0.250.</a:t>
            </a:r>
          </a:p>
          <a:p>
            <a:r>
              <a:rPr dirty="0"/>
              <a:t>F1_line is a supporting exact-line metric. It ignores order more than LA does and asks which complete normalized line strings occur. Here Gamma and Delta are exact matched lines. Precision is 2 out of 3 predicted lines, recall is 2 out of 4 ground-truth lines, and the resulting F1 is 0.571.</a:t>
            </a:r>
          </a:p>
          <a:p>
            <a:r>
              <a:rPr dirty="0"/>
              <a:t>Forward and reverse LA are both useful because line-boundary errors often shift the sequence. A boundary error near the top can make the forward score harsh even if the tail realigns; the reverse score captures that tail recovery. The combined score gives a more balanced view of structural alignment.</a:t>
            </a:r>
          </a:p>
          <a:p>
            <a:r>
              <a:rPr dirty="0"/>
              <a:t>Transition: with the metric defined, I can now show the main method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answers RQ1, which input variants improve Line Accuracy the most. Each small chart is one handwritten dataset, and the metric is </a:t>
            </a:r>
            <a:r>
              <a:rPr dirty="0" err="1"/>
              <a:t>LAnorm</a:t>
            </a:r>
            <a:r>
              <a:rPr dirty="0"/>
              <a:t>±. Higher is better.</a:t>
            </a:r>
          </a:p>
          <a:p>
            <a:r>
              <a:rPr dirty="0"/>
              <a:t>One important clarification before reading the numbers: this is a combined method-level visual. For each dataset and method, the bar shows the best observed score across the evaluated model configurations. So this slide summarizes the best result achieved by each method design, not a single fixed-model run.</a:t>
            </a:r>
          </a:p>
          <a:p>
            <a:r>
              <a:rPr dirty="0"/>
              <a:t>The main pattern is that M5 is highest-scoring among the evaluated LLM/VLM methods on all four handwritten datasets.</a:t>
            </a:r>
          </a:p>
          <a:p>
            <a:r>
              <a:rPr dirty="0"/>
              <a:t>On Bullinger, the raw methods are low: M1 is 0.300, M2 is 0.120, and M3 is 0.297. M4 improves to 0.406, but M5 jumps to 0.843. This is the largest separation on the slide. A safe interpretation is that Bullinger is a difficult historical correspondence setting where richer line-level evidence and stronger output control are especially valuable.</a:t>
            </a:r>
          </a:p>
          <a:p>
            <a:r>
              <a:rPr dirty="0"/>
              <a:t>On Children, the scores are higher from the start. M1 is 0.872, M2 is 0.777, M3 is 0.859, and M4 is 0.822. M5 improves to 0.948. So M5 still wins, but the gain is smaller because several earlier configurations already recover much of the line structure.</a:t>
            </a:r>
          </a:p>
          <a:p>
            <a:r>
              <a:rPr dirty="0"/>
              <a:t>On IAM, M3 is already very strong at 0.948, and M5 reaches 1.000. This is consistent with IAM being a more regular modern handwriting setting where OCR or HTR lineation can already provide a strong structural cue.</a:t>
            </a:r>
          </a:p>
          <a:p>
            <a:r>
              <a:rPr dirty="0"/>
              <a:t>On Washington, the progression is M1 at 0.653, M2 at 0.711, M3 at 0.817, M4 at 0.883, and M5 at 0.980. Here the structured and context-rich setup also performs very well.</a:t>
            </a:r>
          </a:p>
          <a:p>
            <a:r>
              <a:rPr dirty="0"/>
              <a:t>The bottom sentence is important: this is not a monotonic component ablation. M1 through M4 do not always improve step by step. The defensible claim is that M5, as a complete evaluated setup, is highest-scoring across these handwritten datasets, while intermediate methods are dataset-dependent.</a:t>
            </a:r>
          </a:p>
          <a:p>
            <a:r>
              <a:rPr dirty="0"/>
              <a:t>Transition: the next slide expands this from method averages to model-and-method configurations.</a:t>
            </a:r>
          </a:p>
          <a:p>
            <a:r>
              <a:rPr dirty="0"/>
              <a:t>Optional: The failure-mode appendix helps explain this non-monotonicity. For example, OCR hints can help but can also mislead; structured output can improve validity but still follow a flawed scaffold; and M5 is strong overall but not an every-sample winner.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1:40</a:t>
            </a:r>
            <a:br>
              <a:rPr dirty="0"/>
            </a:br>
            <a:r>
              <a:rPr b="1" dirty="0"/>
              <a:t>Move On At:</a:t>
            </a:r>
            <a:r>
              <a:rPr dirty="0"/>
              <a:t> 12:45</a:t>
            </a:r>
          </a:p>
          <a:p>
            <a:r>
              <a:rPr dirty="0"/>
              <a:t>This slide is intentionally dense, so I will not read it row by row. I use it as an audit slide: it shows whether the M5 result is only a single summary artifact, or whether it remains visible across model and method configurations.</a:t>
            </a:r>
          </a:p>
          <a:p>
            <a:r>
              <a:rPr dirty="0"/>
              <a:t>First, how to read the table. Each row is a model-and-method configuration. “Cov” means how many of the four headline handwritten datasets are represented. “Mean” is an unweighted average over the represented cells. The dataset columns are Bullinger, Children, IAM, and Washington. Dashes mean missing or ineligible values; they are not filled in or treated as zero.</a:t>
            </a:r>
          </a:p>
          <a:p>
            <a:r>
              <a:rPr dirty="0"/>
              <a:t>The first important point is the complete four-dataset block. These rows are the fairest rows for a full handwritten comparison. In that block, GPT-5.4-0305 with M5 has the highest mean, 0.940. This is important because it means the M5 result is not only a cross-model maximum; even when the model is fixed to GPT-5.4 for M1 to M5, M5 remains highest. The same fixed-model comparison also shows that the path is not monotonic: GPT M3 has a mean of 0.730, GPT M4 has 0.705, and then GPT M5 jumps to 0.940. So structured output alone is not automatically enough; the full M5 configuration matters.</a:t>
            </a:r>
          </a:p>
          <a:p>
            <a:r>
              <a:rPr dirty="0"/>
              <a:t>The second interesting point is provider dependence. Gemini-2.5-Pro with M5 is the second complete M5 row, with a mean of 0.786. It is almost perfect on IAM, 0.992, and strong on Washington, 0.883, but much lower on Bullinger, 0.423. That suggests that M5 as a method design is useful, but the model and dataset still interact strongly. It is not only the method label that determines the result.</a:t>
            </a:r>
          </a:p>
          <a:p>
            <a:r>
              <a:rPr dirty="0"/>
              <a:t>The third point is dataset dependence. IAM is comparatively easy for several configurations: GPT M3 already reaches 0.948, and GPT M5 reaches 1.000. That supports the interpretation that, on this subset, the OCR or HTR lineation already carries a lot of the line structure. Bullinger is the opposite. Most raw and intermediate rows are much lower there, and GPT M5 is the only complete row that is very high on Bullinger, at 0.843. So Bullinger is the dataset that most clearly separates the context-rich structured setup from the weaker configurations.</a:t>
            </a:r>
          </a:p>
          <a:p>
            <a:r>
              <a:rPr dirty="0"/>
              <a:t>The fourth point is that local or open-weight rows are not simply weak. Qwen3-VL-32B with M5 is a partial-coverage row, but it is very strong where it is represented: its mean over Children, IAM, and Washington is 0.962. On Washington specifically, it reaches 0.980, which is the highest VLM value shown for Washington on this table, above GPT M5 at 0.970 and Mistral M5 at 0.957. But because the Bullinger row is incomplete, it must stay in the partial-coverage block, not in the complete ranking.</a:t>
            </a:r>
          </a:p>
          <a:p>
            <a:r>
              <a:rPr dirty="0"/>
              <a:t>The fifth point is that NNTP is very strong, but it is a different kind of row. It has a three-dataset mean of 0.976 over Children, IAM, and Washington, with 1.000 on IAM and 0.990 on Washington. That prepares the next comparison slide. But it is not a complete four-dataset LLM/VLM row, and Bullinger has to be handled separately through the published-reference comparison.</a:t>
            </a:r>
          </a:p>
          <a:p>
            <a:r>
              <a:rPr dirty="0"/>
              <a:t>So the main message of this slide is not a universal model leaderboard. The table shows three things: M5 is the strongest complete evaluated LLM/VLM configuration, the same conclusion holds under the fixed GPT-5.4 comparison, and partial rows reveal interesting context — especially Qwen on Washington and NNTP on the three matched datasets — but they should not be ranked as if all four datasets were present.</a:t>
            </a:r>
          </a:p>
          <a:p>
            <a:r>
              <a:rPr dirty="0"/>
              <a:t>Transition: after this accuracy audit, I now move to validity: how the structured methods preserve the fixed </a:t>
            </a:r>
            <a:r>
              <a:rPr dirty="0" err="1"/>
              <a:t>transcription.Transition</a:t>
            </a:r>
            <a:r>
              <a:rPr dirty="0"/>
              <a:t>: after the accuracy results, I now explain output validity: how the structured methods preserve the fixed transcription.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2:00</a:t>
            </a:r>
            <a:br>
              <a:rPr dirty="0"/>
            </a:br>
            <a:r>
              <a:rPr b="1" dirty="0"/>
              <a:t>Move On At:</a:t>
            </a:r>
            <a:r>
              <a:rPr dirty="0"/>
              <a:t> 14:45</a:t>
            </a:r>
          </a:p>
          <a:p>
            <a:r>
              <a:rPr dirty="0"/>
              <a:t>This slide answers RQ2: how generated outputs can be constrained so the fixed transcription is preserved.</a:t>
            </a:r>
          </a:p>
          <a:p>
            <a:r>
              <a:rPr dirty="0"/>
              <a:t>I start with the workflow at the top. First, the model is asked for strict JSON. For M4 and M5, the response should contain a list of lines, and that list has to have exactly the expected number of lines. The expected count comes from stored ordered line metadata.</a:t>
            </a:r>
          </a:p>
          <a:p>
            <a:r>
              <a:rPr dirty="0"/>
              <a:t>If parsing fails, or if the line count is wrong, the system tries repair. Repair is one additional structured prompt using the previous response and the error information. The goal is to obtain a valid exact-count line list.</a:t>
            </a:r>
          </a:p>
          <a:p>
            <a:r>
              <a:rPr dirty="0"/>
              <a:t>If there is still no usable plan, M5 can use recovery or fallback. Recovery means extracting useful loose line strings from a response that did not satisfy strict JSON, and reconciling them with the expected structure where possible. Fallback means using a deterministic backup plan, for example from ordered OCR-line hints or another exact-count scaffold, when no usable model plan remains.</a:t>
            </a:r>
          </a:p>
          <a:p>
            <a:r>
              <a:rPr dirty="0"/>
              <a:t>Then comes projection, which is the preservation step. The selected line hints are treated as boundary evidence, not as final content.</a:t>
            </a:r>
          </a:p>
          <a:p>
            <a:r>
              <a:rPr dirty="0"/>
              <a:t>The example on the left shows why this matters. The model hint contains “</a:t>
            </a:r>
            <a:r>
              <a:rPr dirty="0" err="1"/>
              <a:t>Caplain</a:t>
            </a:r>
            <a:r>
              <a:rPr dirty="0"/>
              <a:t>”, but the fixed transcription contains “Captain”. If the system copied the model text, it would change the transcription and violate the task. Instead, the system uses the hint to infer where the boundary should go, and then slices the original fixed transcription at the projected boundary.</a:t>
            </a:r>
          </a:p>
          <a:p>
            <a:r>
              <a:rPr dirty="0"/>
              <a:t>So the boundary comes from the hint, but the characters come from the fixed text. The final output keeps “Captain” and inserts the line break before “John Mercer”.</a:t>
            </a:r>
          </a:p>
          <a:p>
            <a:r>
              <a:rPr dirty="0"/>
              <a:t>Mechanically, projection uses the candidate hint lines to define cumulative boundary offsets. Those offsets are mapped monotonically back to the untouched transcription using matching text anchors and interpolation. Then the original transcription is re-sliced at those projected offsets.</a:t>
            </a:r>
          </a:p>
          <a:p>
            <a:r>
              <a:rPr dirty="0"/>
              <a:t>The numbers on the right are validity diagnostics. The M5 trace audit reports 0 out of 162 final failures. Raw M1 to M3 rows have a mean absolute line-count drift of 8.195 over 1,660 rows, while structured M4 to M5 rows have 0.059 over 973 rows.</a:t>
            </a:r>
          </a:p>
          <a:p>
            <a:r>
              <a:rPr dirty="0"/>
              <a:t>The requirement at the bottom is essential: M4 and M5 validate against stored line counts. So this supports known-count boundary assignment and fixed-transcription preservation. It does not claim blind page-side line-count prediction.</a:t>
            </a:r>
          </a:p>
          <a:p>
            <a:endParaRPr dirty="0"/>
          </a:p>
          <a:p>
            <a:r>
              <a:rPr dirty="0"/>
              <a:t>Transition: now that the M5 output is defined as a projected boundary plan, I can compare it with NNTP.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1:45</a:t>
            </a:r>
            <a:br>
              <a:rPr dirty="0"/>
            </a:br>
            <a:r>
              <a:rPr b="1" dirty="0"/>
              <a:t>Move On At:</a:t>
            </a:r>
            <a:r>
              <a:rPr dirty="0"/>
              <a:t> 16:30</a:t>
            </a:r>
          </a:p>
          <a:p>
            <a:endParaRPr dirty="0"/>
          </a:p>
          <a:p>
            <a:r>
              <a:rPr dirty="0"/>
              <a:t>This slide answers RQ3: how the highest-scoring evaluated VLM setup compares with a determinist reference.</a:t>
            </a:r>
          </a:p>
          <a:p>
            <a:r>
              <a:rPr dirty="0"/>
              <a:t>The table compares M5 with NNTP or the published NNTP reference. For Children, IAM, and Washington, the metric is </a:t>
            </a:r>
            <a:r>
              <a:rPr dirty="0" err="1"/>
              <a:t>LAnorm</a:t>
            </a:r>
            <a:r>
              <a:rPr dirty="0"/>
              <a:t>±. For the Bullinger subset rows, the metric is raw LA forward, because those rows use the published Bullinger NNTP reference.</a:t>
            </a:r>
          </a:p>
          <a:p>
            <a:r>
              <a:rPr dirty="0"/>
              <a:t>On Children, M5 is 0.948 and NNTP is 0.939, so the difference is plus 0.009 in favor of M5. The paired counts are 4 M5 wins, 2 NNTP wins, and 57 ties. So the dataset-level difference is small, and most samples are tied.</a:t>
            </a:r>
          </a:p>
          <a:p>
            <a:endParaRPr dirty="0"/>
          </a:p>
          <a:p>
            <a:r>
              <a:rPr dirty="0"/>
              <a:t>On IAM, both methods reach 1.000. The paired counts are 0, 0, and 20, meaning all 20 cases are ties.</a:t>
            </a:r>
          </a:p>
          <a:p>
            <a:endParaRPr dirty="0"/>
          </a:p>
          <a:p>
            <a:r>
              <a:rPr dirty="0"/>
              <a:t>On Washington, M5 is 0.980 and NNTP is 0.990, so the difference is minus 0.009, slightly favoring NNTP. The paired counts are 2 M5 wins, 4 NNTP wins, and 14 ties. Again, the comparison is dominated by ties.</a:t>
            </a:r>
          </a:p>
          <a:p>
            <a:endParaRPr dirty="0"/>
          </a:p>
          <a:p>
            <a:r>
              <a:rPr dirty="0"/>
              <a:t>Bullinger is separate. Subset 1 is the direct published comparison. M5 is 0.821, and published NNTP is 0.861, so NNTP is higher there. Subset 2 is contextual because the inventories differ. M5 is 0.865 and published NNTP is 0.773, but this should not be treated as a full-dataset winner claim.</a:t>
            </a:r>
          </a:p>
          <a:p>
            <a:endParaRPr dirty="0"/>
          </a:p>
          <a:p>
            <a:r>
              <a:rPr dirty="0"/>
              <a:t>The careful interpretation is the sentence at the bottom: M5 is close to an established deterministic reference.</a:t>
            </a:r>
          </a:p>
          <a:p>
            <a:endParaRPr dirty="0"/>
          </a:p>
          <a:p>
            <a:r>
              <a:rPr dirty="0"/>
              <a:t>For the “why”, the safest explanation is that M5 and NNTP use different evidence and have different failure modes. M5 uses line crops, OCR or HTR line text, page context, model reasoning, and projection. That can help when visual context and textual context together disambiguate a local boundary. NNTP uses recognizer-derived CTC evidence and deterministic forced alignment, so it can be very strong when recognizer evidence fits the fixed transcription well.</a:t>
            </a:r>
          </a:p>
          <a:p>
            <a:endParaRPr dirty="0"/>
          </a:p>
          <a:p>
            <a:r>
              <a:rPr dirty="0"/>
              <a:t>So one method can be better on one dataset and slightly worse on another without contradiction. The supported conclusion is close, tie-dominated, and dataset-dependent, not universal dominance by either paradigm.</a:t>
            </a:r>
          </a:p>
          <a:p>
            <a:endParaRPr dirty="0"/>
          </a:p>
          <a:p>
            <a:r>
              <a:rPr dirty="0"/>
              <a:t>Transition: the next slide shows why line structure matters even when the character stream looks perfect.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1:05</a:t>
            </a:r>
            <a:br>
              <a:rPr dirty="0"/>
            </a:br>
            <a:r>
              <a:rPr b="1" dirty="0"/>
              <a:t>Move On At:</a:t>
            </a:r>
            <a:r>
              <a:rPr dirty="0"/>
              <a:t> 17:35</a:t>
            </a:r>
          </a:p>
          <a:p>
            <a:r>
              <a:rPr dirty="0"/>
              <a:t>This example makes the metric story concrete.</a:t>
            </a:r>
          </a:p>
          <a:p>
            <a:endParaRPr dirty="0"/>
          </a:p>
          <a:p>
            <a:r>
              <a:rPr dirty="0"/>
              <a:t>The ground truth is from Washington 304. The first line is the header: “304. Letters Orders and Instructions. December 1755.” The second line starts with “be sure of </a:t>
            </a:r>
            <a:r>
              <a:rPr dirty="0" err="1"/>
              <a:t>idemnity</a:t>
            </a:r>
            <a:r>
              <a:rPr dirty="0"/>
              <a:t>.”</a:t>
            </a:r>
          </a:p>
          <a:p>
            <a:endParaRPr dirty="0"/>
          </a:p>
          <a:p>
            <a:r>
              <a:rPr dirty="0"/>
              <a:t>In the M3 prediction, the normalized CER is 0.000. So after normalization, the character stream is correct. But structurally, the first boundary is wrong. The word “be” is attached to the header line. That shifts the following line sequence, and </a:t>
            </a:r>
            <a:r>
              <a:rPr dirty="0" err="1"/>
              <a:t>LAnorm</a:t>
            </a:r>
            <a:r>
              <a:rPr dirty="0"/>
              <a:t>± drops to 0.338.</a:t>
            </a:r>
          </a:p>
          <a:p>
            <a:endParaRPr dirty="0"/>
          </a:p>
          <a:p>
            <a:r>
              <a:rPr dirty="0"/>
              <a:t>In the M5 prediction, the same character stream is preserved, but the line break after “December 1755.” is restored. The second line starts where it should. That gives </a:t>
            </a:r>
            <a:r>
              <a:rPr dirty="0" err="1"/>
              <a:t>LAnorm</a:t>
            </a:r>
            <a:r>
              <a:rPr dirty="0"/>
              <a:t>± of 1.000 in this example.</a:t>
            </a:r>
          </a:p>
          <a:p>
            <a:endParaRPr dirty="0"/>
          </a:p>
          <a:p>
            <a:r>
              <a:rPr dirty="0"/>
              <a:t>This slide illustrates why CER alone is not enough. A prediction can preserve all characters and still be poor for line-level alignment. The real target is not text recognition; it is the boundary structure over known text.</a:t>
            </a:r>
          </a:p>
          <a:p>
            <a:endParaRPr dirty="0"/>
          </a:p>
          <a:p>
            <a:r>
              <a:rPr dirty="0"/>
              <a:t>Transition: I now summarize what the thesis establishes and where the limits 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1:20</a:t>
            </a:r>
            <a:br>
              <a:rPr dirty="0"/>
            </a:br>
            <a:r>
              <a:rPr b="1" dirty="0"/>
              <a:t>Move On At:</a:t>
            </a:r>
            <a:r>
              <a:rPr dirty="0"/>
              <a:t> 18:55</a:t>
            </a:r>
          </a:p>
          <a:p>
            <a:endParaRPr dirty="0"/>
          </a:p>
          <a:p>
            <a:r>
              <a:rPr dirty="0"/>
              <a:t>The conclusion is organized into three columns.</a:t>
            </a:r>
          </a:p>
          <a:p>
            <a:endParaRPr dirty="0"/>
          </a:p>
          <a:p>
            <a:r>
              <a:rPr dirty="0"/>
              <a:t>The first column is what the thesis establishes within scope. It establishes newline-only alignment as boundary prediction over fixed text. It shows that M5 is the highest-scoring evaluated LLM/VLM setup on the main handwritten results. And it shows that output control is central, because prompt-only output is not enough to guarantee fixed-transcription validity.</a:t>
            </a:r>
          </a:p>
          <a:p>
            <a:endParaRPr dirty="0"/>
          </a:p>
          <a:p>
            <a:r>
              <a:rPr dirty="0"/>
              <a:t>The second column gives the limits. First, the NNTP comparison is close and dataset-dependent. The thesis does not claim that M5 universally beats NNTP. It claims that M5 is competitive with a strong deterministic reference.</a:t>
            </a:r>
          </a:p>
          <a:p>
            <a:endParaRPr dirty="0"/>
          </a:p>
          <a:p>
            <a:r>
              <a:rPr dirty="0"/>
              <a:t>Second, the structured setting is known-count. M4 and M5 validate against stored expected line counts, so the structured results are about boundary assignment under reliable line metadata, not blind line-count prediction.</a:t>
            </a:r>
          </a:p>
          <a:p>
            <a:endParaRPr dirty="0"/>
          </a:p>
          <a:p>
            <a:r>
              <a:rPr dirty="0"/>
              <a:t>Third, the evidence is configuration-level. M5 combines line crops, OCR or HTR line text, page context, expected count, strict JSON, repair, recovery, fallback, and projection. The thesis does not isolate the causal effect of each component.</a:t>
            </a:r>
          </a:p>
          <a:p>
            <a:endParaRPr dirty="0"/>
          </a:p>
          <a:p>
            <a:r>
              <a:rPr dirty="0"/>
              <a:t>The final column lists natural future work: blind line-count or segmentation settings, component-level isolation, and direct boundary prediction or constrained decoding over the fixed transcription.</a:t>
            </a:r>
          </a:p>
          <a:p>
            <a:endParaRPr dirty="0"/>
          </a:p>
          <a:p>
            <a:r>
              <a:rPr dirty="0"/>
              <a:t>Transition: I close with the main takeaway.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Target Time:</a:t>
            </a:r>
            <a:r>
              <a:rPr dirty="0"/>
              <a:t> 1:05</a:t>
            </a:r>
            <a:br>
              <a:rPr dirty="0"/>
            </a:br>
            <a:r>
              <a:rPr b="1" dirty="0"/>
              <a:t>Move On At:</a:t>
            </a:r>
            <a:r>
              <a:rPr dirty="0"/>
              <a:t> 20:00</a:t>
            </a:r>
          </a:p>
          <a:p>
            <a:r>
              <a:rPr dirty="0"/>
              <a:t>The final takeaway is that newline-only alignment should not be treated as only a prompt asking a model to copy text and add line breaks.</a:t>
            </a:r>
          </a:p>
          <a:p>
            <a:r>
              <a:rPr dirty="0"/>
              <a:t>The first point is that VLMs can use line-level visual evidence for newline-only alignment. In the evaluated handwritten setting, the context-rich M5 setup shows that visual line crops, OCR or HTR line text, page context, and the fixed transcription can be combined effectively.</a:t>
            </a:r>
          </a:p>
          <a:p>
            <a:r>
              <a:rPr dirty="0"/>
              <a:t>The second point is that output control is what makes the result valid under fixed transcription. The model can propose boundary hints, but the final scored output must preserve the supplied character stream. That is why repair, recovery, fallback, and especially projection are central to the thesis.</a:t>
            </a:r>
          </a:p>
          <a:p>
            <a:r>
              <a:rPr dirty="0"/>
              <a:t>The third point is that the highest-scoring evaluated VLM setup is competitive with NNTP. The comparison is close and dataset-dependent, so the thesis does not claim universal VLM superiority. But it does show that a controlled VLM-based pipeline can be a strong alternative to a deterministic forced-alignment reference in this newline-only setting.</a:t>
            </a:r>
          </a:p>
          <a:p>
            <a:r>
              <a:rPr dirty="0"/>
              <a:t>So the main takeaway is this: when the transcription is already trusted, the real task is not to generate the text again, but to recover its line structure in a controlled way. This thesis shows that vision-language models can contribute to that task — not as unconstrained transcribers, but as sources of boundary evidence that can be validated and projected. </a:t>
            </a:r>
            <a:br>
              <a:rPr dirty="0"/>
            </a:br>
            <a:r>
              <a:rPr dirty="0"/>
              <a:t>Thank you, and I am happy to take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the committee asks for the formal task definition.</a:t>
            </a:r>
          </a:p>
          <a:p>
            <a:r>
              <a:rPr dirty="0"/>
              <a:t>The supplied transcription is fixed. A valid prediction is any string that becomes the original transcription again after newline characters are removed.</a:t>
            </a:r>
          </a:p>
          <a:p>
            <a:r>
              <a:rPr dirty="0"/>
              <a:t>In boundary-vector terms, the method chooses admissible insertion positions between existing characters. It does not edit, normalize, or re-recognize the character sequence.</a:t>
            </a:r>
          </a:p>
          <a:p>
            <a:r>
              <a:rPr dirty="0"/>
              <a:t>This is also the boundary between the thesis task and OCR/HTR. OCR and HTR evidence may help decide where line breaks should go, but the evaluated target for M1-M5 is newline-only alignment over the supplied transcription.</a:t>
            </a:r>
          </a:p>
          <a:p>
            <a:r>
              <a:rPr dirty="0"/>
              <a:t>Transition: If the question is about denominators, move to the dataset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asked about denominators, snapshots, or dataset naming.</a:t>
            </a:r>
          </a:p>
          <a:p>
            <a:r>
              <a:rPr dirty="0"/>
              <a:t>The headline handwritten datasets are Bullinger Handwritten, Children Handwritten, IAM Handwritten, and Washington Handwritten. The submitted-thesis counts are 59 Bullinger handwritten samples, 63 Children samples, 20 IAM handwritten forms or pages, and 20 Washington pages.</a:t>
            </a:r>
          </a:p>
          <a:p>
            <a:r>
              <a:rPr dirty="0"/>
              <a:t>The printed Bullinger and IAM rows are supporting printed context, not a second full evaluation track.</a:t>
            </a:r>
          </a:p>
          <a:p>
            <a:r>
              <a:rPr dirty="0"/>
              <a:t>Older </a:t>
            </a:r>
            <a:r>
              <a:rPr dirty="0" err="1"/>
              <a:t>easy_historical</a:t>
            </a:r>
            <a:r>
              <a:rPr dirty="0"/>
              <a:t> artifacts should not be silently treated as the current Washington Handwritten result. The snapshot or aliasing decision has to be named explicitly.</a:t>
            </a:r>
          </a:p>
          <a:p>
            <a:r>
              <a:rPr dirty="0"/>
              <a:t>Transition: If the question is about method inputs, move to the full method cards.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asked exactly what each method sees and what gets scored.</a:t>
            </a:r>
          </a:p>
          <a:p>
            <a:r>
              <a:rPr dirty="0"/>
              <a:t>M1-M3 score raw returned text, so copied-text drift remains part of the prediction. M4 and M5 score projected boundary plans selected from accepted, repaired, recovered, or fallback hints.</a:t>
            </a:r>
          </a:p>
          <a:p>
            <a:r>
              <a:rPr dirty="0"/>
              <a:t>M5 is a combined configuration. It uses ordered line crops, OCR/HTR line text, page context, expected line count, strict JSON, repair or recovery, fallback, and projection. The thesis does not isolate one ingredient as the cause of the gain.</a:t>
            </a:r>
          </a:p>
          <a:p>
            <a:r>
              <a:rPr dirty="0"/>
              <a:t>NNTP is a separate deterministic forced-alignment reference. It filters labels to the active </a:t>
            </a:r>
            <a:r>
              <a:rPr dirty="0" err="1"/>
              <a:t>PyLaia</a:t>
            </a:r>
            <a:r>
              <a:rPr dirty="0"/>
              <a:t> symbol inventory before alignment, so line-level comparisons are the cleanest shared surface and character-level comparability keeps that preprocessing caveat.</a:t>
            </a:r>
          </a:p>
          <a:p>
            <a:r>
              <a:rPr dirty="0"/>
              <a:t>Transition: If the question is about scoring, move to the metric definition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Q&amp;A slide, not part of the main timing.</a:t>
            </a:r>
          </a:p>
          <a:p>
            <a:endParaRPr dirty="0"/>
          </a:p>
          <a:p>
            <a:r>
              <a:rPr dirty="0"/>
              <a:t>Failure mechanisms differ by method because the scored object differs. M1-M3 score raw returned text, so copy drift and line-count drift remain part of the prediction. M4 and M5 score projected boundary plans, so their failures are more often scaffold, projection, repair/fallback, or local-boundary issues rather than free text rewriting. M5 remains the strongest evaluated setup, but these examples show why it is not perfect and why component-level isolation remains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Q&amp;A note for M1. This is a raw-generation failure: the character stream is almost intact after the opening omission, but the line sequence shifts from the start. The displayed text windows are read from retained ground-truth and prediction files in the canonical handwritten results release.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Q&amp;A note for M2. This is why OCR/HTR is described as a noisy structural hint rather than monotonic additional information. The displayed text windows are read from retained ground-truth and prediction files in the canonical handwritten results release.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Q&amp;A note for M3. M3 can preserve the fixed transcription while still inheriting structural lineation errors because no image-side evidence remains to adjudicate the boundary. The displayed text windows are read from retained ground-truth and prediction files in the canonical handwritten results release.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Q&amp;A note for M4. This illustrates that JSON validity and count control improve form, but a locally flawed OCR-line scaffold can still place boundaries incorrectly. The displayed text windows are read from retained ground-truth and prediction files in the canonical handwritten results release.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Appendix Q&amp;A note for M5. This keeps M5 framed as the highest-scoring evaluated configuration, not as an every-sample winner or a causal component proof. The displayed text windows are read from retained ground-truth and prediction files in the canonical handwritten results release.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asked about the metric stack or formulas.</a:t>
            </a:r>
          </a:p>
          <a:p>
            <a:r>
              <a:rPr dirty="0"/>
              <a:t>Forward line accuracy compares the predicted and ground-truth line sequences from the beginning after padding to the same number of lines. Reverse line accuracy makes the same comparison from the end. </a:t>
            </a:r>
            <a:r>
              <a:rPr dirty="0" err="1"/>
              <a:t>LAnorm</a:t>
            </a:r>
            <a:r>
              <a:rPr dirty="0"/>
              <a:t>+/- is the average of the normalized forward and reverse scores.</a:t>
            </a:r>
          </a:p>
          <a:p>
            <a:r>
              <a:rPr dirty="0"/>
              <a:t>Exact-line precision, recall, and F1 use multiset matching over complete normalized line strings. This is useful for checking whether line strings occur somewhere, but it is order-insensitive.</a:t>
            </a:r>
          </a:p>
          <a:p>
            <a:r>
              <a:rPr dirty="0"/>
              <a:t>CER and WER use </a:t>
            </a:r>
            <a:r>
              <a:rPr dirty="0" err="1"/>
              <a:t>Levenshtein</a:t>
            </a:r>
            <a:r>
              <a:rPr dirty="0"/>
              <a:t> distance over characters or word tokens. In the thesis they are supporting diagnostics for content drift, especially in raw M1-M3 outputs.</a:t>
            </a:r>
          </a:p>
          <a:p>
            <a:r>
              <a:rPr dirty="0"/>
              <a:t>Keep raw and whitespace-normalized metrics separate. Normalized metrics are useful for line-structure evaluation under minor spacing variation, while raw metrics expose strict formatting and copying behavior.</a:t>
            </a:r>
          </a:p>
          <a:p>
            <a:r>
              <a:rPr dirty="0"/>
              <a:t>Transition: If the question is about printed material, move to the printed-context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this appendix slide if asked how the printed rows compare to handwriting.</a:t>
            </a:r>
          </a:p>
          <a:p>
            <a:endParaRPr dirty="0"/>
          </a:p>
          <a:p>
            <a:r>
              <a:rPr dirty="0"/>
              <a:t>The handwritten values here are not the main handwritten benchmark rows. They are restricted support slices that correspond to the printed context rows: Bullinger uses the same 10 shared IDs, and IAM uses the paired 30 a01-* forms.</a:t>
            </a:r>
          </a:p>
          <a:p>
            <a:endParaRPr dirty="0"/>
          </a:p>
          <a:p>
            <a:r>
              <a:rPr dirty="0"/>
              <a:t>The metric is whitespace-normalized combined line accuracy, </a:t>
            </a:r>
            <a:r>
              <a:rPr dirty="0" err="1"/>
              <a:t>LAnorm</a:t>
            </a:r>
            <a:r>
              <a:rPr dirty="0"/>
              <a:t>+/-. It averages the forward and reverse normalized line accuracy macro rows and is rounded to three decimals.</a:t>
            </a:r>
          </a:p>
          <a:p>
            <a:endParaRPr dirty="0"/>
          </a:p>
          <a:p>
            <a:r>
              <a:rPr dirty="0"/>
              <a:t>The pattern is diagnostic. Bullinger print is higher than the matched handwritten support slice for M1, M2, and M3, but Bullinger print M3 is still weak compared with M1 and M2. IAM is strong in both modalities: the handwritten support slice is higher for M1 and M2, while print is higher for M3.</a:t>
            </a:r>
          </a:p>
          <a:p>
            <a:endParaRPr dirty="0"/>
          </a:p>
          <a:p>
            <a:r>
              <a:rPr dirty="0"/>
              <a:t>Important caveat: printed context was evaluated only for M1-M3. There are no printed M4, M5, or NNTP rows, so this slide should not be used as a full-method comparison or as a replacement for the headline handwritten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asked about prompting examples.</a:t>
            </a:r>
          </a:p>
          <a:p>
            <a:r>
              <a:rPr dirty="0"/>
              <a:t>The one-shot check was exploratory, early, and limited to M1-M3. It used one same-dataset example, with the deterministic example selection documented with seed 42.</a:t>
            </a:r>
          </a:p>
          <a:p>
            <a:r>
              <a:rPr dirty="0"/>
              <a:t>The result was mixed. GPT-5.2 changed by -0.042 on M1, -0.122 on M2, and +0.039 on M3. Qwen3-VL-8B changed by +0.037 on M1, +0.027 on M2, and +0.078 on M3.</a:t>
            </a:r>
          </a:p>
          <a:p>
            <a:r>
              <a:rPr dirty="0"/>
              <a:t>That is why the main experiments do not claim that one-shot prompting generally helps. The main claim stays with the evaluated M5 configuration and its output-control path.</a:t>
            </a:r>
          </a:p>
          <a:p>
            <a:r>
              <a:rPr dirty="0"/>
              <a:t>Transition: If the question is about Bullinger versus NNTP, move to the Bullinger subset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the Bullinger part of RQ2 needs unpacking.</a:t>
            </a:r>
          </a:p>
          <a:p>
            <a:r>
              <a:rPr dirty="0"/>
              <a:t>There is no matched thesis-side NNTP summary over the full 59-sample Bullinger denominator. The thesis therefore compares Bullinger against the published NNTP reference at subset level.</a:t>
            </a:r>
          </a:p>
          <a:p>
            <a:r>
              <a:rPr dirty="0"/>
              <a:t>Subset 1 is direct because the thesis-side and published inventories match at the letter and line level; published NNTP is higher there, with 0.861 versus M5 at 0.821 using raw forward line accuracy.</a:t>
            </a:r>
          </a:p>
          <a:p>
            <a:r>
              <a:rPr dirty="0"/>
              <a:t>Subset 2 is contextual because the inventories differ; thesis M5 is higher there, with 0.865 versus the published NNTP value of 0.773, but that should not be converted into a full-dataset winner claim.</a:t>
            </a:r>
          </a:p>
          <a:p>
            <a:r>
              <a:rPr dirty="0"/>
              <a:t>The careful wording is that Bullinger remains subset-level context for the overall NNTP comparison, and NNTP remains an important deterministic reference point.</a:t>
            </a:r>
          </a:p>
          <a:p>
            <a:r>
              <a:rPr dirty="0"/>
              <a:t>Transition: If the question is about output validity, move to the M5 trace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backup slide if the committee asks whether the M5 pattern still appears when the GPT-5.4 configuration is held fixed across M1-M5. This slide was removed from the main flow but retained as exact OpenAI-control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asked where the M5 trace counts come from.</a:t>
            </a:r>
          </a:p>
          <a:p>
            <a:r>
              <a:rPr dirty="0"/>
              <a:t>The trace audit covers all 162 handwritten samples. In 157 cases, the first strict JSON response already satisfied the expected line count. The remaining events are where repair, loose recovery, fallback, or projection paths were needed. Final failures and missing traces are zero in this audit layer.</a:t>
            </a:r>
          </a:p>
          <a:p>
            <a:r>
              <a:rPr dirty="0"/>
              <a:t>The event columns are flags, not mutually exclusive partitions. A sample can have more than one flag, so the columns should not be summed as if they were a disjoint breakdown.</a:t>
            </a:r>
          </a:p>
          <a:p>
            <a:r>
              <a:rPr dirty="0"/>
              <a:t>This evidence supports output validity for the archived M5 setup under known-count staging. It does not by itself isolate the causal effect of repair, recovery, fallback, projection, crop quality, or provider choice.</a:t>
            </a:r>
          </a:p>
          <a:p>
            <a:r>
              <a:rPr dirty="0"/>
              <a:t>Transition: if the question is about limits, move to the validity-boundaries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asked for limitations or threat boundaries.</a:t>
            </a:r>
          </a:p>
          <a:p>
            <a:r>
              <a:rPr dirty="0"/>
              <a:t>The central boundary is known-count staging for M4 and M5. The structured methods validate against stored line counts, so the result does not claim blind page-side line counting or segmentation.</a:t>
            </a:r>
          </a:p>
          <a:p>
            <a:r>
              <a:rPr dirty="0"/>
              <a:t>Other boundaries are model-configuration dependence, M1/M2 multi-page chunking, small or mismatched sample sets, mixed line-crop provenance, projection versus raw returned text, NNTP </a:t>
            </a:r>
            <a:r>
              <a:rPr dirty="0" err="1"/>
              <a:t>PyLaia</a:t>
            </a:r>
            <a:r>
              <a:rPr dirty="0"/>
              <a:t> symbol filtering, and missing deterministic scaffold ablations.</a:t>
            </a:r>
          </a:p>
          <a:p>
            <a:r>
              <a:rPr dirty="0"/>
              <a:t>Also keep the partial-run caveat visible: Bullinger Qwen3-VL-32B M5 context100 covers only 20 of 59 samples and is excluded from maxima and best-model claims.</a:t>
            </a:r>
          </a:p>
          <a:p>
            <a:r>
              <a:rPr dirty="0"/>
              <a:t>These limits define what the evidence supports: controlled newline-only benchmarking and a strong evaluated VLM configuration, not a universal best-system result or a component-isolated causal claim.</a:t>
            </a:r>
          </a:p>
          <a:p>
            <a:r>
              <a:rPr dirty="0"/>
              <a:t>Transition: If the question is about next steps, move to the future-work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connects the CTC</a:t>
            </a:r>
            <a:r>
              <a:rPr lang="de-CH" dirty="0"/>
              <a:t> (</a:t>
            </a:r>
            <a:r>
              <a:rPr lang="en-CH" b="1" dirty="0"/>
              <a:t>Connectionist Temporal Classification</a:t>
            </a:r>
            <a:r>
              <a:rPr lang="en-CH" dirty="0"/>
              <a:t>)</a:t>
            </a:r>
            <a:r>
              <a:rPr dirty="0"/>
              <a:t> recognizer visual to NNTP.</a:t>
            </a:r>
          </a:p>
          <a:p>
            <a:endParaRPr dirty="0"/>
          </a:p>
          <a:p>
            <a:r>
              <a:rPr dirty="0"/>
              <a:t>Start with the figure on the right. In the article the input is speech, but in this thesis we can read it as a handwritten line image scanned from left to right. The recognizer does not immediately output one final string. For each image time step, it gives probabilities over characters plus a blank symbol.</a:t>
            </a:r>
          </a:p>
          <a:p>
            <a:endParaRPr dirty="0"/>
          </a:p>
          <a:p>
            <a:r>
              <a:rPr dirty="0"/>
              <a:t>The CTC idea is that many different monotonic time-step paths can represent the same target text. Repeated labels are merged and blanks are removed. The CTC loss therefore sums the probability of all valid paths that collapse to the target text, and then takes the negative log of that total. This is why the recognizer can be trained without manually annotated character positions for every image column.</a:t>
            </a:r>
          </a:p>
          <a:p>
            <a:endParaRPr dirty="0"/>
          </a:p>
          <a:p>
            <a:r>
              <a:rPr dirty="0"/>
              <a:t>For NNTP, this CTC part is not the final answer. It is evidence. </a:t>
            </a:r>
            <a:r>
              <a:rPr dirty="0" err="1"/>
              <a:t>PyLaia</a:t>
            </a:r>
            <a:r>
              <a:rPr dirty="0"/>
              <a:t> produces character posterior probabilities for the ordered line images. The token-passing alignment then combines those probabilities with the machine-readable transcription.</a:t>
            </a:r>
          </a:p>
          <a:p>
            <a:endParaRPr dirty="0"/>
          </a:p>
          <a:p>
            <a:r>
              <a:rPr dirty="0"/>
              <a:t>The Bullinger paper describes the process in three steps. First, existing newlines are removed from the transcription, and the transcription is expanded into a CTC-style finite-state automaton with blank states. At the same time, the character probabilities from all line images and pages are concatenated in visual reading order.</a:t>
            </a:r>
          </a:p>
          <a:p>
            <a:endParaRPr dirty="0"/>
          </a:p>
          <a:p>
            <a:r>
              <a:rPr dirty="0"/>
              <a:t>Second, dynamic programming, implemented as token passing, finds the highest-probability path through that fixed transcription automaton. The text itself is not changed: NNTP cannot skip words, add characters, change characters, or swap text. It is choosing where the fixed characters best fit in the recognizer evidence.</a:t>
            </a:r>
          </a:p>
          <a:p>
            <a:endParaRPr dirty="0"/>
          </a:p>
          <a:p>
            <a:r>
              <a:rPr dirty="0"/>
              <a:t>Third, newline characters are inserted according to the line-image break positions in the optimal character sequence. That is the direct answer to how the line breaks are found: once the optimal path maps the fixed transcription onto the concatenated line-image probability sequence, the stored line-image boundaries tell us where to put the newlines.</a:t>
            </a:r>
          </a:p>
          <a:p>
            <a:endParaRPr dirty="0"/>
          </a:p>
          <a:p>
            <a:r>
              <a:rPr dirty="0"/>
              <a:t>So the short version is: CTC gives probabilistic character evidence over image time steps; NNTP uses that evidence for forced alignment of the fixed transcription and recovers newline boundaries from the line-image break positions.</a:t>
            </a:r>
          </a:p>
          <a:p>
            <a:endParaRPr dirty="0"/>
          </a:p>
          <a:p>
            <a:r>
              <a:rPr dirty="0"/>
              <a:t>One caveat for character-level comparisons is that NNTP uses the active </a:t>
            </a:r>
            <a:r>
              <a:rPr dirty="0" err="1"/>
              <a:t>PyLaia</a:t>
            </a:r>
            <a:r>
              <a:rPr dirty="0"/>
              <a:t> symbol table, so unsupported characters can be stripped before alignment.</a:t>
            </a:r>
          </a:p>
          <a:p>
            <a:endParaRPr dirty="0"/>
          </a:p>
          <a:p>
            <a:r>
              <a:rPr dirty="0"/>
              <a:t>Figure source: </a:t>
            </a:r>
            <a:r>
              <a:rPr dirty="0" err="1"/>
              <a:t>Hannun</a:t>
            </a:r>
            <a:r>
              <a:rPr dirty="0"/>
              <a:t>, Sequence Modeling with CTC, Distill, 2017, DOI 10.23915/distill.00008, CC-BY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the committee asks how repair, recovery, fallback, and projection differ.</a:t>
            </a:r>
          </a:p>
          <a:p>
            <a:r>
              <a:rPr dirty="0"/>
              <a:t>Repair is one extra structured prompt when strict JSON parsing or exact-count validation fails. Recovery means using a loose but still useful model line plan from a malformed or wrong-count response when it can be reconciled with the expected structure. Fallback means using deterministic line hints when no usable model plan remains.</a:t>
            </a:r>
          </a:p>
          <a:p>
            <a:r>
              <a:rPr dirty="0"/>
              <a:t>Projection is the final safety step. The model text is treated as boundary evidence, not final content. The pipeline records where the candidate line hints place boundaries, maps those offsets monotonically to the untouched fixed transcription, and then re-slices the supplied transcription.</a:t>
            </a:r>
          </a:p>
          <a:p>
            <a:r>
              <a:rPr dirty="0"/>
              <a:t>The example shows the consequence. The model hint writes "</a:t>
            </a:r>
            <a:r>
              <a:rPr dirty="0" err="1"/>
              <a:t>Caplain</a:t>
            </a:r>
            <a:r>
              <a:rPr dirty="0"/>
              <a:t>", but the fixed transcription has "Captain". Projection keeps the line break pattern and the final output uses the fixed text, including the real line break before "John Mercer".</a:t>
            </a:r>
          </a:p>
          <a:p>
            <a:r>
              <a:rPr dirty="0"/>
              <a:t>The caveat is unchanged: this works under known-count staging for M4 and M5, because the pipeline validates against a stored expected line 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a:t>
            </a:r>
          </a:p>
          <a:p>
            <a:r>
              <a:rPr dirty="0"/>
              <a:t>Use this slide if asked what should come next.</a:t>
            </a:r>
          </a:p>
          <a:p>
            <a:r>
              <a:rPr dirty="0"/>
              <a:t>The decisive next step is to move from configuration evidence to component evidence. That means testing blind line-count or segmentation settings, deterministic scaffold references, ablations of M5 components, dedicated boundary prediction, and constrained decoding instead of post-hoc projection.</a:t>
            </a:r>
          </a:p>
          <a:p>
            <a:r>
              <a:rPr dirty="0"/>
              <a:t>The core direction is to predict boundaries directly over the fixed transcription while reducing the amount of known-count and post-processing structure required around the model.</a:t>
            </a:r>
          </a:p>
          <a:p>
            <a:r>
              <a:rPr dirty="0"/>
              <a:t>Transition: If the discussion turns to likely defense questions, use the final appendix prompt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Q&amp;A prep note for Appendix A14.</a:t>
            </a:r>
          </a:p>
          <a:p>
            <a:endParaRPr dirty="0"/>
          </a:p>
          <a:p>
            <a:r>
              <a:rPr dirty="0"/>
              <a:t>Main conclusion:</a:t>
            </a:r>
          </a:p>
          <a:p>
            <a:r>
              <a:rPr dirty="0"/>
              <a:t>The artifacts support a close, tie-dominated, dataset-dependent interpretation. Children has 57 ties out of 63 matched cases, IAM has 20/20 ties, and Washington has 14 ties out of 20. The selected rows are clean examples, not representative causal ablations.</a:t>
            </a:r>
          </a:p>
          <a:p>
            <a:endParaRPr dirty="0"/>
          </a:p>
          <a:p>
            <a:r>
              <a:rPr dirty="0"/>
              <a:t>Observed mechanisms:</a:t>
            </a:r>
          </a:p>
          <a:p>
            <a:r>
              <a:rPr dirty="0"/>
              <a:t>- Children 2A_12_8-9: M5 score 1.000, NNTP score 0.000. GT/M5 keep "Es </a:t>
            </a:r>
            <a:r>
              <a:rPr dirty="0" err="1"/>
              <a:t>warainml</a:t>
            </a:r>
            <a:r>
              <a:rPr dirty="0"/>
              <a:t> </a:t>
            </a:r>
            <a:r>
              <a:rPr dirty="0" err="1"/>
              <a:t>ain</a:t>
            </a:r>
            <a:r>
              <a:rPr dirty="0"/>
              <a:t> </a:t>
            </a:r>
            <a:r>
              <a:rPr dirty="0" err="1"/>
              <a:t>Ka&amp;Ze</a:t>
            </a:r>
            <a:r>
              <a:rPr dirty="0"/>
              <a:t>" / "und </a:t>
            </a:r>
            <a:r>
              <a:rPr dirty="0" err="1"/>
              <a:t>ain</a:t>
            </a:r>
            <a:r>
              <a:rPr dirty="0"/>
              <a:t> Hund" / "Der Ma"; NNTP merges the first two lines and splits "Der Ma" into "Der" / "Ma".</a:t>
            </a:r>
          </a:p>
          <a:p>
            <a:r>
              <a:rPr dirty="0"/>
              <a:t>- Children 2A_12_10-11: M5 score 0.500, NNTP score 1.000. GT/NNTP place the boundary after "Der Man </a:t>
            </a:r>
            <a:r>
              <a:rPr dirty="0" err="1"/>
              <a:t>TuT</a:t>
            </a:r>
            <a:r>
              <a:rPr dirty="0"/>
              <a:t>"; M5 shifts "Saine" onto the previous line. M5 trace shows the line-image OCR text begins line 2 with "Saine...", so do not claim the OCR hint caused the error.</a:t>
            </a:r>
          </a:p>
          <a:p>
            <a:r>
              <a:rPr dirty="0"/>
              <a:t>- Washington 278: M5 score 1.000, NNTP score 0.9375. GT/M5 preserve "Alex-" / "</a:t>
            </a:r>
            <a:r>
              <a:rPr dirty="0" err="1"/>
              <a:t>andria</a:t>
            </a:r>
            <a:r>
              <a:rPr dirty="0"/>
              <a:t>." / "1st. To Mr. Boyd..."; NNTP splits "</a:t>
            </a:r>
            <a:r>
              <a:rPr dirty="0" err="1"/>
              <a:t>andria</a:t>
            </a:r>
            <a:r>
              <a:rPr dirty="0"/>
              <a:t>." into "</a:t>
            </a:r>
            <a:r>
              <a:rPr dirty="0" err="1"/>
              <a:t>andri</a:t>
            </a:r>
            <a:r>
              <a:rPr dirty="0"/>
              <a:t>" / "a. 1st...".</a:t>
            </a:r>
          </a:p>
          <a:p>
            <a:r>
              <a:rPr dirty="0"/>
              <a:t>- Washington 272: M5 score 0.941176, NNTP score 1.000. GT/NNTP split after "October"; M5 writes "October 28th." on one line. Trace line-image OCR around the date/header is noisy ("</a:t>
            </a:r>
            <a:r>
              <a:rPr dirty="0" err="1"/>
              <a:t>Oetober</a:t>
            </a:r>
            <a:r>
              <a:rPr dirty="0"/>
              <a:t> 17.", "2th. To..."), so treat that only as a possible local ambiguity, not proof of causality.</a:t>
            </a:r>
          </a:p>
          <a:p>
            <a:endParaRPr dirty="0"/>
          </a:p>
          <a:p>
            <a:r>
              <a:rPr dirty="0"/>
              <a:t>Possible explanation:</a:t>
            </a:r>
          </a:p>
          <a:p>
            <a:r>
              <a:rPr dirty="0"/>
              <a:t>M5 and NNTP use different evidence. M5's output is the model line plan projected back onto the fixed transcription; traces record line crops, page context, OCR/HTR hints, expected line count, and projection/fallback behavior. NNTP is a deterministic forced-alignment reference based on recognizer-derived evidence, with the </a:t>
            </a:r>
            <a:r>
              <a:rPr dirty="0" err="1"/>
              <a:t>PyLaia</a:t>
            </a:r>
            <a:r>
              <a:rPr dirty="0"/>
              <a:t> </a:t>
            </a:r>
            <a:r>
              <a:rPr dirty="0" err="1"/>
              <a:t>syms.txt</a:t>
            </a:r>
            <a:r>
              <a:rPr dirty="0"/>
              <a:t> alphabet filtering caveat for character-level comparability. The examples support the weaker explanation that M5 can benefit from visual/page-context and projection when they place local boundaries well, while NNTP can be stronger when recognizer-derived alignment places a boundary more reliably. They do not support a stronger component-level causal claim.</a:t>
            </a:r>
          </a:p>
          <a:p>
            <a:endParaRPr dirty="0"/>
          </a:p>
          <a:p>
            <a:r>
              <a:rPr dirty="0"/>
              <a:t>Evidence paths:</a:t>
            </a:r>
          </a:p>
          <a:p>
            <a:r>
              <a:rPr dirty="0"/>
              <a:t>- Children M5 trace: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children_handwritten</a:t>
            </a:r>
            <a:r>
              <a:rPr dirty="0"/>
              <a:t>/m5_context100/gpt-5.4/traces/2A_12_8-9.json</a:t>
            </a:r>
          </a:p>
          <a:p>
            <a:r>
              <a:rPr dirty="0"/>
              <a:t>- Children NNTP prediction: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children_handwritten</a:t>
            </a:r>
            <a:r>
              <a:rPr dirty="0"/>
              <a:t>/</a:t>
            </a:r>
            <a:r>
              <a:rPr dirty="0" err="1"/>
              <a:t>nntp</a:t>
            </a:r>
            <a:r>
              <a:rPr dirty="0"/>
              <a:t>/NNTP/predictions/</a:t>
            </a:r>
            <a:r>
              <a:rPr dirty="0" err="1"/>
              <a:t>children_handwritten_predictions_nntp_fold_c</a:t>
            </a:r>
            <a:r>
              <a:rPr dirty="0"/>
              <a:t>/2A_12_8-9.txt</a:t>
            </a:r>
          </a:p>
          <a:p>
            <a:r>
              <a:rPr dirty="0"/>
              <a:t>- Children M5 trace: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children_handwritten</a:t>
            </a:r>
            <a:r>
              <a:rPr dirty="0"/>
              <a:t>/m5_context100/gpt-5.4/traces/2A_12_10-11.json</a:t>
            </a:r>
          </a:p>
          <a:p>
            <a:r>
              <a:rPr dirty="0"/>
              <a:t>- Children NNTP prediction: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children_handwritten</a:t>
            </a:r>
            <a:r>
              <a:rPr dirty="0"/>
              <a:t>/</a:t>
            </a:r>
            <a:r>
              <a:rPr dirty="0" err="1"/>
              <a:t>nntp</a:t>
            </a:r>
            <a:r>
              <a:rPr dirty="0"/>
              <a:t>/NNTP/predictions/</a:t>
            </a:r>
            <a:r>
              <a:rPr dirty="0" err="1"/>
              <a:t>children_handwritten_predictions_nntp_fold_c</a:t>
            </a:r>
            <a:r>
              <a:rPr dirty="0"/>
              <a:t>/2A_12_10-11.txt</a:t>
            </a:r>
          </a:p>
          <a:p>
            <a:r>
              <a:rPr dirty="0"/>
              <a:t>- Washington M5 trace: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washington_handwritten</a:t>
            </a:r>
            <a:r>
              <a:rPr dirty="0"/>
              <a:t>/m5_context100/qwen3-vl-32b-instruct/traces/278.json</a:t>
            </a:r>
          </a:p>
          <a:p>
            <a:r>
              <a:rPr dirty="0"/>
              <a:t>- Washington NNTP prediction: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washington_handwritten</a:t>
            </a:r>
            <a:r>
              <a:rPr dirty="0"/>
              <a:t>/</a:t>
            </a:r>
            <a:r>
              <a:rPr dirty="0" err="1"/>
              <a:t>nntp</a:t>
            </a:r>
            <a:r>
              <a:rPr dirty="0"/>
              <a:t>/NNTP/predictions/</a:t>
            </a:r>
            <a:r>
              <a:rPr dirty="0" err="1"/>
              <a:t>washington_handwritten_predictions_nntp_train_a_test_b</a:t>
            </a:r>
            <a:r>
              <a:rPr dirty="0"/>
              <a:t>/278.txt</a:t>
            </a:r>
          </a:p>
          <a:p>
            <a:r>
              <a:rPr dirty="0"/>
              <a:t>- Washington M5 trace: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washington_handwritten</a:t>
            </a:r>
            <a:r>
              <a:rPr dirty="0"/>
              <a:t>/m5_context100/qwen3-vl-32b-instruct/traces/272.json</a:t>
            </a:r>
          </a:p>
          <a:p>
            <a:r>
              <a:rPr dirty="0"/>
              <a:t>- Washington NNTP prediction: /Users/</a:t>
            </a:r>
            <a:r>
              <a:rPr dirty="0" err="1"/>
              <a:t>dennisberger</a:t>
            </a:r>
            <a:r>
              <a:rPr dirty="0"/>
              <a:t>/Library/Mobile Documents/</a:t>
            </a:r>
            <a:r>
              <a:rPr dirty="0" err="1"/>
              <a:t>com~apple~CloudDocs</a:t>
            </a:r>
            <a:r>
              <a:rPr dirty="0"/>
              <a:t>/</a:t>
            </a:r>
            <a:r>
              <a:rPr dirty="0" err="1"/>
              <a:t>Dokumente</a:t>
            </a:r>
            <a:r>
              <a:rPr dirty="0"/>
              <a:t>/Uni/</a:t>
            </a:r>
            <a:r>
              <a:rPr dirty="0" err="1"/>
              <a:t>Master_Thesis</a:t>
            </a:r>
            <a:r>
              <a:rPr dirty="0"/>
              <a:t>/predictions/thesis_results_final_2026-04-20/</a:t>
            </a:r>
            <a:r>
              <a:rPr dirty="0" err="1"/>
              <a:t>handwritten_results</a:t>
            </a:r>
            <a:r>
              <a:rPr dirty="0"/>
              <a:t>/</a:t>
            </a:r>
            <a:r>
              <a:rPr dirty="0" err="1"/>
              <a:t>washington_handwritten</a:t>
            </a:r>
            <a:r>
              <a:rPr dirty="0"/>
              <a:t>/</a:t>
            </a:r>
            <a:r>
              <a:rPr dirty="0" err="1"/>
              <a:t>nntp</a:t>
            </a:r>
            <a:r>
              <a:rPr dirty="0"/>
              <a:t>/NNTP/predictions/</a:t>
            </a:r>
            <a:r>
              <a:rPr dirty="0" err="1"/>
              <a:t>washington_handwritten_predictions_nntp_train_a_test_b</a:t>
            </a:r>
            <a:r>
              <a:rPr dirty="0"/>
              <a:t>/272.txt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Optional appendix / Q&amp;A.</a:t>
            </a:r>
          </a:p>
          <a:p>
            <a:endParaRPr dirty="0"/>
          </a:p>
          <a:p>
            <a:r>
              <a:rPr dirty="0"/>
              <a:t>Use this slide if asked how fallback and recovery work in M5.</a:t>
            </a:r>
          </a:p>
          <a:p>
            <a:endParaRPr dirty="0"/>
          </a:p>
          <a:p>
            <a:r>
              <a:rPr dirty="0"/>
              <a:t>First, separate the terms. Repair is a second structured prompt: if the initial model response is not valid JSON or has the wrong number of lines, the system asks the model once to fix that response.</a:t>
            </a:r>
          </a:p>
          <a:p>
            <a:endParaRPr dirty="0"/>
          </a:p>
          <a:p>
            <a:r>
              <a:rPr dirty="0"/>
              <a:t>Recovery happens after strict initial and repair parsing fail. The code still looks for loose line candidates in the model responses. If one of those candidates can be reconciled with the expected line count and OCR/HTR line hints, it is used as a boundary plan.</a:t>
            </a:r>
          </a:p>
          <a:p>
            <a:endParaRPr dirty="0"/>
          </a:p>
          <a:p>
            <a:r>
              <a:rPr dirty="0"/>
              <a:t>Fallback is the deterministic exit path when no usable model boundary plan remains. It uses OCR/HTR line texts from the stored line payload as boundary hints. In the code, these hints can be used post hoc even though the final answer still must be the fixed transcription sliced with newlines.</a:t>
            </a:r>
          </a:p>
          <a:p>
            <a:endParaRPr dirty="0"/>
          </a:p>
          <a:p>
            <a:r>
              <a:rPr dirty="0"/>
              <a:t>The key point is projection. The recovered or fallback text is not trusted as final transcription. The system computes cumulative boundary positions from the hint lines, maps those positions monotonically to the original fixed transcription, and then slices that fixed transcription.</a:t>
            </a:r>
          </a:p>
          <a:p>
            <a:endParaRPr dirty="0"/>
          </a:p>
          <a:p>
            <a:r>
              <a:rPr dirty="0"/>
              <a:t>So the safe defense answer is: fallback and recovery can affect where newlines go, but they should not introduce new non-newline characters. They are validity and robustness mechanisms, not a guarantee that every line break is correct. If the hints are wrong, the projected boundary can still be wrong.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4653"/>
        </a:solidFill>
        <a:effectLst/>
      </p:bgPr>
    </p:bg>
    <p:spTree>
      <p:nvGrpSpPr>
        <p:cNvPr id="1" name=""/>
        <p:cNvGrpSpPr/>
        <p:nvPr/>
      </p:nvGrpSpPr>
      <p:grpSpPr>
        <a:xfrm>
          <a:off x="0" y="0"/>
          <a:ext cx="0" cy="0"/>
          <a:chOff x="0" y="0"/>
          <a:chExt cx="0" cy="0"/>
        </a:xfrm>
      </p:grpSpPr>
      <p:pic>
        <p:nvPicPr>
          <p:cNvPr id="11" name="Picture 7"/>
          <p:cNvPicPr>
            <a:picLocks noChangeAspect="1"/>
          </p:cNvPicPr>
          <p:nvPr/>
        </p:nvPicPr>
        <p:blipFill>
          <a:blip r:embed="rId3"/>
          <a:srcRect l="26570" r="26570"/>
          <a:stretch>
            <a:fillRect/>
          </a:stretch>
        </p:blipFill>
        <p:spPr>
          <a:xfrm>
            <a:off x="7048500" y="0"/>
            <a:ext cx="5143500" cy="6858000"/>
          </a:xfrm>
          <a:prstGeom prst="rect">
            <a:avLst/>
          </a:prstGeom>
        </p:spPr>
      </p:pic>
      <p:sp>
        <p:nvSpPr>
          <p:cNvPr id="2" name="Rectangle 1">
            <a:extLst>
              <a:ext uri="{FF2B5EF4-FFF2-40B4-BE49-F238E27FC236}">
                <a16:creationId xmlns:a16="http://schemas.microsoft.com/office/drawing/2014/main" id="{65D7A3B0-7995-4C61-8698-FCE12F25A1A7}"/>
              </a:ext>
            </a:extLst>
          </p:cNvPr>
          <p:cNvSpPr>
            <a:spLocks noGrp="1"/>
          </p:cNvSpPr>
          <p:nvPr/>
        </p:nvSpPr>
        <p:spPr>
          <a:xfrm>
            <a:off x="514350" y="781050"/>
            <a:ext cx="6381750" cy="13525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02000"/>
              </a:lnSpc>
              <a:buNone/>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Newline-Only Transcription Alignment For Historical And Modern Documents With Vision-Language Models</a:t>
            </a:r>
          </a:p>
        </p:txBody>
      </p:sp>
      <p:sp>
        <p:nvSpPr>
          <p:cNvPr id="3" name="Rectangle 2">
            <a:extLst>
              <a:ext uri="{FF2B5EF4-FFF2-40B4-BE49-F238E27FC236}">
                <a16:creationId xmlns:a16="http://schemas.microsoft.com/office/drawing/2014/main" id="{48056E63-7811-453A-AF37-D8ED8B62B7FF}"/>
              </a:ext>
            </a:extLst>
          </p:cNvPr>
          <p:cNvSpPr>
            <a:spLocks noGrp="1"/>
          </p:cNvSpPr>
          <p:nvPr/>
        </p:nvSpPr>
        <p:spPr>
          <a:xfrm>
            <a:off x="514350" y="2343150"/>
            <a:ext cx="4333875" cy="19050"/>
          </a:xfrm>
          <a:prstGeom prst="rect">
            <a:avLst/>
          </a:prstGeom>
          <a:solidFill>
            <a:srgbClr val="2A9D8F"/>
          </a:solidFill>
          <a:ln w="0">
            <a:solidFill>
              <a:srgbClr val="000000">
                <a:alpha val="0"/>
              </a:srgbClr>
            </a:solidFill>
            <a:prstDash val="solid"/>
          </a:ln>
        </p:spPr>
        <p:txBody>
          <a:bodyPr/>
          <a:lstStyle/>
          <a:p>
            <a:endParaRPr/>
          </a:p>
        </p:txBody>
      </p:sp>
      <p:sp>
        <p:nvSpPr>
          <p:cNvPr id="4" name="Rectangle 3">
            <a:extLst>
              <a:ext uri="{FF2B5EF4-FFF2-40B4-BE49-F238E27FC236}">
                <a16:creationId xmlns:a16="http://schemas.microsoft.com/office/drawing/2014/main" id="{5B315D46-8632-46F9-A26F-07992C5B6739}"/>
              </a:ext>
            </a:extLst>
          </p:cNvPr>
          <p:cNvSpPr>
            <a:spLocks noGrp="1"/>
          </p:cNvSpPr>
          <p:nvPr/>
        </p:nvSpPr>
        <p:spPr>
          <a:xfrm>
            <a:off x="514350" y="3009900"/>
            <a:ext cx="4762500" cy="14859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08000"/>
              </a:lnSpc>
              <a:buNone/>
              <a:defRPr sz="1350" b="0">
                <a:solidFill>
                  <a:srgbClr val="E7F0EE"/>
                </a:solidFill>
                <a:latin typeface="Aptos"/>
                <a:ea typeface="Aptos"/>
                <a:cs typeface="Aptos"/>
              </a:defRPr>
            </a:pPr>
            <a:r>
              <a:rPr sz="1400" b="0">
                <a:solidFill>
                  <a:srgbClr val="E7F0EE"/>
                </a:solidFill>
                <a:latin typeface="Aptos"/>
                <a:ea typeface="Aptos"/>
                <a:cs typeface="Aptos"/>
              </a:rPr>
              <a:t>Dennis Berger</a:t>
            </a:r>
          </a:p>
          <a:p>
            <a:pPr algn="l">
              <a:lnSpc>
                <a:spcPct val="108000"/>
              </a:lnSpc>
              <a:buNone/>
              <a:defRPr sz="1350" b="0">
                <a:solidFill>
                  <a:srgbClr val="E7F0EE"/>
                </a:solidFill>
                <a:latin typeface="Aptos"/>
                <a:ea typeface="Aptos"/>
                <a:cs typeface="Aptos"/>
              </a:defRPr>
            </a:pPr>
            <a:endParaRPr sz="1400" b="0">
              <a:solidFill>
                <a:srgbClr val="E7F0EE"/>
              </a:solidFill>
              <a:latin typeface="Aptos"/>
              <a:ea typeface="Aptos"/>
              <a:cs typeface="Aptos"/>
            </a:endParaRPr>
          </a:p>
          <a:p>
            <a:pPr algn="l">
              <a:lnSpc>
                <a:spcPct val="108000"/>
              </a:lnSpc>
              <a:buNone/>
              <a:defRPr sz="1350" b="0">
                <a:solidFill>
                  <a:srgbClr val="E7F0EE"/>
                </a:solidFill>
                <a:latin typeface="Aptos"/>
                <a:ea typeface="Aptos"/>
                <a:cs typeface="Aptos"/>
              </a:defRPr>
            </a:pPr>
            <a:endParaRPr sz="1400" b="0">
              <a:solidFill>
                <a:srgbClr val="E7F0EE"/>
              </a:solidFill>
              <a:latin typeface="Aptos"/>
              <a:ea typeface="Aptos"/>
              <a:cs typeface="Aptos"/>
            </a:endParaRPr>
          </a:p>
          <a:p>
            <a:pPr algn="l">
              <a:lnSpc>
                <a:spcPct val="108000"/>
              </a:lnSpc>
              <a:buNone/>
              <a:defRPr sz="1350" b="0">
                <a:solidFill>
                  <a:srgbClr val="E7F0EE"/>
                </a:solidFill>
                <a:latin typeface="Aptos"/>
                <a:ea typeface="Aptos"/>
                <a:cs typeface="Aptos"/>
              </a:defRPr>
            </a:pPr>
            <a:r>
              <a:rPr sz="1200" b="0">
                <a:solidFill>
                  <a:srgbClr val="E7F0EE"/>
                </a:solidFill>
                <a:latin typeface="Aptos"/>
                <a:ea typeface="Aptos"/>
                <a:cs typeface="Aptos"/>
              </a:rPr>
              <a:t>University of Fribourg</a:t>
            </a:r>
          </a:p>
          <a:p>
            <a:pPr algn="l">
              <a:lnSpc>
                <a:spcPct val="108000"/>
              </a:lnSpc>
              <a:buNone/>
              <a:defRPr sz="1350" b="0">
                <a:solidFill>
                  <a:srgbClr val="E7F0EE"/>
                </a:solidFill>
                <a:latin typeface="Aptos"/>
                <a:ea typeface="Aptos"/>
                <a:cs typeface="Aptos"/>
              </a:defRPr>
            </a:pPr>
            <a:r>
              <a:rPr sz="1200" b="0">
                <a:solidFill>
                  <a:srgbClr val="E7F0EE"/>
                </a:solidFill>
                <a:latin typeface="Aptos"/>
                <a:ea typeface="Aptos"/>
                <a:cs typeface="Aptos"/>
              </a:rPr>
              <a:t>Department of Informatics</a:t>
            </a:r>
          </a:p>
          <a:p>
            <a:pPr algn="l">
              <a:lnSpc>
                <a:spcPct val="108000"/>
              </a:lnSpc>
              <a:buNone/>
              <a:defRPr sz="1350" b="0">
                <a:solidFill>
                  <a:srgbClr val="E7F0EE"/>
                </a:solidFill>
                <a:latin typeface="Aptos"/>
                <a:ea typeface="Aptos"/>
                <a:cs typeface="Aptos"/>
              </a:defRPr>
            </a:pPr>
            <a:r>
              <a:rPr sz="1200" b="0">
                <a:solidFill>
                  <a:srgbClr val="E7F0EE"/>
                </a:solidFill>
                <a:latin typeface="Aptos"/>
                <a:ea typeface="Aptos"/>
                <a:cs typeface="Aptos"/>
              </a:rPr>
              <a:t>AIBEX Group</a:t>
            </a:r>
          </a:p>
          <a:p>
            <a:endParaRPr sz="1200" b="0">
              <a:solidFill>
                <a:srgbClr val="E7F0EE"/>
              </a:solidFill>
              <a:latin typeface="Aptos"/>
              <a:ea typeface="Aptos"/>
              <a:cs typeface="Aptos"/>
            </a:endParaRPr>
          </a:p>
          <a:p>
            <a:pPr algn="l">
              <a:lnSpc>
                <a:spcPct val="108000"/>
              </a:lnSpc>
              <a:buNone/>
              <a:defRPr sz="1350" b="0">
                <a:solidFill>
                  <a:srgbClr val="E7F0EE"/>
                </a:solidFill>
                <a:latin typeface="Aptos"/>
                <a:ea typeface="Aptos"/>
                <a:cs typeface="Aptos"/>
              </a:defRPr>
            </a:pPr>
            <a:r>
              <a:rPr sz="1200" b="0">
                <a:solidFill>
                  <a:srgbClr val="E7F0EE"/>
                </a:solidFill>
                <a:latin typeface="Aptos"/>
                <a:ea typeface="Aptos"/>
                <a:cs typeface="Aptos"/>
              </a:rPr>
              <a:t>Professor: Prof. Dr. Andreas Fischer</a:t>
            </a:r>
          </a:p>
          <a:p>
            <a:pPr algn="l">
              <a:lnSpc>
                <a:spcPct val="108000"/>
              </a:lnSpc>
              <a:buNone/>
              <a:defRPr sz="1350" b="0">
                <a:solidFill>
                  <a:srgbClr val="E7F0EE"/>
                </a:solidFill>
                <a:latin typeface="Aptos"/>
                <a:ea typeface="Aptos"/>
                <a:cs typeface="Aptos"/>
              </a:defRPr>
            </a:pPr>
            <a:r>
              <a:rPr sz="1200" b="0">
                <a:solidFill>
                  <a:srgbClr val="E7F0EE"/>
                </a:solidFill>
                <a:latin typeface="Aptos"/>
                <a:ea typeface="Aptos"/>
                <a:cs typeface="Aptos"/>
              </a:rPr>
              <a:t>Supervisor: Dr. Anna Scius Bertrand</a:t>
            </a:r>
          </a:p>
        </p:txBody>
      </p:sp>
      <p:sp>
        <p:nvSpPr>
          <p:cNvPr id="5" name="Rectangle 4">
            <a:extLst>
              <a:ext uri="{FF2B5EF4-FFF2-40B4-BE49-F238E27FC236}">
                <a16:creationId xmlns:a16="http://schemas.microsoft.com/office/drawing/2014/main" id="{769A30FC-B8C8-411B-8767-DCC216DDCBD7}"/>
              </a:ext>
            </a:extLst>
          </p:cNvPr>
          <p:cNvSpPr>
            <a:spLocks noGrp="1"/>
          </p:cNvSpPr>
          <p:nvPr/>
        </p:nvSpPr>
        <p:spPr>
          <a:xfrm>
            <a:off x="514350" y="5562600"/>
            <a:ext cx="2476500" cy="2667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1350" b="1">
                <a:solidFill>
                  <a:srgbClr val="D4A373"/>
                </a:solidFill>
                <a:latin typeface="Aptos"/>
                <a:ea typeface="Aptos"/>
                <a:cs typeface="Aptos"/>
              </a:defRPr>
            </a:pPr>
            <a:r>
              <a:rPr sz="1400" b="1">
                <a:solidFill>
                  <a:srgbClr val="D4A373"/>
                </a:solidFill>
                <a:latin typeface="Aptos"/>
                <a:ea typeface="Aptos"/>
                <a:cs typeface="Aptos"/>
              </a:rPr>
              <a:t>June 16, 2026</a:t>
            </a:r>
          </a:p>
        </p:txBody>
      </p:sp>
      <p:sp>
        <p:nvSpPr>
          <p:cNvPr id="6" name="Rectangle 5">
            <a:extLst>
              <a:ext uri="{FF2B5EF4-FFF2-40B4-BE49-F238E27FC236}">
                <a16:creationId xmlns:a16="http://schemas.microsoft.com/office/drawing/2014/main" id="{632FF7CB-CECE-40AF-B99C-72ED32D02F99}"/>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DDEDE9"/>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7" name="Rectangle 6">
            <a:extLst>
              <a:ext uri="{FF2B5EF4-FFF2-40B4-BE49-F238E27FC236}">
                <a16:creationId xmlns:a16="http://schemas.microsoft.com/office/drawing/2014/main" id="{618F4B01-7C4F-42DE-ADA3-29C9D50169F6}"/>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01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9" name="Defense Subtitle">
            <a:extLst>
              <a:ext uri="{FF2B5EF4-FFF2-40B4-BE49-F238E27FC236}">
                <a16:creationId xmlns:a16="http://schemas.microsoft.com/office/drawing/2014/main" id="{A89BF33A-ADFB-4F5D-9248-B8727DFB6A9E}"/>
              </a:ext>
            </a:extLst>
          </p:cNvPr>
          <p:cNvSpPr>
            <a:spLocks noGrp="1"/>
          </p:cNvSpPr>
          <p:nvPr/>
        </p:nvSpPr>
        <p:spPr>
          <a:xfrm>
            <a:off x="514350" y="2495550"/>
            <a:ext cx="5334000" cy="342900"/>
          </a:xfrm>
          <a:prstGeom prst="rect">
            <a:avLst/>
          </a:prstGeom>
          <a:solidFill>
            <a:srgbClr val="000000">
              <a:alpha val="0"/>
            </a:srgbClr>
          </a:solidFill>
          <a:ln w="0">
            <a:solidFill>
              <a:srgbClr val="000000">
                <a:alpha val="0"/>
              </a:srgbClr>
            </a:solidFill>
            <a:prstDash val="solid"/>
          </a:ln>
        </p:spPr>
        <p:txBody>
          <a:bodyPr lIns="57150" tIns="38100" rIns="57150" bIns="38100" anchor="t"/>
          <a:lstStyle/>
          <a:p>
            <a:pPr algn="l">
              <a:buNone/>
              <a:defRPr sz="1650" b="1">
                <a:solidFill>
                  <a:srgbClr val="E7F0EE"/>
                </a:solidFill>
                <a:latin typeface="Aptos"/>
                <a:ea typeface="Aptos"/>
                <a:cs typeface="Aptos"/>
              </a:defRPr>
            </a:pPr>
            <a:r>
              <a:rPr sz="1650" b="1">
                <a:solidFill>
                  <a:srgbClr val="E7F0EE"/>
                </a:solidFill>
                <a:latin typeface="Aptos"/>
                <a:ea typeface="Aptos"/>
                <a:cs typeface="Aptos"/>
              </a:rPr>
              <a:t>Master's Thesis Defense.</a:t>
            </a:r>
          </a:p>
        </p:txBody>
      </p:sp>
    </p:spTree>
    <p:extLst>
      <p:ext uri="{BB962C8B-B14F-4D97-AF65-F5344CB8AC3E}">
        <p14:creationId xmlns:p14="http://schemas.microsoft.com/office/powerpoint/2010/main" val="2138952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D6C8B13-9434-4756-9C91-A6EEC13F7159}"/>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0400EDA3-4C07-4B9B-8C7D-F2E504DB69CA}"/>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01852418-E23D-4D10-8996-AF85061DA791}"/>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Motivation</a:t>
            </a:r>
          </a:p>
        </p:txBody>
      </p:sp>
      <p:sp>
        <p:nvSpPr>
          <p:cNvPr id="4" name="Rectangle 3">
            <a:extLst>
              <a:ext uri="{FF2B5EF4-FFF2-40B4-BE49-F238E27FC236}">
                <a16:creationId xmlns:a16="http://schemas.microsoft.com/office/drawing/2014/main" id="{A86139D4-2770-4629-8314-7D4FAC81CB73}"/>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Linking Transcription To Page Evidence</a:t>
            </a:r>
          </a:p>
        </p:txBody>
      </p:sp>
      <p:sp>
        <p:nvSpPr>
          <p:cNvPr id="5" name="Rectangle 4">
            <a:extLst>
              <a:ext uri="{FF2B5EF4-FFF2-40B4-BE49-F238E27FC236}">
                <a16:creationId xmlns:a16="http://schemas.microsoft.com/office/drawing/2014/main" id="{7EFCEFA6-1768-4D8D-B233-552D5E71EB0A}"/>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C4530246-C3D2-4E1E-8114-8B436E0B7754}"/>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02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44A8D174-AF07-4491-A1DC-0A19AB4ACBF8}"/>
              </a:ext>
            </a:extLst>
          </p:cNvPr>
          <p:cNvSpPr>
            <a:spLocks noGrp="1"/>
          </p:cNvSpPr>
          <p:nvPr/>
        </p:nvSpPr>
        <p:spPr>
          <a:xfrm>
            <a:off x="514350" y="1028700"/>
            <a:ext cx="4572000" cy="1989043"/>
          </a:xfrm>
          <a:prstGeom prst="roundRect">
            <a:avLst>
              <a:gd name="adj" fmla="val 2055"/>
            </a:avLst>
          </a:prstGeom>
          <a:solidFill>
            <a:srgbClr val="FFFDF7"/>
          </a:solidFill>
          <a:ln w="9525">
            <a:solidFill>
              <a:srgbClr val="CFC7B8"/>
            </a:solidFill>
            <a:prstDash val="solid"/>
          </a:ln>
        </p:spPr>
        <p:txBody>
          <a:bodyPr/>
          <a:lstStyle/>
          <a:p>
            <a:endParaRPr/>
          </a:p>
        </p:txBody>
      </p:sp>
      <p:sp>
        <p:nvSpPr>
          <p:cNvPr id="8" name="Rectangle 7">
            <a:extLst>
              <a:ext uri="{FF2B5EF4-FFF2-40B4-BE49-F238E27FC236}">
                <a16:creationId xmlns:a16="http://schemas.microsoft.com/office/drawing/2014/main" id="{BB3EC55E-FBA0-4D11-AD50-9F29916B1B71}"/>
              </a:ext>
            </a:extLst>
          </p:cNvPr>
          <p:cNvSpPr>
            <a:spLocks noGrp="1"/>
          </p:cNvSpPr>
          <p:nvPr/>
        </p:nvSpPr>
        <p:spPr>
          <a:xfrm>
            <a:off x="742950" y="1238250"/>
            <a:ext cx="411480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75" b="1">
                <a:solidFill>
                  <a:srgbClr val="264653"/>
                </a:solidFill>
                <a:latin typeface="Aptos"/>
                <a:ea typeface="Aptos"/>
                <a:cs typeface="Aptos"/>
              </a:defRPr>
            </a:pPr>
            <a:r>
              <a:rPr sz="1275" b="1">
                <a:solidFill>
                  <a:srgbClr val="264653"/>
                </a:solidFill>
                <a:latin typeface="Aptos"/>
                <a:ea typeface="Aptos"/>
                <a:cs typeface="Aptos"/>
              </a:rPr>
              <a:t>page image crop</a:t>
            </a:r>
          </a:p>
        </p:txBody>
      </p:sp>
      <p:pic>
        <p:nvPicPr>
          <p:cNvPr id="47" name="Picture 8"/>
          <p:cNvPicPr>
            <a:picLocks noChangeAspect="1"/>
          </p:cNvPicPr>
          <p:nvPr/>
        </p:nvPicPr>
        <p:blipFill>
          <a:blip r:embed="rId3"/>
          <a:stretch/>
        </p:blipFill>
        <p:spPr>
          <a:xfrm>
            <a:off x="821012" y="1714500"/>
            <a:ext cx="3958677" cy="933450"/>
          </a:xfrm>
          <a:prstGeom prst="rect">
            <a:avLst/>
          </a:prstGeom>
        </p:spPr>
      </p:pic>
      <p:sp>
        <p:nvSpPr>
          <p:cNvPr id="10" name="Rounded Rectangle 9">
            <a:extLst>
              <a:ext uri="{FF2B5EF4-FFF2-40B4-BE49-F238E27FC236}">
                <a16:creationId xmlns:a16="http://schemas.microsoft.com/office/drawing/2014/main" id="{6F0B195B-BBBD-4DC6-8CC7-1C05BDEB8A25}"/>
              </a:ext>
            </a:extLst>
          </p:cNvPr>
          <p:cNvSpPr>
            <a:spLocks noGrp="1"/>
          </p:cNvSpPr>
          <p:nvPr/>
        </p:nvSpPr>
        <p:spPr>
          <a:xfrm>
            <a:off x="609600" y="1790700"/>
            <a:ext cx="161925" cy="161925"/>
          </a:xfrm>
          <a:prstGeom prst="roundRect">
            <a:avLst>
              <a:gd name="adj" fmla="val 29412"/>
            </a:avLst>
          </a:prstGeom>
          <a:solidFill>
            <a:srgbClr val="FFFDF7">
              <a:alpha val="90196"/>
            </a:srgbClr>
          </a:solidFill>
          <a:ln w="9525">
            <a:solidFill>
              <a:srgbClr val="2A9D8F"/>
            </a:solidFill>
            <a:prstDash val="solid"/>
          </a:ln>
        </p:spPr>
        <p:txBody>
          <a:bodyPr/>
          <a:lstStyle/>
          <a:p>
            <a:endParaRPr/>
          </a:p>
        </p:txBody>
      </p:sp>
      <p:sp>
        <p:nvSpPr>
          <p:cNvPr id="11" name="Rectangle 10">
            <a:extLst>
              <a:ext uri="{FF2B5EF4-FFF2-40B4-BE49-F238E27FC236}">
                <a16:creationId xmlns:a16="http://schemas.microsoft.com/office/drawing/2014/main" id="{65174A1B-E734-4D7E-8FD4-F4E711EA48B7}"/>
              </a:ext>
            </a:extLst>
          </p:cNvPr>
          <p:cNvSpPr>
            <a:spLocks noGrp="1"/>
          </p:cNvSpPr>
          <p:nvPr/>
        </p:nvSpPr>
        <p:spPr>
          <a:xfrm>
            <a:off x="609600" y="1809750"/>
            <a:ext cx="161925" cy="123825"/>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600" b="1">
                <a:solidFill>
                  <a:srgbClr val="2A9D8F"/>
                </a:solidFill>
                <a:latin typeface="Aptos"/>
                <a:ea typeface="Aptos"/>
                <a:cs typeface="Aptos"/>
              </a:defRPr>
            </a:pPr>
            <a:r>
              <a:rPr sz="600" b="1">
                <a:solidFill>
                  <a:srgbClr val="2A9D8F"/>
                </a:solidFill>
                <a:latin typeface="Aptos"/>
                <a:ea typeface="Aptos"/>
                <a:cs typeface="Aptos"/>
              </a:rPr>
              <a:t>1</a:t>
            </a:r>
          </a:p>
        </p:txBody>
      </p:sp>
      <p:sp>
        <p:nvSpPr>
          <p:cNvPr id="12" name="Rounded Rectangle 11">
            <a:extLst>
              <a:ext uri="{FF2B5EF4-FFF2-40B4-BE49-F238E27FC236}">
                <a16:creationId xmlns:a16="http://schemas.microsoft.com/office/drawing/2014/main" id="{37E293DB-3142-4CA9-ABE5-9D630E87C978}"/>
              </a:ext>
            </a:extLst>
          </p:cNvPr>
          <p:cNvSpPr>
            <a:spLocks noGrp="1"/>
          </p:cNvSpPr>
          <p:nvPr/>
        </p:nvSpPr>
        <p:spPr>
          <a:xfrm>
            <a:off x="609600" y="2019300"/>
            <a:ext cx="161925" cy="161925"/>
          </a:xfrm>
          <a:prstGeom prst="roundRect">
            <a:avLst>
              <a:gd name="adj" fmla="val 29412"/>
            </a:avLst>
          </a:prstGeom>
          <a:solidFill>
            <a:srgbClr val="FFFDF7">
              <a:alpha val="90196"/>
            </a:srgbClr>
          </a:solidFill>
          <a:ln w="9525">
            <a:solidFill>
              <a:srgbClr val="2A9D8F"/>
            </a:solidFill>
            <a:prstDash val="solid"/>
          </a:ln>
        </p:spPr>
        <p:txBody>
          <a:bodyPr/>
          <a:lstStyle/>
          <a:p>
            <a:endParaRPr/>
          </a:p>
        </p:txBody>
      </p:sp>
      <p:sp>
        <p:nvSpPr>
          <p:cNvPr id="13" name="Rectangle 12">
            <a:extLst>
              <a:ext uri="{FF2B5EF4-FFF2-40B4-BE49-F238E27FC236}">
                <a16:creationId xmlns:a16="http://schemas.microsoft.com/office/drawing/2014/main" id="{FF389377-B7CF-4695-B9EF-2E4D2A427202}"/>
              </a:ext>
            </a:extLst>
          </p:cNvPr>
          <p:cNvSpPr>
            <a:spLocks noGrp="1"/>
          </p:cNvSpPr>
          <p:nvPr/>
        </p:nvSpPr>
        <p:spPr>
          <a:xfrm>
            <a:off x="609600" y="2038350"/>
            <a:ext cx="161925" cy="123825"/>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600" b="1">
                <a:solidFill>
                  <a:srgbClr val="2A9D8F"/>
                </a:solidFill>
                <a:latin typeface="Aptos"/>
                <a:ea typeface="Aptos"/>
                <a:cs typeface="Aptos"/>
              </a:defRPr>
            </a:pPr>
            <a:r>
              <a:rPr sz="600" b="1">
                <a:solidFill>
                  <a:srgbClr val="2A9D8F"/>
                </a:solidFill>
                <a:latin typeface="Aptos"/>
                <a:ea typeface="Aptos"/>
                <a:cs typeface="Aptos"/>
              </a:rPr>
              <a:t>2</a:t>
            </a:r>
          </a:p>
        </p:txBody>
      </p:sp>
      <p:sp>
        <p:nvSpPr>
          <p:cNvPr id="14" name="Rounded Rectangle 13">
            <a:extLst>
              <a:ext uri="{FF2B5EF4-FFF2-40B4-BE49-F238E27FC236}">
                <a16:creationId xmlns:a16="http://schemas.microsoft.com/office/drawing/2014/main" id="{E3E856C2-D9B1-4E3F-8138-5B9A3B2138AD}"/>
              </a:ext>
            </a:extLst>
          </p:cNvPr>
          <p:cNvSpPr>
            <a:spLocks noGrp="1"/>
          </p:cNvSpPr>
          <p:nvPr/>
        </p:nvSpPr>
        <p:spPr>
          <a:xfrm>
            <a:off x="609600" y="2247900"/>
            <a:ext cx="161925" cy="161925"/>
          </a:xfrm>
          <a:prstGeom prst="roundRect">
            <a:avLst>
              <a:gd name="adj" fmla="val 29412"/>
            </a:avLst>
          </a:prstGeom>
          <a:solidFill>
            <a:srgbClr val="FFFDF7">
              <a:alpha val="90196"/>
            </a:srgbClr>
          </a:solidFill>
          <a:ln w="9525">
            <a:solidFill>
              <a:srgbClr val="2A9D8F"/>
            </a:solidFill>
            <a:prstDash val="solid"/>
          </a:ln>
        </p:spPr>
        <p:txBody>
          <a:bodyPr/>
          <a:lstStyle/>
          <a:p>
            <a:endParaRPr/>
          </a:p>
        </p:txBody>
      </p:sp>
      <p:sp>
        <p:nvSpPr>
          <p:cNvPr id="15" name="Rectangle 14">
            <a:extLst>
              <a:ext uri="{FF2B5EF4-FFF2-40B4-BE49-F238E27FC236}">
                <a16:creationId xmlns:a16="http://schemas.microsoft.com/office/drawing/2014/main" id="{8F8745F0-C59C-4CF0-8AEE-6CF207E3D0FE}"/>
              </a:ext>
            </a:extLst>
          </p:cNvPr>
          <p:cNvSpPr>
            <a:spLocks noGrp="1"/>
          </p:cNvSpPr>
          <p:nvPr/>
        </p:nvSpPr>
        <p:spPr>
          <a:xfrm>
            <a:off x="609600" y="2266950"/>
            <a:ext cx="161925" cy="123825"/>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600" b="1">
                <a:solidFill>
                  <a:srgbClr val="2A9D8F"/>
                </a:solidFill>
                <a:latin typeface="Aptos"/>
                <a:ea typeface="Aptos"/>
                <a:cs typeface="Aptos"/>
              </a:defRPr>
            </a:pPr>
            <a:r>
              <a:rPr sz="600" b="1">
                <a:solidFill>
                  <a:srgbClr val="2A9D8F"/>
                </a:solidFill>
                <a:latin typeface="Aptos"/>
                <a:ea typeface="Aptos"/>
                <a:cs typeface="Aptos"/>
              </a:rPr>
              <a:t>3</a:t>
            </a:r>
          </a:p>
        </p:txBody>
      </p:sp>
      <p:sp>
        <p:nvSpPr>
          <p:cNvPr id="16" name="Rounded Rectangle 15">
            <a:extLst>
              <a:ext uri="{FF2B5EF4-FFF2-40B4-BE49-F238E27FC236}">
                <a16:creationId xmlns:a16="http://schemas.microsoft.com/office/drawing/2014/main" id="{8DED5CB5-C949-48D0-83F3-BE73AEC199C0}"/>
              </a:ext>
            </a:extLst>
          </p:cNvPr>
          <p:cNvSpPr>
            <a:spLocks noGrp="1"/>
          </p:cNvSpPr>
          <p:nvPr/>
        </p:nvSpPr>
        <p:spPr>
          <a:xfrm>
            <a:off x="609600" y="2476500"/>
            <a:ext cx="161925" cy="161925"/>
          </a:xfrm>
          <a:prstGeom prst="roundRect">
            <a:avLst>
              <a:gd name="adj" fmla="val 29412"/>
            </a:avLst>
          </a:prstGeom>
          <a:solidFill>
            <a:srgbClr val="FFFDF7">
              <a:alpha val="90196"/>
            </a:srgbClr>
          </a:solidFill>
          <a:ln w="9525">
            <a:solidFill>
              <a:srgbClr val="2A9D8F"/>
            </a:solidFill>
            <a:prstDash val="solid"/>
          </a:ln>
        </p:spPr>
        <p:txBody>
          <a:bodyPr/>
          <a:lstStyle/>
          <a:p>
            <a:endParaRPr/>
          </a:p>
        </p:txBody>
      </p:sp>
      <p:sp>
        <p:nvSpPr>
          <p:cNvPr id="17" name="Rectangle 16">
            <a:extLst>
              <a:ext uri="{FF2B5EF4-FFF2-40B4-BE49-F238E27FC236}">
                <a16:creationId xmlns:a16="http://schemas.microsoft.com/office/drawing/2014/main" id="{DA44D2DB-4023-4B40-8A91-F79AA07D10D3}"/>
              </a:ext>
            </a:extLst>
          </p:cNvPr>
          <p:cNvSpPr>
            <a:spLocks noGrp="1"/>
          </p:cNvSpPr>
          <p:nvPr/>
        </p:nvSpPr>
        <p:spPr>
          <a:xfrm>
            <a:off x="609600" y="2495550"/>
            <a:ext cx="161925" cy="123825"/>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600" b="1">
                <a:solidFill>
                  <a:srgbClr val="2A9D8F"/>
                </a:solidFill>
                <a:latin typeface="Aptos"/>
                <a:ea typeface="Aptos"/>
                <a:cs typeface="Aptos"/>
              </a:defRPr>
            </a:pPr>
            <a:r>
              <a:rPr sz="600" b="1">
                <a:solidFill>
                  <a:srgbClr val="2A9D8F"/>
                </a:solidFill>
                <a:latin typeface="Aptos"/>
                <a:ea typeface="Aptos"/>
                <a:cs typeface="Aptos"/>
              </a:rPr>
              <a:t>4</a:t>
            </a:r>
          </a:p>
        </p:txBody>
      </p:sp>
      <p:sp>
        <p:nvSpPr>
          <p:cNvPr id="19" name="Rounded Rectangle 18">
            <a:extLst>
              <a:ext uri="{FF2B5EF4-FFF2-40B4-BE49-F238E27FC236}">
                <a16:creationId xmlns:a16="http://schemas.microsoft.com/office/drawing/2014/main" id="{DFF0042D-48A5-49C2-A4B9-5FBC6024AC09}"/>
              </a:ext>
            </a:extLst>
          </p:cNvPr>
          <p:cNvSpPr>
            <a:spLocks noGrp="1"/>
          </p:cNvSpPr>
          <p:nvPr/>
        </p:nvSpPr>
        <p:spPr>
          <a:xfrm>
            <a:off x="5334000" y="1009650"/>
            <a:ext cx="6172200" cy="1466850"/>
          </a:xfrm>
          <a:prstGeom prst="roundRect">
            <a:avLst>
              <a:gd name="adj" fmla="val 3896"/>
            </a:avLst>
          </a:prstGeom>
          <a:solidFill>
            <a:srgbClr val="FFFDF7"/>
          </a:solidFill>
          <a:ln w="9525">
            <a:solidFill>
              <a:srgbClr val="CFC7B8"/>
            </a:solidFill>
            <a:prstDash val="solid"/>
          </a:ln>
        </p:spPr>
        <p:txBody>
          <a:bodyPr/>
          <a:lstStyle/>
          <a:p>
            <a:endParaRPr/>
          </a:p>
        </p:txBody>
      </p:sp>
      <p:sp>
        <p:nvSpPr>
          <p:cNvPr id="20" name="Rectangle 19">
            <a:extLst>
              <a:ext uri="{FF2B5EF4-FFF2-40B4-BE49-F238E27FC236}">
                <a16:creationId xmlns:a16="http://schemas.microsoft.com/office/drawing/2014/main" id="{07FD3A11-2129-470E-B7EF-C65F8B686922}"/>
              </a:ext>
            </a:extLst>
          </p:cNvPr>
          <p:cNvSpPr>
            <a:spLocks noGrp="1"/>
          </p:cNvSpPr>
          <p:nvPr/>
        </p:nvSpPr>
        <p:spPr>
          <a:xfrm>
            <a:off x="5562600" y="1181100"/>
            <a:ext cx="57150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1">
                <a:solidFill>
                  <a:srgbClr val="264653"/>
                </a:solidFill>
                <a:latin typeface="Aptos"/>
                <a:ea typeface="Aptos"/>
                <a:cs typeface="Aptos"/>
              </a:defRPr>
            </a:pPr>
            <a:r>
              <a:rPr sz="1350" b="1">
                <a:solidFill>
                  <a:srgbClr val="264653"/>
                </a:solidFill>
                <a:latin typeface="Aptos"/>
                <a:ea typeface="Aptos"/>
                <a:cs typeface="Aptos"/>
              </a:rPr>
              <a:t>page-level transcription</a:t>
            </a:r>
          </a:p>
        </p:txBody>
      </p:sp>
      <p:sp>
        <p:nvSpPr>
          <p:cNvPr id="21" name="Rectangle 20">
            <a:extLst>
              <a:ext uri="{FF2B5EF4-FFF2-40B4-BE49-F238E27FC236}">
                <a16:creationId xmlns:a16="http://schemas.microsoft.com/office/drawing/2014/main" id="{6E528CAA-4150-427E-B0D2-FEF602AB9BAD}"/>
              </a:ext>
            </a:extLst>
          </p:cNvPr>
          <p:cNvSpPr>
            <a:spLocks noGrp="1"/>
          </p:cNvSpPr>
          <p:nvPr/>
        </p:nvSpPr>
        <p:spPr>
          <a:xfrm>
            <a:off x="5695950" y="1600200"/>
            <a:ext cx="5448300" cy="7048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6000"/>
              </a:lnSpc>
              <a:buNone/>
              <a:defRPr sz="1155" b="0">
                <a:solidFill>
                  <a:srgbClr val="142026"/>
                </a:solidFill>
                <a:latin typeface="Aptos Mono"/>
                <a:ea typeface="Aptos Mono"/>
                <a:cs typeface="Aptos Mono"/>
              </a:defRPr>
            </a:pPr>
            <a:r>
              <a:rPr sz="1155" b="0">
                <a:solidFill>
                  <a:srgbClr val="142026"/>
                </a:solidFill>
                <a:latin typeface="Aptos Mono"/>
                <a:ea typeface="Aptos Mono"/>
                <a:cs typeface="Aptos Mono"/>
              </a:rPr>
              <a:t>be sure of idemnity. If your Honor would be kind enough to intimate this to General Shirley, or the Colonels of those Regiments,- it would be of service to us: without leave we</a:t>
            </a:r>
          </a:p>
        </p:txBody>
      </p:sp>
      <p:sp>
        <p:nvSpPr>
          <p:cNvPr id="22" name="Rounded Rectangle 21">
            <a:extLst>
              <a:ext uri="{FF2B5EF4-FFF2-40B4-BE49-F238E27FC236}">
                <a16:creationId xmlns:a16="http://schemas.microsoft.com/office/drawing/2014/main" id="{8845A299-9EDB-414C-B730-47FFF8D4E313}"/>
              </a:ext>
            </a:extLst>
          </p:cNvPr>
          <p:cNvSpPr>
            <a:spLocks noGrp="1"/>
          </p:cNvSpPr>
          <p:nvPr/>
        </p:nvSpPr>
        <p:spPr>
          <a:xfrm>
            <a:off x="5334000" y="3143250"/>
            <a:ext cx="6172200" cy="1638300"/>
          </a:xfrm>
          <a:prstGeom prst="roundRect">
            <a:avLst>
              <a:gd name="adj" fmla="val 3488"/>
            </a:avLst>
          </a:prstGeom>
          <a:solidFill>
            <a:srgbClr val="DDEDE9"/>
          </a:solidFill>
          <a:ln w="9525">
            <a:solidFill>
              <a:srgbClr val="2A9D8F"/>
            </a:solidFill>
            <a:prstDash val="solid"/>
          </a:ln>
        </p:spPr>
        <p:txBody>
          <a:bodyPr/>
          <a:lstStyle/>
          <a:p>
            <a:endParaRPr/>
          </a:p>
        </p:txBody>
      </p:sp>
      <p:sp>
        <p:nvSpPr>
          <p:cNvPr id="23" name="Rectangle 22">
            <a:extLst>
              <a:ext uri="{FF2B5EF4-FFF2-40B4-BE49-F238E27FC236}">
                <a16:creationId xmlns:a16="http://schemas.microsoft.com/office/drawing/2014/main" id="{F7C49F85-53F9-4298-A6BA-19FBF220F8A4}"/>
              </a:ext>
            </a:extLst>
          </p:cNvPr>
          <p:cNvSpPr>
            <a:spLocks noGrp="1"/>
          </p:cNvSpPr>
          <p:nvPr/>
        </p:nvSpPr>
        <p:spPr>
          <a:xfrm>
            <a:off x="5562600" y="3314700"/>
            <a:ext cx="57150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1">
                <a:solidFill>
                  <a:srgbClr val="264653"/>
                </a:solidFill>
                <a:latin typeface="Aptos"/>
                <a:ea typeface="Aptos"/>
                <a:cs typeface="Aptos"/>
              </a:defRPr>
            </a:pPr>
            <a:r>
              <a:rPr sz="1350" b="1">
                <a:solidFill>
                  <a:srgbClr val="264653"/>
                </a:solidFill>
                <a:latin typeface="Aptos"/>
                <a:ea typeface="Aptos"/>
                <a:cs typeface="Aptos"/>
              </a:rPr>
              <a:t>aligned line transcription</a:t>
            </a:r>
          </a:p>
        </p:txBody>
      </p:sp>
      <p:sp>
        <p:nvSpPr>
          <p:cNvPr id="24" name="Rectangle 23">
            <a:extLst>
              <a:ext uri="{FF2B5EF4-FFF2-40B4-BE49-F238E27FC236}">
                <a16:creationId xmlns:a16="http://schemas.microsoft.com/office/drawing/2014/main" id="{278ABE85-C8E6-41B8-981E-EEB2749CECB9}"/>
              </a:ext>
            </a:extLst>
          </p:cNvPr>
          <p:cNvSpPr>
            <a:spLocks noGrp="1"/>
          </p:cNvSpPr>
          <p:nvPr/>
        </p:nvSpPr>
        <p:spPr>
          <a:xfrm>
            <a:off x="5905500" y="3733800"/>
            <a:ext cx="5181600" cy="8763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0000"/>
              </a:lnSpc>
              <a:buNone/>
              <a:defRPr sz="1125" b="0">
                <a:solidFill>
                  <a:srgbClr val="142026"/>
                </a:solidFill>
                <a:latin typeface="Aptos Mono"/>
                <a:ea typeface="Aptos Mono"/>
                <a:cs typeface="Aptos Mono"/>
              </a:defRPr>
            </a:pPr>
            <a:r>
              <a:rPr sz="1125" b="0">
                <a:solidFill>
                  <a:srgbClr val="142026"/>
                </a:solidFill>
                <a:latin typeface="Aptos Mono"/>
                <a:ea typeface="Aptos Mono"/>
                <a:cs typeface="Aptos Mono"/>
              </a:rPr>
              <a:t>be sure of idemnity. If your Honor would</a:t>
            </a:r>
          </a:p>
          <a:p>
            <a:pPr algn="l">
              <a:lnSpc>
                <a:spcPct val="110000"/>
              </a:lnSpc>
              <a:buNone/>
              <a:defRPr sz="1125" b="0">
                <a:solidFill>
                  <a:srgbClr val="142026"/>
                </a:solidFill>
                <a:latin typeface="Aptos Mono"/>
                <a:ea typeface="Aptos Mono"/>
                <a:cs typeface="Aptos Mono"/>
              </a:defRPr>
            </a:pPr>
            <a:r>
              <a:rPr sz="1125" b="0">
                <a:solidFill>
                  <a:srgbClr val="142026"/>
                </a:solidFill>
                <a:latin typeface="Aptos Mono"/>
                <a:ea typeface="Aptos Mono"/>
                <a:cs typeface="Aptos Mono"/>
              </a:rPr>
              <a:t>be kind enough to intimate this to General</a:t>
            </a:r>
          </a:p>
          <a:p>
            <a:pPr algn="l">
              <a:lnSpc>
                <a:spcPct val="110000"/>
              </a:lnSpc>
              <a:buNone/>
              <a:defRPr sz="1125" b="0">
                <a:solidFill>
                  <a:srgbClr val="142026"/>
                </a:solidFill>
                <a:latin typeface="Aptos Mono"/>
                <a:ea typeface="Aptos Mono"/>
                <a:cs typeface="Aptos Mono"/>
              </a:defRPr>
            </a:pPr>
            <a:r>
              <a:rPr sz="1125" b="0">
                <a:solidFill>
                  <a:srgbClr val="142026"/>
                </a:solidFill>
                <a:latin typeface="Aptos Mono"/>
                <a:ea typeface="Aptos Mono"/>
                <a:cs typeface="Aptos Mono"/>
              </a:rPr>
              <a:t>Shirley, or the Colonels of those Regiments,- it</a:t>
            </a:r>
          </a:p>
          <a:p>
            <a:pPr algn="l">
              <a:lnSpc>
                <a:spcPct val="110000"/>
              </a:lnSpc>
              <a:buNone/>
              <a:defRPr sz="1125" b="0">
                <a:solidFill>
                  <a:srgbClr val="142026"/>
                </a:solidFill>
                <a:latin typeface="Aptos Mono"/>
                <a:ea typeface="Aptos Mono"/>
                <a:cs typeface="Aptos Mono"/>
              </a:defRPr>
            </a:pPr>
            <a:r>
              <a:rPr sz="1125" b="0">
                <a:solidFill>
                  <a:srgbClr val="142026"/>
                </a:solidFill>
                <a:latin typeface="Aptos Mono"/>
                <a:ea typeface="Aptos Mono"/>
                <a:cs typeface="Aptos Mono"/>
              </a:rPr>
              <a:t>would be of service to us: without leave we</a:t>
            </a:r>
          </a:p>
        </p:txBody>
      </p:sp>
      <p:sp>
        <p:nvSpPr>
          <p:cNvPr id="25" name="Rounded Rectangle 24">
            <a:extLst>
              <a:ext uri="{FF2B5EF4-FFF2-40B4-BE49-F238E27FC236}">
                <a16:creationId xmlns:a16="http://schemas.microsoft.com/office/drawing/2014/main" id="{2FBB7ADB-D507-4BC9-AE19-91935BD29BCC}"/>
              </a:ext>
            </a:extLst>
          </p:cNvPr>
          <p:cNvSpPr>
            <a:spLocks noGrp="1"/>
          </p:cNvSpPr>
          <p:nvPr/>
        </p:nvSpPr>
        <p:spPr>
          <a:xfrm>
            <a:off x="5657850" y="3743325"/>
            <a:ext cx="152400" cy="152400"/>
          </a:xfrm>
          <a:prstGeom prst="roundRect">
            <a:avLst>
              <a:gd name="adj" fmla="val 31250"/>
            </a:avLst>
          </a:prstGeom>
          <a:solidFill>
            <a:srgbClr val="DDEDE9">
              <a:alpha val="90196"/>
            </a:srgbClr>
          </a:solidFill>
          <a:ln w="9525">
            <a:solidFill>
              <a:srgbClr val="2A9D8F"/>
            </a:solidFill>
            <a:prstDash val="solid"/>
          </a:ln>
        </p:spPr>
        <p:txBody>
          <a:bodyPr/>
          <a:lstStyle/>
          <a:p>
            <a:endParaRPr/>
          </a:p>
        </p:txBody>
      </p:sp>
      <p:sp>
        <p:nvSpPr>
          <p:cNvPr id="26" name="Rectangle 25">
            <a:extLst>
              <a:ext uri="{FF2B5EF4-FFF2-40B4-BE49-F238E27FC236}">
                <a16:creationId xmlns:a16="http://schemas.microsoft.com/office/drawing/2014/main" id="{ED8BFABF-06C8-4D46-B91F-0B1CA07EB309}"/>
              </a:ext>
            </a:extLst>
          </p:cNvPr>
          <p:cNvSpPr>
            <a:spLocks noGrp="1"/>
          </p:cNvSpPr>
          <p:nvPr/>
        </p:nvSpPr>
        <p:spPr>
          <a:xfrm>
            <a:off x="5657850" y="3762375"/>
            <a:ext cx="152400" cy="1143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563" b="1">
                <a:solidFill>
                  <a:srgbClr val="2A9D8F"/>
                </a:solidFill>
                <a:latin typeface="Aptos"/>
                <a:ea typeface="Aptos"/>
                <a:cs typeface="Aptos"/>
              </a:defRPr>
            </a:pPr>
            <a:r>
              <a:rPr sz="563" b="1">
                <a:solidFill>
                  <a:srgbClr val="2A9D8F"/>
                </a:solidFill>
                <a:latin typeface="Aptos"/>
                <a:ea typeface="Aptos"/>
                <a:cs typeface="Aptos"/>
              </a:rPr>
              <a:t>1</a:t>
            </a:r>
          </a:p>
        </p:txBody>
      </p:sp>
      <p:sp>
        <p:nvSpPr>
          <p:cNvPr id="27" name="Rounded Rectangle 26">
            <a:extLst>
              <a:ext uri="{FF2B5EF4-FFF2-40B4-BE49-F238E27FC236}">
                <a16:creationId xmlns:a16="http://schemas.microsoft.com/office/drawing/2014/main" id="{872837B8-1A63-4549-9A0F-2E61B44FB888}"/>
              </a:ext>
            </a:extLst>
          </p:cNvPr>
          <p:cNvSpPr>
            <a:spLocks noGrp="1"/>
          </p:cNvSpPr>
          <p:nvPr/>
        </p:nvSpPr>
        <p:spPr>
          <a:xfrm>
            <a:off x="5657850" y="3943350"/>
            <a:ext cx="152400" cy="152400"/>
          </a:xfrm>
          <a:prstGeom prst="roundRect">
            <a:avLst>
              <a:gd name="adj" fmla="val 31250"/>
            </a:avLst>
          </a:prstGeom>
          <a:solidFill>
            <a:srgbClr val="DDEDE9">
              <a:alpha val="90196"/>
            </a:srgbClr>
          </a:solidFill>
          <a:ln w="9525">
            <a:solidFill>
              <a:srgbClr val="2A9D8F"/>
            </a:solidFill>
            <a:prstDash val="solid"/>
          </a:ln>
        </p:spPr>
        <p:txBody>
          <a:bodyPr/>
          <a:lstStyle/>
          <a:p>
            <a:endParaRPr/>
          </a:p>
        </p:txBody>
      </p:sp>
      <p:sp>
        <p:nvSpPr>
          <p:cNvPr id="28" name="Rectangle 27">
            <a:extLst>
              <a:ext uri="{FF2B5EF4-FFF2-40B4-BE49-F238E27FC236}">
                <a16:creationId xmlns:a16="http://schemas.microsoft.com/office/drawing/2014/main" id="{5615F2FF-1161-44E7-A1F9-9A6871CC6B27}"/>
              </a:ext>
            </a:extLst>
          </p:cNvPr>
          <p:cNvSpPr>
            <a:spLocks noGrp="1"/>
          </p:cNvSpPr>
          <p:nvPr/>
        </p:nvSpPr>
        <p:spPr>
          <a:xfrm>
            <a:off x="5657850" y="3962400"/>
            <a:ext cx="152400" cy="1143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563" b="1">
                <a:solidFill>
                  <a:srgbClr val="2A9D8F"/>
                </a:solidFill>
                <a:latin typeface="Aptos"/>
                <a:ea typeface="Aptos"/>
                <a:cs typeface="Aptos"/>
              </a:defRPr>
            </a:pPr>
            <a:r>
              <a:rPr sz="563" b="1">
                <a:solidFill>
                  <a:srgbClr val="2A9D8F"/>
                </a:solidFill>
                <a:latin typeface="Aptos"/>
                <a:ea typeface="Aptos"/>
                <a:cs typeface="Aptos"/>
              </a:rPr>
              <a:t>2</a:t>
            </a:r>
          </a:p>
        </p:txBody>
      </p:sp>
      <p:sp>
        <p:nvSpPr>
          <p:cNvPr id="29" name="Rounded Rectangle 28">
            <a:extLst>
              <a:ext uri="{FF2B5EF4-FFF2-40B4-BE49-F238E27FC236}">
                <a16:creationId xmlns:a16="http://schemas.microsoft.com/office/drawing/2014/main" id="{0C975FA7-D15A-4EED-AADD-A1209B9E436C}"/>
              </a:ext>
            </a:extLst>
          </p:cNvPr>
          <p:cNvSpPr>
            <a:spLocks noGrp="1"/>
          </p:cNvSpPr>
          <p:nvPr/>
        </p:nvSpPr>
        <p:spPr>
          <a:xfrm>
            <a:off x="5657850" y="4143375"/>
            <a:ext cx="152400" cy="152400"/>
          </a:xfrm>
          <a:prstGeom prst="roundRect">
            <a:avLst>
              <a:gd name="adj" fmla="val 31250"/>
            </a:avLst>
          </a:prstGeom>
          <a:solidFill>
            <a:srgbClr val="DDEDE9">
              <a:alpha val="90196"/>
            </a:srgbClr>
          </a:solidFill>
          <a:ln w="9525">
            <a:solidFill>
              <a:srgbClr val="2A9D8F"/>
            </a:solidFill>
            <a:prstDash val="solid"/>
          </a:ln>
        </p:spPr>
        <p:txBody>
          <a:bodyPr/>
          <a:lstStyle/>
          <a:p>
            <a:endParaRPr/>
          </a:p>
        </p:txBody>
      </p:sp>
      <p:sp>
        <p:nvSpPr>
          <p:cNvPr id="30" name="Rectangle 29">
            <a:extLst>
              <a:ext uri="{FF2B5EF4-FFF2-40B4-BE49-F238E27FC236}">
                <a16:creationId xmlns:a16="http://schemas.microsoft.com/office/drawing/2014/main" id="{5CDEC806-FFE3-4334-80A7-662AFC1BDBB7}"/>
              </a:ext>
            </a:extLst>
          </p:cNvPr>
          <p:cNvSpPr>
            <a:spLocks noGrp="1"/>
          </p:cNvSpPr>
          <p:nvPr/>
        </p:nvSpPr>
        <p:spPr>
          <a:xfrm>
            <a:off x="5657850" y="4162425"/>
            <a:ext cx="152400" cy="1143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563" b="1">
                <a:solidFill>
                  <a:srgbClr val="2A9D8F"/>
                </a:solidFill>
                <a:latin typeface="Aptos"/>
                <a:ea typeface="Aptos"/>
                <a:cs typeface="Aptos"/>
              </a:defRPr>
            </a:pPr>
            <a:r>
              <a:rPr sz="563" b="1">
                <a:solidFill>
                  <a:srgbClr val="2A9D8F"/>
                </a:solidFill>
                <a:latin typeface="Aptos"/>
                <a:ea typeface="Aptos"/>
                <a:cs typeface="Aptos"/>
              </a:rPr>
              <a:t>3</a:t>
            </a:r>
          </a:p>
        </p:txBody>
      </p:sp>
      <p:sp>
        <p:nvSpPr>
          <p:cNvPr id="31" name="Rounded Rectangle 30">
            <a:extLst>
              <a:ext uri="{FF2B5EF4-FFF2-40B4-BE49-F238E27FC236}">
                <a16:creationId xmlns:a16="http://schemas.microsoft.com/office/drawing/2014/main" id="{87ED0AFF-A326-4C3E-A87C-8C64A880C973}"/>
              </a:ext>
            </a:extLst>
          </p:cNvPr>
          <p:cNvSpPr>
            <a:spLocks noGrp="1"/>
          </p:cNvSpPr>
          <p:nvPr/>
        </p:nvSpPr>
        <p:spPr>
          <a:xfrm>
            <a:off x="5657850" y="4343400"/>
            <a:ext cx="152400" cy="152400"/>
          </a:xfrm>
          <a:prstGeom prst="roundRect">
            <a:avLst>
              <a:gd name="adj" fmla="val 31250"/>
            </a:avLst>
          </a:prstGeom>
          <a:solidFill>
            <a:srgbClr val="DDEDE9">
              <a:alpha val="90196"/>
            </a:srgbClr>
          </a:solidFill>
          <a:ln w="9525">
            <a:solidFill>
              <a:srgbClr val="2A9D8F"/>
            </a:solidFill>
            <a:prstDash val="solid"/>
          </a:ln>
        </p:spPr>
        <p:txBody>
          <a:bodyPr/>
          <a:lstStyle/>
          <a:p>
            <a:endParaRPr/>
          </a:p>
        </p:txBody>
      </p:sp>
      <p:sp>
        <p:nvSpPr>
          <p:cNvPr id="32" name="Rectangle 31">
            <a:extLst>
              <a:ext uri="{FF2B5EF4-FFF2-40B4-BE49-F238E27FC236}">
                <a16:creationId xmlns:a16="http://schemas.microsoft.com/office/drawing/2014/main" id="{A9F5A7BA-C8D5-4A2C-AA58-52367F862482}"/>
              </a:ext>
            </a:extLst>
          </p:cNvPr>
          <p:cNvSpPr>
            <a:spLocks noGrp="1"/>
          </p:cNvSpPr>
          <p:nvPr/>
        </p:nvSpPr>
        <p:spPr>
          <a:xfrm>
            <a:off x="5657850" y="4362450"/>
            <a:ext cx="152400" cy="1143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563" b="1">
                <a:solidFill>
                  <a:srgbClr val="2A9D8F"/>
                </a:solidFill>
                <a:latin typeface="Aptos"/>
                <a:ea typeface="Aptos"/>
                <a:cs typeface="Aptos"/>
              </a:defRPr>
            </a:pPr>
            <a:r>
              <a:rPr sz="563" b="1">
                <a:solidFill>
                  <a:srgbClr val="2A9D8F"/>
                </a:solidFill>
                <a:latin typeface="Aptos"/>
                <a:ea typeface="Aptos"/>
                <a:cs typeface="Aptos"/>
              </a:rPr>
              <a:t>4</a:t>
            </a:r>
          </a:p>
        </p:txBody>
      </p:sp>
      <p:sp>
        <p:nvSpPr>
          <p:cNvPr id="33" name="Rectangle 32">
            <a:extLst>
              <a:ext uri="{FF2B5EF4-FFF2-40B4-BE49-F238E27FC236}">
                <a16:creationId xmlns:a16="http://schemas.microsoft.com/office/drawing/2014/main" id="{A838B66C-68F7-48CF-AE66-122CD008ACD5}"/>
              </a:ext>
            </a:extLst>
          </p:cNvPr>
          <p:cNvSpPr>
            <a:spLocks noGrp="1"/>
          </p:cNvSpPr>
          <p:nvPr/>
        </p:nvSpPr>
        <p:spPr>
          <a:xfrm>
            <a:off x="8220075" y="2628900"/>
            <a:ext cx="40005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800" b="1">
                <a:solidFill>
                  <a:srgbClr val="2A9D8F"/>
                </a:solidFill>
                <a:latin typeface="Aptos"/>
                <a:ea typeface="Aptos"/>
                <a:cs typeface="Aptos"/>
              </a:defRPr>
            </a:pPr>
            <a:r>
              <a:rPr sz="1800" b="1">
                <a:solidFill>
                  <a:srgbClr val="2A9D8F"/>
                </a:solidFill>
                <a:latin typeface="Aptos"/>
                <a:ea typeface="Aptos"/>
                <a:cs typeface="Aptos"/>
              </a:rPr>
              <a:t>↓</a:t>
            </a:r>
          </a:p>
        </p:txBody>
      </p:sp>
      <p:sp>
        <p:nvSpPr>
          <p:cNvPr id="34" name="Rounded Rectangle 33">
            <a:extLst>
              <a:ext uri="{FF2B5EF4-FFF2-40B4-BE49-F238E27FC236}">
                <a16:creationId xmlns:a16="http://schemas.microsoft.com/office/drawing/2014/main" id="{F794B889-9034-4A17-B896-1A48EE7ED905}"/>
              </a:ext>
            </a:extLst>
          </p:cNvPr>
          <p:cNvSpPr>
            <a:spLocks noGrp="1"/>
          </p:cNvSpPr>
          <p:nvPr/>
        </p:nvSpPr>
        <p:spPr>
          <a:xfrm>
            <a:off x="1581150" y="5227543"/>
            <a:ext cx="9029700" cy="723900"/>
          </a:xfrm>
          <a:prstGeom prst="roundRect">
            <a:avLst>
              <a:gd name="adj" fmla="val 7895"/>
            </a:avLst>
          </a:prstGeom>
          <a:solidFill>
            <a:srgbClr val="F8F5EA"/>
          </a:solidFill>
          <a:ln w="9525">
            <a:solidFill>
              <a:srgbClr val="CFC7B8"/>
            </a:solidFill>
            <a:prstDash val="solid"/>
          </a:ln>
        </p:spPr>
        <p:txBody>
          <a:bodyPr/>
          <a:lstStyle/>
          <a:p>
            <a:endParaRPr/>
          </a:p>
        </p:txBody>
      </p:sp>
      <p:sp>
        <p:nvSpPr>
          <p:cNvPr id="35" name="Rectangle 34">
            <a:extLst>
              <a:ext uri="{FF2B5EF4-FFF2-40B4-BE49-F238E27FC236}">
                <a16:creationId xmlns:a16="http://schemas.microsoft.com/office/drawing/2014/main" id="{24F55F3B-40EE-4954-87F6-1CE0DE48ADB3}"/>
              </a:ext>
            </a:extLst>
          </p:cNvPr>
          <p:cNvSpPr>
            <a:spLocks noGrp="1"/>
          </p:cNvSpPr>
          <p:nvPr/>
        </p:nvSpPr>
        <p:spPr>
          <a:xfrm>
            <a:off x="1866900" y="5418043"/>
            <a:ext cx="177165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63" b="1">
                <a:solidFill>
                  <a:srgbClr val="264653"/>
                </a:solidFill>
                <a:latin typeface="Aptos"/>
                <a:ea typeface="Aptos"/>
                <a:cs typeface="Aptos"/>
              </a:defRPr>
            </a:pPr>
            <a:r>
              <a:rPr sz="1200" b="1">
                <a:solidFill>
                  <a:srgbClr val="264653"/>
                </a:solidFill>
                <a:latin typeface="Aptos"/>
                <a:ea typeface="Aptos"/>
                <a:cs typeface="Aptos"/>
              </a:rPr>
              <a:t>Line Evidence Enables Inspection</a:t>
            </a:r>
          </a:p>
        </p:txBody>
      </p:sp>
      <p:sp>
        <p:nvSpPr>
          <p:cNvPr id="36" name="Rectangle 35">
            <a:extLst>
              <a:ext uri="{FF2B5EF4-FFF2-40B4-BE49-F238E27FC236}">
                <a16:creationId xmlns:a16="http://schemas.microsoft.com/office/drawing/2014/main" id="{53B97B09-9CFC-4568-A23B-4A3A2AE09DAF}"/>
              </a:ext>
            </a:extLst>
          </p:cNvPr>
          <p:cNvSpPr>
            <a:spLocks noGrp="1"/>
          </p:cNvSpPr>
          <p:nvPr/>
        </p:nvSpPr>
        <p:spPr>
          <a:xfrm>
            <a:off x="3676650" y="5379943"/>
            <a:ext cx="661035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nSpc>
                <a:spcPct val="112000"/>
              </a:lnSpc>
              <a:buNone/>
              <a:defRPr sz="1035" b="0">
                <a:solidFill>
                  <a:srgbClr val="142026"/>
                </a:solidFill>
                <a:latin typeface="Aptos"/>
                <a:ea typeface="Aptos"/>
                <a:cs typeface="Aptos"/>
              </a:defRPr>
            </a:pPr>
            <a:r>
              <a:rPr sz="1100"/>
              <a:t>Line boundaries connect transcription back to the visual page; in the document pipeline, newline-only alignment links available structure to the fixed transcription.</a:t>
            </a:r>
          </a:p>
        </p:txBody>
      </p:sp>
      <p:sp>
        <p:nvSpPr>
          <p:cNvPr id="9" name="Rectangle 8">
            <a:extLst>
              <a:ext uri="{FF2B5EF4-FFF2-40B4-BE49-F238E27FC236}">
                <a16:creationId xmlns:a16="http://schemas.microsoft.com/office/drawing/2014/main" id="{266E6102-DC38-5C3B-6E26-70D95AD61165}"/>
              </a:ext>
            </a:extLst>
          </p:cNvPr>
          <p:cNvSpPr>
            <a:spLocks noGrp="1"/>
          </p:cNvSpPr>
          <p:nvPr/>
        </p:nvSpPr>
        <p:spPr>
          <a:xfrm rot="18953668">
            <a:off x="4829362" y="3180776"/>
            <a:ext cx="40005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800" b="1">
                <a:solidFill>
                  <a:srgbClr val="2A9D8F"/>
                </a:solidFill>
                <a:latin typeface="Aptos"/>
                <a:ea typeface="Aptos"/>
                <a:cs typeface="Aptos"/>
              </a:defRPr>
            </a:pPr>
            <a:r>
              <a:rPr sz="1800" b="1">
                <a:solidFill>
                  <a:srgbClr val="2A9D8F"/>
                </a:solidFill>
                <a:latin typeface="Aptos"/>
                <a:ea typeface="Aptos"/>
                <a:cs typeface="Aptos"/>
              </a:rPr>
              <a:t>↓</a:t>
            </a:r>
          </a:p>
        </p:txBody>
      </p:sp>
    </p:spTree>
    <p:extLst>
      <p:ext uri="{BB962C8B-B14F-4D97-AF65-F5344CB8AC3E}">
        <p14:creationId xmlns:p14="http://schemas.microsoft.com/office/powerpoint/2010/main" val="338133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0A7004-A0C5-4308-9BE5-877645EA5348}"/>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0AE0CF35-4250-4A56-B61F-70BBAF496C0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EF48DED-C2D9-4A4D-8FE1-8E73E125DA74}"/>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Rationale</a:t>
            </a:r>
          </a:p>
        </p:txBody>
      </p:sp>
      <p:sp>
        <p:nvSpPr>
          <p:cNvPr id="4" name="Rectangle 3">
            <a:extLst>
              <a:ext uri="{FF2B5EF4-FFF2-40B4-BE49-F238E27FC236}">
                <a16:creationId xmlns:a16="http://schemas.microsoft.com/office/drawing/2014/main" id="{BC052E28-562E-4D89-AF61-6EA20BEC69AF}"/>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Why VLMs</a:t>
            </a:r>
          </a:p>
        </p:txBody>
      </p:sp>
      <p:sp>
        <p:nvSpPr>
          <p:cNvPr id="5" name="Rectangle 4">
            <a:extLst>
              <a:ext uri="{FF2B5EF4-FFF2-40B4-BE49-F238E27FC236}">
                <a16:creationId xmlns:a16="http://schemas.microsoft.com/office/drawing/2014/main" id="{18CA40B8-7FA7-4947-97C9-BE99EAF76BB6}"/>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5310094F-DA64-4BD8-9666-B34AA87F391B}"/>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03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8343EB02-E8C9-4F59-A567-92AAD907D078}"/>
              </a:ext>
            </a:extLst>
          </p:cNvPr>
          <p:cNvSpPr>
            <a:spLocks noGrp="1"/>
          </p:cNvSpPr>
          <p:nvPr/>
        </p:nvSpPr>
        <p:spPr>
          <a:xfrm>
            <a:off x="933450" y="1200150"/>
            <a:ext cx="4857750" cy="2838450"/>
          </a:xfrm>
          <a:prstGeom prst="roundRect">
            <a:avLst>
              <a:gd name="adj" fmla="val 2013"/>
            </a:avLst>
          </a:prstGeom>
          <a:solidFill>
            <a:srgbClr val="FFFDF7"/>
          </a:solidFill>
          <a:ln w="9525">
            <a:solidFill>
              <a:srgbClr val="CFC7B8"/>
            </a:solidFill>
            <a:prstDash val="solid"/>
          </a:ln>
        </p:spPr>
        <p:txBody>
          <a:bodyPr/>
          <a:lstStyle/>
          <a:p>
            <a:endParaRPr/>
          </a:p>
        </p:txBody>
      </p:sp>
      <p:sp>
        <p:nvSpPr>
          <p:cNvPr id="8" name="Rectangle 7">
            <a:extLst>
              <a:ext uri="{FF2B5EF4-FFF2-40B4-BE49-F238E27FC236}">
                <a16:creationId xmlns:a16="http://schemas.microsoft.com/office/drawing/2014/main" id="{F3592ED6-C2C7-4042-8761-BD837BA0C4AE}"/>
              </a:ext>
            </a:extLst>
          </p:cNvPr>
          <p:cNvSpPr>
            <a:spLocks noGrp="1"/>
          </p:cNvSpPr>
          <p:nvPr/>
        </p:nvSpPr>
        <p:spPr>
          <a:xfrm>
            <a:off x="1257300" y="1600200"/>
            <a:ext cx="4210050" cy="2667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725" b="1">
                <a:solidFill>
                  <a:srgbClr val="264653"/>
                </a:solidFill>
                <a:latin typeface="Aptos Display"/>
                <a:ea typeface="Aptos Display"/>
                <a:cs typeface="Aptos Display"/>
              </a:defRPr>
            </a:pPr>
            <a:r>
              <a:rPr sz="1725" b="1">
                <a:solidFill>
                  <a:srgbClr val="264653"/>
                </a:solidFill>
                <a:latin typeface="Aptos Display"/>
                <a:ea typeface="Aptos Display"/>
                <a:cs typeface="Aptos Display"/>
              </a:rPr>
              <a:t>Why VLMs</a:t>
            </a:r>
          </a:p>
        </p:txBody>
      </p:sp>
      <p:sp>
        <p:nvSpPr>
          <p:cNvPr id="9" name="Rectangle 8">
            <a:extLst>
              <a:ext uri="{FF2B5EF4-FFF2-40B4-BE49-F238E27FC236}">
                <a16:creationId xmlns:a16="http://schemas.microsoft.com/office/drawing/2014/main" id="{479B7823-80C2-40B5-9081-874A87C0E563}"/>
              </a:ext>
            </a:extLst>
          </p:cNvPr>
          <p:cNvSpPr>
            <a:spLocks noGrp="1"/>
          </p:cNvSpPr>
          <p:nvPr/>
        </p:nvSpPr>
        <p:spPr>
          <a:xfrm>
            <a:off x="1352550" y="2190750"/>
            <a:ext cx="4210050" cy="16002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nSpc>
                <a:spcPct val="125000"/>
              </a:lnSpc>
              <a:buNone/>
              <a:defRPr sz="1380" b="0">
                <a:solidFill>
                  <a:srgbClr val="142026"/>
                </a:solidFill>
                <a:latin typeface="Aptos"/>
                <a:ea typeface="Aptos"/>
                <a:cs typeface="Aptos"/>
              </a:defRPr>
            </a:pPr>
            <a:r>
              <a:rPr sz="1380" b="0">
                <a:solidFill>
                  <a:srgbClr val="142026"/>
                </a:solidFill>
                <a:latin typeface="Aptos"/>
                <a:ea typeface="Aptos"/>
                <a:cs typeface="Aptos"/>
              </a:rPr>
              <a:t>- </a:t>
            </a:r>
            <a:r>
              <a:rPr sz="1380">
                <a:solidFill>
                  <a:srgbClr val="142026"/>
                </a:solidFill>
                <a:latin typeface="Aptos"/>
                <a:ea typeface="Aptos"/>
                <a:cs typeface="Aptos"/>
              </a:rPr>
              <a:t>Avoid training a task-specific aligner for every evidence setting</a:t>
            </a:r>
          </a:p>
          <a:p>
            <a:pPr algn="l">
              <a:lnSpc>
                <a:spcPct val="125000"/>
              </a:lnSpc>
              <a:buNone/>
              <a:defRPr sz="1380" b="0">
                <a:solidFill>
                  <a:srgbClr val="142026"/>
                </a:solidFill>
                <a:latin typeface="Aptos"/>
                <a:ea typeface="Aptos"/>
                <a:cs typeface="Aptos"/>
              </a:defRPr>
            </a:pPr>
            <a:r>
              <a:rPr sz="1380" b="0">
                <a:solidFill>
                  <a:srgbClr val="142026"/>
                </a:solidFill>
                <a:latin typeface="Aptos"/>
                <a:ea typeface="Aptos"/>
                <a:cs typeface="Aptos"/>
              </a:rPr>
              <a:t>- Combine page image, line crops, OCR/HTR hints, and fixed transcription</a:t>
            </a:r>
          </a:p>
          <a:p>
            <a:pPr algn="l">
              <a:lnSpc>
                <a:spcPct val="125000"/>
              </a:lnSpc>
              <a:buNone/>
              <a:defRPr sz="1380" b="0">
                <a:solidFill>
                  <a:srgbClr val="142026"/>
                </a:solidFill>
                <a:latin typeface="Aptos"/>
                <a:ea typeface="Aptos"/>
                <a:cs typeface="Aptos"/>
              </a:defRPr>
            </a:pPr>
            <a:r>
              <a:rPr sz="1380" b="0">
                <a:solidFill>
                  <a:srgbClr val="142026"/>
                </a:solidFill>
                <a:latin typeface="Aptos"/>
                <a:ea typeface="Aptos"/>
                <a:cs typeface="Aptos"/>
              </a:rPr>
              <a:t>- </a:t>
            </a:r>
            <a:r>
              <a:rPr sz="1380">
                <a:solidFill>
                  <a:srgbClr val="142026"/>
                </a:solidFill>
                <a:latin typeface="Aptos"/>
                <a:ea typeface="Aptos"/>
                <a:cs typeface="Aptos"/>
              </a:rPr>
              <a:t>U</a:t>
            </a:r>
            <a:r>
              <a:rPr sz="1380" b="0">
                <a:solidFill>
                  <a:srgbClr val="142026"/>
                </a:solidFill>
                <a:latin typeface="Aptos"/>
                <a:ea typeface="Aptos"/>
                <a:cs typeface="Aptos"/>
              </a:rPr>
              <a:t>se visual layout and textual context together</a:t>
            </a:r>
          </a:p>
          <a:p>
            <a:pPr algn="l">
              <a:lnSpc>
                <a:spcPct val="125000"/>
              </a:lnSpc>
              <a:buNone/>
              <a:defRPr sz="1380" b="0">
                <a:solidFill>
                  <a:srgbClr val="142026"/>
                </a:solidFill>
                <a:latin typeface="Aptos"/>
                <a:ea typeface="Aptos"/>
                <a:cs typeface="Aptos"/>
              </a:defRPr>
            </a:pPr>
            <a:endParaRPr sz="1380" b="0">
              <a:solidFill>
                <a:srgbClr val="142026"/>
              </a:solidFill>
              <a:latin typeface="Aptos"/>
              <a:ea typeface="Aptos"/>
              <a:cs typeface="Aptos"/>
            </a:endParaRPr>
          </a:p>
        </p:txBody>
      </p:sp>
      <p:sp>
        <p:nvSpPr>
          <p:cNvPr id="10" name="Rounded Rectangle 9">
            <a:extLst>
              <a:ext uri="{FF2B5EF4-FFF2-40B4-BE49-F238E27FC236}">
                <a16:creationId xmlns:a16="http://schemas.microsoft.com/office/drawing/2014/main" id="{EB5FE465-4D5D-4552-8F12-E0FD604FB83F}"/>
              </a:ext>
            </a:extLst>
          </p:cNvPr>
          <p:cNvSpPr>
            <a:spLocks noGrp="1"/>
          </p:cNvSpPr>
          <p:nvPr/>
        </p:nvSpPr>
        <p:spPr>
          <a:xfrm>
            <a:off x="6400800" y="1200150"/>
            <a:ext cx="4857750" cy="2838450"/>
          </a:xfrm>
          <a:prstGeom prst="roundRect">
            <a:avLst>
              <a:gd name="adj" fmla="val 2013"/>
            </a:avLst>
          </a:prstGeom>
          <a:solidFill>
            <a:srgbClr val="FFFDF7"/>
          </a:solidFill>
          <a:ln w="9525">
            <a:solidFill>
              <a:srgbClr val="CFC7B8"/>
            </a:solidFill>
            <a:prstDash val="solid"/>
          </a:ln>
        </p:spPr>
        <p:txBody>
          <a:bodyPr/>
          <a:lstStyle/>
          <a:p>
            <a:endParaRPr/>
          </a:p>
        </p:txBody>
      </p:sp>
      <p:sp>
        <p:nvSpPr>
          <p:cNvPr id="11" name="Rectangle 10">
            <a:extLst>
              <a:ext uri="{FF2B5EF4-FFF2-40B4-BE49-F238E27FC236}">
                <a16:creationId xmlns:a16="http://schemas.microsoft.com/office/drawing/2014/main" id="{38600FF2-477A-4C7E-A6E4-43459F157696}"/>
              </a:ext>
            </a:extLst>
          </p:cNvPr>
          <p:cNvSpPr>
            <a:spLocks noGrp="1"/>
          </p:cNvSpPr>
          <p:nvPr/>
        </p:nvSpPr>
        <p:spPr>
          <a:xfrm>
            <a:off x="6724650" y="1600200"/>
            <a:ext cx="4210050" cy="2667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725" b="1">
                <a:solidFill>
                  <a:srgbClr val="E76F51"/>
                </a:solidFill>
                <a:latin typeface="Aptos Display"/>
                <a:ea typeface="Aptos Display"/>
                <a:cs typeface="Aptos Display"/>
              </a:defRPr>
            </a:pPr>
            <a:r>
              <a:rPr sz="1725" b="1">
                <a:solidFill>
                  <a:srgbClr val="E76F51"/>
                </a:solidFill>
                <a:latin typeface="Aptos Display"/>
                <a:ea typeface="Aptos Display"/>
                <a:cs typeface="Aptos Display"/>
              </a:rPr>
              <a:t>Challenges</a:t>
            </a:r>
          </a:p>
        </p:txBody>
      </p:sp>
      <p:sp>
        <p:nvSpPr>
          <p:cNvPr id="12" name="Rectangle 11">
            <a:extLst>
              <a:ext uri="{FF2B5EF4-FFF2-40B4-BE49-F238E27FC236}">
                <a16:creationId xmlns:a16="http://schemas.microsoft.com/office/drawing/2014/main" id="{7CD8E524-7DB0-4667-AAEC-573FD695FA14}"/>
              </a:ext>
            </a:extLst>
          </p:cNvPr>
          <p:cNvSpPr>
            <a:spLocks noGrp="1"/>
          </p:cNvSpPr>
          <p:nvPr/>
        </p:nvSpPr>
        <p:spPr>
          <a:xfrm>
            <a:off x="6819900" y="2247900"/>
            <a:ext cx="4210050" cy="16002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25000"/>
              </a:lnSpc>
              <a:buNone/>
              <a:defRPr sz="1380" b="0">
                <a:solidFill>
                  <a:srgbClr val="142026"/>
                </a:solidFill>
                <a:latin typeface="Aptos"/>
                <a:ea typeface="Aptos"/>
                <a:cs typeface="Aptos"/>
              </a:defRPr>
            </a:pPr>
            <a:r>
              <a:rPr sz="1380" b="0">
                <a:solidFill>
                  <a:srgbClr val="142026"/>
                </a:solidFill>
                <a:latin typeface="Aptos"/>
                <a:ea typeface="Aptos"/>
                <a:cs typeface="Aptos"/>
              </a:rPr>
              <a:t>- Generative output may omit, normalize, or add text</a:t>
            </a:r>
          </a:p>
          <a:p>
            <a:pPr algn="l">
              <a:lnSpc>
                <a:spcPct val="125000"/>
              </a:lnSpc>
              <a:buNone/>
              <a:defRPr sz="1380" b="0">
                <a:solidFill>
                  <a:srgbClr val="142026"/>
                </a:solidFill>
                <a:latin typeface="Aptos"/>
                <a:ea typeface="Aptos"/>
                <a:cs typeface="Aptos"/>
              </a:defRPr>
            </a:pPr>
            <a:r>
              <a:rPr sz="1380" b="0">
                <a:solidFill>
                  <a:srgbClr val="142026"/>
                </a:solidFill>
                <a:latin typeface="Aptos"/>
                <a:ea typeface="Aptos"/>
                <a:cs typeface="Aptos"/>
              </a:rPr>
              <a:t>- Copied text is not trusted as final content</a:t>
            </a:r>
          </a:p>
          <a:p>
            <a:pPr algn="l">
              <a:lnSpc>
                <a:spcPct val="125000"/>
              </a:lnSpc>
              <a:buNone/>
              <a:defRPr sz="1380" b="0">
                <a:solidFill>
                  <a:srgbClr val="142026"/>
                </a:solidFill>
                <a:latin typeface="Aptos"/>
                <a:ea typeface="Aptos"/>
                <a:cs typeface="Aptos"/>
              </a:defRPr>
            </a:pPr>
            <a:r>
              <a:rPr sz="1380" b="0">
                <a:solidFill>
                  <a:srgbClr val="142026"/>
                </a:solidFill>
                <a:latin typeface="Aptos"/>
                <a:ea typeface="Aptos"/>
                <a:cs typeface="Aptos"/>
              </a:rPr>
              <a:t>- Transcription alignment needs post-processing</a:t>
            </a:r>
          </a:p>
        </p:txBody>
      </p:sp>
      <p:sp>
        <p:nvSpPr>
          <p:cNvPr id="13" name="Rounded Rectangle 12">
            <a:extLst>
              <a:ext uri="{FF2B5EF4-FFF2-40B4-BE49-F238E27FC236}">
                <a16:creationId xmlns:a16="http://schemas.microsoft.com/office/drawing/2014/main" id="{571B2B79-CF18-4E80-9D4C-29B665AF5728}"/>
              </a:ext>
            </a:extLst>
          </p:cNvPr>
          <p:cNvSpPr>
            <a:spLocks noGrp="1"/>
          </p:cNvSpPr>
          <p:nvPr/>
        </p:nvSpPr>
        <p:spPr>
          <a:xfrm>
            <a:off x="2038350" y="4819650"/>
            <a:ext cx="8115300" cy="533400"/>
          </a:xfrm>
          <a:prstGeom prst="roundRect">
            <a:avLst>
              <a:gd name="adj" fmla="val 10714"/>
            </a:avLst>
          </a:prstGeom>
          <a:solidFill>
            <a:srgbClr val="DDEDE9"/>
          </a:solidFill>
          <a:ln w="9525">
            <a:solidFill>
              <a:srgbClr val="2A9D8F"/>
            </a:solidFill>
            <a:prstDash val="solid"/>
          </a:ln>
        </p:spPr>
        <p:txBody>
          <a:bodyPr/>
          <a:lstStyle/>
          <a:p>
            <a:endParaRPr/>
          </a:p>
        </p:txBody>
      </p:sp>
      <p:sp>
        <p:nvSpPr>
          <p:cNvPr id="14" name="Rectangle 13">
            <a:extLst>
              <a:ext uri="{FF2B5EF4-FFF2-40B4-BE49-F238E27FC236}">
                <a16:creationId xmlns:a16="http://schemas.microsoft.com/office/drawing/2014/main" id="{8DA492D2-4EA7-4BBD-B9AD-64FB8D534471}"/>
              </a:ext>
            </a:extLst>
          </p:cNvPr>
          <p:cNvSpPr>
            <a:spLocks noGrp="1"/>
          </p:cNvSpPr>
          <p:nvPr/>
        </p:nvSpPr>
        <p:spPr>
          <a:xfrm>
            <a:off x="2324100" y="4981575"/>
            <a:ext cx="754380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455" b="1">
                <a:solidFill>
                  <a:srgbClr val="264653"/>
                </a:solidFill>
                <a:latin typeface="Aptos"/>
                <a:ea typeface="Aptos"/>
                <a:cs typeface="Aptos"/>
              </a:defRPr>
            </a:pPr>
            <a:r>
              <a:rPr sz="1455" b="1">
                <a:solidFill>
                  <a:srgbClr val="264653"/>
                </a:solidFill>
                <a:latin typeface="Aptos"/>
                <a:ea typeface="Aptos"/>
                <a:cs typeface="Aptos"/>
              </a:rPr>
              <a:t>Evaluate input combinations + control setups, not just models.</a:t>
            </a:r>
          </a:p>
        </p:txBody>
      </p:sp>
    </p:spTree>
    <p:extLst>
      <p:ext uri="{BB962C8B-B14F-4D97-AF65-F5344CB8AC3E}">
        <p14:creationId xmlns:p14="http://schemas.microsoft.com/office/powerpoint/2010/main" val="1585077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8024660-5707-4358-B19B-7C405401267C}"/>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301FCBA9-CD37-4361-AA16-D06534583BAE}"/>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2DF33AAB-F575-48A4-8CA3-D47F3A8EB3FC}"/>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Contribution</a:t>
            </a:r>
          </a:p>
        </p:txBody>
      </p:sp>
      <p:sp>
        <p:nvSpPr>
          <p:cNvPr id="4" name="Rectangle 3">
            <a:extLst>
              <a:ext uri="{FF2B5EF4-FFF2-40B4-BE49-F238E27FC236}">
                <a16:creationId xmlns:a16="http://schemas.microsoft.com/office/drawing/2014/main" id="{72BF8C56-53E6-4B8A-BF4E-5322946A5A50}"/>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Research Questions &amp; Contribution</a:t>
            </a:r>
          </a:p>
        </p:txBody>
      </p:sp>
      <p:sp>
        <p:nvSpPr>
          <p:cNvPr id="5" name="Rectangle 4">
            <a:extLst>
              <a:ext uri="{FF2B5EF4-FFF2-40B4-BE49-F238E27FC236}">
                <a16:creationId xmlns:a16="http://schemas.microsoft.com/office/drawing/2014/main" id="{77EA08BA-FD2C-4660-A0A9-907B0603E65D}"/>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3C42479C-6F53-423F-AA41-F66ADBE30CBB}"/>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04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2B587037-0240-4CE5-9ECA-C6F801D21755}"/>
              </a:ext>
            </a:extLst>
          </p:cNvPr>
          <p:cNvSpPr>
            <a:spLocks noGrp="1"/>
          </p:cNvSpPr>
          <p:nvPr/>
        </p:nvSpPr>
        <p:spPr>
          <a:xfrm>
            <a:off x="914400" y="1162050"/>
            <a:ext cx="10363200" cy="933450"/>
          </a:xfrm>
          <a:prstGeom prst="roundRect">
            <a:avLst>
              <a:gd name="adj" fmla="val 6122"/>
            </a:avLst>
          </a:prstGeom>
          <a:solidFill>
            <a:srgbClr val="FFFDF7"/>
          </a:solidFill>
          <a:ln w="9525">
            <a:solidFill>
              <a:srgbClr val="CFC7B8"/>
            </a:solidFill>
            <a:prstDash val="solid"/>
          </a:ln>
        </p:spPr>
        <p:txBody>
          <a:bodyPr anchor="ctr"/>
          <a:lstStyle/>
          <a:p>
            <a:endParaRPr/>
          </a:p>
        </p:txBody>
      </p:sp>
      <p:sp>
        <p:nvSpPr>
          <p:cNvPr id="8" name="Rounded Rectangle 7">
            <a:extLst>
              <a:ext uri="{FF2B5EF4-FFF2-40B4-BE49-F238E27FC236}">
                <a16:creationId xmlns:a16="http://schemas.microsoft.com/office/drawing/2014/main" id="{C62360DF-A81A-4271-8FFF-363E3207D588}"/>
              </a:ext>
            </a:extLst>
          </p:cNvPr>
          <p:cNvSpPr>
            <a:spLocks noGrp="1"/>
          </p:cNvSpPr>
          <p:nvPr/>
        </p:nvSpPr>
        <p:spPr>
          <a:xfrm>
            <a:off x="1123950" y="1371600"/>
            <a:ext cx="723900" cy="419100"/>
          </a:xfrm>
          <a:prstGeom prst="roundRect">
            <a:avLst>
              <a:gd name="adj" fmla="val 13636"/>
            </a:avLst>
          </a:prstGeom>
          <a:solidFill>
            <a:srgbClr val="2A9D8F"/>
          </a:solidFill>
          <a:ln w="0">
            <a:solidFill>
              <a:srgbClr val="000000">
                <a:alpha val="0"/>
              </a:srgbClr>
            </a:solidFill>
            <a:prstDash val="solid"/>
          </a:ln>
        </p:spPr>
        <p:txBody>
          <a:bodyPr anchor="ctr"/>
          <a:lstStyle/>
          <a:p>
            <a:endParaRPr/>
          </a:p>
        </p:txBody>
      </p:sp>
      <p:sp>
        <p:nvSpPr>
          <p:cNvPr id="9" name="Rectangle 8">
            <a:extLst>
              <a:ext uri="{FF2B5EF4-FFF2-40B4-BE49-F238E27FC236}">
                <a16:creationId xmlns:a16="http://schemas.microsoft.com/office/drawing/2014/main" id="{19A61419-51D0-4946-8D28-615D20B9451C}"/>
              </a:ext>
            </a:extLst>
          </p:cNvPr>
          <p:cNvSpPr>
            <a:spLocks noGrp="1"/>
          </p:cNvSpPr>
          <p:nvPr/>
        </p:nvSpPr>
        <p:spPr>
          <a:xfrm>
            <a:off x="1123950" y="1476375"/>
            <a:ext cx="723900" cy="1905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RQ1</a:t>
            </a:r>
          </a:p>
        </p:txBody>
      </p:sp>
      <p:sp>
        <p:nvSpPr>
          <p:cNvPr id="10" name="Rectangle 9">
            <a:extLst>
              <a:ext uri="{FF2B5EF4-FFF2-40B4-BE49-F238E27FC236}">
                <a16:creationId xmlns:a16="http://schemas.microsoft.com/office/drawing/2014/main" id="{26E47A0B-E1EF-4FEB-AC5B-77A2730CA89F}"/>
              </a:ext>
            </a:extLst>
          </p:cNvPr>
          <p:cNvSpPr>
            <a:spLocks noGrp="1"/>
          </p:cNvSpPr>
          <p:nvPr/>
        </p:nvSpPr>
        <p:spPr>
          <a:xfrm>
            <a:off x="2114550" y="1333500"/>
            <a:ext cx="4476750" cy="2857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1350" b="1">
                <a:solidFill>
                  <a:srgbClr val="142026"/>
                </a:solidFill>
                <a:latin typeface="Aptos"/>
                <a:ea typeface="Aptos"/>
                <a:cs typeface="Aptos"/>
              </a:defRPr>
            </a:pPr>
            <a:r>
              <a:rPr sz="1350" b="1">
                <a:solidFill>
                  <a:srgbClr val="142026"/>
                </a:solidFill>
                <a:latin typeface="Aptos"/>
                <a:ea typeface="Aptos"/>
                <a:cs typeface="Aptos"/>
              </a:rPr>
              <a:t>Which Input And Method Variants Improve Newline-Boundary Accuracy For Fixed Transcriptions?</a:t>
            </a:r>
          </a:p>
        </p:txBody>
      </p:sp>
      <p:sp>
        <p:nvSpPr>
          <p:cNvPr id="11" name="Rectangle 10">
            <a:extLst>
              <a:ext uri="{FF2B5EF4-FFF2-40B4-BE49-F238E27FC236}">
                <a16:creationId xmlns:a16="http://schemas.microsoft.com/office/drawing/2014/main" id="{45BC9B1B-CF23-4D27-A699-F927866B466C}"/>
              </a:ext>
            </a:extLst>
          </p:cNvPr>
          <p:cNvSpPr>
            <a:spLocks noGrp="1"/>
          </p:cNvSpPr>
          <p:nvPr/>
        </p:nvSpPr>
        <p:spPr>
          <a:xfrm>
            <a:off x="6953250" y="1428750"/>
            <a:ext cx="3905250" cy="2667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275" b="0">
                <a:solidFill>
                  <a:srgbClr val="264653"/>
                </a:solidFill>
                <a:latin typeface="Aptos"/>
                <a:ea typeface="Aptos"/>
                <a:cs typeface="Aptos"/>
              </a:defRPr>
            </a:pPr>
            <a:r>
              <a:rPr sz="1275">
                <a:solidFill>
                  <a:srgbClr val="264653"/>
                </a:solidFill>
                <a:latin typeface="Aptos"/>
                <a:ea typeface="Aptos"/>
                <a:cs typeface="Aptos"/>
              </a:rPr>
              <a:t>Compare input and method variants under fixed transcription</a:t>
            </a:r>
          </a:p>
        </p:txBody>
      </p:sp>
      <p:sp>
        <p:nvSpPr>
          <p:cNvPr id="12" name="Rounded Rectangle 11">
            <a:extLst>
              <a:ext uri="{FF2B5EF4-FFF2-40B4-BE49-F238E27FC236}">
                <a16:creationId xmlns:a16="http://schemas.microsoft.com/office/drawing/2014/main" id="{8113CFB8-A04E-4268-9A68-C3C01E09550B}"/>
              </a:ext>
            </a:extLst>
          </p:cNvPr>
          <p:cNvSpPr>
            <a:spLocks noGrp="1"/>
          </p:cNvSpPr>
          <p:nvPr/>
        </p:nvSpPr>
        <p:spPr>
          <a:xfrm>
            <a:off x="914400" y="2476500"/>
            <a:ext cx="10363200" cy="933450"/>
          </a:xfrm>
          <a:prstGeom prst="roundRect">
            <a:avLst>
              <a:gd name="adj" fmla="val 6122"/>
            </a:avLst>
          </a:prstGeom>
          <a:solidFill>
            <a:srgbClr val="FFFDF7"/>
          </a:solidFill>
          <a:ln w="9525">
            <a:solidFill>
              <a:srgbClr val="CFC7B8"/>
            </a:solidFill>
            <a:prstDash val="solid"/>
          </a:ln>
        </p:spPr>
        <p:txBody>
          <a:bodyPr anchor="ctr"/>
          <a:lstStyle/>
          <a:p>
            <a:endParaRPr/>
          </a:p>
        </p:txBody>
      </p:sp>
      <p:sp>
        <p:nvSpPr>
          <p:cNvPr id="13" name="Rounded Rectangle 12">
            <a:extLst>
              <a:ext uri="{FF2B5EF4-FFF2-40B4-BE49-F238E27FC236}">
                <a16:creationId xmlns:a16="http://schemas.microsoft.com/office/drawing/2014/main" id="{B9878E66-62E4-4A82-A670-07CF9E5857AD}"/>
              </a:ext>
            </a:extLst>
          </p:cNvPr>
          <p:cNvSpPr>
            <a:spLocks noGrp="1"/>
          </p:cNvSpPr>
          <p:nvPr/>
        </p:nvSpPr>
        <p:spPr>
          <a:xfrm>
            <a:off x="1123950" y="2686050"/>
            <a:ext cx="723900" cy="419100"/>
          </a:xfrm>
          <a:prstGeom prst="roundRect">
            <a:avLst>
              <a:gd name="adj" fmla="val 13636"/>
            </a:avLst>
          </a:prstGeom>
          <a:solidFill>
            <a:srgbClr val="E76F51"/>
          </a:solidFill>
          <a:ln w="0">
            <a:solidFill>
              <a:srgbClr val="000000">
                <a:alpha val="0"/>
              </a:srgbClr>
            </a:solidFill>
            <a:prstDash val="solid"/>
          </a:ln>
        </p:spPr>
        <p:txBody>
          <a:bodyPr anchor="ctr"/>
          <a:lstStyle/>
          <a:p>
            <a:endParaRPr/>
          </a:p>
        </p:txBody>
      </p:sp>
      <p:sp>
        <p:nvSpPr>
          <p:cNvPr id="14" name="Rectangle 13">
            <a:extLst>
              <a:ext uri="{FF2B5EF4-FFF2-40B4-BE49-F238E27FC236}">
                <a16:creationId xmlns:a16="http://schemas.microsoft.com/office/drawing/2014/main" id="{8261D227-E06C-409D-8C52-197DD562E054}"/>
              </a:ext>
            </a:extLst>
          </p:cNvPr>
          <p:cNvSpPr>
            <a:spLocks noGrp="1"/>
          </p:cNvSpPr>
          <p:nvPr/>
        </p:nvSpPr>
        <p:spPr>
          <a:xfrm>
            <a:off x="1123950" y="2790825"/>
            <a:ext cx="723900" cy="1905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RQ2</a:t>
            </a:r>
          </a:p>
        </p:txBody>
      </p:sp>
      <p:sp>
        <p:nvSpPr>
          <p:cNvPr id="15" name="Rectangle 14">
            <a:extLst>
              <a:ext uri="{FF2B5EF4-FFF2-40B4-BE49-F238E27FC236}">
                <a16:creationId xmlns:a16="http://schemas.microsoft.com/office/drawing/2014/main" id="{3AC1506D-C6B6-4028-ACED-618B1FADA8BD}"/>
              </a:ext>
            </a:extLst>
          </p:cNvPr>
          <p:cNvSpPr>
            <a:spLocks noGrp="1"/>
          </p:cNvSpPr>
          <p:nvPr/>
        </p:nvSpPr>
        <p:spPr>
          <a:xfrm>
            <a:off x="2114550" y="2647950"/>
            <a:ext cx="4476750" cy="2857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1350" b="1">
                <a:solidFill>
                  <a:srgbClr val="142026"/>
                </a:solidFill>
                <a:latin typeface="Aptos"/>
                <a:ea typeface="Aptos"/>
                <a:cs typeface="Aptos"/>
              </a:defRPr>
            </a:pPr>
            <a:r>
              <a:rPr sz="1350" b="1">
                <a:solidFill>
                  <a:srgbClr val="142026"/>
                </a:solidFill>
                <a:latin typeface="Aptos"/>
                <a:ea typeface="Aptos"/>
                <a:cs typeface="Aptos"/>
              </a:rPr>
              <a:t>How Can Generated Outputs Be Constrained So The Fixed Transcription Is Preserved?</a:t>
            </a:r>
          </a:p>
        </p:txBody>
      </p:sp>
      <p:sp>
        <p:nvSpPr>
          <p:cNvPr id="16" name="Rectangle 15">
            <a:extLst>
              <a:ext uri="{FF2B5EF4-FFF2-40B4-BE49-F238E27FC236}">
                <a16:creationId xmlns:a16="http://schemas.microsoft.com/office/drawing/2014/main" id="{A8D5E2E1-9E46-42B2-A360-EF93EC6F07F2}"/>
              </a:ext>
            </a:extLst>
          </p:cNvPr>
          <p:cNvSpPr>
            <a:spLocks noGrp="1"/>
          </p:cNvSpPr>
          <p:nvPr/>
        </p:nvSpPr>
        <p:spPr>
          <a:xfrm>
            <a:off x="6953250" y="2743200"/>
            <a:ext cx="3905250" cy="2667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275" b="0">
                <a:solidFill>
                  <a:srgbClr val="264653"/>
                </a:solidFill>
                <a:latin typeface="Aptos"/>
                <a:ea typeface="Aptos"/>
                <a:cs typeface="Aptos"/>
              </a:defRPr>
            </a:pPr>
            <a:r>
              <a:rPr sz="1275">
                <a:solidFill>
                  <a:srgbClr val="264653"/>
                </a:solidFill>
                <a:latin typeface="Aptos"/>
                <a:ea typeface="Aptos"/>
                <a:cs typeface="Aptos"/>
              </a:rPr>
              <a:t>Constrain outputs through repair, recovery, fallback, projection</a:t>
            </a:r>
          </a:p>
        </p:txBody>
      </p:sp>
      <p:sp>
        <p:nvSpPr>
          <p:cNvPr id="17" name="Rounded Rectangle 16">
            <a:extLst>
              <a:ext uri="{FF2B5EF4-FFF2-40B4-BE49-F238E27FC236}">
                <a16:creationId xmlns:a16="http://schemas.microsoft.com/office/drawing/2014/main" id="{75477BA6-AB4D-440F-AF17-3F54F38A15C6}"/>
              </a:ext>
            </a:extLst>
          </p:cNvPr>
          <p:cNvSpPr>
            <a:spLocks noGrp="1"/>
          </p:cNvSpPr>
          <p:nvPr/>
        </p:nvSpPr>
        <p:spPr>
          <a:xfrm>
            <a:off x="914400" y="3790950"/>
            <a:ext cx="10363200" cy="933450"/>
          </a:xfrm>
          <a:prstGeom prst="roundRect">
            <a:avLst>
              <a:gd name="adj" fmla="val 6122"/>
            </a:avLst>
          </a:prstGeom>
          <a:solidFill>
            <a:srgbClr val="FFFDF7"/>
          </a:solidFill>
          <a:ln w="9525">
            <a:solidFill>
              <a:srgbClr val="CFC7B8"/>
            </a:solidFill>
            <a:prstDash val="solid"/>
          </a:ln>
        </p:spPr>
        <p:txBody>
          <a:bodyPr anchor="ctr"/>
          <a:lstStyle/>
          <a:p>
            <a:endParaRPr/>
          </a:p>
        </p:txBody>
      </p:sp>
      <p:sp>
        <p:nvSpPr>
          <p:cNvPr id="18" name="Rounded Rectangle 17">
            <a:extLst>
              <a:ext uri="{FF2B5EF4-FFF2-40B4-BE49-F238E27FC236}">
                <a16:creationId xmlns:a16="http://schemas.microsoft.com/office/drawing/2014/main" id="{ABE3DCCF-CAB7-4788-9575-F0521FAFF71B}"/>
              </a:ext>
            </a:extLst>
          </p:cNvPr>
          <p:cNvSpPr>
            <a:spLocks noGrp="1"/>
          </p:cNvSpPr>
          <p:nvPr/>
        </p:nvSpPr>
        <p:spPr>
          <a:xfrm>
            <a:off x="1123950" y="4000500"/>
            <a:ext cx="723900" cy="419100"/>
          </a:xfrm>
          <a:prstGeom prst="roundRect">
            <a:avLst>
              <a:gd name="adj" fmla="val 13636"/>
            </a:avLst>
          </a:prstGeom>
          <a:solidFill>
            <a:srgbClr val="D4A373"/>
          </a:solidFill>
          <a:ln w="0">
            <a:solidFill>
              <a:srgbClr val="000000">
                <a:alpha val="0"/>
              </a:srgbClr>
            </a:solidFill>
            <a:prstDash val="solid"/>
          </a:ln>
        </p:spPr>
        <p:txBody>
          <a:bodyPr anchor="ctr"/>
          <a:lstStyle/>
          <a:p>
            <a:endParaRPr/>
          </a:p>
        </p:txBody>
      </p:sp>
      <p:sp>
        <p:nvSpPr>
          <p:cNvPr id="19" name="Rectangle 18">
            <a:extLst>
              <a:ext uri="{FF2B5EF4-FFF2-40B4-BE49-F238E27FC236}">
                <a16:creationId xmlns:a16="http://schemas.microsoft.com/office/drawing/2014/main" id="{58137166-B04E-425A-875F-E43F86282C02}"/>
              </a:ext>
            </a:extLst>
          </p:cNvPr>
          <p:cNvSpPr>
            <a:spLocks noGrp="1"/>
          </p:cNvSpPr>
          <p:nvPr/>
        </p:nvSpPr>
        <p:spPr>
          <a:xfrm>
            <a:off x="1123950" y="4105275"/>
            <a:ext cx="723900" cy="1905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RQ3</a:t>
            </a:r>
          </a:p>
        </p:txBody>
      </p:sp>
      <p:sp>
        <p:nvSpPr>
          <p:cNvPr id="20" name="Rectangle 19">
            <a:extLst>
              <a:ext uri="{FF2B5EF4-FFF2-40B4-BE49-F238E27FC236}">
                <a16:creationId xmlns:a16="http://schemas.microsoft.com/office/drawing/2014/main" id="{E81550D9-7D74-4A98-9079-153CC6715FCF}"/>
              </a:ext>
            </a:extLst>
          </p:cNvPr>
          <p:cNvSpPr>
            <a:spLocks noGrp="1"/>
          </p:cNvSpPr>
          <p:nvPr/>
        </p:nvSpPr>
        <p:spPr>
          <a:xfrm>
            <a:off x="2114550" y="3962400"/>
            <a:ext cx="4476750" cy="2857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1350" b="1">
                <a:solidFill>
                  <a:srgbClr val="142026"/>
                </a:solidFill>
                <a:latin typeface="Aptos"/>
                <a:ea typeface="Aptos"/>
                <a:cs typeface="Aptos"/>
              </a:defRPr>
            </a:pPr>
            <a:r>
              <a:rPr sz="1350" b="1">
                <a:solidFill>
                  <a:srgbClr val="142026"/>
                </a:solidFill>
                <a:latin typeface="Aptos"/>
                <a:ea typeface="Aptos"/>
                <a:cs typeface="Aptos"/>
              </a:rPr>
              <a:t>How Does The Highest-Scoring Evaluated VLM Setup Compare With The Deterministic NNTP Reference?</a:t>
            </a:r>
          </a:p>
        </p:txBody>
      </p:sp>
      <p:sp>
        <p:nvSpPr>
          <p:cNvPr id="21" name="Rectangle 20">
            <a:extLst>
              <a:ext uri="{FF2B5EF4-FFF2-40B4-BE49-F238E27FC236}">
                <a16:creationId xmlns:a16="http://schemas.microsoft.com/office/drawing/2014/main" id="{209AFDF3-0EFA-4494-BC41-C4BEAB891107}"/>
              </a:ext>
            </a:extLst>
          </p:cNvPr>
          <p:cNvSpPr>
            <a:spLocks noGrp="1"/>
          </p:cNvSpPr>
          <p:nvPr/>
        </p:nvSpPr>
        <p:spPr>
          <a:xfrm>
            <a:off x="6953250" y="4057650"/>
            <a:ext cx="3905250" cy="2667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275" b="0">
                <a:solidFill>
                  <a:srgbClr val="264653"/>
                </a:solidFill>
                <a:latin typeface="Aptos"/>
                <a:ea typeface="Aptos"/>
                <a:cs typeface="Aptos"/>
              </a:defRPr>
            </a:pPr>
            <a:r>
              <a:rPr sz="1275">
                <a:solidFill>
                  <a:srgbClr val="264653"/>
                </a:solidFill>
                <a:latin typeface="Aptos"/>
                <a:ea typeface="Aptos"/>
                <a:cs typeface="Aptos"/>
              </a:rPr>
              <a:t>Compare highest-scoring evaluated VLM setup with deterministic NNTP reference</a:t>
            </a:r>
          </a:p>
        </p:txBody>
      </p:sp>
      <p:sp>
        <p:nvSpPr>
          <p:cNvPr id="22" name="Rounded Rectangle 21">
            <a:extLst>
              <a:ext uri="{FF2B5EF4-FFF2-40B4-BE49-F238E27FC236}">
                <a16:creationId xmlns:a16="http://schemas.microsoft.com/office/drawing/2014/main" id="{5C05477C-F0C3-4D5D-942F-42009C06FEC8}"/>
              </a:ext>
            </a:extLst>
          </p:cNvPr>
          <p:cNvSpPr>
            <a:spLocks noGrp="1"/>
          </p:cNvSpPr>
          <p:nvPr/>
        </p:nvSpPr>
        <p:spPr>
          <a:xfrm>
            <a:off x="1466850" y="5295900"/>
            <a:ext cx="9258300" cy="419100"/>
          </a:xfrm>
          <a:prstGeom prst="roundRect">
            <a:avLst>
              <a:gd name="adj" fmla="val 13636"/>
            </a:avLst>
          </a:prstGeom>
          <a:solidFill>
            <a:srgbClr val="DDEDE9"/>
          </a:solidFill>
          <a:ln w="9525">
            <a:solidFill>
              <a:srgbClr val="2A9D8F"/>
            </a:solidFill>
            <a:prstDash val="solid"/>
          </a:ln>
        </p:spPr>
        <p:txBody>
          <a:bodyPr anchor="ctr"/>
          <a:lstStyle/>
          <a:p>
            <a:endParaRPr/>
          </a:p>
        </p:txBody>
      </p:sp>
      <p:sp>
        <p:nvSpPr>
          <p:cNvPr id="23" name="Rectangle 22">
            <a:extLst>
              <a:ext uri="{FF2B5EF4-FFF2-40B4-BE49-F238E27FC236}">
                <a16:creationId xmlns:a16="http://schemas.microsoft.com/office/drawing/2014/main" id="{C6F63691-AF9B-4CB8-847E-397EA5380E73}"/>
              </a:ext>
            </a:extLst>
          </p:cNvPr>
          <p:cNvSpPr>
            <a:spLocks noGrp="1"/>
          </p:cNvSpPr>
          <p:nvPr/>
        </p:nvSpPr>
        <p:spPr>
          <a:xfrm>
            <a:off x="1600200" y="5410200"/>
            <a:ext cx="8991600" cy="1905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algn="ctr">
              <a:buNone/>
              <a:defRPr sz="1050" b="1">
                <a:solidFill>
                  <a:srgbClr val="264653"/>
                </a:solidFill>
                <a:latin typeface="Aptos Display"/>
                <a:ea typeface="Aptos Display"/>
                <a:cs typeface="Aptos Display"/>
              </a:defRPr>
            </a:pPr>
            <a:r>
              <a:rPr sz="1200" b="1">
                <a:solidFill>
                  <a:srgbClr val="264653"/>
                </a:solidFill>
                <a:latin typeface="Aptos Display"/>
                <a:ea typeface="Aptos Display"/>
                <a:cs typeface="Aptos Display"/>
              </a:rPr>
              <a:t>Contribution: Newline-only protocol/benchmark | input/method variants | repair/recovery/fallback/projection | projection preserves fixed transcription | deterministic NNTP comparison</a:t>
            </a:r>
          </a:p>
        </p:txBody>
      </p:sp>
    </p:spTree>
    <p:extLst>
      <p:ext uri="{BB962C8B-B14F-4D97-AF65-F5344CB8AC3E}">
        <p14:creationId xmlns:p14="http://schemas.microsoft.com/office/powerpoint/2010/main" val="1509241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5A13BE8-7C98-402C-A10D-479AABB5BCDC}"/>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500397D1-D67B-45CF-8BCE-BCB0A2669A98}"/>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6D63815E-F08B-4BC4-B30A-B351B38AC78A}"/>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Data</a:t>
            </a:r>
          </a:p>
        </p:txBody>
      </p:sp>
      <p:sp>
        <p:nvSpPr>
          <p:cNvPr id="4" name="Rectangle 3">
            <a:extLst>
              <a:ext uri="{FF2B5EF4-FFF2-40B4-BE49-F238E27FC236}">
                <a16:creationId xmlns:a16="http://schemas.microsoft.com/office/drawing/2014/main" id="{DDB38EEF-539D-4496-867E-81B061347DE6}"/>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Datasets</a:t>
            </a:r>
          </a:p>
        </p:txBody>
      </p:sp>
      <p:sp>
        <p:nvSpPr>
          <p:cNvPr id="5" name="Rectangle 4">
            <a:extLst>
              <a:ext uri="{FF2B5EF4-FFF2-40B4-BE49-F238E27FC236}">
                <a16:creationId xmlns:a16="http://schemas.microsoft.com/office/drawing/2014/main" id="{7A24D451-4E89-4861-A2DF-A2A89579F34E}"/>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EB674EFD-5559-4B58-8C8E-7038531D0EF3}"/>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05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7049D11F-699A-41FC-AD1E-C3D062109BD5}"/>
              </a:ext>
            </a:extLst>
          </p:cNvPr>
          <p:cNvSpPr>
            <a:spLocks noGrp="1"/>
          </p:cNvSpPr>
          <p:nvPr/>
        </p:nvSpPr>
        <p:spPr>
          <a:xfrm>
            <a:off x="495300" y="933450"/>
            <a:ext cx="2609850" cy="3429000"/>
          </a:xfrm>
          <a:prstGeom prst="roundRect">
            <a:avLst>
              <a:gd name="adj" fmla="val 2190"/>
            </a:avLst>
          </a:prstGeom>
          <a:solidFill>
            <a:srgbClr val="FFFDF7"/>
          </a:solidFill>
          <a:ln w="9525">
            <a:solidFill>
              <a:srgbClr val="CFC7B8"/>
            </a:solidFill>
            <a:prstDash val="solid"/>
          </a:ln>
        </p:spPr>
        <p:txBody>
          <a:bodyPr/>
          <a:lstStyle/>
          <a:p>
            <a:endParaRPr/>
          </a:p>
        </p:txBody>
      </p:sp>
      <p:pic>
        <p:nvPicPr>
          <p:cNvPr id="46" name="Picture 7"/>
          <p:cNvPicPr>
            <a:picLocks noChangeAspect="1"/>
          </p:cNvPicPr>
          <p:nvPr/>
        </p:nvPicPr>
        <p:blipFill>
          <a:blip r:embed="rId3"/>
          <a:srcRect t="10980" b="10980"/>
          <a:stretch>
            <a:fillRect/>
          </a:stretch>
        </p:blipFill>
        <p:spPr>
          <a:xfrm>
            <a:off x="647700" y="1104900"/>
            <a:ext cx="2305050" cy="1123950"/>
          </a:xfrm>
          <a:prstGeom prst="rect">
            <a:avLst/>
          </a:prstGeom>
        </p:spPr>
      </p:pic>
      <p:sp>
        <p:nvSpPr>
          <p:cNvPr id="9" name="Rectangle 8">
            <a:extLst>
              <a:ext uri="{FF2B5EF4-FFF2-40B4-BE49-F238E27FC236}">
                <a16:creationId xmlns:a16="http://schemas.microsoft.com/office/drawing/2014/main" id="{66EB7F8F-88C3-4BEB-B6BA-4EA0F29BA5BC}"/>
              </a:ext>
            </a:extLst>
          </p:cNvPr>
          <p:cNvSpPr>
            <a:spLocks noGrp="1"/>
          </p:cNvSpPr>
          <p:nvPr/>
        </p:nvSpPr>
        <p:spPr>
          <a:xfrm>
            <a:off x="685800" y="2419350"/>
            <a:ext cx="2267712" cy="402336"/>
          </a:xfrm>
          <a:prstGeom prst="rect">
            <a:avLst/>
          </a:prstGeom>
          <a:solidFill>
            <a:srgbClr val="000000">
              <a:alpha val="0"/>
            </a:srgbClr>
          </a:solidFill>
          <a:ln w="9525">
            <a:solidFill>
              <a:srgbClr val="000000">
                <a:alpha val="0"/>
              </a:srgbClr>
            </a:solidFill>
            <a:prstDash val="solid"/>
          </a:ln>
        </p:spPr>
        <p:txBody>
          <a:bodyPr wrap="none" lIns="0" tIns="0" rIns="0" bIns="0" anchor="t"/>
          <a:lstStyle/>
          <a:p>
            <a:pPr algn="l">
              <a:buNone/>
              <a:defRPr sz="1575" b="1">
                <a:solidFill>
                  <a:srgbClr val="264653"/>
                </a:solidFill>
                <a:latin typeface="Aptos Display"/>
                <a:ea typeface="Aptos Display"/>
                <a:cs typeface="Aptos Display"/>
              </a:defRPr>
            </a:pPr>
            <a:r>
              <a:rPr sz="1575" b="1">
                <a:solidFill>
                  <a:srgbClr val="264653"/>
                </a:solidFill>
                <a:latin typeface="Aptos Display"/>
                <a:ea typeface="Aptos Display"/>
                <a:cs typeface="Aptos Display"/>
              </a:rPr>
              <a:t>Bullinger</a:t>
            </a:r>
          </a:p>
          <a:p>
            <a:pPr algn="l">
              <a:buNone/>
              <a:defRPr sz="725" b="0">
                <a:solidFill>
                  <a:srgbClr val="65706D"/>
                </a:solidFill>
                <a:latin typeface="Aptos"/>
                <a:ea typeface="Aptos"/>
                <a:cs typeface="Aptos"/>
              </a:defRPr>
            </a:pPr>
            <a:r>
              <a:rPr sz="800" b="0">
                <a:solidFill>
                  <a:srgbClr val="65706D"/>
                </a:solidFill>
                <a:latin typeface="Aptos"/>
                <a:ea typeface="Aptos"/>
                <a:cs typeface="Aptos"/>
              </a:rPr>
              <a:t>Latin / Premodern German / Multilingual</a:t>
            </a:r>
          </a:p>
        </p:txBody>
      </p:sp>
      <p:sp>
        <p:nvSpPr>
          <p:cNvPr id="10" name="Rounded Rectangle 9">
            <a:extLst>
              <a:ext uri="{FF2B5EF4-FFF2-40B4-BE49-F238E27FC236}">
                <a16:creationId xmlns:a16="http://schemas.microsoft.com/office/drawing/2014/main" id="{BCDB7139-D15F-4063-8E74-E2887A315F07}"/>
              </a:ext>
            </a:extLst>
          </p:cNvPr>
          <p:cNvSpPr>
            <a:spLocks noGrp="1"/>
          </p:cNvSpPr>
          <p:nvPr/>
        </p:nvSpPr>
        <p:spPr>
          <a:xfrm>
            <a:off x="2171700" y="2419350"/>
            <a:ext cx="742950" cy="228600"/>
          </a:xfrm>
          <a:prstGeom prst="roundRect">
            <a:avLst>
              <a:gd name="adj" fmla="val 25000"/>
            </a:avLst>
          </a:prstGeom>
          <a:solidFill>
            <a:srgbClr val="DDEDE9"/>
          </a:solidFill>
          <a:ln w="9525">
            <a:solidFill>
              <a:srgbClr val="B8DAD3"/>
            </a:solidFill>
            <a:prstDash val="solid"/>
          </a:ln>
        </p:spPr>
        <p:txBody>
          <a:bodyPr/>
          <a:lstStyle/>
          <a:p>
            <a:endParaRPr/>
          </a:p>
        </p:txBody>
      </p:sp>
      <p:sp>
        <p:nvSpPr>
          <p:cNvPr id="11" name="Rectangle 10">
            <a:extLst>
              <a:ext uri="{FF2B5EF4-FFF2-40B4-BE49-F238E27FC236}">
                <a16:creationId xmlns:a16="http://schemas.microsoft.com/office/drawing/2014/main" id="{FA0232F6-374B-4ADC-9FBF-06FA3276155D}"/>
              </a:ext>
            </a:extLst>
          </p:cNvPr>
          <p:cNvSpPr>
            <a:spLocks noGrp="1"/>
          </p:cNvSpPr>
          <p:nvPr/>
        </p:nvSpPr>
        <p:spPr>
          <a:xfrm>
            <a:off x="2209800" y="2447925"/>
            <a:ext cx="666750" cy="1524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750" b="1">
                <a:solidFill>
                  <a:srgbClr val="264653"/>
                </a:solidFill>
                <a:latin typeface="Aptos"/>
                <a:ea typeface="Aptos"/>
                <a:cs typeface="Aptos"/>
              </a:defRPr>
            </a:pPr>
            <a:r>
              <a:rPr sz="800" b="1">
                <a:solidFill>
                  <a:srgbClr val="264653"/>
                </a:solidFill>
                <a:latin typeface="Aptos"/>
                <a:ea typeface="Aptos"/>
                <a:cs typeface="Aptos"/>
              </a:rPr>
              <a:t>handwritten</a:t>
            </a:r>
          </a:p>
        </p:txBody>
      </p:sp>
      <p:sp>
        <p:nvSpPr>
          <p:cNvPr id="12" name="Rectangle 11">
            <a:extLst>
              <a:ext uri="{FF2B5EF4-FFF2-40B4-BE49-F238E27FC236}">
                <a16:creationId xmlns:a16="http://schemas.microsoft.com/office/drawing/2014/main" id="{56418C4B-6504-4602-90E1-90C86619D1E7}"/>
              </a:ext>
            </a:extLst>
          </p:cNvPr>
          <p:cNvSpPr>
            <a:spLocks noGrp="1"/>
          </p:cNvSpPr>
          <p:nvPr/>
        </p:nvSpPr>
        <p:spPr>
          <a:xfrm>
            <a:off x="685800" y="2857500"/>
            <a:ext cx="2209800" cy="914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59 samples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100 pages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2,535 lines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133,883 chars</a:t>
            </a:r>
          </a:p>
        </p:txBody>
      </p:sp>
      <p:sp>
        <p:nvSpPr>
          <p:cNvPr id="13" name="Rounded Rectangle 12">
            <a:extLst>
              <a:ext uri="{FF2B5EF4-FFF2-40B4-BE49-F238E27FC236}">
                <a16:creationId xmlns:a16="http://schemas.microsoft.com/office/drawing/2014/main" id="{9BAEB68D-14BA-4034-93B7-C405398C53D1}"/>
              </a:ext>
            </a:extLst>
          </p:cNvPr>
          <p:cNvSpPr>
            <a:spLocks noGrp="1"/>
          </p:cNvSpPr>
          <p:nvPr/>
        </p:nvSpPr>
        <p:spPr>
          <a:xfrm>
            <a:off x="3419475" y="933450"/>
            <a:ext cx="2609850" cy="3429000"/>
          </a:xfrm>
          <a:prstGeom prst="roundRect">
            <a:avLst>
              <a:gd name="adj" fmla="val 2190"/>
            </a:avLst>
          </a:prstGeom>
          <a:solidFill>
            <a:srgbClr val="FFFDF7"/>
          </a:solidFill>
          <a:ln w="9525">
            <a:solidFill>
              <a:srgbClr val="CFC7B8"/>
            </a:solidFill>
            <a:prstDash val="solid"/>
          </a:ln>
        </p:spPr>
        <p:txBody>
          <a:bodyPr/>
          <a:lstStyle/>
          <a:p>
            <a:endParaRPr/>
          </a:p>
        </p:txBody>
      </p:sp>
      <p:pic>
        <p:nvPicPr>
          <p:cNvPr id="52" name="Picture 13"/>
          <p:cNvPicPr>
            <a:picLocks noChangeAspect="1"/>
          </p:cNvPicPr>
          <p:nvPr/>
        </p:nvPicPr>
        <p:blipFill>
          <a:blip r:embed="rId4"/>
          <a:srcRect l="2837" r="2837"/>
          <a:stretch>
            <a:fillRect/>
          </a:stretch>
        </p:blipFill>
        <p:spPr>
          <a:xfrm>
            <a:off x="3571875" y="1104900"/>
            <a:ext cx="2305050" cy="1123950"/>
          </a:xfrm>
          <a:prstGeom prst="rect">
            <a:avLst/>
          </a:prstGeom>
        </p:spPr>
      </p:pic>
      <p:sp>
        <p:nvSpPr>
          <p:cNvPr id="15" name="Rectangle 14">
            <a:extLst>
              <a:ext uri="{FF2B5EF4-FFF2-40B4-BE49-F238E27FC236}">
                <a16:creationId xmlns:a16="http://schemas.microsoft.com/office/drawing/2014/main" id="{D07F5666-F61E-4BD9-895D-6FA3873CC0EB}"/>
              </a:ext>
            </a:extLst>
          </p:cNvPr>
          <p:cNvSpPr>
            <a:spLocks noGrp="1"/>
          </p:cNvSpPr>
          <p:nvPr/>
        </p:nvSpPr>
        <p:spPr>
          <a:xfrm>
            <a:off x="3609975" y="2419350"/>
            <a:ext cx="2267712" cy="402336"/>
          </a:xfrm>
          <a:prstGeom prst="rect">
            <a:avLst/>
          </a:prstGeom>
          <a:solidFill>
            <a:srgbClr val="000000">
              <a:alpha val="0"/>
            </a:srgbClr>
          </a:solidFill>
          <a:ln w="9525">
            <a:solidFill>
              <a:srgbClr val="000000">
                <a:alpha val="0"/>
              </a:srgbClr>
            </a:solidFill>
            <a:prstDash val="solid"/>
          </a:ln>
        </p:spPr>
        <p:txBody>
          <a:bodyPr wrap="none" lIns="0" tIns="0" rIns="0" bIns="0" anchor="t"/>
          <a:lstStyle/>
          <a:p>
            <a:pPr algn="l">
              <a:buNone/>
              <a:defRPr sz="1575" b="1">
                <a:solidFill>
                  <a:srgbClr val="264653"/>
                </a:solidFill>
                <a:latin typeface="Aptos Display"/>
                <a:ea typeface="Aptos Display"/>
                <a:cs typeface="Aptos Display"/>
              </a:defRPr>
            </a:pPr>
            <a:r>
              <a:rPr sz="1575" b="1">
                <a:solidFill>
                  <a:srgbClr val="264653"/>
                </a:solidFill>
                <a:latin typeface="Aptos Display"/>
                <a:ea typeface="Aptos Display"/>
                <a:cs typeface="Aptos Display"/>
              </a:rPr>
              <a:t>Children</a:t>
            </a:r>
          </a:p>
          <a:p>
            <a:pPr algn="l">
              <a:buNone/>
              <a:defRPr sz="725" b="0">
                <a:solidFill>
                  <a:srgbClr val="65706D"/>
                </a:solidFill>
                <a:latin typeface="Aptos"/>
                <a:ea typeface="Aptos"/>
                <a:cs typeface="Aptos"/>
              </a:defRPr>
            </a:pPr>
            <a:r>
              <a:rPr sz="800" b="0">
                <a:solidFill>
                  <a:srgbClr val="65706D"/>
                </a:solidFill>
                <a:latin typeface="Aptos"/>
                <a:ea typeface="Aptos"/>
                <a:cs typeface="Aptos"/>
              </a:rPr>
              <a:t>German Child Handwriting</a:t>
            </a:r>
          </a:p>
        </p:txBody>
      </p:sp>
      <p:sp>
        <p:nvSpPr>
          <p:cNvPr id="16" name="Rounded Rectangle 15">
            <a:extLst>
              <a:ext uri="{FF2B5EF4-FFF2-40B4-BE49-F238E27FC236}">
                <a16:creationId xmlns:a16="http://schemas.microsoft.com/office/drawing/2014/main" id="{A28F1D65-836E-41EA-A07D-C924C4ADD615}"/>
              </a:ext>
            </a:extLst>
          </p:cNvPr>
          <p:cNvSpPr>
            <a:spLocks noGrp="1"/>
          </p:cNvSpPr>
          <p:nvPr/>
        </p:nvSpPr>
        <p:spPr>
          <a:xfrm>
            <a:off x="5095875" y="2419350"/>
            <a:ext cx="742950" cy="228600"/>
          </a:xfrm>
          <a:prstGeom prst="roundRect">
            <a:avLst>
              <a:gd name="adj" fmla="val 25000"/>
            </a:avLst>
          </a:prstGeom>
          <a:solidFill>
            <a:srgbClr val="DDEDE9"/>
          </a:solidFill>
          <a:ln w="9525">
            <a:solidFill>
              <a:srgbClr val="B8DAD3"/>
            </a:solidFill>
            <a:prstDash val="solid"/>
          </a:ln>
        </p:spPr>
        <p:txBody>
          <a:bodyPr/>
          <a:lstStyle/>
          <a:p>
            <a:endParaRPr/>
          </a:p>
        </p:txBody>
      </p:sp>
      <p:sp>
        <p:nvSpPr>
          <p:cNvPr id="17" name="Rectangle 16">
            <a:extLst>
              <a:ext uri="{FF2B5EF4-FFF2-40B4-BE49-F238E27FC236}">
                <a16:creationId xmlns:a16="http://schemas.microsoft.com/office/drawing/2014/main" id="{F6DB7A3E-9EB5-4502-9795-5A4C4E49E00B}"/>
              </a:ext>
            </a:extLst>
          </p:cNvPr>
          <p:cNvSpPr>
            <a:spLocks noGrp="1"/>
          </p:cNvSpPr>
          <p:nvPr/>
        </p:nvSpPr>
        <p:spPr>
          <a:xfrm>
            <a:off x="5133975" y="2447925"/>
            <a:ext cx="666750" cy="1524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750" b="1">
                <a:solidFill>
                  <a:srgbClr val="264653"/>
                </a:solidFill>
                <a:latin typeface="Aptos"/>
                <a:ea typeface="Aptos"/>
                <a:cs typeface="Aptos"/>
              </a:defRPr>
            </a:pPr>
            <a:r>
              <a:rPr sz="800" b="1">
                <a:solidFill>
                  <a:srgbClr val="264653"/>
                </a:solidFill>
                <a:latin typeface="Aptos"/>
                <a:ea typeface="Aptos"/>
                <a:cs typeface="Aptos"/>
              </a:rPr>
              <a:t>handwritten</a:t>
            </a:r>
          </a:p>
        </p:txBody>
      </p:sp>
      <p:sp>
        <p:nvSpPr>
          <p:cNvPr id="18" name="Rectangle 17">
            <a:extLst>
              <a:ext uri="{FF2B5EF4-FFF2-40B4-BE49-F238E27FC236}">
                <a16:creationId xmlns:a16="http://schemas.microsoft.com/office/drawing/2014/main" id="{248CD06B-8758-43E2-8C11-6599F7E7CBB5}"/>
              </a:ext>
            </a:extLst>
          </p:cNvPr>
          <p:cNvSpPr>
            <a:spLocks noGrp="1"/>
          </p:cNvSpPr>
          <p:nvPr/>
        </p:nvSpPr>
        <p:spPr>
          <a:xfrm>
            <a:off x="3609975" y="2857500"/>
            <a:ext cx="2209800" cy="914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63 pages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394 lines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10,261 chars</a:t>
            </a:r>
          </a:p>
        </p:txBody>
      </p:sp>
      <p:sp>
        <p:nvSpPr>
          <p:cNvPr id="19" name="Rounded Rectangle 18">
            <a:extLst>
              <a:ext uri="{FF2B5EF4-FFF2-40B4-BE49-F238E27FC236}">
                <a16:creationId xmlns:a16="http://schemas.microsoft.com/office/drawing/2014/main" id="{9D88F7CB-45C6-4864-9C32-223CA258E719}"/>
              </a:ext>
            </a:extLst>
          </p:cNvPr>
          <p:cNvSpPr>
            <a:spLocks noGrp="1"/>
          </p:cNvSpPr>
          <p:nvPr/>
        </p:nvSpPr>
        <p:spPr>
          <a:xfrm>
            <a:off x="6343650" y="933450"/>
            <a:ext cx="2609850" cy="3429000"/>
          </a:xfrm>
          <a:prstGeom prst="roundRect">
            <a:avLst>
              <a:gd name="adj" fmla="val 2190"/>
            </a:avLst>
          </a:prstGeom>
          <a:solidFill>
            <a:srgbClr val="FFFDF7"/>
          </a:solidFill>
          <a:ln w="9525">
            <a:solidFill>
              <a:srgbClr val="CFC7B8"/>
            </a:solidFill>
            <a:prstDash val="solid"/>
          </a:ln>
        </p:spPr>
        <p:txBody>
          <a:bodyPr/>
          <a:lstStyle/>
          <a:p>
            <a:endParaRPr/>
          </a:p>
        </p:txBody>
      </p:sp>
      <p:pic>
        <p:nvPicPr>
          <p:cNvPr id="58" name="Picture 19"/>
          <p:cNvPicPr>
            <a:picLocks noChangeAspect="1"/>
          </p:cNvPicPr>
          <p:nvPr/>
        </p:nvPicPr>
        <p:blipFill>
          <a:blip r:embed="rId5"/>
          <a:srcRect t="8324" b="8324"/>
          <a:stretch>
            <a:fillRect/>
          </a:stretch>
        </p:blipFill>
        <p:spPr>
          <a:xfrm>
            <a:off x="6496050" y="1104900"/>
            <a:ext cx="2305050" cy="1123950"/>
          </a:xfrm>
          <a:prstGeom prst="rect">
            <a:avLst/>
          </a:prstGeom>
        </p:spPr>
      </p:pic>
      <p:sp>
        <p:nvSpPr>
          <p:cNvPr id="21" name="Rectangle 20">
            <a:extLst>
              <a:ext uri="{FF2B5EF4-FFF2-40B4-BE49-F238E27FC236}">
                <a16:creationId xmlns:a16="http://schemas.microsoft.com/office/drawing/2014/main" id="{2FC82DE4-6B5E-4D52-A193-C8CE45B8A0DF}"/>
              </a:ext>
            </a:extLst>
          </p:cNvPr>
          <p:cNvSpPr>
            <a:spLocks noGrp="1"/>
          </p:cNvSpPr>
          <p:nvPr/>
        </p:nvSpPr>
        <p:spPr>
          <a:xfrm>
            <a:off x="6534150" y="2419350"/>
            <a:ext cx="2267712" cy="402336"/>
          </a:xfrm>
          <a:prstGeom prst="rect">
            <a:avLst/>
          </a:prstGeom>
          <a:solidFill>
            <a:srgbClr val="000000">
              <a:alpha val="0"/>
            </a:srgbClr>
          </a:solidFill>
          <a:ln w="9525">
            <a:solidFill>
              <a:srgbClr val="000000">
                <a:alpha val="0"/>
              </a:srgbClr>
            </a:solidFill>
            <a:prstDash val="solid"/>
          </a:ln>
        </p:spPr>
        <p:txBody>
          <a:bodyPr wrap="none" lIns="0" tIns="0" rIns="0" bIns="0" anchor="t"/>
          <a:lstStyle/>
          <a:p>
            <a:pPr algn="l">
              <a:buNone/>
              <a:defRPr sz="1575" b="1">
                <a:solidFill>
                  <a:srgbClr val="264653"/>
                </a:solidFill>
                <a:latin typeface="Aptos Display"/>
                <a:ea typeface="Aptos Display"/>
                <a:cs typeface="Aptos Display"/>
              </a:defRPr>
            </a:pPr>
            <a:r>
              <a:rPr sz="1575" b="1">
                <a:solidFill>
                  <a:srgbClr val="264653"/>
                </a:solidFill>
                <a:latin typeface="Aptos Display"/>
                <a:ea typeface="Aptos Display"/>
                <a:cs typeface="Aptos Display"/>
              </a:rPr>
              <a:t>IAM</a:t>
            </a:r>
          </a:p>
          <a:p>
            <a:pPr algn="l">
              <a:buNone/>
              <a:defRPr sz="725" b="0">
                <a:solidFill>
                  <a:srgbClr val="65706D"/>
                </a:solidFill>
                <a:latin typeface="Aptos"/>
                <a:ea typeface="Aptos"/>
                <a:cs typeface="Aptos"/>
              </a:defRPr>
            </a:pPr>
            <a:r>
              <a:rPr sz="800" b="0">
                <a:solidFill>
                  <a:srgbClr val="65706D"/>
                </a:solidFill>
                <a:latin typeface="Aptos"/>
                <a:ea typeface="Aptos"/>
                <a:cs typeface="Aptos"/>
              </a:rPr>
              <a:t>English Modern Handwriting</a:t>
            </a:r>
          </a:p>
        </p:txBody>
      </p:sp>
      <p:sp>
        <p:nvSpPr>
          <p:cNvPr id="22" name="Rounded Rectangle 21">
            <a:extLst>
              <a:ext uri="{FF2B5EF4-FFF2-40B4-BE49-F238E27FC236}">
                <a16:creationId xmlns:a16="http://schemas.microsoft.com/office/drawing/2014/main" id="{EA877BC5-D3AE-452B-AA2C-FCE95E59E3B8}"/>
              </a:ext>
            </a:extLst>
          </p:cNvPr>
          <p:cNvSpPr>
            <a:spLocks noGrp="1"/>
          </p:cNvSpPr>
          <p:nvPr/>
        </p:nvSpPr>
        <p:spPr>
          <a:xfrm>
            <a:off x="8020050" y="2419350"/>
            <a:ext cx="742950" cy="228600"/>
          </a:xfrm>
          <a:prstGeom prst="roundRect">
            <a:avLst>
              <a:gd name="adj" fmla="val 25000"/>
            </a:avLst>
          </a:prstGeom>
          <a:solidFill>
            <a:srgbClr val="DDEDE9"/>
          </a:solidFill>
          <a:ln w="9525">
            <a:solidFill>
              <a:srgbClr val="B8DAD3"/>
            </a:solidFill>
            <a:prstDash val="solid"/>
          </a:ln>
        </p:spPr>
        <p:txBody>
          <a:bodyPr/>
          <a:lstStyle/>
          <a:p>
            <a:endParaRPr/>
          </a:p>
        </p:txBody>
      </p:sp>
      <p:sp>
        <p:nvSpPr>
          <p:cNvPr id="23" name="Rectangle 22">
            <a:extLst>
              <a:ext uri="{FF2B5EF4-FFF2-40B4-BE49-F238E27FC236}">
                <a16:creationId xmlns:a16="http://schemas.microsoft.com/office/drawing/2014/main" id="{A0ED133E-0B7A-4C44-9DA3-7E6F24D053E6}"/>
              </a:ext>
            </a:extLst>
          </p:cNvPr>
          <p:cNvSpPr>
            <a:spLocks noGrp="1"/>
          </p:cNvSpPr>
          <p:nvPr/>
        </p:nvSpPr>
        <p:spPr>
          <a:xfrm>
            <a:off x="8058150" y="2447925"/>
            <a:ext cx="666750" cy="1524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750" b="1">
                <a:solidFill>
                  <a:srgbClr val="264653"/>
                </a:solidFill>
                <a:latin typeface="Aptos"/>
                <a:ea typeface="Aptos"/>
                <a:cs typeface="Aptos"/>
              </a:defRPr>
            </a:pPr>
            <a:r>
              <a:rPr sz="800" b="1">
                <a:solidFill>
                  <a:srgbClr val="264653"/>
                </a:solidFill>
                <a:latin typeface="Aptos"/>
                <a:ea typeface="Aptos"/>
                <a:cs typeface="Aptos"/>
              </a:rPr>
              <a:t>handwritten</a:t>
            </a:r>
          </a:p>
        </p:txBody>
      </p:sp>
      <p:sp>
        <p:nvSpPr>
          <p:cNvPr id="24" name="Rectangle 23">
            <a:extLst>
              <a:ext uri="{FF2B5EF4-FFF2-40B4-BE49-F238E27FC236}">
                <a16:creationId xmlns:a16="http://schemas.microsoft.com/office/drawing/2014/main" id="{B249CB25-910A-4530-A5BF-2BFCBB0DE010}"/>
              </a:ext>
            </a:extLst>
          </p:cNvPr>
          <p:cNvSpPr>
            <a:spLocks noGrp="1"/>
          </p:cNvSpPr>
          <p:nvPr/>
        </p:nvSpPr>
        <p:spPr>
          <a:xfrm>
            <a:off x="6534150" y="2857500"/>
            <a:ext cx="2209800" cy="914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20 pages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180 lines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7,604 chars</a:t>
            </a:r>
          </a:p>
        </p:txBody>
      </p:sp>
      <p:sp>
        <p:nvSpPr>
          <p:cNvPr id="25" name="Rounded Rectangle 24">
            <a:extLst>
              <a:ext uri="{FF2B5EF4-FFF2-40B4-BE49-F238E27FC236}">
                <a16:creationId xmlns:a16="http://schemas.microsoft.com/office/drawing/2014/main" id="{BB17D7FE-A27B-4C9E-9496-E24D93464A0B}"/>
              </a:ext>
            </a:extLst>
          </p:cNvPr>
          <p:cNvSpPr>
            <a:spLocks noGrp="1"/>
          </p:cNvSpPr>
          <p:nvPr/>
        </p:nvSpPr>
        <p:spPr>
          <a:xfrm>
            <a:off x="9267825" y="933450"/>
            <a:ext cx="2609850" cy="3429000"/>
          </a:xfrm>
          <a:prstGeom prst="roundRect">
            <a:avLst>
              <a:gd name="adj" fmla="val 2190"/>
            </a:avLst>
          </a:prstGeom>
          <a:solidFill>
            <a:srgbClr val="FFFDF7"/>
          </a:solidFill>
          <a:ln w="9525">
            <a:solidFill>
              <a:srgbClr val="CFC7B8"/>
            </a:solidFill>
            <a:prstDash val="solid"/>
          </a:ln>
        </p:spPr>
        <p:txBody>
          <a:bodyPr/>
          <a:lstStyle/>
          <a:p>
            <a:endParaRPr/>
          </a:p>
        </p:txBody>
      </p:sp>
      <p:pic>
        <p:nvPicPr>
          <p:cNvPr id="64" name="Picture 25"/>
          <p:cNvPicPr>
            <a:picLocks noChangeAspect="1"/>
          </p:cNvPicPr>
          <p:nvPr/>
        </p:nvPicPr>
        <p:blipFill>
          <a:blip r:embed="rId6"/>
          <a:srcRect t="11130" b="11130"/>
          <a:stretch>
            <a:fillRect/>
          </a:stretch>
        </p:blipFill>
        <p:spPr>
          <a:xfrm>
            <a:off x="9420225" y="1104900"/>
            <a:ext cx="2305050" cy="1123950"/>
          </a:xfrm>
          <a:prstGeom prst="rect">
            <a:avLst/>
          </a:prstGeom>
        </p:spPr>
      </p:pic>
      <p:sp>
        <p:nvSpPr>
          <p:cNvPr id="27" name="Rectangle 26">
            <a:extLst>
              <a:ext uri="{FF2B5EF4-FFF2-40B4-BE49-F238E27FC236}">
                <a16:creationId xmlns:a16="http://schemas.microsoft.com/office/drawing/2014/main" id="{8AD2B4E0-332A-459D-9B10-66EB6BBD384E}"/>
              </a:ext>
            </a:extLst>
          </p:cNvPr>
          <p:cNvSpPr>
            <a:spLocks noGrp="1"/>
          </p:cNvSpPr>
          <p:nvPr/>
        </p:nvSpPr>
        <p:spPr>
          <a:xfrm>
            <a:off x="9458325" y="2419350"/>
            <a:ext cx="2267712" cy="402336"/>
          </a:xfrm>
          <a:prstGeom prst="rect">
            <a:avLst/>
          </a:prstGeom>
          <a:solidFill>
            <a:srgbClr val="000000">
              <a:alpha val="0"/>
            </a:srgbClr>
          </a:solidFill>
          <a:ln w="9525">
            <a:solidFill>
              <a:srgbClr val="000000">
                <a:alpha val="0"/>
              </a:srgbClr>
            </a:solidFill>
            <a:prstDash val="solid"/>
          </a:ln>
        </p:spPr>
        <p:txBody>
          <a:bodyPr wrap="none" lIns="0" tIns="0" rIns="0" bIns="0" anchor="t"/>
          <a:lstStyle/>
          <a:p>
            <a:pPr algn="l">
              <a:buNone/>
              <a:defRPr sz="1575" b="1">
                <a:solidFill>
                  <a:srgbClr val="264653"/>
                </a:solidFill>
                <a:latin typeface="Aptos Display"/>
                <a:ea typeface="Aptos Display"/>
                <a:cs typeface="Aptos Display"/>
              </a:defRPr>
            </a:pPr>
            <a:r>
              <a:rPr sz="1575" b="1">
                <a:solidFill>
                  <a:srgbClr val="264653"/>
                </a:solidFill>
                <a:latin typeface="Aptos Display"/>
                <a:ea typeface="Aptos Display"/>
                <a:cs typeface="Aptos Display"/>
              </a:rPr>
              <a:t>Washington</a:t>
            </a:r>
          </a:p>
          <a:p>
            <a:pPr algn="l">
              <a:buNone/>
              <a:defRPr sz="725" b="0">
                <a:solidFill>
                  <a:srgbClr val="65706D"/>
                </a:solidFill>
                <a:latin typeface="Aptos"/>
                <a:ea typeface="Aptos"/>
                <a:cs typeface="Aptos"/>
              </a:defRPr>
            </a:pPr>
            <a:r>
              <a:rPr sz="800" b="0">
                <a:solidFill>
                  <a:srgbClr val="65706D"/>
                </a:solidFill>
                <a:latin typeface="Aptos"/>
                <a:ea typeface="Aptos"/>
                <a:cs typeface="Aptos"/>
              </a:rPr>
              <a:t>Historical English Manuscript</a:t>
            </a:r>
          </a:p>
        </p:txBody>
      </p:sp>
      <p:sp>
        <p:nvSpPr>
          <p:cNvPr id="28" name="Rounded Rectangle 27">
            <a:extLst>
              <a:ext uri="{FF2B5EF4-FFF2-40B4-BE49-F238E27FC236}">
                <a16:creationId xmlns:a16="http://schemas.microsoft.com/office/drawing/2014/main" id="{3B3A1E6E-44FF-48EA-A22E-2DCF5B292894}"/>
              </a:ext>
            </a:extLst>
          </p:cNvPr>
          <p:cNvSpPr>
            <a:spLocks noGrp="1"/>
          </p:cNvSpPr>
          <p:nvPr/>
        </p:nvSpPr>
        <p:spPr>
          <a:xfrm>
            <a:off x="10944225" y="2419350"/>
            <a:ext cx="742950" cy="228600"/>
          </a:xfrm>
          <a:prstGeom prst="roundRect">
            <a:avLst>
              <a:gd name="adj" fmla="val 25000"/>
            </a:avLst>
          </a:prstGeom>
          <a:solidFill>
            <a:srgbClr val="DDEDE9"/>
          </a:solidFill>
          <a:ln w="9525">
            <a:solidFill>
              <a:srgbClr val="B8DAD3"/>
            </a:solidFill>
            <a:prstDash val="solid"/>
          </a:ln>
        </p:spPr>
        <p:txBody>
          <a:bodyPr/>
          <a:lstStyle/>
          <a:p>
            <a:endParaRPr/>
          </a:p>
        </p:txBody>
      </p:sp>
      <p:sp>
        <p:nvSpPr>
          <p:cNvPr id="29" name="Rectangle 28">
            <a:extLst>
              <a:ext uri="{FF2B5EF4-FFF2-40B4-BE49-F238E27FC236}">
                <a16:creationId xmlns:a16="http://schemas.microsoft.com/office/drawing/2014/main" id="{77D20E49-4B84-4B52-9BB9-4EEFBFBF1004}"/>
              </a:ext>
            </a:extLst>
          </p:cNvPr>
          <p:cNvSpPr>
            <a:spLocks noGrp="1"/>
          </p:cNvSpPr>
          <p:nvPr/>
        </p:nvSpPr>
        <p:spPr>
          <a:xfrm>
            <a:off x="10982325" y="2447925"/>
            <a:ext cx="666750" cy="1524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750" b="1">
                <a:solidFill>
                  <a:srgbClr val="264653"/>
                </a:solidFill>
                <a:latin typeface="Aptos"/>
                <a:ea typeface="Aptos"/>
                <a:cs typeface="Aptos"/>
              </a:defRPr>
            </a:pPr>
            <a:r>
              <a:rPr sz="800" b="1">
                <a:solidFill>
                  <a:srgbClr val="264653"/>
                </a:solidFill>
                <a:latin typeface="Aptos"/>
                <a:ea typeface="Aptos"/>
                <a:cs typeface="Aptos"/>
              </a:rPr>
              <a:t>handwritten</a:t>
            </a:r>
          </a:p>
        </p:txBody>
      </p:sp>
      <p:sp>
        <p:nvSpPr>
          <p:cNvPr id="30" name="Rectangle 29">
            <a:extLst>
              <a:ext uri="{FF2B5EF4-FFF2-40B4-BE49-F238E27FC236}">
                <a16:creationId xmlns:a16="http://schemas.microsoft.com/office/drawing/2014/main" id="{B7B52D21-AFB3-4607-A79A-670CD65123CD}"/>
              </a:ext>
            </a:extLst>
          </p:cNvPr>
          <p:cNvSpPr>
            <a:spLocks noGrp="1"/>
          </p:cNvSpPr>
          <p:nvPr/>
        </p:nvSpPr>
        <p:spPr>
          <a:xfrm>
            <a:off x="9458325" y="2857500"/>
            <a:ext cx="2209800" cy="914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20 pages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656 lines</a:t>
            </a:r>
          </a:p>
          <a:p>
            <a:pPr algn="l">
              <a:lnSpc>
                <a:spcPct val="122000"/>
              </a:lnSpc>
              <a:buNone/>
              <a:defRPr sz="1275" b="0">
                <a:solidFill>
                  <a:srgbClr val="142026"/>
                </a:solidFill>
                <a:latin typeface="Aptos"/>
                <a:ea typeface="Aptos"/>
                <a:cs typeface="Aptos"/>
              </a:defRPr>
            </a:pPr>
            <a:r>
              <a:rPr sz="1275" b="0">
                <a:solidFill>
                  <a:srgbClr val="142026"/>
                </a:solidFill>
                <a:latin typeface="Aptos"/>
                <a:ea typeface="Aptos"/>
                <a:cs typeface="Aptos"/>
              </a:rPr>
              <a:t>26,458 chars</a:t>
            </a:r>
          </a:p>
        </p:txBody>
      </p:sp>
      <p:sp>
        <p:nvSpPr>
          <p:cNvPr id="31" name="Rounded Rectangle 30">
            <a:extLst>
              <a:ext uri="{FF2B5EF4-FFF2-40B4-BE49-F238E27FC236}">
                <a16:creationId xmlns:a16="http://schemas.microsoft.com/office/drawing/2014/main" id="{6F6ED369-E309-4D51-BD5F-3B75759E416B}"/>
              </a:ext>
            </a:extLst>
          </p:cNvPr>
          <p:cNvSpPr>
            <a:spLocks noGrp="1"/>
          </p:cNvSpPr>
          <p:nvPr/>
        </p:nvSpPr>
        <p:spPr>
          <a:xfrm>
            <a:off x="1485900" y="4800600"/>
            <a:ext cx="9220200" cy="704850"/>
          </a:xfrm>
          <a:prstGeom prst="roundRect">
            <a:avLst>
              <a:gd name="adj" fmla="val 8108"/>
            </a:avLst>
          </a:prstGeom>
          <a:solidFill>
            <a:srgbClr val="F8F5EA"/>
          </a:solidFill>
          <a:ln w="9525">
            <a:solidFill>
              <a:srgbClr val="CFC7B8"/>
            </a:solidFill>
            <a:prstDash val="solid"/>
          </a:ln>
        </p:spPr>
        <p:txBody>
          <a:bodyPr/>
          <a:lstStyle/>
          <a:p>
            <a:endParaRPr/>
          </a:p>
        </p:txBody>
      </p:sp>
      <p:sp>
        <p:nvSpPr>
          <p:cNvPr id="32" name="Rectangle 31">
            <a:extLst>
              <a:ext uri="{FF2B5EF4-FFF2-40B4-BE49-F238E27FC236}">
                <a16:creationId xmlns:a16="http://schemas.microsoft.com/office/drawing/2014/main" id="{6172DC2A-B572-43E3-AAAF-6FC012A4E17C}"/>
              </a:ext>
            </a:extLst>
          </p:cNvPr>
          <p:cNvSpPr>
            <a:spLocks noGrp="1"/>
          </p:cNvSpPr>
          <p:nvPr/>
        </p:nvSpPr>
        <p:spPr>
          <a:xfrm>
            <a:off x="1714500" y="4953000"/>
            <a:ext cx="2476500" cy="2095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algn="l">
              <a:buNone/>
              <a:defRPr sz="1350" b="1">
                <a:solidFill>
                  <a:srgbClr val="264653"/>
                </a:solidFill>
                <a:latin typeface="Aptos Display"/>
                <a:ea typeface="Aptos Display"/>
                <a:cs typeface="Aptos Display"/>
              </a:defRPr>
            </a:pPr>
            <a:r>
              <a:rPr sz="1350" b="1">
                <a:solidFill>
                  <a:srgbClr val="264653"/>
                </a:solidFill>
                <a:latin typeface="Aptos Display"/>
                <a:ea typeface="Aptos Display"/>
                <a:cs typeface="Aptos Display"/>
              </a:rPr>
              <a:t>Printed</a:t>
            </a:r>
          </a:p>
        </p:txBody>
      </p:sp>
      <p:sp>
        <p:nvSpPr>
          <p:cNvPr id="33" name="Rectangle 32">
            <a:extLst>
              <a:ext uri="{FF2B5EF4-FFF2-40B4-BE49-F238E27FC236}">
                <a16:creationId xmlns:a16="http://schemas.microsoft.com/office/drawing/2014/main" id="{4677305C-DA84-451F-B8D3-192C405CEDCE}"/>
              </a:ext>
            </a:extLst>
          </p:cNvPr>
          <p:cNvSpPr>
            <a:spLocks noGrp="1"/>
          </p:cNvSpPr>
          <p:nvPr/>
        </p:nvSpPr>
        <p:spPr>
          <a:xfrm>
            <a:off x="4686300" y="4933950"/>
            <a:ext cx="5924550" cy="400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algn="l">
              <a:lnSpc>
                <a:spcPct val="120000"/>
              </a:lnSpc>
              <a:buNone/>
              <a:defRPr sz="1238" b="0">
                <a:solidFill>
                  <a:srgbClr val="142026"/>
                </a:solidFill>
                <a:latin typeface="Aptos"/>
                <a:ea typeface="Aptos"/>
                <a:cs typeface="Aptos"/>
              </a:defRPr>
            </a:pPr>
            <a:r>
              <a:rPr sz="1238" b="0">
                <a:solidFill>
                  <a:srgbClr val="142026"/>
                </a:solidFill>
                <a:latin typeface="Aptos"/>
                <a:ea typeface="Aptos"/>
                <a:cs typeface="Aptos"/>
              </a:rPr>
              <a:t>Bullinger Print: 10 samples/pages, 271 lines, 15,004 chars</a:t>
            </a:r>
          </a:p>
          <a:p>
            <a:pPr algn="l">
              <a:lnSpc>
                <a:spcPct val="120000"/>
              </a:lnSpc>
              <a:buNone/>
              <a:defRPr sz="1238" b="0">
                <a:solidFill>
                  <a:srgbClr val="142026"/>
                </a:solidFill>
                <a:latin typeface="Aptos"/>
                <a:ea typeface="Aptos"/>
                <a:cs typeface="Aptos"/>
              </a:defRPr>
            </a:pPr>
            <a:r>
              <a:rPr sz="1238" b="0">
                <a:solidFill>
                  <a:srgbClr val="142026"/>
                </a:solidFill>
                <a:latin typeface="Aptos"/>
                <a:ea typeface="Aptos"/>
                <a:cs typeface="Aptos"/>
              </a:rPr>
              <a:t>IAM Print: 30 pages/forms, 161 lines, 12,194 chars</a:t>
            </a:r>
          </a:p>
        </p:txBody>
      </p:sp>
    </p:spTree>
    <p:extLst>
      <p:ext uri="{BB962C8B-B14F-4D97-AF65-F5344CB8AC3E}">
        <p14:creationId xmlns:p14="http://schemas.microsoft.com/office/powerpoint/2010/main" val="125306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A83053D3-2933-42DF-ADAD-E801063B7391}"/>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pPr marL="0" indent="0" algn="l">
              <a:lnSpc>
                <a:spcPct val="100000"/>
              </a:lnSpc>
              <a:spcBef>
                <a:spcPts val="0"/>
              </a:spcBef>
              <a:spcAft>
                <a:spcPts val="0"/>
              </a:spcAft>
              <a:buNone/>
            </a:pPr>
            <a:endParaRPr/>
          </a:p>
        </p:txBody>
      </p:sp>
      <p:sp>
        <p:nvSpPr>
          <p:cNvPr id="2" name="Rectangle 1">
            <a:extLst>
              <a:ext uri="{FF2B5EF4-FFF2-40B4-BE49-F238E27FC236}">
                <a16:creationId xmlns:a16="http://schemas.microsoft.com/office/drawing/2014/main" id="{534E403C-5EEC-4309-BCBD-D599500C943C}"/>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pPr marL="0" indent="0" algn="l">
              <a:lnSpc>
                <a:spcPct val="100000"/>
              </a:lnSpc>
              <a:spcBef>
                <a:spcPts val="0"/>
              </a:spcBef>
              <a:spcAft>
                <a:spcPts val="0"/>
              </a:spcAft>
              <a:buNone/>
            </a:pPr>
            <a:endParaRPr/>
          </a:p>
        </p:txBody>
      </p:sp>
      <p:sp>
        <p:nvSpPr>
          <p:cNvPr id="3" name="Rectangle 2">
            <a:extLst>
              <a:ext uri="{FF2B5EF4-FFF2-40B4-BE49-F238E27FC236}">
                <a16:creationId xmlns:a16="http://schemas.microsoft.com/office/drawing/2014/main" id="{14F1E33E-5AA5-413F-99AC-B09DB3F81D9D}"/>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marL="0" indent="0" algn="l">
              <a:lnSpc>
                <a:spcPct val="100000"/>
              </a:lnSpc>
              <a:spcBef>
                <a:spcPts val="0"/>
              </a:spcBef>
              <a:spcAft>
                <a:spcPts val="0"/>
              </a:spcAft>
              <a:buNone/>
              <a:defRPr sz="675" b="1">
                <a:solidFill>
                  <a:srgbClr val="D7EDE9"/>
                </a:solidFill>
                <a:latin typeface="Aptos"/>
                <a:ea typeface="Aptos"/>
                <a:cs typeface="Aptos"/>
              </a:defRPr>
            </a:pPr>
            <a:r>
              <a:rPr sz="800" b="1" i="0" u="none" cap="none">
                <a:ln>
                  <a:noFill/>
                </a:ln>
                <a:solidFill>
                  <a:srgbClr val="D7EDE9"/>
                </a:solidFill>
                <a:latin typeface="Aptos"/>
                <a:ea typeface="Aptos"/>
                <a:cs typeface="Aptos"/>
              </a:rPr>
              <a:t>Methods</a:t>
            </a:r>
          </a:p>
        </p:txBody>
      </p:sp>
      <p:sp>
        <p:nvSpPr>
          <p:cNvPr id="4" name="Rectangle 3">
            <a:extLst>
              <a:ext uri="{FF2B5EF4-FFF2-40B4-BE49-F238E27FC236}">
                <a16:creationId xmlns:a16="http://schemas.microsoft.com/office/drawing/2014/main" id="{72F80194-6C38-4610-8EB3-8D2E46E27DB8}"/>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650" b="1">
                <a:solidFill>
                  <a:srgbClr val="F7F3EB"/>
                </a:solidFill>
                <a:latin typeface="Aptos Display"/>
                <a:ea typeface="Aptos Display"/>
                <a:cs typeface="Aptos Display"/>
              </a:defRPr>
            </a:pPr>
            <a:r>
              <a:rPr sz="1650" b="1" i="0" u="none" cap="none">
                <a:ln>
                  <a:noFill/>
                </a:ln>
                <a:solidFill>
                  <a:srgbClr val="F7F3EB"/>
                </a:solidFill>
                <a:latin typeface="Aptos Display"/>
                <a:ea typeface="Aptos Display"/>
                <a:cs typeface="Aptos Display"/>
              </a:rPr>
              <a:t>Methods</a:t>
            </a:r>
          </a:p>
        </p:txBody>
      </p:sp>
      <p:sp>
        <p:nvSpPr>
          <p:cNvPr id="5" name="Rectangle 4">
            <a:extLst>
              <a:ext uri="{FF2B5EF4-FFF2-40B4-BE49-F238E27FC236}">
                <a16:creationId xmlns:a16="http://schemas.microsoft.com/office/drawing/2014/main" id="{68299D66-1E53-4877-85C0-AF8562D7EA54}"/>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marL="0" indent="0" algn="l">
              <a:lnSpc>
                <a:spcPct val="100000"/>
              </a:lnSpc>
              <a:spcBef>
                <a:spcPts val="0"/>
              </a:spcBef>
              <a:spcAft>
                <a:spcPts val="0"/>
              </a:spcAft>
              <a:buNone/>
              <a:defRPr sz="750" b="0">
                <a:solidFill>
                  <a:srgbClr val="5C686B"/>
                </a:solidFill>
                <a:latin typeface="Aptos"/>
                <a:ea typeface="Aptos"/>
                <a:cs typeface="Aptos"/>
              </a:defRPr>
            </a:pPr>
            <a:r>
              <a:rPr sz="570" b="0" i="0" u="none" cap="none" spc="0">
                <a:ln>
                  <a:noFill/>
                </a:ln>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810E8219-8DD8-4099-A793-5021E6AFAF31}"/>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06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41DA3ACF-D1E5-48D4-A12B-502746DA1AAA}"/>
              </a:ext>
            </a:extLst>
          </p:cNvPr>
          <p:cNvSpPr>
            <a:spLocks noGrp="1"/>
          </p:cNvSpPr>
          <p:nvPr/>
        </p:nvSpPr>
        <p:spPr>
          <a:xfrm>
            <a:off x="457200" y="914400"/>
            <a:ext cx="7810500" cy="4038600"/>
          </a:xfrm>
          <a:prstGeom prst="roundRect">
            <a:avLst>
              <a:gd name="adj" fmla="val 1463"/>
            </a:avLst>
          </a:prstGeom>
          <a:solidFill>
            <a:srgbClr val="FFFDF7"/>
          </a:solidFill>
          <a:ln w="9525">
            <a:solidFill>
              <a:srgbClr val="CFC7B8"/>
            </a:solidFill>
            <a:prstDash val="solid"/>
          </a:ln>
        </p:spPr>
        <p:txBody>
          <a:bodyPr anchor="ctr"/>
          <a:lstStyle/>
          <a:p>
            <a:pPr marL="0" indent="0" algn="l">
              <a:lnSpc>
                <a:spcPct val="100000"/>
              </a:lnSpc>
              <a:spcBef>
                <a:spcPts val="0"/>
              </a:spcBef>
              <a:spcAft>
                <a:spcPts val="0"/>
              </a:spcAft>
              <a:buNone/>
            </a:pPr>
            <a:endParaRPr/>
          </a:p>
        </p:txBody>
      </p:sp>
      <p:sp>
        <p:nvSpPr>
          <p:cNvPr id="8" name="Rectangle 7">
            <a:extLst>
              <a:ext uri="{FF2B5EF4-FFF2-40B4-BE49-F238E27FC236}">
                <a16:creationId xmlns:a16="http://schemas.microsoft.com/office/drawing/2014/main" id="{6466C994-A5A7-48DE-BFF9-CA33E240A234}"/>
              </a:ext>
            </a:extLst>
          </p:cNvPr>
          <p:cNvSpPr>
            <a:spLocks noGrp="1"/>
          </p:cNvSpPr>
          <p:nvPr/>
        </p:nvSpPr>
        <p:spPr>
          <a:xfrm>
            <a:off x="666750" y="1104900"/>
            <a:ext cx="2476500" cy="2667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l">
              <a:lnSpc>
                <a:spcPct val="100000"/>
              </a:lnSpc>
              <a:spcBef>
                <a:spcPts val="0"/>
              </a:spcBef>
              <a:spcAft>
                <a:spcPts val="0"/>
              </a:spcAft>
              <a:buNone/>
              <a:defRPr sz="1650" b="1">
                <a:solidFill>
                  <a:srgbClr val="264653"/>
                </a:solidFill>
                <a:latin typeface="Aptos Display"/>
                <a:ea typeface="Aptos Display"/>
                <a:cs typeface="Aptos Display"/>
              </a:defRPr>
            </a:pPr>
            <a:r>
              <a:rPr sz="1650" b="1" i="0" u="none" cap="none" spc="0">
                <a:ln>
                  <a:noFill/>
                </a:ln>
                <a:solidFill>
                  <a:srgbClr val="264653"/>
                </a:solidFill>
                <a:latin typeface="Aptos Display"/>
                <a:ea typeface="Aptos Display"/>
                <a:cs typeface="Aptos Display"/>
              </a:rPr>
              <a:t>LLM/VLM Setups</a:t>
            </a:r>
          </a:p>
        </p:txBody>
      </p:sp>
      <p:sp>
        <p:nvSpPr>
          <p:cNvPr id="9" name="Rounded Rectangle 8">
            <a:extLst>
              <a:ext uri="{FF2B5EF4-FFF2-40B4-BE49-F238E27FC236}">
                <a16:creationId xmlns:a16="http://schemas.microsoft.com/office/drawing/2014/main" id="{F59629BE-F1C9-4044-BDFB-F4E8B7E4A42F}"/>
              </a:ext>
            </a:extLst>
          </p:cNvPr>
          <p:cNvSpPr>
            <a:spLocks noGrp="1"/>
          </p:cNvSpPr>
          <p:nvPr/>
        </p:nvSpPr>
        <p:spPr>
          <a:xfrm>
            <a:off x="723900" y="1428750"/>
            <a:ext cx="723900" cy="514350"/>
          </a:xfrm>
          <a:prstGeom prst="roundRect">
            <a:avLst>
              <a:gd name="adj" fmla="val 13043"/>
            </a:avLst>
          </a:prstGeom>
          <a:solidFill>
            <a:srgbClr val="E76F51"/>
          </a:solidFill>
          <a:ln w="0">
            <a:solidFill>
              <a:srgbClr val="000000">
                <a:alpha val="0"/>
              </a:srgbClr>
            </a:solidFill>
            <a:prstDash val="solid"/>
          </a:ln>
        </p:spPr>
        <p:txBody>
          <a:bodyPr anchor="ctr"/>
          <a:lstStyle/>
          <a:p>
            <a:pPr marL="0" indent="0" algn="l">
              <a:lnSpc>
                <a:spcPct val="100000"/>
              </a:lnSpc>
              <a:spcBef>
                <a:spcPts val="0"/>
              </a:spcBef>
              <a:spcAft>
                <a:spcPts val="0"/>
              </a:spcAft>
              <a:buNone/>
            </a:pPr>
            <a:endParaRPr/>
          </a:p>
        </p:txBody>
      </p:sp>
      <p:sp>
        <p:nvSpPr>
          <p:cNvPr id="10" name="Rectangle 9">
            <a:extLst>
              <a:ext uri="{FF2B5EF4-FFF2-40B4-BE49-F238E27FC236}">
                <a16:creationId xmlns:a16="http://schemas.microsoft.com/office/drawing/2014/main" id="{46599730-DC16-4C46-9D87-E79067E2D1E7}"/>
              </a:ext>
            </a:extLst>
          </p:cNvPr>
          <p:cNvSpPr>
            <a:spLocks noGrp="1"/>
          </p:cNvSpPr>
          <p:nvPr/>
        </p:nvSpPr>
        <p:spPr>
          <a:xfrm>
            <a:off x="723900" y="1543050"/>
            <a:ext cx="723900" cy="2286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500" b="1">
                <a:solidFill>
                  <a:srgbClr val="FFFFFF"/>
                </a:solidFill>
                <a:latin typeface="Aptos"/>
                <a:ea typeface="Aptos"/>
                <a:cs typeface="Aptos"/>
              </a:defRPr>
            </a:pPr>
            <a:r>
              <a:rPr sz="1500" b="1" i="0" u="none" cap="none" spc="0">
                <a:ln>
                  <a:noFill/>
                </a:ln>
                <a:solidFill>
                  <a:srgbClr val="FFFFFF"/>
                </a:solidFill>
                <a:latin typeface="Aptos"/>
                <a:ea typeface="Aptos"/>
                <a:cs typeface="Aptos"/>
              </a:rPr>
              <a:t>M1</a:t>
            </a:r>
          </a:p>
        </p:txBody>
      </p:sp>
      <p:sp>
        <p:nvSpPr>
          <p:cNvPr id="11" name="Rounded Rectangle 10">
            <a:extLst>
              <a:ext uri="{FF2B5EF4-FFF2-40B4-BE49-F238E27FC236}">
                <a16:creationId xmlns:a16="http://schemas.microsoft.com/office/drawing/2014/main" id="{6D259F81-2521-4A32-B36B-02F608240504}"/>
              </a:ext>
            </a:extLst>
          </p:cNvPr>
          <p:cNvSpPr>
            <a:spLocks noGrp="1"/>
          </p:cNvSpPr>
          <p:nvPr/>
        </p:nvSpPr>
        <p:spPr>
          <a:xfrm>
            <a:off x="1581150" y="1428750"/>
            <a:ext cx="3543300" cy="514350"/>
          </a:xfrm>
          <a:prstGeom prst="roundRect">
            <a:avLst>
              <a:gd name="adj" fmla="val 13043"/>
            </a:avLst>
          </a:prstGeom>
          <a:solidFill>
            <a:srgbClr val="FCE8DC"/>
          </a:solidFill>
          <a:ln w="9525">
            <a:solidFill>
              <a:srgbClr val="E76F51"/>
            </a:solidFill>
            <a:prstDash val="solid"/>
          </a:ln>
        </p:spPr>
        <p:txBody>
          <a:bodyPr anchor="ctr"/>
          <a:lstStyle/>
          <a:p>
            <a:pPr marL="0" indent="0" algn="l">
              <a:lnSpc>
                <a:spcPct val="100000"/>
              </a:lnSpc>
              <a:spcBef>
                <a:spcPts val="0"/>
              </a:spcBef>
              <a:spcAft>
                <a:spcPts val="0"/>
              </a:spcAft>
              <a:buNone/>
            </a:pPr>
            <a:endParaRPr/>
          </a:p>
        </p:txBody>
      </p:sp>
      <p:sp>
        <p:nvSpPr>
          <p:cNvPr id="12" name="Rectangle 11">
            <a:extLst>
              <a:ext uri="{FF2B5EF4-FFF2-40B4-BE49-F238E27FC236}">
                <a16:creationId xmlns:a16="http://schemas.microsoft.com/office/drawing/2014/main" id="{8DC9C541-EBA7-47F5-B2A6-CDE3A56D8C0C}"/>
              </a:ext>
            </a:extLst>
          </p:cNvPr>
          <p:cNvSpPr>
            <a:spLocks noGrp="1"/>
          </p:cNvSpPr>
          <p:nvPr/>
        </p:nvSpPr>
        <p:spPr>
          <a:xfrm>
            <a:off x="1695450" y="1495425"/>
            <a:ext cx="3314700" cy="3810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80" b="0">
                <a:solidFill>
                  <a:srgbClr val="142026"/>
                </a:solidFill>
                <a:latin typeface="Aptos"/>
                <a:ea typeface="Aptos"/>
                <a:cs typeface="Aptos"/>
              </a:defRPr>
            </a:pPr>
            <a:r>
              <a:rPr sz="1100" b="0" i="0" u="none" cap="none" spc="0">
                <a:ln>
                  <a:noFill/>
                </a:ln>
                <a:solidFill>
                  <a:srgbClr val="142026"/>
                </a:solidFill>
                <a:latin typeface="Aptos"/>
                <a:ea typeface="Aptos"/>
                <a:cs typeface="Aptos"/>
              </a:rPr>
              <a:t>page image(s) + fixed transcription</a:t>
            </a:r>
          </a:p>
        </p:txBody>
      </p:sp>
      <p:sp>
        <p:nvSpPr>
          <p:cNvPr id="13" name="Rectangle 12">
            <a:extLst>
              <a:ext uri="{FF2B5EF4-FFF2-40B4-BE49-F238E27FC236}">
                <a16:creationId xmlns:a16="http://schemas.microsoft.com/office/drawing/2014/main" id="{E141E369-BE6E-4FEE-A2CC-F054891B8380}"/>
              </a:ext>
            </a:extLst>
          </p:cNvPr>
          <p:cNvSpPr>
            <a:spLocks noGrp="1"/>
          </p:cNvSpPr>
          <p:nvPr/>
        </p:nvSpPr>
        <p:spPr>
          <a:xfrm>
            <a:off x="5162550" y="1533525"/>
            <a:ext cx="38100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950" b="1">
                <a:solidFill>
                  <a:srgbClr val="E76F51"/>
                </a:solidFill>
                <a:latin typeface="Aptos"/>
                <a:ea typeface="Aptos"/>
                <a:cs typeface="Aptos"/>
              </a:defRPr>
            </a:pPr>
            <a:r>
              <a:rPr sz="1950" b="1" i="0" u="none" cap="none" spc="0">
                <a:ln>
                  <a:noFill/>
                </a:ln>
                <a:solidFill>
                  <a:srgbClr val="E76F51"/>
                </a:solidFill>
                <a:latin typeface="Aptos"/>
                <a:ea typeface="Aptos"/>
                <a:cs typeface="Aptos"/>
              </a:rPr>
              <a:t>-&gt;</a:t>
            </a:r>
          </a:p>
        </p:txBody>
      </p:sp>
      <p:sp>
        <p:nvSpPr>
          <p:cNvPr id="14" name="Rounded Rectangle 13">
            <a:extLst>
              <a:ext uri="{FF2B5EF4-FFF2-40B4-BE49-F238E27FC236}">
                <a16:creationId xmlns:a16="http://schemas.microsoft.com/office/drawing/2014/main" id="{142A34BF-D3D8-4E9B-B88E-D1F0C47360E8}"/>
              </a:ext>
            </a:extLst>
          </p:cNvPr>
          <p:cNvSpPr>
            <a:spLocks noGrp="1"/>
          </p:cNvSpPr>
          <p:nvPr/>
        </p:nvSpPr>
        <p:spPr>
          <a:xfrm>
            <a:off x="5619750" y="1428750"/>
            <a:ext cx="2419350" cy="514350"/>
          </a:xfrm>
          <a:prstGeom prst="roundRect">
            <a:avLst>
              <a:gd name="adj" fmla="val 13043"/>
            </a:avLst>
          </a:prstGeom>
          <a:solidFill>
            <a:srgbClr val="FCE8DC"/>
          </a:solidFill>
          <a:ln w="9525">
            <a:solidFill>
              <a:srgbClr val="E76F51"/>
            </a:solidFill>
            <a:prstDash val="solid"/>
          </a:ln>
        </p:spPr>
        <p:txBody>
          <a:bodyPr anchor="ctr"/>
          <a:lstStyle/>
          <a:p>
            <a:pPr marL="0" indent="0" algn="l">
              <a:lnSpc>
                <a:spcPct val="100000"/>
              </a:lnSpc>
              <a:spcBef>
                <a:spcPts val="0"/>
              </a:spcBef>
              <a:spcAft>
                <a:spcPts val="0"/>
              </a:spcAft>
              <a:buNone/>
            </a:pPr>
            <a:endParaRPr/>
          </a:p>
        </p:txBody>
      </p:sp>
      <p:sp>
        <p:nvSpPr>
          <p:cNvPr id="15" name="Rectangle 14">
            <a:extLst>
              <a:ext uri="{FF2B5EF4-FFF2-40B4-BE49-F238E27FC236}">
                <a16:creationId xmlns:a16="http://schemas.microsoft.com/office/drawing/2014/main" id="{1D47EB16-4EB5-4170-84FD-D2955BDF8BD9}"/>
              </a:ext>
            </a:extLst>
          </p:cNvPr>
          <p:cNvSpPr>
            <a:spLocks noGrp="1"/>
          </p:cNvSpPr>
          <p:nvPr/>
        </p:nvSpPr>
        <p:spPr>
          <a:xfrm>
            <a:off x="5734050" y="1485900"/>
            <a:ext cx="2190750" cy="400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80" b="0">
                <a:solidFill>
                  <a:srgbClr val="142026"/>
                </a:solidFill>
                <a:latin typeface="Aptos"/>
                <a:ea typeface="Aptos"/>
                <a:cs typeface="Aptos"/>
              </a:defRPr>
            </a:pPr>
            <a:r>
              <a:rPr sz="1100" b="0" i="0" u="none" cap="none" spc="0">
                <a:ln>
                  <a:noFill/>
                </a:ln>
                <a:solidFill>
                  <a:srgbClr val="142026"/>
                </a:solidFill>
                <a:latin typeface="Aptos"/>
                <a:ea typeface="Aptos"/>
                <a:cs typeface="Aptos"/>
              </a:rPr>
              <a:t>raw returned text</a:t>
            </a:r>
          </a:p>
        </p:txBody>
      </p:sp>
      <p:sp>
        <p:nvSpPr>
          <p:cNvPr id="16" name="Rounded Rectangle 15">
            <a:extLst>
              <a:ext uri="{FF2B5EF4-FFF2-40B4-BE49-F238E27FC236}">
                <a16:creationId xmlns:a16="http://schemas.microsoft.com/office/drawing/2014/main" id="{35A6D430-A11B-4A76-8306-A8DF468809CA}"/>
              </a:ext>
            </a:extLst>
          </p:cNvPr>
          <p:cNvSpPr>
            <a:spLocks noGrp="1"/>
          </p:cNvSpPr>
          <p:nvPr/>
        </p:nvSpPr>
        <p:spPr>
          <a:xfrm>
            <a:off x="723900" y="2076450"/>
            <a:ext cx="723900" cy="514350"/>
          </a:xfrm>
          <a:prstGeom prst="roundRect">
            <a:avLst>
              <a:gd name="adj" fmla="val 13043"/>
            </a:avLst>
          </a:prstGeom>
          <a:solidFill>
            <a:srgbClr val="E76F51"/>
          </a:solidFill>
          <a:ln w="0">
            <a:solidFill>
              <a:srgbClr val="000000">
                <a:alpha val="0"/>
              </a:srgbClr>
            </a:solidFill>
            <a:prstDash val="solid"/>
          </a:ln>
        </p:spPr>
        <p:txBody>
          <a:bodyPr anchor="ctr"/>
          <a:lstStyle/>
          <a:p>
            <a:pPr marL="0" indent="0" algn="l">
              <a:lnSpc>
                <a:spcPct val="100000"/>
              </a:lnSpc>
              <a:spcBef>
                <a:spcPts val="0"/>
              </a:spcBef>
              <a:spcAft>
                <a:spcPts val="0"/>
              </a:spcAft>
              <a:buNone/>
            </a:pPr>
            <a:endParaRPr/>
          </a:p>
        </p:txBody>
      </p:sp>
      <p:sp>
        <p:nvSpPr>
          <p:cNvPr id="17" name="Rectangle 16">
            <a:extLst>
              <a:ext uri="{FF2B5EF4-FFF2-40B4-BE49-F238E27FC236}">
                <a16:creationId xmlns:a16="http://schemas.microsoft.com/office/drawing/2014/main" id="{3BE16A2E-E28D-440F-A5CD-86D3AD2F54E7}"/>
              </a:ext>
            </a:extLst>
          </p:cNvPr>
          <p:cNvSpPr>
            <a:spLocks noGrp="1"/>
          </p:cNvSpPr>
          <p:nvPr/>
        </p:nvSpPr>
        <p:spPr>
          <a:xfrm>
            <a:off x="723900" y="2190750"/>
            <a:ext cx="723900" cy="2286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500" b="1">
                <a:solidFill>
                  <a:srgbClr val="FFFFFF"/>
                </a:solidFill>
                <a:latin typeface="Aptos"/>
                <a:ea typeface="Aptos"/>
                <a:cs typeface="Aptos"/>
              </a:defRPr>
            </a:pPr>
            <a:r>
              <a:rPr sz="1500" b="1" i="0" u="none" cap="none" spc="0">
                <a:ln>
                  <a:noFill/>
                </a:ln>
                <a:solidFill>
                  <a:srgbClr val="FFFFFF"/>
                </a:solidFill>
                <a:latin typeface="Aptos"/>
                <a:ea typeface="Aptos"/>
                <a:cs typeface="Aptos"/>
              </a:rPr>
              <a:t>M2</a:t>
            </a:r>
          </a:p>
        </p:txBody>
      </p:sp>
      <p:sp>
        <p:nvSpPr>
          <p:cNvPr id="18" name="Rounded Rectangle 17">
            <a:extLst>
              <a:ext uri="{FF2B5EF4-FFF2-40B4-BE49-F238E27FC236}">
                <a16:creationId xmlns:a16="http://schemas.microsoft.com/office/drawing/2014/main" id="{9CA8324A-0B7D-4B98-98A9-00A3B7F31465}"/>
              </a:ext>
            </a:extLst>
          </p:cNvPr>
          <p:cNvSpPr>
            <a:spLocks noGrp="1"/>
          </p:cNvSpPr>
          <p:nvPr/>
        </p:nvSpPr>
        <p:spPr>
          <a:xfrm>
            <a:off x="1581150" y="2076450"/>
            <a:ext cx="3543300" cy="514350"/>
          </a:xfrm>
          <a:prstGeom prst="roundRect">
            <a:avLst>
              <a:gd name="adj" fmla="val 13043"/>
            </a:avLst>
          </a:prstGeom>
          <a:solidFill>
            <a:srgbClr val="FCE8DC"/>
          </a:solidFill>
          <a:ln w="9525">
            <a:solidFill>
              <a:srgbClr val="E76F51"/>
            </a:solidFill>
            <a:prstDash val="solid"/>
          </a:ln>
        </p:spPr>
        <p:txBody>
          <a:bodyPr anchor="ctr"/>
          <a:lstStyle/>
          <a:p>
            <a:pPr marL="0" indent="0" algn="l">
              <a:lnSpc>
                <a:spcPct val="100000"/>
              </a:lnSpc>
              <a:spcBef>
                <a:spcPts val="0"/>
              </a:spcBef>
              <a:spcAft>
                <a:spcPts val="0"/>
              </a:spcAft>
              <a:buNone/>
            </a:pPr>
            <a:endParaRPr/>
          </a:p>
        </p:txBody>
      </p:sp>
      <p:sp>
        <p:nvSpPr>
          <p:cNvPr id="19" name="Rectangle 18">
            <a:extLst>
              <a:ext uri="{FF2B5EF4-FFF2-40B4-BE49-F238E27FC236}">
                <a16:creationId xmlns:a16="http://schemas.microsoft.com/office/drawing/2014/main" id="{D8C50B58-B291-4040-A3B2-3B427F116B1C}"/>
              </a:ext>
            </a:extLst>
          </p:cNvPr>
          <p:cNvSpPr>
            <a:spLocks noGrp="1"/>
          </p:cNvSpPr>
          <p:nvPr/>
        </p:nvSpPr>
        <p:spPr>
          <a:xfrm>
            <a:off x="1695450" y="2143125"/>
            <a:ext cx="3314700" cy="3810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80" b="0">
                <a:solidFill>
                  <a:srgbClr val="142026"/>
                </a:solidFill>
                <a:latin typeface="Aptos"/>
                <a:ea typeface="Aptos"/>
                <a:cs typeface="Aptos"/>
              </a:defRPr>
            </a:pPr>
            <a:r>
              <a:rPr sz="1100" b="0" i="0" u="none" cap="none" spc="0">
                <a:ln>
                  <a:noFill/>
                </a:ln>
                <a:solidFill>
                  <a:srgbClr val="142026"/>
                </a:solidFill>
                <a:latin typeface="Aptos"/>
                <a:ea typeface="Aptos"/>
                <a:cs typeface="Aptos"/>
              </a:rPr>
              <a:t>page image(s) + OCR/HTR hint + fixed transcription</a:t>
            </a:r>
          </a:p>
        </p:txBody>
      </p:sp>
      <p:sp>
        <p:nvSpPr>
          <p:cNvPr id="20" name="Rectangle 19">
            <a:extLst>
              <a:ext uri="{FF2B5EF4-FFF2-40B4-BE49-F238E27FC236}">
                <a16:creationId xmlns:a16="http://schemas.microsoft.com/office/drawing/2014/main" id="{71548F01-FCE5-489E-9673-EAF2F415399C}"/>
              </a:ext>
            </a:extLst>
          </p:cNvPr>
          <p:cNvSpPr>
            <a:spLocks noGrp="1"/>
          </p:cNvSpPr>
          <p:nvPr/>
        </p:nvSpPr>
        <p:spPr>
          <a:xfrm>
            <a:off x="5162550" y="2181225"/>
            <a:ext cx="38100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950" b="1">
                <a:solidFill>
                  <a:srgbClr val="E76F51"/>
                </a:solidFill>
                <a:latin typeface="Aptos"/>
                <a:ea typeface="Aptos"/>
                <a:cs typeface="Aptos"/>
              </a:defRPr>
            </a:pPr>
            <a:r>
              <a:rPr sz="1950" b="1" i="0" u="none" cap="none" spc="0">
                <a:ln>
                  <a:noFill/>
                </a:ln>
                <a:solidFill>
                  <a:srgbClr val="E76F51"/>
                </a:solidFill>
                <a:latin typeface="Aptos"/>
                <a:ea typeface="Aptos"/>
                <a:cs typeface="Aptos"/>
              </a:rPr>
              <a:t>-&gt;</a:t>
            </a:r>
          </a:p>
        </p:txBody>
      </p:sp>
      <p:sp>
        <p:nvSpPr>
          <p:cNvPr id="21" name="Rounded Rectangle 20">
            <a:extLst>
              <a:ext uri="{FF2B5EF4-FFF2-40B4-BE49-F238E27FC236}">
                <a16:creationId xmlns:a16="http://schemas.microsoft.com/office/drawing/2014/main" id="{7268D496-CBE2-48E2-8757-EA44A319AF08}"/>
              </a:ext>
            </a:extLst>
          </p:cNvPr>
          <p:cNvSpPr>
            <a:spLocks noGrp="1"/>
          </p:cNvSpPr>
          <p:nvPr/>
        </p:nvSpPr>
        <p:spPr>
          <a:xfrm>
            <a:off x="5619750" y="2076450"/>
            <a:ext cx="2419350" cy="514350"/>
          </a:xfrm>
          <a:prstGeom prst="roundRect">
            <a:avLst>
              <a:gd name="adj" fmla="val 13043"/>
            </a:avLst>
          </a:prstGeom>
          <a:solidFill>
            <a:srgbClr val="FCE8DC"/>
          </a:solidFill>
          <a:ln w="9525">
            <a:solidFill>
              <a:srgbClr val="E76F51"/>
            </a:solidFill>
            <a:prstDash val="solid"/>
          </a:ln>
        </p:spPr>
        <p:txBody>
          <a:bodyPr anchor="ctr"/>
          <a:lstStyle/>
          <a:p>
            <a:pPr marL="0" indent="0" algn="l">
              <a:lnSpc>
                <a:spcPct val="100000"/>
              </a:lnSpc>
              <a:spcBef>
                <a:spcPts val="0"/>
              </a:spcBef>
              <a:spcAft>
                <a:spcPts val="0"/>
              </a:spcAft>
              <a:buNone/>
            </a:pPr>
            <a:endParaRPr/>
          </a:p>
        </p:txBody>
      </p:sp>
      <p:sp>
        <p:nvSpPr>
          <p:cNvPr id="22" name="Rectangle 21">
            <a:extLst>
              <a:ext uri="{FF2B5EF4-FFF2-40B4-BE49-F238E27FC236}">
                <a16:creationId xmlns:a16="http://schemas.microsoft.com/office/drawing/2014/main" id="{B7969CDE-7703-439B-BDE5-84991B339ACC}"/>
              </a:ext>
            </a:extLst>
          </p:cNvPr>
          <p:cNvSpPr>
            <a:spLocks noGrp="1"/>
          </p:cNvSpPr>
          <p:nvPr/>
        </p:nvSpPr>
        <p:spPr>
          <a:xfrm>
            <a:off x="5734050" y="2133600"/>
            <a:ext cx="2190750" cy="400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80" b="0">
                <a:solidFill>
                  <a:srgbClr val="142026"/>
                </a:solidFill>
                <a:latin typeface="Aptos"/>
                <a:ea typeface="Aptos"/>
                <a:cs typeface="Aptos"/>
              </a:defRPr>
            </a:pPr>
            <a:r>
              <a:rPr sz="1100" b="0" i="0" u="none" cap="none" spc="0">
                <a:ln>
                  <a:noFill/>
                </a:ln>
                <a:solidFill>
                  <a:srgbClr val="142026"/>
                </a:solidFill>
                <a:latin typeface="Aptos"/>
                <a:ea typeface="Aptos"/>
                <a:cs typeface="Aptos"/>
              </a:rPr>
              <a:t>raw returned text</a:t>
            </a:r>
          </a:p>
        </p:txBody>
      </p:sp>
      <p:sp>
        <p:nvSpPr>
          <p:cNvPr id="23" name="Rounded Rectangle 22">
            <a:extLst>
              <a:ext uri="{FF2B5EF4-FFF2-40B4-BE49-F238E27FC236}">
                <a16:creationId xmlns:a16="http://schemas.microsoft.com/office/drawing/2014/main" id="{9B9442B3-F7B5-4259-A95B-1CCC7F222443}"/>
              </a:ext>
            </a:extLst>
          </p:cNvPr>
          <p:cNvSpPr>
            <a:spLocks noGrp="1"/>
          </p:cNvSpPr>
          <p:nvPr/>
        </p:nvSpPr>
        <p:spPr>
          <a:xfrm>
            <a:off x="723900" y="2724150"/>
            <a:ext cx="723900" cy="514350"/>
          </a:xfrm>
          <a:prstGeom prst="roundRect">
            <a:avLst>
              <a:gd name="adj" fmla="val 13043"/>
            </a:avLst>
          </a:prstGeom>
          <a:solidFill>
            <a:srgbClr val="E76F51"/>
          </a:solidFill>
          <a:ln w="0">
            <a:solidFill>
              <a:srgbClr val="000000">
                <a:alpha val="0"/>
              </a:srgbClr>
            </a:solidFill>
            <a:prstDash val="solid"/>
          </a:ln>
        </p:spPr>
        <p:txBody>
          <a:bodyPr anchor="ctr"/>
          <a:lstStyle/>
          <a:p>
            <a:pPr marL="0" indent="0" algn="l">
              <a:lnSpc>
                <a:spcPct val="100000"/>
              </a:lnSpc>
              <a:spcBef>
                <a:spcPts val="0"/>
              </a:spcBef>
              <a:spcAft>
                <a:spcPts val="0"/>
              </a:spcAft>
              <a:buNone/>
            </a:pPr>
            <a:endParaRPr/>
          </a:p>
        </p:txBody>
      </p:sp>
      <p:sp>
        <p:nvSpPr>
          <p:cNvPr id="24" name="Rectangle 23">
            <a:extLst>
              <a:ext uri="{FF2B5EF4-FFF2-40B4-BE49-F238E27FC236}">
                <a16:creationId xmlns:a16="http://schemas.microsoft.com/office/drawing/2014/main" id="{6C238107-32BE-4448-AFCB-C49E668AFE74}"/>
              </a:ext>
            </a:extLst>
          </p:cNvPr>
          <p:cNvSpPr>
            <a:spLocks noGrp="1"/>
          </p:cNvSpPr>
          <p:nvPr/>
        </p:nvSpPr>
        <p:spPr>
          <a:xfrm>
            <a:off x="723900" y="2838450"/>
            <a:ext cx="723900" cy="2286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500" b="1">
                <a:solidFill>
                  <a:srgbClr val="FFFFFF"/>
                </a:solidFill>
                <a:latin typeface="Aptos"/>
                <a:ea typeface="Aptos"/>
                <a:cs typeface="Aptos"/>
              </a:defRPr>
            </a:pPr>
            <a:r>
              <a:rPr sz="1500" b="1" i="0" u="none" cap="none" spc="0">
                <a:ln>
                  <a:noFill/>
                </a:ln>
                <a:solidFill>
                  <a:srgbClr val="FFFFFF"/>
                </a:solidFill>
                <a:latin typeface="Aptos"/>
                <a:ea typeface="Aptos"/>
                <a:cs typeface="Aptos"/>
              </a:rPr>
              <a:t>M3</a:t>
            </a:r>
          </a:p>
        </p:txBody>
      </p:sp>
      <p:sp>
        <p:nvSpPr>
          <p:cNvPr id="25" name="Rounded Rectangle 24">
            <a:extLst>
              <a:ext uri="{FF2B5EF4-FFF2-40B4-BE49-F238E27FC236}">
                <a16:creationId xmlns:a16="http://schemas.microsoft.com/office/drawing/2014/main" id="{1ED217AB-0D9B-4343-AEFF-6F3426DE46FC}"/>
              </a:ext>
            </a:extLst>
          </p:cNvPr>
          <p:cNvSpPr>
            <a:spLocks noGrp="1"/>
          </p:cNvSpPr>
          <p:nvPr/>
        </p:nvSpPr>
        <p:spPr>
          <a:xfrm>
            <a:off x="1581150" y="2724150"/>
            <a:ext cx="3543300" cy="514350"/>
          </a:xfrm>
          <a:prstGeom prst="roundRect">
            <a:avLst>
              <a:gd name="adj" fmla="val 13043"/>
            </a:avLst>
          </a:prstGeom>
          <a:solidFill>
            <a:srgbClr val="FCE8DC"/>
          </a:solidFill>
          <a:ln w="9525">
            <a:solidFill>
              <a:srgbClr val="E76F51"/>
            </a:solidFill>
            <a:prstDash val="solid"/>
          </a:ln>
        </p:spPr>
        <p:txBody>
          <a:bodyPr anchor="ctr"/>
          <a:lstStyle/>
          <a:p>
            <a:pPr marL="0" indent="0" algn="l">
              <a:lnSpc>
                <a:spcPct val="100000"/>
              </a:lnSpc>
              <a:spcBef>
                <a:spcPts val="0"/>
              </a:spcBef>
              <a:spcAft>
                <a:spcPts val="0"/>
              </a:spcAft>
              <a:buNone/>
            </a:pPr>
            <a:endParaRPr/>
          </a:p>
        </p:txBody>
      </p:sp>
      <p:sp>
        <p:nvSpPr>
          <p:cNvPr id="26" name="Rectangle 25">
            <a:extLst>
              <a:ext uri="{FF2B5EF4-FFF2-40B4-BE49-F238E27FC236}">
                <a16:creationId xmlns:a16="http://schemas.microsoft.com/office/drawing/2014/main" id="{DB9EFFC7-F8E9-4433-99E7-C82C3F8B74AA}"/>
              </a:ext>
            </a:extLst>
          </p:cNvPr>
          <p:cNvSpPr>
            <a:spLocks noGrp="1"/>
          </p:cNvSpPr>
          <p:nvPr/>
        </p:nvSpPr>
        <p:spPr>
          <a:xfrm>
            <a:off x="1695450" y="2790825"/>
            <a:ext cx="3314700" cy="3810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80" b="0">
                <a:solidFill>
                  <a:srgbClr val="142026"/>
                </a:solidFill>
                <a:latin typeface="Aptos"/>
                <a:ea typeface="Aptos"/>
                <a:cs typeface="Aptos"/>
              </a:defRPr>
            </a:pPr>
            <a:r>
              <a:rPr sz="1100" b="0" i="0" u="none" cap="none" spc="0">
                <a:ln>
                  <a:noFill/>
                </a:ln>
                <a:solidFill>
                  <a:srgbClr val="142026"/>
                </a:solidFill>
                <a:latin typeface="Aptos"/>
                <a:ea typeface="Aptos"/>
                <a:cs typeface="Aptos"/>
              </a:rPr>
              <a:t>OCR/HTR hint + fixed transcription</a:t>
            </a:r>
          </a:p>
        </p:txBody>
      </p:sp>
      <p:sp>
        <p:nvSpPr>
          <p:cNvPr id="27" name="Rectangle 26">
            <a:extLst>
              <a:ext uri="{FF2B5EF4-FFF2-40B4-BE49-F238E27FC236}">
                <a16:creationId xmlns:a16="http://schemas.microsoft.com/office/drawing/2014/main" id="{5EEA8D04-29DE-4CE9-AD13-C838717B2364}"/>
              </a:ext>
            </a:extLst>
          </p:cNvPr>
          <p:cNvSpPr>
            <a:spLocks noGrp="1"/>
          </p:cNvSpPr>
          <p:nvPr/>
        </p:nvSpPr>
        <p:spPr>
          <a:xfrm>
            <a:off x="5162550" y="2828925"/>
            <a:ext cx="38100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950" b="1">
                <a:solidFill>
                  <a:srgbClr val="E76F51"/>
                </a:solidFill>
                <a:latin typeface="Aptos"/>
                <a:ea typeface="Aptos"/>
                <a:cs typeface="Aptos"/>
              </a:defRPr>
            </a:pPr>
            <a:r>
              <a:rPr sz="1950" b="1" i="0" u="none" cap="none" spc="0">
                <a:ln>
                  <a:noFill/>
                </a:ln>
                <a:solidFill>
                  <a:srgbClr val="E76F51"/>
                </a:solidFill>
                <a:latin typeface="Aptos"/>
                <a:ea typeface="Aptos"/>
                <a:cs typeface="Aptos"/>
              </a:rPr>
              <a:t>-&gt;</a:t>
            </a:r>
          </a:p>
        </p:txBody>
      </p:sp>
      <p:sp>
        <p:nvSpPr>
          <p:cNvPr id="28" name="Rounded Rectangle 27">
            <a:extLst>
              <a:ext uri="{FF2B5EF4-FFF2-40B4-BE49-F238E27FC236}">
                <a16:creationId xmlns:a16="http://schemas.microsoft.com/office/drawing/2014/main" id="{7BDF34F8-0A13-460C-A3DF-851E3B9F4EC5}"/>
              </a:ext>
            </a:extLst>
          </p:cNvPr>
          <p:cNvSpPr>
            <a:spLocks noGrp="1"/>
          </p:cNvSpPr>
          <p:nvPr/>
        </p:nvSpPr>
        <p:spPr>
          <a:xfrm>
            <a:off x="5619750" y="2724150"/>
            <a:ext cx="2419350" cy="514350"/>
          </a:xfrm>
          <a:prstGeom prst="roundRect">
            <a:avLst>
              <a:gd name="adj" fmla="val 13043"/>
            </a:avLst>
          </a:prstGeom>
          <a:solidFill>
            <a:srgbClr val="FCE8DC"/>
          </a:solidFill>
          <a:ln w="9525">
            <a:solidFill>
              <a:srgbClr val="E76F51"/>
            </a:solidFill>
            <a:prstDash val="solid"/>
          </a:ln>
        </p:spPr>
        <p:txBody>
          <a:bodyPr anchor="ctr"/>
          <a:lstStyle/>
          <a:p>
            <a:pPr marL="0" indent="0" algn="l">
              <a:lnSpc>
                <a:spcPct val="100000"/>
              </a:lnSpc>
              <a:spcBef>
                <a:spcPts val="0"/>
              </a:spcBef>
              <a:spcAft>
                <a:spcPts val="0"/>
              </a:spcAft>
              <a:buNone/>
            </a:pPr>
            <a:endParaRPr/>
          </a:p>
        </p:txBody>
      </p:sp>
      <p:sp>
        <p:nvSpPr>
          <p:cNvPr id="29" name="Rectangle 28">
            <a:extLst>
              <a:ext uri="{FF2B5EF4-FFF2-40B4-BE49-F238E27FC236}">
                <a16:creationId xmlns:a16="http://schemas.microsoft.com/office/drawing/2014/main" id="{15D71FED-5A63-4CA8-B683-6BFA851D4E18}"/>
              </a:ext>
            </a:extLst>
          </p:cNvPr>
          <p:cNvSpPr>
            <a:spLocks noGrp="1"/>
          </p:cNvSpPr>
          <p:nvPr/>
        </p:nvSpPr>
        <p:spPr>
          <a:xfrm>
            <a:off x="5734050" y="2781300"/>
            <a:ext cx="2190750" cy="400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80" b="0">
                <a:solidFill>
                  <a:srgbClr val="142026"/>
                </a:solidFill>
                <a:latin typeface="Aptos"/>
                <a:ea typeface="Aptos"/>
                <a:cs typeface="Aptos"/>
              </a:defRPr>
            </a:pPr>
            <a:r>
              <a:rPr sz="1100" b="0" i="0" u="none" cap="none" spc="0">
                <a:ln>
                  <a:noFill/>
                </a:ln>
                <a:solidFill>
                  <a:srgbClr val="142026"/>
                </a:solidFill>
                <a:latin typeface="Aptos"/>
                <a:ea typeface="Aptos"/>
                <a:cs typeface="Aptos"/>
              </a:rPr>
              <a:t>raw returned text</a:t>
            </a:r>
          </a:p>
        </p:txBody>
      </p:sp>
      <p:sp>
        <p:nvSpPr>
          <p:cNvPr id="30" name="Rounded Rectangle 29">
            <a:extLst>
              <a:ext uri="{FF2B5EF4-FFF2-40B4-BE49-F238E27FC236}">
                <a16:creationId xmlns:a16="http://schemas.microsoft.com/office/drawing/2014/main" id="{D695DF8D-8E39-4A46-91A3-E833642EC2BB}"/>
              </a:ext>
            </a:extLst>
          </p:cNvPr>
          <p:cNvSpPr>
            <a:spLocks noGrp="1"/>
          </p:cNvSpPr>
          <p:nvPr/>
        </p:nvSpPr>
        <p:spPr>
          <a:xfrm>
            <a:off x="723900" y="3371850"/>
            <a:ext cx="723900" cy="514350"/>
          </a:xfrm>
          <a:prstGeom prst="roundRect">
            <a:avLst>
              <a:gd name="adj" fmla="val 13043"/>
            </a:avLst>
          </a:prstGeom>
          <a:solidFill>
            <a:srgbClr val="2A9D8F"/>
          </a:solidFill>
          <a:ln w="0">
            <a:solidFill>
              <a:srgbClr val="000000">
                <a:alpha val="0"/>
              </a:srgbClr>
            </a:solidFill>
            <a:prstDash val="solid"/>
          </a:ln>
        </p:spPr>
        <p:txBody>
          <a:bodyPr anchor="ctr"/>
          <a:lstStyle/>
          <a:p>
            <a:pPr marL="0" indent="0" algn="l">
              <a:lnSpc>
                <a:spcPct val="100000"/>
              </a:lnSpc>
              <a:spcBef>
                <a:spcPts val="0"/>
              </a:spcBef>
              <a:spcAft>
                <a:spcPts val="0"/>
              </a:spcAft>
              <a:buNone/>
            </a:pPr>
            <a:endParaRPr/>
          </a:p>
        </p:txBody>
      </p:sp>
      <p:sp>
        <p:nvSpPr>
          <p:cNvPr id="31" name="Rectangle 30">
            <a:extLst>
              <a:ext uri="{FF2B5EF4-FFF2-40B4-BE49-F238E27FC236}">
                <a16:creationId xmlns:a16="http://schemas.microsoft.com/office/drawing/2014/main" id="{E565292C-BCDB-49DA-8BF4-FBE6766A7881}"/>
              </a:ext>
            </a:extLst>
          </p:cNvPr>
          <p:cNvSpPr>
            <a:spLocks noGrp="1"/>
          </p:cNvSpPr>
          <p:nvPr/>
        </p:nvSpPr>
        <p:spPr>
          <a:xfrm>
            <a:off x="723900" y="3486150"/>
            <a:ext cx="723900" cy="2286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500" b="1">
                <a:solidFill>
                  <a:srgbClr val="FFFFFF"/>
                </a:solidFill>
                <a:latin typeface="Aptos"/>
                <a:ea typeface="Aptos"/>
                <a:cs typeface="Aptos"/>
              </a:defRPr>
            </a:pPr>
            <a:r>
              <a:rPr sz="1500" b="1" i="0" u="none" cap="none" spc="0">
                <a:ln>
                  <a:noFill/>
                </a:ln>
                <a:solidFill>
                  <a:srgbClr val="FFFFFF"/>
                </a:solidFill>
                <a:latin typeface="Aptos"/>
                <a:ea typeface="Aptos"/>
                <a:cs typeface="Aptos"/>
              </a:rPr>
              <a:t>M4</a:t>
            </a:r>
          </a:p>
        </p:txBody>
      </p:sp>
      <p:sp>
        <p:nvSpPr>
          <p:cNvPr id="32" name="Rounded Rectangle 31">
            <a:extLst>
              <a:ext uri="{FF2B5EF4-FFF2-40B4-BE49-F238E27FC236}">
                <a16:creationId xmlns:a16="http://schemas.microsoft.com/office/drawing/2014/main" id="{32DD08E3-2CA0-4A8C-B19F-AA5A34EEC7B1}"/>
              </a:ext>
            </a:extLst>
          </p:cNvPr>
          <p:cNvSpPr>
            <a:spLocks noGrp="1"/>
          </p:cNvSpPr>
          <p:nvPr/>
        </p:nvSpPr>
        <p:spPr>
          <a:xfrm>
            <a:off x="1581150" y="3371850"/>
            <a:ext cx="3543300" cy="514350"/>
          </a:xfrm>
          <a:prstGeom prst="roundRect">
            <a:avLst>
              <a:gd name="adj" fmla="val 13043"/>
            </a:avLst>
          </a:prstGeom>
          <a:solidFill>
            <a:srgbClr val="DDEDE9"/>
          </a:solidFill>
          <a:ln w="9525">
            <a:solidFill>
              <a:srgbClr val="2A9D8F"/>
            </a:solidFill>
            <a:prstDash val="solid"/>
          </a:ln>
        </p:spPr>
        <p:txBody>
          <a:bodyPr anchor="ctr"/>
          <a:lstStyle/>
          <a:p>
            <a:pPr marL="0" indent="0" algn="l">
              <a:lnSpc>
                <a:spcPct val="100000"/>
              </a:lnSpc>
              <a:spcBef>
                <a:spcPts val="0"/>
              </a:spcBef>
              <a:spcAft>
                <a:spcPts val="0"/>
              </a:spcAft>
              <a:buNone/>
            </a:pPr>
            <a:endParaRPr/>
          </a:p>
        </p:txBody>
      </p:sp>
      <p:sp>
        <p:nvSpPr>
          <p:cNvPr id="33" name="Rectangle 32">
            <a:extLst>
              <a:ext uri="{FF2B5EF4-FFF2-40B4-BE49-F238E27FC236}">
                <a16:creationId xmlns:a16="http://schemas.microsoft.com/office/drawing/2014/main" id="{296B0FD6-19CA-4AAF-8262-A5F9CC0C4BD9}"/>
              </a:ext>
            </a:extLst>
          </p:cNvPr>
          <p:cNvSpPr>
            <a:spLocks noGrp="1"/>
          </p:cNvSpPr>
          <p:nvPr/>
        </p:nvSpPr>
        <p:spPr>
          <a:xfrm>
            <a:off x="1695450" y="3438525"/>
            <a:ext cx="3314700" cy="3810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43" b="0">
                <a:solidFill>
                  <a:srgbClr val="142026"/>
                </a:solidFill>
                <a:latin typeface="Aptos"/>
                <a:ea typeface="Aptos"/>
                <a:cs typeface="Aptos"/>
              </a:defRPr>
            </a:pPr>
            <a:r>
              <a:rPr sz="1100" b="0" i="0" u="none" cap="none" spc="0">
                <a:ln>
                  <a:noFill/>
                </a:ln>
                <a:solidFill>
                  <a:srgbClr val="142026"/>
                </a:solidFill>
                <a:latin typeface="Aptos"/>
                <a:ea typeface="Aptos"/>
                <a:cs typeface="Aptos"/>
              </a:rPr>
              <a:t>ordered OCR-line scaffold + expected N + fixed transcription</a:t>
            </a:r>
          </a:p>
        </p:txBody>
      </p:sp>
      <p:sp>
        <p:nvSpPr>
          <p:cNvPr id="34" name="Rectangle 33">
            <a:extLst>
              <a:ext uri="{FF2B5EF4-FFF2-40B4-BE49-F238E27FC236}">
                <a16:creationId xmlns:a16="http://schemas.microsoft.com/office/drawing/2014/main" id="{88CF1EE7-7FF5-451E-B322-3F4CA64B63C4}"/>
              </a:ext>
            </a:extLst>
          </p:cNvPr>
          <p:cNvSpPr>
            <a:spLocks noGrp="1"/>
          </p:cNvSpPr>
          <p:nvPr/>
        </p:nvSpPr>
        <p:spPr>
          <a:xfrm>
            <a:off x="5162550" y="3476625"/>
            <a:ext cx="38100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950" b="1">
                <a:solidFill>
                  <a:srgbClr val="2A9D8F"/>
                </a:solidFill>
                <a:latin typeface="Aptos"/>
                <a:ea typeface="Aptos"/>
                <a:cs typeface="Aptos"/>
              </a:defRPr>
            </a:pPr>
            <a:r>
              <a:rPr sz="1950" b="1" i="0" u="none" cap="none" spc="0">
                <a:ln>
                  <a:noFill/>
                </a:ln>
                <a:solidFill>
                  <a:srgbClr val="2A9D8F"/>
                </a:solidFill>
                <a:latin typeface="Aptos"/>
                <a:ea typeface="Aptos"/>
                <a:cs typeface="Aptos"/>
              </a:rPr>
              <a:t>-&gt;</a:t>
            </a:r>
          </a:p>
        </p:txBody>
      </p:sp>
      <p:sp>
        <p:nvSpPr>
          <p:cNvPr id="35" name="Rounded Rectangle 34">
            <a:extLst>
              <a:ext uri="{FF2B5EF4-FFF2-40B4-BE49-F238E27FC236}">
                <a16:creationId xmlns:a16="http://schemas.microsoft.com/office/drawing/2014/main" id="{D793B887-38FE-4E57-9FA8-69F7B12AFF95}"/>
              </a:ext>
            </a:extLst>
          </p:cNvPr>
          <p:cNvSpPr>
            <a:spLocks noGrp="1"/>
          </p:cNvSpPr>
          <p:nvPr/>
        </p:nvSpPr>
        <p:spPr>
          <a:xfrm>
            <a:off x="5619750" y="3371850"/>
            <a:ext cx="2419350" cy="514350"/>
          </a:xfrm>
          <a:prstGeom prst="roundRect">
            <a:avLst>
              <a:gd name="adj" fmla="val 13043"/>
            </a:avLst>
          </a:prstGeom>
          <a:solidFill>
            <a:srgbClr val="DDEDE9"/>
          </a:solidFill>
          <a:ln w="9525">
            <a:solidFill>
              <a:srgbClr val="2A9D8F"/>
            </a:solidFill>
            <a:prstDash val="solid"/>
          </a:ln>
        </p:spPr>
        <p:txBody>
          <a:bodyPr anchor="ctr"/>
          <a:lstStyle/>
          <a:p>
            <a:pPr marL="0" indent="0" algn="l">
              <a:lnSpc>
                <a:spcPct val="100000"/>
              </a:lnSpc>
              <a:spcBef>
                <a:spcPts val="0"/>
              </a:spcBef>
              <a:spcAft>
                <a:spcPts val="0"/>
              </a:spcAft>
              <a:buNone/>
            </a:pPr>
            <a:endParaRPr/>
          </a:p>
        </p:txBody>
      </p:sp>
      <p:sp>
        <p:nvSpPr>
          <p:cNvPr id="36" name="Rectangle 35">
            <a:extLst>
              <a:ext uri="{FF2B5EF4-FFF2-40B4-BE49-F238E27FC236}">
                <a16:creationId xmlns:a16="http://schemas.microsoft.com/office/drawing/2014/main" id="{0705C062-969C-4466-80AF-6E25A590EF67}"/>
              </a:ext>
            </a:extLst>
          </p:cNvPr>
          <p:cNvSpPr>
            <a:spLocks noGrp="1"/>
          </p:cNvSpPr>
          <p:nvPr/>
        </p:nvSpPr>
        <p:spPr>
          <a:xfrm>
            <a:off x="5734050" y="3429000"/>
            <a:ext cx="2190750" cy="400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20" b="0">
                <a:solidFill>
                  <a:srgbClr val="142026"/>
                </a:solidFill>
                <a:latin typeface="Aptos"/>
                <a:ea typeface="Aptos"/>
                <a:cs typeface="Aptos"/>
              </a:defRPr>
            </a:pPr>
            <a:r>
              <a:rPr sz="1100" b="0" i="0" u="none" cap="none" spc="0">
                <a:ln>
                  <a:noFill/>
                </a:ln>
                <a:solidFill>
                  <a:srgbClr val="142026"/>
                </a:solidFill>
                <a:latin typeface="Aptos"/>
                <a:ea typeface="Aptos"/>
                <a:cs typeface="Aptos"/>
              </a:rPr>
              <a:t>strict JSON + repair/fallback + projection</a:t>
            </a:r>
          </a:p>
        </p:txBody>
      </p:sp>
      <p:sp>
        <p:nvSpPr>
          <p:cNvPr id="37" name="Rounded Rectangle 36">
            <a:extLst>
              <a:ext uri="{FF2B5EF4-FFF2-40B4-BE49-F238E27FC236}">
                <a16:creationId xmlns:a16="http://schemas.microsoft.com/office/drawing/2014/main" id="{650C564F-9282-415A-ADCB-A3535F59AF9E}"/>
              </a:ext>
            </a:extLst>
          </p:cNvPr>
          <p:cNvSpPr>
            <a:spLocks noGrp="1"/>
          </p:cNvSpPr>
          <p:nvPr/>
        </p:nvSpPr>
        <p:spPr>
          <a:xfrm>
            <a:off x="723900" y="4019550"/>
            <a:ext cx="723900" cy="514350"/>
          </a:xfrm>
          <a:prstGeom prst="roundRect">
            <a:avLst>
              <a:gd name="adj" fmla="val 13043"/>
            </a:avLst>
          </a:prstGeom>
          <a:solidFill>
            <a:srgbClr val="2A9D8F"/>
          </a:solidFill>
          <a:ln w="0">
            <a:solidFill>
              <a:srgbClr val="000000">
                <a:alpha val="0"/>
              </a:srgbClr>
            </a:solidFill>
            <a:prstDash val="solid"/>
          </a:ln>
        </p:spPr>
        <p:txBody>
          <a:bodyPr anchor="ctr"/>
          <a:lstStyle/>
          <a:p>
            <a:pPr marL="0" indent="0" algn="l">
              <a:lnSpc>
                <a:spcPct val="100000"/>
              </a:lnSpc>
              <a:spcBef>
                <a:spcPts val="0"/>
              </a:spcBef>
              <a:spcAft>
                <a:spcPts val="0"/>
              </a:spcAft>
              <a:buNone/>
            </a:pPr>
            <a:endParaRPr/>
          </a:p>
        </p:txBody>
      </p:sp>
      <p:sp>
        <p:nvSpPr>
          <p:cNvPr id="38" name="Rectangle 37">
            <a:extLst>
              <a:ext uri="{FF2B5EF4-FFF2-40B4-BE49-F238E27FC236}">
                <a16:creationId xmlns:a16="http://schemas.microsoft.com/office/drawing/2014/main" id="{63E0A2FF-B1E3-48A2-AEC0-B0DD000A2FB3}"/>
              </a:ext>
            </a:extLst>
          </p:cNvPr>
          <p:cNvSpPr>
            <a:spLocks noGrp="1"/>
          </p:cNvSpPr>
          <p:nvPr/>
        </p:nvSpPr>
        <p:spPr>
          <a:xfrm>
            <a:off x="723900" y="4133850"/>
            <a:ext cx="723900" cy="2286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500" b="1">
                <a:solidFill>
                  <a:srgbClr val="FFFFFF"/>
                </a:solidFill>
                <a:latin typeface="Aptos"/>
                <a:ea typeface="Aptos"/>
                <a:cs typeface="Aptos"/>
              </a:defRPr>
            </a:pPr>
            <a:r>
              <a:rPr sz="1500" b="1" i="0" u="none" cap="none" spc="0">
                <a:ln>
                  <a:noFill/>
                </a:ln>
                <a:solidFill>
                  <a:srgbClr val="FFFFFF"/>
                </a:solidFill>
                <a:latin typeface="Aptos"/>
                <a:ea typeface="Aptos"/>
                <a:cs typeface="Aptos"/>
              </a:rPr>
              <a:t>M5</a:t>
            </a:r>
          </a:p>
        </p:txBody>
      </p:sp>
      <p:sp>
        <p:nvSpPr>
          <p:cNvPr id="39" name="Rounded Rectangle 38">
            <a:extLst>
              <a:ext uri="{FF2B5EF4-FFF2-40B4-BE49-F238E27FC236}">
                <a16:creationId xmlns:a16="http://schemas.microsoft.com/office/drawing/2014/main" id="{9B0A7B98-0C62-44A9-B089-DE0EBD35383A}"/>
              </a:ext>
            </a:extLst>
          </p:cNvPr>
          <p:cNvSpPr>
            <a:spLocks noGrp="1"/>
          </p:cNvSpPr>
          <p:nvPr/>
        </p:nvSpPr>
        <p:spPr>
          <a:xfrm>
            <a:off x="1581150" y="4019550"/>
            <a:ext cx="3543300" cy="514350"/>
          </a:xfrm>
          <a:prstGeom prst="roundRect">
            <a:avLst>
              <a:gd name="adj" fmla="val 13043"/>
            </a:avLst>
          </a:prstGeom>
          <a:solidFill>
            <a:srgbClr val="DDEDE9"/>
          </a:solidFill>
          <a:ln w="9525">
            <a:solidFill>
              <a:srgbClr val="2A9D8F"/>
            </a:solidFill>
            <a:prstDash val="solid"/>
          </a:ln>
        </p:spPr>
        <p:txBody>
          <a:bodyPr anchor="ctr"/>
          <a:lstStyle/>
          <a:p>
            <a:pPr marL="0" indent="0" algn="l">
              <a:lnSpc>
                <a:spcPct val="100000"/>
              </a:lnSpc>
              <a:spcBef>
                <a:spcPts val="0"/>
              </a:spcBef>
              <a:spcAft>
                <a:spcPts val="0"/>
              </a:spcAft>
              <a:buNone/>
            </a:pPr>
            <a:endParaRPr/>
          </a:p>
        </p:txBody>
      </p:sp>
      <p:sp>
        <p:nvSpPr>
          <p:cNvPr id="40" name="Rectangle 39">
            <a:extLst>
              <a:ext uri="{FF2B5EF4-FFF2-40B4-BE49-F238E27FC236}">
                <a16:creationId xmlns:a16="http://schemas.microsoft.com/office/drawing/2014/main" id="{602B8724-273A-41E1-83E4-8F66719E28C2}"/>
              </a:ext>
            </a:extLst>
          </p:cNvPr>
          <p:cNvSpPr>
            <a:spLocks noGrp="1"/>
          </p:cNvSpPr>
          <p:nvPr/>
        </p:nvSpPr>
        <p:spPr>
          <a:xfrm>
            <a:off x="1695450" y="4086225"/>
            <a:ext cx="3314700" cy="3810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05" b="0">
                <a:solidFill>
                  <a:srgbClr val="142026"/>
                </a:solidFill>
                <a:latin typeface="Aptos"/>
                <a:ea typeface="Aptos"/>
                <a:cs typeface="Aptos"/>
              </a:defRPr>
            </a:pPr>
            <a:r>
              <a:rPr sz="1100" b="0" i="0" u="none" cap="none" spc="0">
                <a:ln>
                  <a:noFill/>
                </a:ln>
                <a:solidFill>
                  <a:srgbClr val="142026"/>
                </a:solidFill>
                <a:latin typeface="Aptos"/>
                <a:ea typeface="Aptos"/>
                <a:cs typeface="Aptos"/>
              </a:rPr>
              <a:t>ordered line crops + OCR/HTR line text + page image + expected N + fixed transcription</a:t>
            </a:r>
          </a:p>
        </p:txBody>
      </p:sp>
      <p:sp>
        <p:nvSpPr>
          <p:cNvPr id="41" name="Rectangle 40">
            <a:extLst>
              <a:ext uri="{FF2B5EF4-FFF2-40B4-BE49-F238E27FC236}">
                <a16:creationId xmlns:a16="http://schemas.microsoft.com/office/drawing/2014/main" id="{1BD3E922-7561-4802-AC68-3DC6706D0EA9}"/>
              </a:ext>
            </a:extLst>
          </p:cNvPr>
          <p:cNvSpPr>
            <a:spLocks noGrp="1"/>
          </p:cNvSpPr>
          <p:nvPr/>
        </p:nvSpPr>
        <p:spPr>
          <a:xfrm>
            <a:off x="5162550" y="4124325"/>
            <a:ext cx="38100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950" b="1">
                <a:solidFill>
                  <a:srgbClr val="2A9D8F"/>
                </a:solidFill>
                <a:latin typeface="Aptos"/>
                <a:ea typeface="Aptos"/>
                <a:cs typeface="Aptos"/>
              </a:defRPr>
            </a:pPr>
            <a:r>
              <a:rPr sz="1950" b="1" i="0" u="none" cap="none" spc="0">
                <a:ln>
                  <a:noFill/>
                </a:ln>
                <a:solidFill>
                  <a:srgbClr val="2A9D8F"/>
                </a:solidFill>
                <a:latin typeface="Aptos"/>
                <a:ea typeface="Aptos"/>
                <a:cs typeface="Aptos"/>
              </a:rPr>
              <a:t>-&gt;</a:t>
            </a:r>
          </a:p>
        </p:txBody>
      </p:sp>
      <p:sp>
        <p:nvSpPr>
          <p:cNvPr id="42" name="Rounded Rectangle 41">
            <a:extLst>
              <a:ext uri="{FF2B5EF4-FFF2-40B4-BE49-F238E27FC236}">
                <a16:creationId xmlns:a16="http://schemas.microsoft.com/office/drawing/2014/main" id="{E6966E38-F0CF-41FC-9969-AEB7D65C43B8}"/>
              </a:ext>
            </a:extLst>
          </p:cNvPr>
          <p:cNvSpPr>
            <a:spLocks noGrp="1"/>
          </p:cNvSpPr>
          <p:nvPr/>
        </p:nvSpPr>
        <p:spPr>
          <a:xfrm>
            <a:off x="5619750" y="4019550"/>
            <a:ext cx="2419350" cy="514350"/>
          </a:xfrm>
          <a:prstGeom prst="roundRect">
            <a:avLst>
              <a:gd name="adj" fmla="val 13043"/>
            </a:avLst>
          </a:prstGeom>
          <a:solidFill>
            <a:srgbClr val="DDEDE9"/>
          </a:solidFill>
          <a:ln w="9525">
            <a:solidFill>
              <a:srgbClr val="2A9D8F"/>
            </a:solidFill>
            <a:prstDash val="solid"/>
          </a:ln>
        </p:spPr>
        <p:txBody>
          <a:bodyPr anchor="ctr"/>
          <a:lstStyle/>
          <a:p>
            <a:pPr marL="0" indent="0" algn="l">
              <a:lnSpc>
                <a:spcPct val="100000"/>
              </a:lnSpc>
              <a:spcBef>
                <a:spcPts val="0"/>
              </a:spcBef>
              <a:spcAft>
                <a:spcPts val="0"/>
              </a:spcAft>
              <a:buNone/>
            </a:pPr>
            <a:endParaRPr/>
          </a:p>
        </p:txBody>
      </p:sp>
      <p:sp>
        <p:nvSpPr>
          <p:cNvPr id="43" name="Rectangle 42">
            <a:extLst>
              <a:ext uri="{FF2B5EF4-FFF2-40B4-BE49-F238E27FC236}">
                <a16:creationId xmlns:a16="http://schemas.microsoft.com/office/drawing/2014/main" id="{C78719FF-111B-472E-93D0-A3ABB5C503F5}"/>
              </a:ext>
            </a:extLst>
          </p:cNvPr>
          <p:cNvSpPr>
            <a:spLocks noGrp="1"/>
          </p:cNvSpPr>
          <p:nvPr/>
        </p:nvSpPr>
        <p:spPr>
          <a:xfrm>
            <a:off x="5734050" y="4076700"/>
            <a:ext cx="2190750" cy="400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ctr"/>
          <a:lstStyle/>
          <a:p>
            <a:pPr marL="0" indent="0" algn="ctr">
              <a:lnSpc>
                <a:spcPct val="100000"/>
              </a:lnSpc>
              <a:spcBef>
                <a:spcPts val="0"/>
              </a:spcBef>
              <a:spcAft>
                <a:spcPts val="0"/>
              </a:spcAft>
              <a:buNone/>
              <a:defRPr sz="1005" b="0">
                <a:solidFill>
                  <a:srgbClr val="142026"/>
                </a:solidFill>
                <a:latin typeface="Aptos"/>
                <a:ea typeface="Aptos"/>
                <a:cs typeface="Aptos"/>
              </a:defRPr>
            </a:pPr>
            <a:r>
              <a:rPr sz="1100" b="0" i="0" u="none" cap="none" spc="0">
                <a:ln>
                  <a:noFill/>
                </a:ln>
                <a:solidFill>
                  <a:srgbClr val="142026"/>
                </a:solidFill>
                <a:latin typeface="Aptos"/>
                <a:ea typeface="Aptos"/>
                <a:cs typeface="Aptos"/>
              </a:rPr>
              <a:t>strict JSON + repair/recovery/fallback + projection</a:t>
            </a:r>
          </a:p>
        </p:txBody>
      </p:sp>
      <p:sp>
        <p:nvSpPr>
          <p:cNvPr id="48" name="Rounded Rectangle 47">
            <a:extLst>
              <a:ext uri="{FF2B5EF4-FFF2-40B4-BE49-F238E27FC236}">
                <a16:creationId xmlns:a16="http://schemas.microsoft.com/office/drawing/2014/main" id="{F5878606-42C9-43A9-B8E3-873370E7C726}"/>
              </a:ext>
            </a:extLst>
          </p:cNvPr>
          <p:cNvSpPr>
            <a:spLocks noGrp="1"/>
          </p:cNvSpPr>
          <p:nvPr/>
        </p:nvSpPr>
        <p:spPr>
          <a:xfrm>
            <a:off x="1563624" y="5138928"/>
            <a:ext cx="9070848" cy="658368"/>
          </a:xfrm>
          <a:prstGeom prst="roundRect">
            <a:avLst>
              <a:gd name="adj" fmla="val 14286"/>
            </a:avLst>
          </a:prstGeom>
          <a:solidFill>
            <a:srgbClr val="F8F5EA"/>
          </a:solidFill>
          <a:ln w="9525">
            <a:solidFill>
              <a:srgbClr val="CFC7B8"/>
            </a:solidFill>
            <a:prstDash val="solid"/>
          </a:ln>
        </p:spPr>
        <p:txBody>
          <a:bodyPr anchor="ctr"/>
          <a:lstStyle/>
          <a:p>
            <a:pPr marL="0" indent="0" algn="l">
              <a:lnSpc>
                <a:spcPct val="100000"/>
              </a:lnSpc>
              <a:spcBef>
                <a:spcPts val="0"/>
              </a:spcBef>
              <a:spcAft>
                <a:spcPts val="0"/>
              </a:spcAft>
              <a:buNone/>
            </a:pPr>
            <a:endParaRPr/>
          </a:p>
        </p:txBody>
      </p:sp>
      <p:sp>
        <p:nvSpPr>
          <p:cNvPr id="49" name="Rectangle 48">
            <a:extLst>
              <a:ext uri="{FF2B5EF4-FFF2-40B4-BE49-F238E27FC236}">
                <a16:creationId xmlns:a16="http://schemas.microsoft.com/office/drawing/2014/main" id="{BECC980D-7D8A-4924-A107-1D005670198A}"/>
              </a:ext>
            </a:extLst>
          </p:cNvPr>
          <p:cNvSpPr>
            <a:spLocks noGrp="1"/>
          </p:cNvSpPr>
          <p:nvPr/>
        </p:nvSpPr>
        <p:spPr>
          <a:xfrm>
            <a:off x="1719072" y="5248656"/>
            <a:ext cx="8759952" cy="393192"/>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marL="0" indent="0" algn="ctr">
              <a:lnSpc>
                <a:spcPct val="100000"/>
              </a:lnSpc>
              <a:spcBef>
                <a:spcPts val="0"/>
              </a:spcBef>
              <a:spcAft>
                <a:spcPts val="0"/>
              </a:spcAft>
              <a:buNone/>
              <a:defRPr sz="900" b="1">
                <a:latin typeface="Aptos Display"/>
                <a:ea typeface="Aptos Display"/>
                <a:cs typeface="Aptos Display"/>
              </a:defRPr>
            </a:pPr>
            <a:r>
              <a:rPr sz="1400" b="1" i="0" u="none" cap="none" spc="0">
                <a:ln>
                  <a:noFill/>
                </a:ln>
                <a:latin typeface="Aptos Display"/>
                <a:ea typeface="Aptos Display"/>
                <a:cs typeface="Aptos Display"/>
              </a:rPr>
              <a:t>Models: GPT-5.4-0305, GPT-5.2, Gemini-2.5-Pro, Gemini-3-Pro, Gemini-3.1</a:t>
            </a:r>
          </a:p>
          <a:p>
            <a:pPr marL="0" indent="0" algn="ctr">
              <a:lnSpc>
                <a:spcPct val="100000"/>
              </a:lnSpc>
              <a:spcBef>
                <a:spcPts val="0"/>
              </a:spcBef>
              <a:spcAft>
                <a:spcPts val="0"/>
              </a:spcAft>
              <a:buNone/>
              <a:defRPr sz="900" b="1">
                <a:latin typeface="Aptos Display"/>
                <a:ea typeface="Aptos Display"/>
                <a:cs typeface="Aptos Display"/>
              </a:defRPr>
            </a:pPr>
            <a:r>
              <a:rPr sz="1400" b="1" i="0" u="none" cap="none" spc="0">
                <a:ln>
                  <a:noFill/>
                </a:ln>
                <a:latin typeface="Aptos Display"/>
                <a:ea typeface="Aptos Display"/>
                <a:cs typeface="Aptos Display"/>
              </a:rPr>
              <a:t>Qwen3-VL-8B, Qwen3-VL-32B, Mistral-2512</a:t>
            </a:r>
          </a:p>
        </p:txBody>
      </p:sp>
      <p:sp>
        <p:nvSpPr>
          <p:cNvPr id="50" name="Rounded Rectangle 49">
            <a:extLst>
              <a:ext uri="{FF2B5EF4-FFF2-40B4-BE49-F238E27FC236}">
                <a16:creationId xmlns:a16="http://schemas.microsoft.com/office/drawing/2014/main" id="{CB93B980-4C1F-40A3-AD8C-C5CBFD34C7F3}"/>
              </a:ext>
            </a:extLst>
          </p:cNvPr>
          <p:cNvSpPr>
            <a:spLocks noGrp="1"/>
          </p:cNvSpPr>
          <p:nvPr/>
        </p:nvSpPr>
        <p:spPr>
          <a:xfrm>
            <a:off x="8534400" y="1495425"/>
            <a:ext cx="3143250" cy="2857500"/>
          </a:xfrm>
          <a:prstGeom prst="roundRect">
            <a:avLst>
              <a:gd name="adj" fmla="val 2000"/>
            </a:avLst>
          </a:prstGeom>
          <a:solidFill>
            <a:srgbClr val="D7E7F2"/>
          </a:solidFill>
          <a:ln w="9525">
            <a:solidFill>
              <a:srgbClr val="9DBBC8"/>
            </a:solidFill>
            <a:prstDash val="solid"/>
          </a:ln>
        </p:spPr>
        <p:txBody>
          <a:bodyPr anchor="ctr"/>
          <a:lstStyle/>
          <a:p>
            <a:pPr marL="0" indent="0" algn="l">
              <a:lnSpc>
                <a:spcPct val="100000"/>
              </a:lnSpc>
              <a:spcBef>
                <a:spcPts val="0"/>
              </a:spcBef>
              <a:spcAft>
                <a:spcPts val="0"/>
              </a:spcAft>
              <a:buNone/>
            </a:pPr>
            <a:endParaRPr/>
          </a:p>
        </p:txBody>
      </p:sp>
      <p:sp>
        <p:nvSpPr>
          <p:cNvPr id="51" name="Rectangle 50">
            <a:extLst>
              <a:ext uri="{FF2B5EF4-FFF2-40B4-BE49-F238E27FC236}">
                <a16:creationId xmlns:a16="http://schemas.microsoft.com/office/drawing/2014/main" id="{BD737492-D826-4E49-A9E6-32253EBE7952}"/>
              </a:ext>
            </a:extLst>
          </p:cNvPr>
          <p:cNvSpPr>
            <a:spLocks noGrp="1"/>
          </p:cNvSpPr>
          <p:nvPr/>
        </p:nvSpPr>
        <p:spPr>
          <a:xfrm>
            <a:off x="8801100" y="1743075"/>
            <a:ext cx="2628900" cy="2667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650" b="1">
                <a:solidFill>
                  <a:srgbClr val="264653"/>
                </a:solidFill>
                <a:latin typeface="Aptos Display"/>
                <a:ea typeface="Aptos Display"/>
                <a:cs typeface="Aptos Display"/>
              </a:defRPr>
            </a:pPr>
            <a:r>
              <a:rPr sz="1650" b="1" i="0" u="none" cap="none" spc="0">
                <a:ln>
                  <a:noFill/>
                </a:ln>
                <a:solidFill>
                  <a:srgbClr val="264653"/>
                </a:solidFill>
                <a:latin typeface="Aptos Display"/>
                <a:ea typeface="Aptos Display"/>
                <a:cs typeface="Aptos Display"/>
              </a:rPr>
              <a:t>NNTP Reference</a:t>
            </a:r>
          </a:p>
        </p:txBody>
      </p:sp>
      <p:sp>
        <p:nvSpPr>
          <p:cNvPr id="52" name="Rectangle 51">
            <a:extLst>
              <a:ext uri="{FF2B5EF4-FFF2-40B4-BE49-F238E27FC236}">
                <a16:creationId xmlns:a16="http://schemas.microsoft.com/office/drawing/2014/main" id="{80AFD0CA-4653-44A1-A393-BDEB6D5FC07F}"/>
              </a:ext>
            </a:extLst>
          </p:cNvPr>
          <p:cNvSpPr>
            <a:spLocks noGrp="1"/>
          </p:cNvSpPr>
          <p:nvPr/>
        </p:nvSpPr>
        <p:spPr>
          <a:xfrm>
            <a:off x="8877300" y="2390775"/>
            <a:ext cx="2457450" cy="514350"/>
          </a:xfrm>
          <a:prstGeom prst="rect">
            <a:avLst/>
          </a:prstGeom>
          <a:solidFill>
            <a:srgbClr val="000000">
              <a:alpha val="0"/>
            </a:srgbClr>
          </a:solidFill>
          <a:ln w="9525">
            <a:solidFill>
              <a:srgbClr val="000000">
                <a:alpha val="0"/>
              </a:srgbClr>
            </a:solidFill>
            <a:prstDash val="solid"/>
          </a:ln>
        </p:spPr>
        <p:txBody>
          <a:bodyPr wrap="square" lIns="38100" tIns="0" rIns="38100" bIns="0" anchor="ctr"/>
          <a:lstStyle/>
          <a:p>
            <a:pPr marL="0" indent="0" algn="ctr">
              <a:lnSpc>
                <a:spcPct val="116000"/>
              </a:lnSpc>
              <a:spcBef>
                <a:spcPts val="0"/>
              </a:spcBef>
              <a:spcAft>
                <a:spcPts val="0"/>
              </a:spcAft>
              <a:buNone/>
              <a:defRPr sz="1163" b="0">
                <a:solidFill>
                  <a:srgbClr val="142026"/>
                </a:solidFill>
                <a:latin typeface="Aptos"/>
                <a:ea typeface="Aptos"/>
                <a:cs typeface="Aptos"/>
              </a:defRPr>
            </a:pPr>
            <a:r>
              <a:rPr sz="1163" b="0" i="0" u="none" cap="none" spc="0">
                <a:ln>
                  <a:noFill/>
                </a:ln>
                <a:solidFill>
                  <a:srgbClr val="142026"/>
                </a:solidFill>
                <a:latin typeface="Aptos"/>
                <a:ea typeface="Aptos"/>
                <a:cs typeface="Aptos"/>
              </a:rPr>
              <a:t>Line images + recognizer evidence + fixed transcription</a:t>
            </a:r>
          </a:p>
        </p:txBody>
      </p:sp>
      <p:sp>
        <p:nvSpPr>
          <p:cNvPr id="53" name="Rectangle 52">
            <a:extLst>
              <a:ext uri="{FF2B5EF4-FFF2-40B4-BE49-F238E27FC236}">
                <a16:creationId xmlns:a16="http://schemas.microsoft.com/office/drawing/2014/main" id="{CD0B31AF-0C44-4F94-ADCE-C4248987997D}"/>
              </a:ext>
            </a:extLst>
          </p:cNvPr>
          <p:cNvSpPr>
            <a:spLocks noGrp="1"/>
          </p:cNvSpPr>
          <p:nvPr/>
        </p:nvSpPr>
        <p:spPr>
          <a:xfrm>
            <a:off x="8820150" y="3133725"/>
            <a:ext cx="2571750" cy="2476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200" b="0">
                <a:solidFill>
                  <a:srgbClr val="142026"/>
                </a:solidFill>
                <a:latin typeface="Aptos"/>
                <a:ea typeface="Aptos"/>
                <a:cs typeface="Aptos"/>
              </a:defRPr>
            </a:pPr>
            <a:r>
              <a:rPr sz="1200" b="0" i="0" u="none" cap="none" spc="0">
                <a:ln>
                  <a:noFill/>
                </a:ln>
                <a:solidFill>
                  <a:srgbClr val="142026"/>
                </a:solidFill>
                <a:latin typeface="Aptos"/>
                <a:ea typeface="Aptos"/>
                <a:cs typeface="Aptos"/>
              </a:rPr>
              <a:t>→ Deterministic forced alignment</a:t>
            </a:r>
          </a:p>
        </p:txBody>
      </p:sp>
      <p:sp>
        <p:nvSpPr>
          <p:cNvPr id="54" name="Rectangle 53">
            <a:extLst>
              <a:ext uri="{FF2B5EF4-FFF2-40B4-BE49-F238E27FC236}">
                <a16:creationId xmlns:a16="http://schemas.microsoft.com/office/drawing/2014/main" id="{3ED3A75C-9166-4E28-B5BE-4D9DC6E4550D}"/>
              </a:ext>
            </a:extLst>
          </p:cNvPr>
          <p:cNvSpPr>
            <a:spLocks noGrp="1"/>
          </p:cNvSpPr>
          <p:nvPr/>
        </p:nvSpPr>
        <p:spPr>
          <a:xfrm>
            <a:off x="8801100" y="3743325"/>
            <a:ext cx="2628900" cy="2095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marL="0" indent="0" algn="ctr">
              <a:lnSpc>
                <a:spcPct val="100000"/>
              </a:lnSpc>
              <a:spcBef>
                <a:spcPts val="0"/>
              </a:spcBef>
              <a:spcAft>
                <a:spcPts val="0"/>
              </a:spcAft>
              <a:buNone/>
              <a:defRPr sz="1050" b="1">
                <a:solidFill>
                  <a:srgbClr val="264653"/>
                </a:solidFill>
                <a:latin typeface="Aptos"/>
                <a:ea typeface="Aptos"/>
                <a:cs typeface="Aptos"/>
              </a:defRPr>
            </a:pPr>
            <a:r>
              <a:rPr sz="1050" b="1" i="0" u="none" cap="none" spc="0">
                <a:ln>
                  <a:noFill/>
                </a:ln>
                <a:solidFill>
                  <a:srgbClr val="264653"/>
                </a:solidFill>
                <a:latin typeface="Aptos"/>
                <a:ea typeface="Aptos"/>
                <a:cs typeface="Aptos"/>
              </a:rPr>
              <a:t>Separate Non-Prompt Reference</a:t>
            </a:r>
          </a:p>
        </p:txBody>
      </p:sp>
    </p:spTree>
    <p:extLst>
      <p:ext uri="{BB962C8B-B14F-4D97-AF65-F5344CB8AC3E}">
        <p14:creationId xmlns:p14="http://schemas.microsoft.com/office/powerpoint/2010/main" val="3276321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83CA0F92-7EB7-4EED-94CD-F791CEE99A4D}"/>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8F657A4E-5B84-4F2D-A551-54EE6B7DF503}"/>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5AA63328-2624-4737-B78B-8FCE4CB8A53F}"/>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Metrics</a:t>
            </a:r>
          </a:p>
        </p:txBody>
      </p:sp>
      <p:sp>
        <p:nvSpPr>
          <p:cNvPr id="4" name="Rectangle 3">
            <a:extLst>
              <a:ext uri="{FF2B5EF4-FFF2-40B4-BE49-F238E27FC236}">
                <a16:creationId xmlns:a16="http://schemas.microsoft.com/office/drawing/2014/main" id="{B0CDB873-E88D-4E67-A14F-F2567C595357}"/>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Experimental Setup</a:t>
            </a:r>
          </a:p>
        </p:txBody>
      </p:sp>
      <p:sp>
        <p:nvSpPr>
          <p:cNvPr id="5" name="Rectangle 4">
            <a:extLst>
              <a:ext uri="{FF2B5EF4-FFF2-40B4-BE49-F238E27FC236}">
                <a16:creationId xmlns:a16="http://schemas.microsoft.com/office/drawing/2014/main" id="{2B3E3A7C-8C24-4596-94BE-EB66E4EFC5C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D7166874-B6E0-4A05-9C64-821A4221E562}"/>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07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38" name="worked-metrics-title">
            <a:extLst>
              <a:ext uri="{FF2B5EF4-FFF2-40B4-BE49-F238E27FC236}">
                <a16:creationId xmlns:a16="http://schemas.microsoft.com/office/drawing/2014/main" id="{F63BBC72-37D9-4619-8972-570ED2B61B5E}"/>
              </a:ext>
            </a:extLst>
          </p:cNvPr>
          <p:cNvSpPr>
            <a:spLocks noGrp="1"/>
          </p:cNvSpPr>
          <p:nvPr/>
        </p:nvSpPr>
        <p:spPr>
          <a:xfrm>
            <a:off x="704850" y="914400"/>
            <a:ext cx="72390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025">
                <a:solidFill>
                  <a:srgbClr val="264653"/>
                </a:solidFill>
                <a:latin typeface="Aptos Display"/>
                <a:ea typeface="Aptos Display"/>
                <a:cs typeface="Aptos Display"/>
              </a:defRPr>
            </a:pPr>
            <a:r>
              <a:rPr sz="2025" b="1">
                <a:solidFill>
                  <a:srgbClr val="264653"/>
                </a:solidFill>
                <a:latin typeface="Aptos Display"/>
                <a:ea typeface="Aptos Display"/>
                <a:cs typeface="Aptos Display"/>
              </a:rPr>
              <a:t>What exactly is calculated?</a:t>
            </a:r>
          </a:p>
        </p:txBody>
      </p:sp>
      <p:sp>
        <p:nvSpPr>
          <p:cNvPr id="39" name="worked-metrics-subtitle">
            <a:extLst>
              <a:ext uri="{FF2B5EF4-FFF2-40B4-BE49-F238E27FC236}">
                <a16:creationId xmlns:a16="http://schemas.microsoft.com/office/drawing/2014/main" id="{10341E2D-9ABB-44F7-A4EC-21FCB6B33E70}"/>
              </a:ext>
            </a:extLst>
          </p:cNvPr>
          <p:cNvSpPr>
            <a:spLocks noGrp="1"/>
          </p:cNvSpPr>
          <p:nvPr/>
        </p:nvSpPr>
        <p:spPr>
          <a:xfrm>
            <a:off x="704850" y="1219200"/>
            <a:ext cx="72390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88">
                <a:solidFill>
                  <a:srgbClr val="5D6B70"/>
                </a:solidFill>
                <a:latin typeface="Aptos"/>
                <a:ea typeface="Aptos"/>
                <a:cs typeface="Aptos"/>
              </a:defRPr>
            </a:pPr>
            <a:r>
              <a:rPr sz="1088">
                <a:solidFill>
                  <a:srgbClr val="5D6B70"/>
                </a:solidFill>
                <a:latin typeface="Aptos"/>
                <a:ea typeface="Aptos"/>
                <a:cs typeface="Aptos"/>
              </a:rPr>
              <a:t>Same character stream; one missing newline merges Alpha and Beta.</a:t>
            </a:r>
          </a:p>
        </p:txBody>
      </p:sp>
      <p:sp>
        <p:nvSpPr>
          <p:cNvPr id="40" name="worked-metrics-left-panel">
            <a:extLst>
              <a:ext uri="{FF2B5EF4-FFF2-40B4-BE49-F238E27FC236}">
                <a16:creationId xmlns:a16="http://schemas.microsoft.com/office/drawing/2014/main" id="{42A667F0-1C49-4A51-9743-19003B0A08DF}"/>
              </a:ext>
            </a:extLst>
          </p:cNvPr>
          <p:cNvSpPr>
            <a:spLocks noGrp="1"/>
          </p:cNvSpPr>
          <p:nvPr/>
        </p:nvSpPr>
        <p:spPr>
          <a:xfrm>
            <a:off x="704850" y="1581150"/>
            <a:ext cx="3009900" cy="4038600"/>
          </a:xfrm>
          <a:prstGeom prst="roundRect">
            <a:avLst>
              <a:gd name="adj" fmla="val 2532"/>
            </a:avLst>
          </a:prstGeom>
          <a:solidFill>
            <a:srgbClr val="FFFDF7"/>
          </a:solidFill>
          <a:ln w="9525">
            <a:solidFill>
              <a:srgbClr val="264653"/>
            </a:solidFill>
            <a:prstDash val="solid"/>
          </a:ln>
        </p:spPr>
        <p:txBody>
          <a:bodyPr/>
          <a:lstStyle/>
          <a:p>
            <a:endParaRPr/>
          </a:p>
        </p:txBody>
      </p:sp>
      <p:sp>
        <p:nvSpPr>
          <p:cNvPr id="41" name="toy-example-heading">
            <a:extLst>
              <a:ext uri="{FF2B5EF4-FFF2-40B4-BE49-F238E27FC236}">
                <a16:creationId xmlns:a16="http://schemas.microsoft.com/office/drawing/2014/main" id="{E8A32AE5-B0C7-42E7-A474-4F967933A2E4}"/>
              </a:ext>
            </a:extLst>
          </p:cNvPr>
          <p:cNvSpPr>
            <a:spLocks noGrp="1"/>
          </p:cNvSpPr>
          <p:nvPr/>
        </p:nvSpPr>
        <p:spPr>
          <a:xfrm>
            <a:off x="914400" y="175260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a:solidFill>
                  <a:srgbClr val="264653"/>
                </a:solidFill>
                <a:latin typeface="Aptos"/>
                <a:ea typeface="Aptos"/>
                <a:cs typeface="Aptos"/>
              </a:defRPr>
            </a:pPr>
            <a:r>
              <a:rPr sz="1275" b="1">
                <a:solidFill>
                  <a:srgbClr val="264653"/>
                </a:solidFill>
                <a:latin typeface="Aptos"/>
                <a:ea typeface="Aptos"/>
                <a:cs typeface="Aptos"/>
              </a:rPr>
              <a:t>Metric Example</a:t>
            </a:r>
          </a:p>
        </p:txBody>
      </p:sp>
      <p:sp>
        <p:nvSpPr>
          <p:cNvPr id="42" name="ground-truth-block">
            <a:extLst>
              <a:ext uri="{FF2B5EF4-FFF2-40B4-BE49-F238E27FC236}">
                <a16:creationId xmlns:a16="http://schemas.microsoft.com/office/drawing/2014/main" id="{40CDD455-7F32-488F-A7CF-3A730174D38A}"/>
              </a:ext>
            </a:extLst>
          </p:cNvPr>
          <p:cNvSpPr>
            <a:spLocks noGrp="1"/>
          </p:cNvSpPr>
          <p:nvPr/>
        </p:nvSpPr>
        <p:spPr>
          <a:xfrm>
            <a:off x="914400" y="2114550"/>
            <a:ext cx="2381250" cy="1104900"/>
          </a:xfrm>
          <a:prstGeom prst="roundRect">
            <a:avLst>
              <a:gd name="adj" fmla="val 6897"/>
            </a:avLst>
          </a:prstGeom>
          <a:solidFill>
            <a:srgbClr val="F8F5EA"/>
          </a:solidFill>
          <a:ln w="9525">
            <a:solidFill>
              <a:srgbClr val="CFC7B8"/>
            </a:solidFill>
            <a:prstDash val="solid"/>
          </a:ln>
        </p:spPr>
        <p:txBody>
          <a:bodyPr/>
          <a:lstStyle/>
          <a:p>
            <a:endParaRPr/>
          </a:p>
        </p:txBody>
      </p:sp>
      <p:sp>
        <p:nvSpPr>
          <p:cNvPr id="43" name="ground-truth-label">
            <a:extLst>
              <a:ext uri="{FF2B5EF4-FFF2-40B4-BE49-F238E27FC236}">
                <a16:creationId xmlns:a16="http://schemas.microsoft.com/office/drawing/2014/main" id="{7D24773C-BF02-43FE-AAE1-07EDEC1462FE}"/>
              </a:ext>
            </a:extLst>
          </p:cNvPr>
          <p:cNvSpPr>
            <a:spLocks noGrp="1"/>
          </p:cNvSpPr>
          <p:nvPr/>
        </p:nvSpPr>
        <p:spPr>
          <a:xfrm>
            <a:off x="1085850" y="2266950"/>
            <a:ext cx="190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a:solidFill>
                  <a:srgbClr val="264653"/>
                </a:solidFill>
                <a:latin typeface="Aptos"/>
                <a:ea typeface="Aptos"/>
                <a:cs typeface="Aptos"/>
              </a:defRPr>
            </a:pPr>
            <a:r>
              <a:rPr sz="1013" b="1">
                <a:solidFill>
                  <a:srgbClr val="264653"/>
                </a:solidFill>
                <a:latin typeface="Aptos"/>
                <a:ea typeface="Aptos"/>
                <a:cs typeface="Aptos"/>
              </a:rPr>
              <a:t>Ground truth</a:t>
            </a:r>
          </a:p>
        </p:txBody>
      </p:sp>
      <p:sp>
        <p:nvSpPr>
          <p:cNvPr id="44" name="ground-truth-lines">
            <a:extLst>
              <a:ext uri="{FF2B5EF4-FFF2-40B4-BE49-F238E27FC236}">
                <a16:creationId xmlns:a16="http://schemas.microsoft.com/office/drawing/2014/main" id="{A8C52F80-A17A-4E2A-B470-95CAE9F65BF5}"/>
              </a:ext>
            </a:extLst>
          </p:cNvPr>
          <p:cNvSpPr>
            <a:spLocks noGrp="1"/>
          </p:cNvSpPr>
          <p:nvPr/>
        </p:nvSpPr>
        <p:spPr>
          <a:xfrm>
            <a:off x="1085850" y="2514600"/>
            <a:ext cx="180975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a:solidFill>
                  <a:srgbClr val="142026"/>
                </a:solidFill>
                <a:latin typeface="Aptos Mono"/>
                <a:ea typeface="Aptos Mono"/>
                <a:cs typeface="Aptos Mono"/>
              </a:defRPr>
            </a:pPr>
            <a:r>
              <a:rPr sz="1125">
                <a:solidFill>
                  <a:srgbClr val="142026"/>
                </a:solidFill>
                <a:latin typeface="Aptos Mono"/>
                <a:ea typeface="Aptos Mono"/>
                <a:cs typeface="Aptos Mono"/>
              </a:rPr>
              <a:t>1  Alpha</a:t>
            </a:r>
          </a:p>
          <a:p>
            <a:pPr algn="l">
              <a:buNone/>
              <a:defRPr sz="1125">
                <a:solidFill>
                  <a:srgbClr val="142026"/>
                </a:solidFill>
                <a:latin typeface="Aptos Mono"/>
                <a:ea typeface="Aptos Mono"/>
                <a:cs typeface="Aptos Mono"/>
              </a:defRPr>
            </a:pPr>
            <a:r>
              <a:rPr sz="1125">
                <a:solidFill>
                  <a:srgbClr val="142026"/>
                </a:solidFill>
                <a:latin typeface="Aptos Mono"/>
                <a:ea typeface="Aptos Mono"/>
                <a:cs typeface="Aptos Mono"/>
              </a:rPr>
              <a:t>2  Beta</a:t>
            </a:r>
          </a:p>
          <a:p>
            <a:pPr algn="l">
              <a:buNone/>
              <a:defRPr sz="1125">
                <a:solidFill>
                  <a:srgbClr val="142026"/>
                </a:solidFill>
                <a:latin typeface="Aptos Mono"/>
                <a:ea typeface="Aptos Mono"/>
                <a:cs typeface="Aptos Mono"/>
              </a:defRPr>
            </a:pPr>
            <a:r>
              <a:rPr sz="1125">
                <a:solidFill>
                  <a:srgbClr val="142026"/>
                </a:solidFill>
                <a:latin typeface="Aptos Mono"/>
                <a:ea typeface="Aptos Mono"/>
                <a:cs typeface="Aptos Mono"/>
              </a:rPr>
              <a:t>3  Gamma</a:t>
            </a:r>
          </a:p>
          <a:p>
            <a:pPr algn="l">
              <a:buNone/>
              <a:defRPr sz="1125">
                <a:solidFill>
                  <a:srgbClr val="142026"/>
                </a:solidFill>
                <a:latin typeface="Aptos Mono"/>
                <a:ea typeface="Aptos Mono"/>
                <a:cs typeface="Aptos Mono"/>
              </a:defRPr>
            </a:pPr>
            <a:r>
              <a:rPr sz="1125">
                <a:solidFill>
                  <a:srgbClr val="142026"/>
                </a:solidFill>
                <a:latin typeface="Aptos Mono"/>
                <a:ea typeface="Aptos Mono"/>
                <a:cs typeface="Aptos Mono"/>
              </a:rPr>
              <a:t>4  Delta</a:t>
            </a:r>
          </a:p>
        </p:txBody>
      </p:sp>
      <p:sp>
        <p:nvSpPr>
          <p:cNvPr id="45" name="prediction-block">
            <a:extLst>
              <a:ext uri="{FF2B5EF4-FFF2-40B4-BE49-F238E27FC236}">
                <a16:creationId xmlns:a16="http://schemas.microsoft.com/office/drawing/2014/main" id="{DCEDD5E7-F197-4FEB-926A-8103DB18D4D9}"/>
              </a:ext>
            </a:extLst>
          </p:cNvPr>
          <p:cNvSpPr>
            <a:spLocks noGrp="1"/>
          </p:cNvSpPr>
          <p:nvPr/>
        </p:nvSpPr>
        <p:spPr>
          <a:xfrm>
            <a:off x="914400" y="3390900"/>
            <a:ext cx="2381250" cy="933450"/>
          </a:xfrm>
          <a:prstGeom prst="roundRect">
            <a:avLst>
              <a:gd name="adj" fmla="val 8163"/>
            </a:avLst>
          </a:prstGeom>
          <a:solidFill>
            <a:srgbClr val="FFF7F0"/>
          </a:solidFill>
          <a:ln w="9525">
            <a:solidFill>
              <a:srgbClr val="E76F51"/>
            </a:solidFill>
            <a:prstDash val="solid"/>
          </a:ln>
        </p:spPr>
        <p:txBody>
          <a:bodyPr/>
          <a:lstStyle/>
          <a:p>
            <a:endParaRPr/>
          </a:p>
        </p:txBody>
      </p:sp>
      <p:sp>
        <p:nvSpPr>
          <p:cNvPr id="46" name="prediction-label">
            <a:extLst>
              <a:ext uri="{FF2B5EF4-FFF2-40B4-BE49-F238E27FC236}">
                <a16:creationId xmlns:a16="http://schemas.microsoft.com/office/drawing/2014/main" id="{4AEAA8D0-00F6-4159-BBA9-D4ECDF6ACD2A}"/>
              </a:ext>
            </a:extLst>
          </p:cNvPr>
          <p:cNvSpPr>
            <a:spLocks noGrp="1"/>
          </p:cNvSpPr>
          <p:nvPr/>
        </p:nvSpPr>
        <p:spPr>
          <a:xfrm>
            <a:off x="1085850" y="3543300"/>
            <a:ext cx="190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a:solidFill>
                  <a:srgbClr val="E76F51"/>
                </a:solidFill>
                <a:latin typeface="Aptos"/>
                <a:ea typeface="Aptos"/>
                <a:cs typeface="Aptos"/>
              </a:defRPr>
            </a:pPr>
            <a:r>
              <a:rPr sz="1013" b="1">
                <a:solidFill>
                  <a:srgbClr val="E76F51"/>
                </a:solidFill>
                <a:latin typeface="Aptos"/>
                <a:ea typeface="Aptos"/>
                <a:cs typeface="Aptos"/>
              </a:rPr>
              <a:t>Prediction</a:t>
            </a:r>
          </a:p>
        </p:txBody>
      </p:sp>
      <p:sp>
        <p:nvSpPr>
          <p:cNvPr id="47" name="prediction-lines">
            <a:extLst>
              <a:ext uri="{FF2B5EF4-FFF2-40B4-BE49-F238E27FC236}">
                <a16:creationId xmlns:a16="http://schemas.microsoft.com/office/drawing/2014/main" id="{28A42648-3508-48DB-AA0B-D154955B2C7C}"/>
              </a:ext>
            </a:extLst>
          </p:cNvPr>
          <p:cNvSpPr>
            <a:spLocks noGrp="1"/>
          </p:cNvSpPr>
          <p:nvPr/>
        </p:nvSpPr>
        <p:spPr>
          <a:xfrm>
            <a:off x="1085850" y="3790950"/>
            <a:ext cx="19050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a:solidFill>
                  <a:srgbClr val="142026"/>
                </a:solidFill>
                <a:latin typeface="Aptos Mono"/>
                <a:ea typeface="Aptos Mono"/>
                <a:cs typeface="Aptos Mono"/>
              </a:defRPr>
            </a:pPr>
            <a:r>
              <a:rPr sz="1125">
                <a:solidFill>
                  <a:srgbClr val="142026"/>
                </a:solidFill>
                <a:latin typeface="Aptos Mono"/>
                <a:ea typeface="Aptos Mono"/>
                <a:cs typeface="Aptos Mono"/>
              </a:rPr>
              <a:t>1  Alpha Beta</a:t>
            </a:r>
          </a:p>
          <a:p>
            <a:pPr algn="l">
              <a:buNone/>
              <a:defRPr sz="1125">
                <a:solidFill>
                  <a:srgbClr val="142026"/>
                </a:solidFill>
                <a:latin typeface="Aptos Mono"/>
                <a:ea typeface="Aptos Mono"/>
                <a:cs typeface="Aptos Mono"/>
              </a:defRPr>
            </a:pPr>
            <a:r>
              <a:rPr sz="1125">
                <a:solidFill>
                  <a:srgbClr val="142026"/>
                </a:solidFill>
                <a:latin typeface="Aptos Mono"/>
                <a:ea typeface="Aptos Mono"/>
                <a:cs typeface="Aptos Mono"/>
              </a:rPr>
              <a:t>2  Gamma</a:t>
            </a:r>
          </a:p>
          <a:p>
            <a:pPr algn="l">
              <a:buNone/>
              <a:defRPr sz="1125">
                <a:solidFill>
                  <a:srgbClr val="142026"/>
                </a:solidFill>
                <a:latin typeface="Aptos Mono"/>
                <a:ea typeface="Aptos Mono"/>
                <a:cs typeface="Aptos Mono"/>
              </a:defRPr>
            </a:pPr>
            <a:r>
              <a:rPr sz="1125">
                <a:solidFill>
                  <a:srgbClr val="142026"/>
                </a:solidFill>
                <a:latin typeface="Aptos Mono"/>
                <a:ea typeface="Aptos Mono"/>
                <a:cs typeface="Aptos Mono"/>
              </a:rPr>
              <a:t>3  Delta</a:t>
            </a:r>
          </a:p>
        </p:txBody>
      </p:sp>
      <p:sp>
        <p:nvSpPr>
          <p:cNvPr id="48" name="shared-normalized-text">
            <a:extLst>
              <a:ext uri="{FF2B5EF4-FFF2-40B4-BE49-F238E27FC236}">
                <a16:creationId xmlns:a16="http://schemas.microsoft.com/office/drawing/2014/main" id="{01657EAD-3A32-4617-8337-99E1C04928B5}"/>
              </a:ext>
            </a:extLst>
          </p:cNvPr>
          <p:cNvSpPr>
            <a:spLocks noGrp="1"/>
          </p:cNvSpPr>
          <p:nvPr/>
        </p:nvSpPr>
        <p:spPr>
          <a:xfrm>
            <a:off x="914400" y="4572000"/>
            <a:ext cx="2476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a:solidFill>
                  <a:srgbClr val="264653"/>
                </a:solidFill>
                <a:latin typeface="Aptos"/>
                <a:ea typeface="Aptos"/>
                <a:cs typeface="Aptos"/>
              </a:defRPr>
            </a:pPr>
            <a:r>
              <a:rPr sz="938">
                <a:solidFill>
                  <a:srgbClr val="264653"/>
                </a:solidFill>
                <a:latin typeface="Aptos"/>
                <a:ea typeface="Aptos"/>
                <a:cs typeface="Aptos"/>
              </a:rPr>
              <a:t>After whitespace normalization, both full texts are:</a:t>
            </a:r>
          </a:p>
          <a:p>
            <a:pPr algn="l">
              <a:buNone/>
              <a:defRPr sz="938">
                <a:solidFill>
                  <a:srgbClr val="264653"/>
                </a:solidFill>
                <a:latin typeface="Aptos"/>
                <a:ea typeface="Aptos"/>
                <a:cs typeface="Aptos"/>
              </a:defRPr>
            </a:pPr>
            <a:r>
              <a:rPr sz="938">
                <a:solidFill>
                  <a:srgbClr val="264653"/>
                </a:solidFill>
                <a:latin typeface="Aptos"/>
                <a:ea typeface="Aptos"/>
                <a:cs typeface="Aptos"/>
              </a:rPr>
              <a:t>Alpha Beta Gamma Delta</a:t>
            </a:r>
          </a:p>
        </p:txBody>
      </p:sp>
      <p:sp>
        <p:nvSpPr>
          <p:cNvPr id="49" name="example-counts">
            <a:extLst>
              <a:ext uri="{FF2B5EF4-FFF2-40B4-BE49-F238E27FC236}">
                <a16:creationId xmlns:a16="http://schemas.microsoft.com/office/drawing/2014/main" id="{31331B68-1E3F-4854-9D2B-C1C97BF86EF1}"/>
              </a:ext>
            </a:extLst>
          </p:cNvPr>
          <p:cNvSpPr>
            <a:spLocks noGrp="1"/>
          </p:cNvSpPr>
          <p:nvPr/>
        </p:nvSpPr>
        <p:spPr>
          <a:xfrm>
            <a:off x="914400" y="5143500"/>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15">
                <a:solidFill>
                  <a:srgbClr val="5D6B70"/>
                </a:solidFill>
                <a:latin typeface="Aptos"/>
                <a:ea typeface="Aptos"/>
                <a:cs typeface="Aptos"/>
              </a:defRPr>
            </a:pPr>
            <a:r>
              <a:rPr sz="915">
                <a:solidFill>
                  <a:srgbClr val="5D6B70"/>
                </a:solidFill>
                <a:latin typeface="Aptos"/>
                <a:ea typeface="Aptos"/>
                <a:cs typeface="Aptos"/>
              </a:rPr>
              <a:t>n = max(4, 3) = 4; exact matched lines: Gamma, Delta.</a:t>
            </a:r>
          </a:p>
        </p:txBody>
      </p:sp>
      <p:sp>
        <p:nvSpPr>
          <p:cNvPr id="50" name="formula-table-heading">
            <a:extLst>
              <a:ext uri="{FF2B5EF4-FFF2-40B4-BE49-F238E27FC236}">
                <a16:creationId xmlns:a16="http://schemas.microsoft.com/office/drawing/2014/main" id="{3898AD80-EBCE-43FA-A40C-CA05F365E697}"/>
              </a:ext>
            </a:extLst>
          </p:cNvPr>
          <p:cNvSpPr>
            <a:spLocks noGrp="1"/>
          </p:cNvSpPr>
          <p:nvPr/>
        </p:nvSpPr>
        <p:spPr>
          <a:xfrm>
            <a:off x="4095750" y="1581150"/>
            <a:ext cx="6381750" cy="2381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a:solidFill>
                  <a:srgbClr val="264653"/>
                </a:solidFill>
                <a:latin typeface="Aptos"/>
                <a:ea typeface="Aptos"/>
                <a:cs typeface="Aptos"/>
              </a:defRPr>
            </a:pPr>
            <a:r>
              <a:rPr sz="1425" b="1">
                <a:solidFill>
                  <a:srgbClr val="264653"/>
                </a:solidFill>
                <a:latin typeface="Aptos"/>
                <a:ea typeface="Aptos"/>
                <a:cs typeface="Aptos"/>
              </a:rPr>
              <a:t>Metric formulas and plug-in values</a:t>
            </a:r>
          </a:p>
        </p:txBody>
      </p:sp>
      <p:sp>
        <p:nvSpPr>
          <p:cNvPr id="51" name="formula-table-header-bg">
            <a:extLst>
              <a:ext uri="{FF2B5EF4-FFF2-40B4-BE49-F238E27FC236}">
                <a16:creationId xmlns:a16="http://schemas.microsoft.com/office/drawing/2014/main" id="{641838D6-10E4-49EF-9133-A11E3335B9AE}"/>
              </a:ext>
            </a:extLst>
          </p:cNvPr>
          <p:cNvSpPr>
            <a:spLocks noGrp="1"/>
          </p:cNvSpPr>
          <p:nvPr/>
        </p:nvSpPr>
        <p:spPr>
          <a:xfrm>
            <a:off x="4095750" y="1943100"/>
            <a:ext cx="7143750" cy="323850"/>
          </a:xfrm>
          <a:prstGeom prst="roundRect">
            <a:avLst>
              <a:gd name="adj" fmla="val 23529"/>
            </a:avLst>
          </a:prstGeom>
          <a:solidFill>
            <a:srgbClr val="264653"/>
          </a:solidFill>
          <a:ln w="0">
            <a:solidFill>
              <a:srgbClr val="264653"/>
            </a:solidFill>
            <a:prstDash val="solid"/>
          </a:ln>
        </p:spPr>
        <p:txBody>
          <a:bodyPr/>
          <a:lstStyle/>
          <a:p>
            <a:endParaRPr/>
          </a:p>
        </p:txBody>
      </p:sp>
      <p:sp>
        <p:nvSpPr>
          <p:cNvPr id="52" name="formula-table-h1">
            <a:extLst>
              <a:ext uri="{FF2B5EF4-FFF2-40B4-BE49-F238E27FC236}">
                <a16:creationId xmlns:a16="http://schemas.microsoft.com/office/drawing/2014/main" id="{9EE696A2-C6E3-474C-A2CE-B7FAAF9FB1A2}"/>
              </a:ext>
            </a:extLst>
          </p:cNvPr>
          <p:cNvSpPr>
            <a:spLocks noGrp="1"/>
          </p:cNvSpPr>
          <p:nvPr/>
        </p:nvSpPr>
        <p:spPr>
          <a:xfrm>
            <a:off x="4229100" y="2019300"/>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85">
                <a:solidFill>
                  <a:srgbClr val="F7F3EB"/>
                </a:solidFill>
                <a:latin typeface="Aptos"/>
                <a:ea typeface="Aptos"/>
                <a:cs typeface="Aptos"/>
              </a:defRPr>
            </a:pPr>
            <a:r>
              <a:rPr sz="1200" b="1">
                <a:solidFill>
                  <a:srgbClr val="F7F3EB"/>
                </a:solidFill>
                <a:latin typeface="Aptos"/>
                <a:ea typeface="Aptos"/>
                <a:cs typeface="Aptos"/>
              </a:rPr>
              <a:t>Metric</a:t>
            </a:r>
          </a:p>
        </p:txBody>
      </p:sp>
      <p:sp>
        <p:nvSpPr>
          <p:cNvPr id="53" name="formula-table-h2">
            <a:extLst>
              <a:ext uri="{FF2B5EF4-FFF2-40B4-BE49-F238E27FC236}">
                <a16:creationId xmlns:a16="http://schemas.microsoft.com/office/drawing/2014/main" id="{C08C7D4B-5F49-45F8-AA5A-FED9DCDEBC5E}"/>
              </a:ext>
            </a:extLst>
          </p:cNvPr>
          <p:cNvSpPr>
            <a:spLocks noGrp="1"/>
          </p:cNvSpPr>
          <p:nvPr/>
        </p:nvSpPr>
        <p:spPr>
          <a:xfrm>
            <a:off x="5295900" y="201930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85">
                <a:solidFill>
                  <a:srgbClr val="F7F3EB"/>
                </a:solidFill>
                <a:latin typeface="Aptos"/>
                <a:ea typeface="Aptos"/>
                <a:cs typeface="Aptos"/>
              </a:defRPr>
            </a:pPr>
            <a:r>
              <a:rPr sz="1200" b="1">
                <a:solidFill>
                  <a:srgbClr val="F7F3EB"/>
                </a:solidFill>
                <a:latin typeface="Aptos"/>
                <a:ea typeface="Aptos"/>
                <a:cs typeface="Aptos"/>
              </a:rPr>
              <a:t>Formula / calculation</a:t>
            </a:r>
          </a:p>
        </p:txBody>
      </p:sp>
      <p:sp>
        <p:nvSpPr>
          <p:cNvPr id="54" name="formula-table-h3">
            <a:extLst>
              <a:ext uri="{FF2B5EF4-FFF2-40B4-BE49-F238E27FC236}">
                <a16:creationId xmlns:a16="http://schemas.microsoft.com/office/drawing/2014/main" id="{597AE2C7-4F96-4DD5-97D4-95F3FB3AD360}"/>
              </a:ext>
            </a:extLst>
          </p:cNvPr>
          <p:cNvSpPr>
            <a:spLocks noGrp="1"/>
          </p:cNvSpPr>
          <p:nvPr/>
        </p:nvSpPr>
        <p:spPr>
          <a:xfrm>
            <a:off x="9391650" y="2019300"/>
            <a:ext cx="1524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85">
                <a:solidFill>
                  <a:srgbClr val="F7F3EB"/>
                </a:solidFill>
                <a:latin typeface="Aptos"/>
                <a:ea typeface="Aptos"/>
                <a:cs typeface="Aptos"/>
              </a:defRPr>
            </a:pPr>
            <a:r>
              <a:rPr sz="1200" b="1">
                <a:solidFill>
                  <a:srgbClr val="F7F3EB"/>
                </a:solidFill>
                <a:latin typeface="Aptos"/>
                <a:ea typeface="Aptos"/>
                <a:cs typeface="Aptos"/>
              </a:rPr>
              <a:t>Result</a:t>
            </a:r>
          </a:p>
        </p:txBody>
      </p:sp>
      <p:sp>
        <p:nvSpPr>
          <p:cNvPr id="55" name="formula-row-1-bg">
            <a:extLst>
              <a:ext uri="{FF2B5EF4-FFF2-40B4-BE49-F238E27FC236}">
                <a16:creationId xmlns:a16="http://schemas.microsoft.com/office/drawing/2014/main" id="{D92942DE-C360-4E4B-9086-435CAA953789}"/>
              </a:ext>
            </a:extLst>
          </p:cNvPr>
          <p:cNvSpPr>
            <a:spLocks noGrp="1"/>
          </p:cNvSpPr>
          <p:nvPr/>
        </p:nvSpPr>
        <p:spPr>
          <a:xfrm>
            <a:off x="4095750" y="2266950"/>
            <a:ext cx="7143750" cy="447675"/>
          </a:xfrm>
          <a:prstGeom prst="rect">
            <a:avLst/>
          </a:prstGeom>
          <a:solidFill>
            <a:srgbClr val="FFFFFF"/>
          </a:solidFill>
          <a:ln w="0">
            <a:solidFill>
              <a:srgbClr val="000000">
                <a:alpha val="0"/>
              </a:srgbClr>
            </a:solidFill>
            <a:prstDash val="solid"/>
          </a:ln>
        </p:spPr>
        <p:txBody>
          <a:bodyPr/>
          <a:lstStyle/>
          <a:p>
            <a:endParaRPr/>
          </a:p>
        </p:txBody>
      </p:sp>
      <p:sp>
        <p:nvSpPr>
          <p:cNvPr id="56" name="formula-row-1-accent">
            <a:extLst>
              <a:ext uri="{FF2B5EF4-FFF2-40B4-BE49-F238E27FC236}">
                <a16:creationId xmlns:a16="http://schemas.microsoft.com/office/drawing/2014/main" id="{EDDE1813-F4CD-4FE2-87FA-FD2C740DC98B}"/>
              </a:ext>
            </a:extLst>
          </p:cNvPr>
          <p:cNvSpPr>
            <a:spLocks noGrp="1"/>
          </p:cNvSpPr>
          <p:nvPr/>
        </p:nvSpPr>
        <p:spPr>
          <a:xfrm>
            <a:off x="4095750" y="2333625"/>
            <a:ext cx="38100" cy="314325"/>
          </a:xfrm>
          <a:prstGeom prst="rect">
            <a:avLst/>
          </a:prstGeom>
          <a:solidFill>
            <a:srgbClr val="E76F51"/>
          </a:solidFill>
          <a:ln w="0">
            <a:solidFill>
              <a:srgbClr val="E76F51"/>
            </a:solidFill>
            <a:prstDash val="solid"/>
          </a:ln>
        </p:spPr>
        <p:txBody>
          <a:bodyPr/>
          <a:lstStyle/>
          <a:p>
            <a:endParaRPr/>
          </a:p>
        </p:txBody>
      </p:sp>
      <p:sp>
        <p:nvSpPr>
          <p:cNvPr id="57" name="formula-row-1-metric">
            <a:extLst>
              <a:ext uri="{FF2B5EF4-FFF2-40B4-BE49-F238E27FC236}">
                <a16:creationId xmlns:a16="http://schemas.microsoft.com/office/drawing/2014/main" id="{BCCBB31A-C517-4B1F-8556-24865730B08F}"/>
              </a:ext>
            </a:extLst>
          </p:cNvPr>
          <p:cNvSpPr>
            <a:spLocks noGrp="1"/>
          </p:cNvSpPr>
          <p:nvPr/>
        </p:nvSpPr>
        <p:spPr>
          <a:xfrm>
            <a:off x="4229100" y="2381250"/>
            <a:ext cx="8763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35">
                <a:solidFill>
                  <a:srgbClr val="142026"/>
                </a:solidFill>
                <a:latin typeface="Aptos"/>
                <a:ea typeface="Aptos"/>
                <a:cs typeface="Aptos"/>
              </a:defRPr>
            </a:pPr>
            <a:r>
              <a:rPr sz="1200" b="1">
                <a:solidFill>
                  <a:srgbClr val="142026"/>
                </a:solidFill>
                <a:latin typeface="Aptos"/>
                <a:ea typeface="Aptos"/>
                <a:cs typeface="Aptos"/>
              </a:rPr>
              <a:t>LA-&gt;</a:t>
            </a:r>
          </a:p>
        </p:txBody>
      </p:sp>
      <p:sp>
        <p:nvSpPr>
          <p:cNvPr id="58" name="formula-row-1-formula">
            <a:extLst>
              <a:ext uri="{FF2B5EF4-FFF2-40B4-BE49-F238E27FC236}">
                <a16:creationId xmlns:a16="http://schemas.microsoft.com/office/drawing/2014/main" id="{5A50D8A7-D24A-4C31-9EB2-DA9F0163FE18}"/>
              </a:ext>
            </a:extLst>
          </p:cNvPr>
          <p:cNvSpPr>
            <a:spLocks noGrp="1"/>
          </p:cNvSpPr>
          <p:nvPr/>
        </p:nvSpPr>
        <p:spPr>
          <a:xfrm>
            <a:off x="5295900" y="2362200"/>
            <a:ext cx="39052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60">
                <a:solidFill>
                  <a:srgbClr val="142026"/>
                </a:solidFill>
                <a:latin typeface="Aptos Mono"/>
                <a:ea typeface="Aptos Mono"/>
                <a:cs typeface="Aptos Mono"/>
              </a:defRPr>
            </a:pPr>
            <a:r>
              <a:rPr sz="1200">
                <a:solidFill>
                  <a:srgbClr val="142026"/>
                </a:solidFill>
                <a:latin typeface="Aptos Mono"/>
                <a:ea typeface="Aptos Mono"/>
                <a:cs typeface="Aptos Mono"/>
              </a:rPr>
              <a:t>top-down exact line matches / n</a:t>
            </a:r>
          </a:p>
        </p:txBody>
      </p:sp>
      <p:sp>
        <p:nvSpPr>
          <p:cNvPr id="59" name="formula-row-1-result">
            <a:extLst>
              <a:ext uri="{FF2B5EF4-FFF2-40B4-BE49-F238E27FC236}">
                <a16:creationId xmlns:a16="http://schemas.microsoft.com/office/drawing/2014/main" id="{B03434A3-354F-48B3-909A-669D257D678A}"/>
              </a:ext>
            </a:extLst>
          </p:cNvPr>
          <p:cNvSpPr>
            <a:spLocks noGrp="1"/>
          </p:cNvSpPr>
          <p:nvPr/>
        </p:nvSpPr>
        <p:spPr>
          <a:xfrm>
            <a:off x="9391650" y="2362200"/>
            <a:ext cx="17335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90">
                <a:solidFill>
                  <a:srgbClr val="E76F51"/>
                </a:solidFill>
                <a:latin typeface="Aptos Mono"/>
                <a:ea typeface="Aptos Mono"/>
                <a:cs typeface="Aptos Mono"/>
              </a:defRPr>
            </a:pPr>
            <a:r>
              <a:rPr sz="1200" b="1">
                <a:solidFill>
                  <a:srgbClr val="E76F51"/>
                </a:solidFill>
                <a:latin typeface="Aptos Mono"/>
                <a:ea typeface="Aptos Mono"/>
                <a:cs typeface="Aptos Mono"/>
              </a:rPr>
              <a:t>0 / 4 = 0.000</a:t>
            </a:r>
          </a:p>
        </p:txBody>
      </p:sp>
      <p:sp>
        <p:nvSpPr>
          <p:cNvPr id="60" name="metric-table-rule">
            <a:extLst>
              <a:ext uri="{FF2B5EF4-FFF2-40B4-BE49-F238E27FC236}">
                <a16:creationId xmlns:a16="http://schemas.microsoft.com/office/drawing/2014/main" id="{4BAB802E-769E-4825-9500-C961A2506057}"/>
              </a:ext>
            </a:extLst>
          </p:cNvPr>
          <p:cNvSpPr>
            <a:spLocks noGrp="1"/>
          </p:cNvSpPr>
          <p:nvPr/>
        </p:nvSpPr>
        <p:spPr>
          <a:xfrm>
            <a:off x="4095750" y="2714625"/>
            <a:ext cx="7143750" cy="9525"/>
          </a:xfrm>
          <a:prstGeom prst="rect">
            <a:avLst/>
          </a:prstGeom>
          <a:solidFill>
            <a:srgbClr val="E2D8C8"/>
          </a:solidFill>
          <a:ln w="0">
            <a:solidFill>
              <a:srgbClr val="E2D8C8"/>
            </a:solidFill>
            <a:prstDash val="solid"/>
          </a:ln>
        </p:spPr>
        <p:txBody>
          <a:bodyPr/>
          <a:lstStyle/>
          <a:p>
            <a:endParaRPr/>
          </a:p>
        </p:txBody>
      </p:sp>
      <p:sp>
        <p:nvSpPr>
          <p:cNvPr id="61" name="formula-row-2-bg">
            <a:extLst>
              <a:ext uri="{FF2B5EF4-FFF2-40B4-BE49-F238E27FC236}">
                <a16:creationId xmlns:a16="http://schemas.microsoft.com/office/drawing/2014/main" id="{87974E88-030E-46AC-9B54-D6B9FFFA5B9C}"/>
              </a:ext>
            </a:extLst>
          </p:cNvPr>
          <p:cNvSpPr>
            <a:spLocks noGrp="1"/>
          </p:cNvSpPr>
          <p:nvPr/>
        </p:nvSpPr>
        <p:spPr>
          <a:xfrm>
            <a:off x="4095750" y="2714625"/>
            <a:ext cx="7143750" cy="447675"/>
          </a:xfrm>
          <a:prstGeom prst="rect">
            <a:avLst/>
          </a:prstGeom>
          <a:solidFill>
            <a:srgbClr val="FBF8F0"/>
          </a:solidFill>
          <a:ln w="0">
            <a:solidFill>
              <a:srgbClr val="000000">
                <a:alpha val="0"/>
              </a:srgbClr>
            </a:solidFill>
            <a:prstDash val="solid"/>
          </a:ln>
        </p:spPr>
        <p:txBody>
          <a:bodyPr/>
          <a:lstStyle/>
          <a:p>
            <a:endParaRPr/>
          </a:p>
        </p:txBody>
      </p:sp>
      <p:sp>
        <p:nvSpPr>
          <p:cNvPr id="62" name="formula-row-2-accent">
            <a:extLst>
              <a:ext uri="{FF2B5EF4-FFF2-40B4-BE49-F238E27FC236}">
                <a16:creationId xmlns:a16="http://schemas.microsoft.com/office/drawing/2014/main" id="{B69EF244-6BC7-48D9-A86C-B57852FE0055}"/>
              </a:ext>
            </a:extLst>
          </p:cNvPr>
          <p:cNvSpPr>
            <a:spLocks noGrp="1"/>
          </p:cNvSpPr>
          <p:nvPr/>
        </p:nvSpPr>
        <p:spPr>
          <a:xfrm>
            <a:off x="4095750" y="2781300"/>
            <a:ext cx="38100" cy="314325"/>
          </a:xfrm>
          <a:prstGeom prst="rect">
            <a:avLst/>
          </a:prstGeom>
          <a:solidFill>
            <a:srgbClr val="E76F51"/>
          </a:solidFill>
          <a:ln w="0">
            <a:solidFill>
              <a:srgbClr val="E76F51"/>
            </a:solidFill>
            <a:prstDash val="solid"/>
          </a:ln>
        </p:spPr>
        <p:txBody>
          <a:bodyPr/>
          <a:lstStyle/>
          <a:p>
            <a:endParaRPr/>
          </a:p>
        </p:txBody>
      </p:sp>
      <p:sp>
        <p:nvSpPr>
          <p:cNvPr id="63" name="formula-row-2-metric">
            <a:extLst>
              <a:ext uri="{FF2B5EF4-FFF2-40B4-BE49-F238E27FC236}">
                <a16:creationId xmlns:a16="http://schemas.microsoft.com/office/drawing/2014/main" id="{6C9FEA42-FD0A-49AC-9A87-F74957B33419}"/>
              </a:ext>
            </a:extLst>
          </p:cNvPr>
          <p:cNvSpPr>
            <a:spLocks noGrp="1"/>
          </p:cNvSpPr>
          <p:nvPr/>
        </p:nvSpPr>
        <p:spPr>
          <a:xfrm>
            <a:off x="4229100" y="2828925"/>
            <a:ext cx="8763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35">
                <a:solidFill>
                  <a:srgbClr val="142026"/>
                </a:solidFill>
                <a:latin typeface="Aptos"/>
                <a:ea typeface="Aptos"/>
                <a:cs typeface="Aptos"/>
              </a:defRPr>
            </a:pPr>
            <a:r>
              <a:rPr sz="1200" b="1">
                <a:solidFill>
                  <a:srgbClr val="142026"/>
                </a:solidFill>
                <a:latin typeface="Aptos"/>
                <a:ea typeface="Aptos"/>
                <a:cs typeface="Aptos"/>
              </a:rPr>
              <a:t>LA&lt;-</a:t>
            </a:r>
          </a:p>
        </p:txBody>
      </p:sp>
      <p:sp>
        <p:nvSpPr>
          <p:cNvPr id="64" name="formula-row-2-formula">
            <a:extLst>
              <a:ext uri="{FF2B5EF4-FFF2-40B4-BE49-F238E27FC236}">
                <a16:creationId xmlns:a16="http://schemas.microsoft.com/office/drawing/2014/main" id="{59983B6D-1619-4F69-8FC5-9BC9BFBB2E47}"/>
              </a:ext>
            </a:extLst>
          </p:cNvPr>
          <p:cNvSpPr>
            <a:spLocks noGrp="1"/>
          </p:cNvSpPr>
          <p:nvPr/>
        </p:nvSpPr>
        <p:spPr>
          <a:xfrm>
            <a:off x="5295900" y="2809875"/>
            <a:ext cx="39052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60">
                <a:solidFill>
                  <a:srgbClr val="142026"/>
                </a:solidFill>
                <a:latin typeface="Aptos Mono"/>
                <a:ea typeface="Aptos Mono"/>
                <a:cs typeface="Aptos Mono"/>
              </a:defRPr>
            </a:pPr>
            <a:r>
              <a:rPr sz="1200">
                <a:solidFill>
                  <a:srgbClr val="142026"/>
                </a:solidFill>
                <a:latin typeface="Aptos Mono"/>
                <a:ea typeface="Aptos Mono"/>
                <a:cs typeface="Aptos Mono"/>
              </a:rPr>
              <a:t>bottom-anchored exact line matches / n</a:t>
            </a:r>
          </a:p>
        </p:txBody>
      </p:sp>
      <p:sp>
        <p:nvSpPr>
          <p:cNvPr id="65" name="formula-row-2-result">
            <a:extLst>
              <a:ext uri="{FF2B5EF4-FFF2-40B4-BE49-F238E27FC236}">
                <a16:creationId xmlns:a16="http://schemas.microsoft.com/office/drawing/2014/main" id="{B825A4C1-A1BC-4889-B57E-FE305DA19FA6}"/>
              </a:ext>
            </a:extLst>
          </p:cNvPr>
          <p:cNvSpPr>
            <a:spLocks noGrp="1"/>
          </p:cNvSpPr>
          <p:nvPr/>
        </p:nvSpPr>
        <p:spPr>
          <a:xfrm>
            <a:off x="9391650" y="2809875"/>
            <a:ext cx="17335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90">
                <a:solidFill>
                  <a:srgbClr val="E76F51"/>
                </a:solidFill>
                <a:latin typeface="Aptos Mono"/>
                <a:ea typeface="Aptos Mono"/>
                <a:cs typeface="Aptos Mono"/>
              </a:defRPr>
            </a:pPr>
            <a:r>
              <a:rPr sz="1200" b="1">
                <a:solidFill>
                  <a:srgbClr val="E76F51"/>
                </a:solidFill>
                <a:latin typeface="Aptos Mono"/>
                <a:ea typeface="Aptos Mono"/>
                <a:cs typeface="Aptos Mono"/>
              </a:rPr>
              <a:t>2 / 4 = 0.500</a:t>
            </a:r>
          </a:p>
        </p:txBody>
      </p:sp>
      <p:sp>
        <p:nvSpPr>
          <p:cNvPr id="66" name="metric-table-rule">
            <a:extLst>
              <a:ext uri="{FF2B5EF4-FFF2-40B4-BE49-F238E27FC236}">
                <a16:creationId xmlns:a16="http://schemas.microsoft.com/office/drawing/2014/main" id="{B30B8DC1-9C7E-4C80-8C14-C9E9E347BF16}"/>
              </a:ext>
            </a:extLst>
          </p:cNvPr>
          <p:cNvSpPr>
            <a:spLocks noGrp="1"/>
          </p:cNvSpPr>
          <p:nvPr/>
        </p:nvSpPr>
        <p:spPr>
          <a:xfrm>
            <a:off x="4095750" y="3162300"/>
            <a:ext cx="7143750" cy="9525"/>
          </a:xfrm>
          <a:prstGeom prst="rect">
            <a:avLst/>
          </a:prstGeom>
          <a:solidFill>
            <a:srgbClr val="E2D8C8"/>
          </a:solidFill>
          <a:ln w="0">
            <a:solidFill>
              <a:srgbClr val="E2D8C8"/>
            </a:solidFill>
            <a:prstDash val="solid"/>
          </a:ln>
        </p:spPr>
        <p:txBody>
          <a:bodyPr/>
          <a:lstStyle/>
          <a:p>
            <a:endParaRPr/>
          </a:p>
        </p:txBody>
      </p:sp>
      <p:sp>
        <p:nvSpPr>
          <p:cNvPr id="67" name="formula-row-3-bg">
            <a:extLst>
              <a:ext uri="{FF2B5EF4-FFF2-40B4-BE49-F238E27FC236}">
                <a16:creationId xmlns:a16="http://schemas.microsoft.com/office/drawing/2014/main" id="{B45DB16E-2132-451F-B938-54C43F8795A9}"/>
              </a:ext>
            </a:extLst>
          </p:cNvPr>
          <p:cNvSpPr>
            <a:spLocks noGrp="1"/>
          </p:cNvSpPr>
          <p:nvPr/>
        </p:nvSpPr>
        <p:spPr>
          <a:xfrm>
            <a:off x="4095750" y="3162300"/>
            <a:ext cx="7143750" cy="447675"/>
          </a:xfrm>
          <a:prstGeom prst="rect">
            <a:avLst/>
          </a:prstGeom>
          <a:solidFill>
            <a:srgbClr val="FFFFFF"/>
          </a:solidFill>
          <a:ln w="0">
            <a:solidFill>
              <a:srgbClr val="000000">
                <a:alpha val="0"/>
              </a:srgbClr>
            </a:solidFill>
            <a:prstDash val="solid"/>
          </a:ln>
        </p:spPr>
        <p:txBody>
          <a:bodyPr/>
          <a:lstStyle/>
          <a:p>
            <a:endParaRPr/>
          </a:p>
        </p:txBody>
      </p:sp>
      <p:sp>
        <p:nvSpPr>
          <p:cNvPr id="68" name="formula-row-3-accent">
            <a:extLst>
              <a:ext uri="{FF2B5EF4-FFF2-40B4-BE49-F238E27FC236}">
                <a16:creationId xmlns:a16="http://schemas.microsoft.com/office/drawing/2014/main" id="{75D08B61-CB95-4055-A6D1-F580CC775CAC}"/>
              </a:ext>
            </a:extLst>
          </p:cNvPr>
          <p:cNvSpPr>
            <a:spLocks noGrp="1"/>
          </p:cNvSpPr>
          <p:nvPr/>
        </p:nvSpPr>
        <p:spPr>
          <a:xfrm>
            <a:off x="4095750" y="3228975"/>
            <a:ext cx="38100" cy="314325"/>
          </a:xfrm>
          <a:prstGeom prst="rect">
            <a:avLst/>
          </a:prstGeom>
          <a:solidFill>
            <a:srgbClr val="E76F51"/>
          </a:solidFill>
          <a:ln w="0">
            <a:solidFill>
              <a:srgbClr val="E76F51"/>
            </a:solidFill>
            <a:prstDash val="solid"/>
          </a:ln>
        </p:spPr>
        <p:txBody>
          <a:bodyPr/>
          <a:lstStyle/>
          <a:p>
            <a:endParaRPr/>
          </a:p>
        </p:txBody>
      </p:sp>
      <p:sp>
        <p:nvSpPr>
          <p:cNvPr id="69" name="formula-row-3-metric">
            <a:extLst>
              <a:ext uri="{FF2B5EF4-FFF2-40B4-BE49-F238E27FC236}">
                <a16:creationId xmlns:a16="http://schemas.microsoft.com/office/drawing/2014/main" id="{A7A8A1A9-FFB9-4529-8E73-31AAC07E5A52}"/>
              </a:ext>
            </a:extLst>
          </p:cNvPr>
          <p:cNvSpPr>
            <a:spLocks noGrp="1"/>
          </p:cNvSpPr>
          <p:nvPr/>
        </p:nvSpPr>
        <p:spPr>
          <a:xfrm>
            <a:off x="4229100" y="3276600"/>
            <a:ext cx="8763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35">
                <a:solidFill>
                  <a:srgbClr val="142026"/>
                </a:solidFill>
                <a:latin typeface="Aptos"/>
                <a:ea typeface="Aptos"/>
                <a:cs typeface="Aptos"/>
              </a:defRPr>
            </a:pPr>
            <a:r>
              <a:rPr sz="1200" b="1">
                <a:solidFill>
                  <a:srgbClr val="142026"/>
                </a:solidFill>
                <a:latin typeface="Aptos"/>
                <a:ea typeface="Aptos"/>
                <a:cs typeface="Aptos"/>
              </a:rPr>
              <a:t>LAnorm+/-</a:t>
            </a:r>
          </a:p>
        </p:txBody>
      </p:sp>
      <p:sp>
        <p:nvSpPr>
          <p:cNvPr id="70" name="formula-row-3-formula">
            <a:extLst>
              <a:ext uri="{FF2B5EF4-FFF2-40B4-BE49-F238E27FC236}">
                <a16:creationId xmlns:a16="http://schemas.microsoft.com/office/drawing/2014/main" id="{B66115EB-F851-4D31-B555-BCA886D3811A}"/>
              </a:ext>
            </a:extLst>
          </p:cNvPr>
          <p:cNvSpPr>
            <a:spLocks noGrp="1"/>
          </p:cNvSpPr>
          <p:nvPr/>
        </p:nvSpPr>
        <p:spPr>
          <a:xfrm>
            <a:off x="5295900" y="3257550"/>
            <a:ext cx="39052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60">
                <a:solidFill>
                  <a:srgbClr val="142026"/>
                </a:solidFill>
                <a:latin typeface="Aptos Mono"/>
                <a:ea typeface="Aptos Mono"/>
                <a:cs typeface="Aptos Mono"/>
              </a:defRPr>
            </a:pPr>
            <a:r>
              <a:rPr sz="1200">
                <a:solidFill>
                  <a:srgbClr val="142026"/>
                </a:solidFill>
                <a:latin typeface="Aptos Mono"/>
                <a:ea typeface="Aptos Mono"/>
                <a:cs typeface="Aptos Mono"/>
              </a:rPr>
              <a:t>(LA-&gt;norm + LA&lt;-norm) / 2</a:t>
            </a:r>
          </a:p>
        </p:txBody>
      </p:sp>
      <p:sp>
        <p:nvSpPr>
          <p:cNvPr id="71" name="formula-row-3-result">
            <a:extLst>
              <a:ext uri="{FF2B5EF4-FFF2-40B4-BE49-F238E27FC236}">
                <a16:creationId xmlns:a16="http://schemas.microsoft.com/office/drawing/2014/main" id="{46720AD3-401F-4700-B31D-28638B4D683D}"/>
              </a:ext>
            </a:extLst>
          </p:cNvPr>
          <p:cNvSpPr>
            <a:spLocks noGrp="1"/>
          </p:cNvSpPr>
          <p:nvPr/>
        </p:nvSpPr>
        <p:spPr>
          <a:xfrm>
            <a:off x="9391650" y="3257550"/>
            <a:ext cx="17335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90">
                <a:solidFill>
                  <a:srgbClr val="E76F51"/>
                </a:solidFill>
                <a:latin typeface="Aptos Mono"/>
                <a:ea typeface="Aptos Mono"/>
                <a:cs typeface="Aptos Mono"/>
              </a:defRPr>
            </a:pPr>
            <a:r>
              <a:rPr sz="1200" b="1">
                <a:solidFill>
                  <a:srgbClr val="E76F51"/>
                </a:solidFill>
                <a:latin typeface="Aptos Mono"/>
                <a:ea typeface="Aptos Mono"/>
                <a:cs typeface="Aptos Mono"/>
              </a:rPr>
              <a:t>(0 + 0.500) / 2 = 0.250</a:t>
            </a:r>
          </a:p>
        </p:txBody>
      </p:sp>
      <p:sp>
        <p:nvSpPr>
          <p:cNvPr id="72" name="metric-table-rule">
            <a:extLst>
              <a:ext uri="{FF2B5EF4-FFF2-40B4-BE49-F238E27FC236}">
                <a16:creationId xmlns:a16="http://schemas.microsoft.com/office/drawing/2014/main" id="{174200EA-4A8C-4107-BB86-EB2A9C0BE675}"/>
              </a:ext>
            </a:extLst>
          </p:cNvPr>
          <p:cNvSpPr>
            <a:spLocks noGrp="1"/>
          </p:cNvSpPr>
          <p:nvPr/>
        </p:nvSpPr>
        <p:spPr>
          <a:xfrm>
            <a:off x="4095750" y="3609975"/>
            <a:ext cx="7143750" cy="9525"/>
          </a:xfrm>
          <a:prstGeom prst="rect">
            <a:avLst/>
          </a:prstGeom>
          <a:solidFill>
            <a:srgbClr val="E2D8C8"/>
          </a:solidFill>
          <a:ln w="0">
            <a:solidFill>
              <a:srgbClr val="E2D8C8"/>
            </a:solidFill>
            <a:prstDash val="solid"/>
          </a:ln>
        </p:spPr>
        <p:txBody>
          <a:bodyPr/>
          <a:lstStyle/>
          <a:p>
            <a:endParaRPr/>
          </a:p>
        </p:txBody>
      </p:sp>
      <p:sp>
        <p:nvSpPr>
          <p:cNvPr id="73" name="formula-row-4-bg">
            <a:extLst>
              <a:ext uri="{FF2B5EF4-FFF2-40B4-BE49-F238E27FC236}">
                <a16:creationId xmlns:a16="http://schemas.microsoft.com/office/drawing/2014/main" id="{2B3B2065-0F8E-4AC2-8FDF-BFAAFD5E7A10}"/>
              </a:ext>
            </a:extLst>
          </p:cNvPr>
          <p:cNvSpPr>
            <a:spLocks noGrp="1"/>
          </p:cNvSpPr>
          <p:nvPr/>
        </p:nvSpPr>
        <p:spPr>
          <a:xfrm>
            <a:off x="4095750" y="3609975"/>
            <a:ext cx="7143750" cy="447675"/>
          </a:xfrm>
          <a:prstGeom prst="rect">
            <a:avLst/>
          </a:prstGeom>
          <a:solidFill>
            <a:srgbClr val="FBF8F0"/>
          </a:solidFill>
          <a:ln w="0">
            <a:solidFill>
              <a:srgbClr val="000000">
                <a:alpha val="0"/>
              </a:srgbClr>
            </a:solidFill>
            <a:prstDash val="solid"/>
          </a:ln>
        </p:spPr>
        <p:txBody>
          <a:bodyPr/>
          <a:lstStyle/>
          <a:p>
            <a:endParaRPr/>
          </a:p>
        </p:txBody>
      </p:sp>
      <p:sp>
        <p:nvSpPr>
          <p:cNvPr id="74" name="formula-row-4-accent">
            <a:extLst>
              <a:ext uri="{FF2B5EF4-FFF2-40B4-BE49-F238E27FC236}">
                <a16:creationId xmlns:a16="http://schemas.microsoft.com/office/drawing/2014/main" id="{24690ED1-02D9-459D-8403-F7C2A4D4DE0B}"/>
              </a:ext>
            </a:extLst>
          </p:cNvPr>
          <p:cNvSpPr>
            <a:spLocks noGrp="1"/>
          </p:cNvSpPr>
          <p:nvPr/>
        </p:nvSpPr>
        <p:spPr>
          <a:xfrm>
            <a:off x="4095750" y="3676650"/>
            <a:ext cx="38100" cy="314325"/>
          </a:xfrm>
          <a:prstGeom prst="rect">
            <a:avLst/>
          </a:prstGeom>
          <a:solidFill>
            <a:srgbClr val="D4A373"/>
          </a:solidFill>
          <a:ln w="0">
            <a:solidFill>
              <a:srgbClr val="D4A373"/>
            </a:solidFill>
            <a:prstDash val="solid"/>
          </a:ln>
        </p:spPr>
        <p:txBody>
          <a:bodyPr/>
          <a:lstStyle/>
          <a:p>
            <a:endParaRPr/>
          </a:p>
        </p:txBody>
      </p:sp>
      <p:sp>
        <p:nvSpPr>
          <p:cNvPr id="75" name="formula-row-4-metric">
            <a:extLst>
              <a:ext uri="{FF2B5EF4-FFF2-40B4-BE49-F238E27FC236}">
                <a16:creationId xmlns:a16="http://schemas.microsoft.com/office/drawing/2014/main" id="{C013155B-0335-4763-8CE9-6711CAC94A8A}"/>
              </a:ext>
            </a:extLst>
          </p:cNvPr>
          <p:cNvSpPr>
            <a:spLocks noGrp="1"/>
          </p:cNvSpPr>
          <p:nvPr/>
        </p:nvSpPr>
        <p:spPr>
          <a:xfrm>
            <a:off x="4229100" y="3724275"/>
            <a:ext cx="8763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35">
                <a:solidFill>
                  <a:srgbClr val="142026"/>
                </a:solidFill>
                <a:latin typeface="Aptos"/>
                <a:ea typeface="Aptos"/>
                <a:cs typeface="Aptos"/>
              </a:defRPr>
            </a:pPr>
            <a:r>
              <a:rPr sz="1200" b="1">
                <a:solidFill>
                  <a:srgbClr val="142026"/>
                </a:solidFill>
                <a:latin typeface="Aptos"/>
                <a:ea typeface="Aptos"/>
                <a:cs typeface="Aptos"/>
              </a:rPr>
              <a:t>F1,line</a:t>
            </a:r>
          </a:p>
        </p:txBody>
      </p:sp>
      <p:sp>
        <p:nvSpPr>
          <p:cNvPr id="76" name="formula-row-4-formula">
            <a:extLst>
              <a:ext uri="{FF2B5EF4-FFF2-40B4-BE49-F238E27FC236}">
                <a16:creationId xmlns:a16="http://schemas.microsoft.com/office/drawing/2014/main" id="{5A10009F-BB80-4662-AF2A-98419D79DDFD}"/>
              </a:ext>
            </a:extLst>
          </p:cNvPr>
          <p:cNvSpPr>
            <a:spLocks noGrp="1"/>
          </p:cNvSpPr>
          <p:nvPr/>
        </p:nvSpPr>
        <p:spPr>
          <a:xfrm>
            <a:off x="5295900" y="3705225"/>
            <a:ext cx="39052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60">
                <a:solidFill>
                  <a:srgbClr val="142026"/>
                </a:solidFill>
                <a:latin typeface="Aptos Mono"/>
                <a:ea typeface="Aptos Mono"/>
                <a:cs typeface="Aptos Mono"/>
              </a:defRPr>
            </a:pPr>
            <a:r>
              <a:rPr sz="1200">
                <a:solidFill>
                  <a:srgbClr val="142026"/>
                </a:solidFill>
                <a:latin typeface="Aptos Mono"/>
                <a:ea typeface="Aptos Mono"/>
                <a:cs typeface="Aptos Mono"/>
              </a:rPr>
              <a:t>P=2/3, R=2/4; F1 = 2PR / (P + R)</a:t>
            </a:r>
          </a:p>
        </p:txBody>
      </p:sp>
      <p:sp>
        <p:nvSpPr>
          <p:cNvPr id="77" name="formula-row-4-result">
            <a:extLst>
              <a:ext uri="{FF2B5EF4-FFF2-40B4-BE49-F238E27FC236}">
                <a16:creationId xmlns:a16="http://schemas.microsoft.com/office/drawing/2014/main" id="{75C2178B-1BC3-4E0E-9DD2-DC99FD1CCE31}"/>
              </a:ext>
            </a:extLst>
          </p:cNvPr>
          <p:cNvSpPr>
            <a:spLocks noGrp="1"/>
          </p:cNvSpPr>
          <p:nvPr/>
        </p:nvSpPr>
        <p:spPr>
          <a:xfrm>
            <a:off x="9391650" y="3705225"/>
            <a:ext cx="17335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90">
                <a:solidFill>
                  <a:srgbClr val="D4A373"/>
                </a:solidFill>
                <a:latin typeface="Aptos Mono"/>
                <a:ea typeface="Aptos Mono"/>
                <a:cs typeface="Aptos Mono"/>
              </a:defRPr>
            </a:pPr>
            <a:r>
              <a:rPr sz="1200" b="1">
                <a:solidFill>
                  <a:srgbClr val="D4A373"/>
                </a:solidFill>
                <a:latin typeface="Aptos Mono"/>
                <a:ea typeface="Aptos Mono"/>
                <a:cs typeface="Aptos Mono"/>
              </a:rPr>
              <a:t>0.571</a:t>
            </a:r>
          </a:p>
        </p:txBody>
      </p:sp>
      <p:sp>
        <p:nvSpPr>
          <p:cNvPr id="78" name="metric-table-rule">
            <a:extLst>
              <a:ext uri="{FF2B5EF4-FFF2-40B4-BE49-F238E27FC236}">
                <a16:creationId xmlns:a16="http://schemas.microsoft.com/office/drawing/2014/main" id="{5138D7A4-73E0-49FF-9D4D-9F1B27CFB4AF}"/>
              </a:ext>
            </a:extLst>
          </p:cNvPr>
          <p:cNvSpPr>
            <a:spLocks noGrp="1"/>
          </p:cNvSpPr>
          <p:nvPr/>
        </p:nvSpPr>
        <p:spPr>
          <a:xfrm>
            <a:off x="4095750" y="4057650"/>
            <a:ext cx="7143750" cy="9525"/>
          </a:xfrm>
          <a:prstGeom prst="rect">
            <a:avLst/>
          </a:prstGeom>
          <a:solidFill>
            <a:srgbClr val="E2D8C8"/>
          </a:solidFill>
          <a:ln w="0">
            <a:solidFill>
              <a:srgbClr val="E2D8C8"/>
            </a:solidFill>
            <a:prstDash val="solid"/>
          </a:ln>
        </p:spPr>
        <p:txBody>
          <a:bodyPr/>
          <a:lstStyle/>
          <a:p>
            <a:endParaRPr/>
          </a:p>
        </p:txBody>
      </p:sp>
      <p:sp>
        <p:nvSpPr>
          <p:cNvPr id="79" name="formula-row-5-bg">
            <a:extLst>
              <a:ext uri="{FF2B5EF4-FFF2-40B4-BE49-F238E27FC236}">
                <a16:creationId xmlns:a16="http://schemas.microsoft.com/office/drawing/2014/main" id="{DC8A701E-97F1-4175-9063-75AC59BA0EDD}"/>
              </a:ext>
            </a:extLst>
          </p:cNvPr>
          <p:cNvSpPr>
            <a:spLocks noGrp="1"/>
          </p:cNvSpPr>
          <p:nvPr/>
        </p:nvSpPr>
        <p:spPr>
          <a:xfrm>
            <a:off x="4095750" y="4057650"/>
            <a:ext cx="7143750" cy="447675"/>
          </a:xfrm>
          <a:prstGeom prst="rect">
            <a:avLst/>
          </a:prstGeom>
          <a:solidFill>
            <a:srgbClr val="FFFFFF"/>
          </a:solidFill>
          <a:ln w="0">
            <a:solidFill>
              <a:srgbClr val="000000">
                <a:alpha val="0"/>
              </a:srgbClr>
            </a:solidFill>
            <a:prstDash val="solid"/>
          </a:ln>
        </p:spPr>
        <p:txBody>
          <a:bodyPr/>
          <a:lstStyle/>
          <a:p>
            <a:endParaRPr/>
          </a:p>
        </p:txBody>
      </p:sp>
      <p:sp>
        <p:nvSpPr>
          <p:cNvPr id="80" name="formula-row-5-accent">
            <a:extLst>
              <a:ext uri="{FF2B5EF4-FFF2-40B4-BE49-F238E27FC236}">
                <a16:creationId xmlns:a16="http://schemas.microsoft.com/office/drawing/2014/main" id="{96B6CA45-B20B-4CBA-A3F2-64275A88681B}"/>
              </a:ext>
            </a:extLst>
          </p:cNvPr>
          <p:cNvSpPr>
            <a:spLocks noGrp="1"/>
          </p:cNvSpPr>
          <p:nvPr/>
        </p:nvSpPr>
        <p:spPr>
          <a:xfrm>
            <a:off x="4095750" y="4124325"/>
            <a:ext cx="38100" cy="314325"/>
          </a:xfrm>
          <a:prstGeom prst="rect">
            <a:avLst/>
          </a:prstGeom>
          <a:solidFill>
            <a:srgbClr val="2A9D8F"/>
          </a:solidFill>
          <a:ln w="0">
            <a:solidFill>
              <a:srgbClr val="2A9D8F"/>
            </a:solidFill>
            <a:prstDash val="solid"/>
          </a:ln>
        </p:spPr>
        <p:txBody>
          <a:bodyPr/>
          <a:lstStyle/>
          <a:p>
            <a:endParaRPr/>
          </a:p>
        </p:txBody>
      </p:sp>
      <p:sp>
        <p:nvSpPr>
          <p:cNvPr id="81" name="formula-row-5-metric">
            <a:extLst>
              <a:ext uri="{FF2B5EF4-FFF2-40B4-BE49-F238E27FC236}">
                <a16:creationId xmlns:a16="http://schemas.microsoft.com/office/drawing/2014/main" id="{092C57F6-1C2C-4C46-A686-2D8CE620C90B}"/>
              </a:ext>
            </a:extLst>
          </p:cNvPr>
          <p:cNvSpPr>
            <a:spLocks noGrp="1"/>
          </p:cNvSpPr>
          <p:nvPr/>
        </p:nvSpPr>
        <p:spPr>
          <a:xfrm>
            <a:off x="4229100" y="4171950"/>
            <a:ext cx="8763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35">
                <a:solidFill>
                  <a:srgbClr val="142026"/>
                </a:solidFill>
                <a:latin typeface="Aptos"/>
                <a:ea typeface="Aptos"/>
                <a:cs typeface="Aptos"/>
              </a:defRPr>
            </a:pPr>
            <a:r>
              <a:rPr sz="1200" b="1">
                <a:solidFill>
                  <a:srgbClr val="142026"/>
                </a:solidFill>
                <a:latin typeface="Aptos"/>
                <a:ea typeface="Aptos"/>
                <a:cs typeface="Aptos"/>
              </a:rPr>
              <a:t>CERnorm</a:t>
            </a:r>
          </a:p>
        </p:txBody>
      </p:sp>
      <p:sp>
        <p:nvSpPr>
          <p:cNvPr id="82" name="formula-row-5-formula">
            <a:extLst>
              <a:ext uri="{FF2B5EF4-FFF2-40B4-BE49-F238E27FC236}">
                <a16:creationId xmlns:a16="http://schemas.microsoft.com/office/drawing/2014/main" id="{06DC0B38-E775-49D9-811C-0D1A5E30526B}"/>
              </a:ext>
            </a:extLst>
          </p:cNvPr>
          <p:cNvSpPr>
            <a:spLocks noGrp="1"/>
          </p:cNvSpPr>
          <p:nvPr/>
        </p:nvSpPr>
        <p:spPr>
          <a:xfrm>
            <a:off x="5295900" y="4152900"/>
            <a:ext cx="39052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60">
                <a:solidFill>
                  <a:srgbClr val="142026"/>
                </a:solidFill>
                <a:latin typeface="Aptos Mono"/>
                <a:ea typeface="Aptos Mono"/>
                <a:cs typeface="Aptos Mono"/>
              </a:defRPr>
            </a:pPr>
            <a:r>
              <a:rPr sz="1200">
                <a:solidFill>
                  <a:srgbClr val="142026"/>
                </a:solidFill>
                <a:latin typeface="Aptos Mono"/>
                <a:ea typeface="Aptos Mono"/>
                <a:cs typeface="Aptos Mono"/>
              </a:rPr>
              <a:t>lev(chars(Nx), chars(Ny)) / |chars(Nx)|</a:t>
            </a:r>
          </a:p>
        </p:txBody>
      </p:sp>
      <p:sp>
        <p:nvSpPr>
          <p:cNvPr id="83" name="formula-row-5-result">
            <a:extLst>
              <a:ext uri="{FF2B5EF4-FFF2-40B4-BE49-F238E27FC236}">
                <a16:creationId xmlns:a16="http://schemas.microsoft.com/office/drawing/2014/main" id="{3E510A07-28C9-4FAE-93C6-CD59A0489A1D}"/>
              </a:ext>
            </a:extLst>
          </p:cNvPr>
          <p:cNvSpPr>
            <a:spLocks noGrp="1"/>
          </p:cNvSpPr>
          <p:nvPr/>
        </p:nvSpPr>
        <p:spPr>
          <a:xfrm>
            <a:off x="9391650" y="4152900"/>
            <a:ext cx="17335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90">
                <a:solidFill>
                  <a:srgbClr val="2A9D8F"/>
                </a:solidFill>
                <a:latin typeface="Aptos Mono"/>
                <a:ea typeface="Aptos Mono"/>
                <a:cs typeface="Aptos Mono"/>
              </a:defRPr>
            </a:pPr>
            <a:r>
              <a:rPr sz="1200" b="1">
                <a:solidFill>
                  <a:srgbClr val="2A9D8F"/>
                </a:solidFill>
                <a:latin typeface="Aptos Mono"/>
                <a:ea typeface="Aptos Mono"/>
                <a:cs typeface="Aptos Mono"/>
              </a:rPr>
              <a:t>0 / 22 = 0.000</a:t>
            </a:r>
          </a:p>
        </p:txBody>
      </p:sp>
      <p:sp>
        <p:nvSpPr>
          <p:cNvPr id="84" name="metric-table-rule">
            <a:extLst>
              <a:ext uri="{FF2B5EF4-FFF2-40B4-BE49-F238E27FC236}">
                <a16:creationId xmlns:a16="http://schemas.microsoft.com/office/drawing/2014/main" id="{C6925E4C-0A00-46CF-B4E5-7068D47BA0E6}"/>
              </a:ext>
            </a:extLst>
          </p:cNvPr>
          <p:cNvSpPr>
            <a:spLocks noGrp="1"/>
          </p:cNvSpPr>
          <p:nvPr/>
        </p:nvSpPr>
        <p:spPr>
          <a:xfrm>
            <a:off x="4095750" y="4505325"/>
            <a:ext cx="7143750" cy="9525"/>
          </a:xfrm>
          <a:prstGeom prst="rect">
            <a:avLst/>
          </a:prstGeom>
          <a:solidFill>
            <a:srgbClr val="E2D8C8"/>
          </a:solidFill>
          <a:ln w="0">
            <a:solidFill>
              <a:srgbClr val="E2D8C8"/>
            </a:solidFill>
            <a:prstDash val="solid"/>
          </a:ln>
        </p:spPr>
        <p:txBody>
          <a:bodyPr/>
          <a:lstStyle/>
          <a:p>
            <a:endParaRPr/>
          </a:p>
        </p:txBody>
      </p:sp>
      <p:sp>
        <p:nvSpPr>
          <p:cNvPr id="85" name="formula-row-6-bg">
            <a:extLst>
              <a:ext uri="{FF2B5EF4-FFF2-40B4-BE49-F238E27FC236}">
                <a16:creationId xmlns:a16="http://schemas.microsoft.com/office/drawing/2014/main" id="{A0E7CDAB-C778-4675-BE5A-51F9F30A8ACA}"/>
              </a:ext>
            </a:extLst>
          </p:cNvPr>
          <p:cNvSpPr>
            <a:spLocks noGrp="1"/>
          </p:cNvSpPr>
          <p:nvPr/>
        </p:nvSpPr>
        <p:spPr>
          <a:xfrm>
            <a:off x="4095750" y="4505325"/>
            <a:ext cx="7143750" cy="447675"/>
          </a:xfrm>
          <a:prstGeom prst="rect">
            <a:avLst/>
          </a:prstGeom>
          <a:solidFill>
            <a:srgbClr val="FBF8F0"/>
          </a:solidFill>
          <a:ln w="0">
            <a:solidFill>
              <a:srgbClr val="000000">
                <a:alpha val="0"/>
              </a:srgbClr>
            </a:solidFill>
            <a:prstDash val="solid"/>
          </a:ln>
        </p:spPr>
        <p:txBody>
          <a:bodyPr/>
          <a:lstStyle/>
          <a:p>
            <a:endParaRPr/>
          </a:p>
        </p:txBody>
      </p:sp>
      <p:sp>
        <p:nvSpPr>
          <p:cNvPr id="86" name="formula-row-6-accent">
            <a:extLst>
              <a:ext uri="{FF2B5EF4-FFF2-40B4-BE49-F238E27FC236}">
                <a16:creationId xmlns:a16="http://schemas.microsoft.com/office/drawing/2014/main" id="{D26F393C-5739-43B7-B3D1-D9D35C338CB3}"/>
              </a:ext>
            </a:extLst>
          </p:cNvPr>
          <p:cNvSpPr>
            <a:spLocks noGrp="1"/>
          </p:cNvSpPr>
          <p:nvPr/>
        </p:nvSpPr>
        <p:spPr>
          <a:xfrm>
            <a:off x="4095750" y="4572000"/>
            <a:ext cx="38100" cy="314325"/>
          </a:xfrm>
          <a:prstGeom prst="rect">
            <a:avLst/>
          </a:prstGeom>
          <a:solidFill>
            <a:srgbClr val="2A9D8F"/>
          </a:solidFill>
          <a:ln w="0">
            <a:solidFill>
              <a:srgbClr val="2A9D8F"/>
            </a:solidFill>
            <a:prstDash val="solid"/>
          </a:ln>
        </p:spPr>
        <p:txBody>
          <a:bodyPr/>
          <a:lstStyle/>
          <a:p>
            <a:endParaRPr/>
          </a:p>
        </p:txBody>
      </p:sp>
      <p:sp>
        <p:nvSpPr>
          <p:cNvPr id="87" name="formula-row-6-metric">
            <a:extLst>
              <a:ext uri="{FF2B5EF4-FFF2-40B4-BE49-F238E27FC236}">
                <a16:creationId xmlns:a16="http://schemas.microsoft.com/office/drawing/2014/main" id="{18AAFA01-5086-404F-9DBB-9273A6D2E248}"/>
              </a:ext>
            </a:extLst>
          </p:cNvPr>
          <p:cNvSpPr>
            <a:spLocks noGrp="1"/>
          </p:cNvSpPr>
          <p:nvPr/>
        </p:nvSpPr>
        <p:spPr>
          <a:xfrm>
            <a:off x="4229100" y="4619625"/>
            <a:ext cx="8763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35">
                <a:solidFill>
                  <a:srgbClr val="142026"/>
                </a:solidFill>
                <a:latin typeface="Aptos"/>
                <a:ea typeface="Aptos"/>
                <a:cs typeface="Aptos"/>
              </a:defRPr>
            </a:pPr>
            <a:r>
              <a:rPr sz="1200" b="1">
                <a:solidFill>
                  <a:srgbClr val="142026"/>
                </a:solidFill>
                <a:latin typeface="Aptos"/>
                <a:ea typeface="Aptos"/>
                <a:cs typeface="Aptos"/>
              </a:rPr>
              <a:t>WERnorm</a:t>
            </a:r>
          </a:p>
        </p:txBody>
      </p:sp>
      <p:sp>
        <p:nvSpPr>
          <p:cNvPr id="88" name="formula-row-6-formula">
            <a:extLst>
              <a:ext uri="{FF2B5EF4-FFF2-40B4-BE49-F238E27FC236}">
                <a16:creationId xmlns:a16="http://schemas.microsoft.com/office/drawing/2014/main" id="{775EB3A3-4E9A-4E36-B953-6969CD64FB5E}"/>
              </a:ext>
            </a:extLst>
          </p:cNvPr>
          <p:cNvSpPr>
            <a:spLocks noGrp="1"/>
          </p:cNvSpPr>
          <p:nvPr/>
        </p:nvSpPr>
        <p:spPr>
          <a:xfrm>
            <a:off x="5295900" y="4600575"/>
            <a:ext cx="39052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60">
                <a:solidFill>
                  <a:srgbClr val="142026"/>
                </a:solidFill>
                <a:latin typeface="Aptos Mono"/>
                <a:ea typeface="Aptos Mono"/>
                <a:cs typeface="Aptos Mono"/>
              </a:defRPr>
            </a:pPr>
            <a:r>
              <a:rPr sz="1200">
                <a:solidFill>
                  <a:srgbClr val="142026"/>
                </a:solidFill>
                <a:latin typeface="Aptos Mono"/>
                <a:ea typeface="Aptos Mono"/>
                <a:cs typeface="Aptos Mono"/>
              </a:rPr>
              <a:t>lev(words(Nx), words(Ny)) / |words(Nx)|</a:t>
            </a:r>
          </a:p>
        </p:txBody>
      </p:sp>
      <p:sp>
        <p:nvSpPr>
          <p:cNvPr id="89" name="formula-row-6-result">
            <a:extLst>
              <a:ext uri="{FF2B5EF4-FFF2-40B4-BE49-F238E27FC236}">
                <a16:creationId xmlns:a16="http://schemas.microsoft.com/office/drawing/2014/main" id="{3266E3A8-C4B2-4AF8-9297-B35FBE2260FF}"/>
              </a:ext>
            </a:extLst>
          </p:cNvPr>
          <p:cNvSpPr>
            <a:spLocks noGrp="1"/>
          </p:cNvSpPr>
          <p:nvPr/>
        </p:nvSpPr>
        <p:spPr>
          <a:xfrm>
            <a:off x="9391650" y="4600575"/>
            <a:ext cx="1733550" cy="257175"/>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990">
                <a:solidFill>
                  <a:srgbClr val="2A9D8F"/>
                </a:solidFill>
                <a:latin typeface="Aptos Mono"/>
                <a:ea typeface="Aptos Mono"/>
                <a:cs typeface="Aptos Mono"/>
              </a:defRPr>
            </a:pPr>
            <a:r>
              <a:rPr sz="1200" b="1">
                <a:solidFill>
                  <a:srgbClr val="2A9D8F"/>
                </a:solidFill>
                <a:latin typeface="Aptos Mono"/>
                <a:ea typeface="Aptos Mono"/>
                <a:cs typeface="Aptos Mono"/>
              </a:rPr>
              <a:t>0 / 4 = 0.000</a:t>
            </a:r>
          </a:p>
        </p:txBody>
      </p:sp>
      <p:sp>
        <p:nvSpPr>
          <p:cNvPr id="90" name="metric-table-rule">
            <a:extLst>
              <a:ext uri="{FF2B5EF4-FFF2-40B4-BE49-F238E27FC236}">
                <a16:creationId xmlns:a16="http://schemas.microsoft.com/office/drawing/2014/main" id="{A44861EF-3ACB-4397-ACC1-40AFE55C24FD}"/>
              </a:ext>
            </a:extLst>
          </p:cNvPr>
          <p:cNvSpPr>
            <a:spLocks noGrp="1"/>
          </p:cNvSpPr>
          <p:nvPr/>
        </p:nvSpPr>
        <p:spPr>
          <a:xfrm>
            <a:off x="4095750" y="4953000"/>
            <a:ext cx="7143750" cy="9525"/>
          </a:xfrm>
          <a:prstGeom prst="rect">
            <a:avLst/>
          </a:prstGeom>
          <a:solidFill>
            <a:srgbClr val="E2D8C8"/>
          </a:solidFill>
          <a:ln w="0">
            <a:solidFill>
              <a:srgbClr val="E2D8C8"/>
            </a:solidFill>
            <a:prstDash val="solid"/>
          </a:ln>
        </p:spPr>
        <p:txBody>
          <a:bodyPr/>
          <a:lstStyle/>
          <a:p>
            <a:endParaRPr/>
          </a:p>
        </p:txBody>
      </p:sp>
      <p:sp>
        <p:nvSpPr>
          <p:cNvPr id="91" name="worked-metrics-takeaway-bg">
            <a:extLst>
              <a:ext uri="{FF2B5EF4-FFF2-40B4-BE49-F238E27FC236}">
                <a16:creationId xmlns:a16="http://schemas.microsoft.com/office/drawing/2014/main" id="{7BF47326-1E4B-4231-88C7-DE3B67DE9943}"/>
              </a:ext>
            </a:extLst>
          </p:cNvPr>
          <p:cNvSpPr>
            <a:spLocks noGrp="1"/>
          </p:cNvSpPr>
          <p:nvPr/>
        </p:nvSpPr>
        <p:spPr>
          <a:xfrm>
            <a:off x="4095750" y="5219700"/>
            <a:ext cx="7143750" cy="552450"/>
          </a:xfrm>
          <a:prstGeom prst="roundRect">
            <a:avLst>
              <a:gd name="adj" fmla="val 13793"/>
            </a:avLst>
          </a:prstGeom>
          <a:solidFill>
            <a:srgbClr val="DDEDE9"/>
          </a:solidFill>
          <a:ln w="9525">
            <a:solidFill>
              <a:srgbClr val="2A9D8F"/>
            </a:solidFill>
            <a:prstDash val="solid"/>
          </a:ln>
        </p:spPr>
        <p:txBody>
          <a:bodyPr/>
          <a:lstStyle/>
          <a:p>
            <a:endParaRPr/>
          </a:p>
        </p:txBody>
      </p:sp>
      <p:sp>
        <p:nvSpPr>
          <p:cNvPr id="92" name="worked-metrics-takeaway">
            <a:extLst>
              <a:ext uri="{FF2B5EF4-FFF2-40B4-BE49-F238E27FC236}">
                <a16:creationId xmlns:a16="http://schemas.microsoft.com/office/drawing/2014/main" id="{5B903EA8-7217-4DF2-83AC-11AE186EED76}"/>
              </a:ext>
            </a:extLst>
          </p:cNvPr>
          <p:cNvSpPr>
            <a:spLocks noGrp="1"/>
          </p:cNvSpPr>
          <p:nvPr/>
        </p:nvSpPr>
        <p:spPr>
          <a:xfrm>
            <a:off x="4305300" y="5362575"/>
            <a:ext cx="6715125"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185">
                <a:solidFill>
                  <a:srgbClr val="264653"/>
                </a:solidFill>
                <a:latin typeface="Aptos"/>
                <a:ea typeface="Aptos"/>
                <a:cs typeface="Aptos"/>
              </a:defRPr>
            </a:pPr>
            <a:r>
              <a:rPr sz="1185" b="1">
                <a:solidFill>
                  <a:srgbClr val="264653"/>
                </a:solidFill>
                <a:latin typeface="Aptos"/>
                <a:ea typeface="Aptos"/>
                <a:cs typeface="Aptos"/>
              </a:rPr>
              <a:t>CER/WER see identical normalized text, while line metrics expose the lost boundary between Alpha and Beta.</a:t>
            </a:r>
          </a:p>
        </p:txBody>
      </p:sp>
    </p:spTree>
    <p:extLst>
      <p:ext uri="{BB962C8B-B14F-4D97-AF65-F5344CB8AC3E}">
        <p14:creationId xmlns:p14="http://schemas.microsoft.com/office/powerpoint/2010/main" val="590259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FB9DA392-C87D-4D87-AE88-F7DCBB820C8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82FF33C8-6CEC-4DD5-973C-190EE6A42847}"/>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E0F7820D-9AE6-406C-B9CA-1E8C2F90F2B7}"/>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RQ1</a:t>
            </a:r>
          </a:p>
        </p:txBody>
      </p:sp>
      <p:sp>
        <p:nvSpPr>
          <p:cNvPr id="4" name="Rectangle 3">
            <a:extLst>
              <a:ext uri="{FF2B5EF4-FFF2-40B4-BE49-F238E27FC236}">
                <a16:creationId xmlns:a16="http://schemas.microsoft.com/office/drawing/2014/main" id="{10D2C889-B282-45C1-9063-5E86DDB6E523}"/>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Method Results</a:t>
            </a:r>
          </a:p>
        </p:txBody>
      </p:sp>
      <p:sp>
        <p:nvSpPr>
          <p:cNvPr id="5" name="Rectangle 4">
            <a:extLst>
              <a:ext uri="{FF2B5EF4-FFF2-40B4-BE49-F238E27FC236}">
                <a16:creationId xmlns:a16="http://schemas.microsoft.com/office/drawing/2014/main" id="{F2F6B6E7-B93A-438F-AE58-489A427E4188}"/>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A75A4CCE-E2FE-45EC-9B4C-1F2BD8F96F42}"/>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08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AEC34BBF-451E-4CD9-8F28-89CDD2A8A096}"/>
              </a:ext>
            </a:extLst>
          </p:cNvPr>
          <p:cNvSpPr>
            <a:spLocks noGrp="1"/>
          </p:cNvSpPr>
          <p:nvPr/>
        </p:nvSpPr>
        <p:spPr>
          <a:xfrm>
            <a:off x="552450" y="9906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8" name="Rectangle 7">
            <a:extLst>
              <a:ext uri="{FF2B5EF4-FFF2-40B4-BE49-F238E27FC236}">
                <a16:creationId xmlns:a16="http://schemas.microsoft.com/office/drawing/2014/main" id="{ED75519E-6B24-4D8D-A4CC-0E40AFBBF0B3}"/>
              </a:ext>
            </a:extLst>
          </p:cNvPr>
          <p:cNvSpPr>
            <a:spLocks noGrp="1"/>
          </p:cNvSpPr>
          <p:nvPr/>
        </p:nvSpPr>
        <p:spPr>
          <a:xfrm>
            <a:off x="685800" y="10858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Bullinger</a:t>
            </a:r>
          </a:p>
        </p:txBody>
      </p:sp>
      <p:sp>
        <p:nvSpPr>
          <p:cNvPr id="9" name="Rectangle 8">
            <a:extLst>
              <a:ext uri="{FF2B5EF4-FFF2-40B4-BE49-F238E27FC236}">
                <a16:creationId xmlns:a16="http://schemas.microsoft.com/office/drawing/2014/main" id="{51F62D36-0DC7-4C7F-A48B-73902F16E3D3}"/>
              </a:ext>
            </a:extLst>
          </p:cNvPr>
          <p:cNvSpPr>
            <a:spLocks noGrp="1"/>
          </p:cNvSpPr>
          <p:nvPr/>
        </p:nvSpPr>
        <p:spPr>
          <a:xfrm>
            <a:off x="876300" y="27051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10" name="Rectangle 9">
            <a:extLst>
              <a:ext uri="{FF2B5EF4-FFF2-40B4-BE49-F238E27FC236}">
                <a16:creationId xmlns:a16="http://schemas.microsoft.com/office/drawing/2014/main" id="{B078106F-D891-4D55-9539-1ACC984BF57F}"/>
              </a:ext>
            </a:extLst>
          </p:cNvPr>
          <p:cNvSpPr>
            <a:spLocks noGrp="1"/>
          </p:cNvSpPr>
          <p:nvPr/>
        </p:nvSpPr>
        <p:spPr>
          <a:xfrm>
            <a:off x="876300" y="21050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11" name="Rectangle 10">
            <a:extLst>
              <a:ext uri="{FF2B5EF4-FFF2-40B4-BE49-F238E27FC236}">
                <a16:creationId xmlns:a16="http://schemas.microsoft.com/office/drawing/2014/main" id="{2B96CED3-784E-450A-938D-2CB7DFDD62E7}"/>
              </a:ext>
            </a:extLst>
          </p:cNvPr>
          <p:cNvSpPr>
            <a:spLocks noGrp="1"/>
          </p:cNvSpPr>
          <p:nvPr/>
        </p:nvSpPr>
        <p:spPr>
          <a:xfrm>
            <a:off x="876300" y="15049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12" name="Rectangle 11">
            <a:extLst>
              <a:ext uri="{FF2B5EF4-FFF2-40B4-BE49-F238E27FC236}">
                <a16:creationId xmlns:a16="http://schemas.microsoft.com/office/drawing/2014/main" id="{9581BDCA-600C-4182-8C3B-01FA7F133700}"/>
              </a:ext>
            </a:extLst>
          </p:cNvPr>
          <p:cNvSpPr>
            <a:spLocks noGrp="1"/>
          </p:cNvSpPr>
          <p:nvPr/>
        </p:nvSpPr>
        <p:spPr>
          <a:xfrm>
            <a:off x="647700" y="14573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13" name="Rectangle 12">
            <a:extLst>
              <a:ext uri="{FF2B5EF4-FFF2-40B4-BE49-F238E27FC236}">
                <a16:creationId xmlns:a16="http://schemas.microsoft.com/office/drawing/2014/main" id="{D46D9452-33EA-4293-B5D3-72077637A320}"/>
              </a:ext>
            </a:extLst>
          </p:cNvPr>
          <p:cNvSpPr>
            <a:spLocks noGrp="1"/>
          </p:cNvSpPr>
          <p:nvPr/>
        </p:nvSpPr>
        <p:spPr>
          <a:xfrm>
            <a:off x="647700" y="26479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14" name="Rounded Rectangle 13">
            <a:extLst>
              <a:ext uri="{FF2B5EF4-FFF2-40B4-BE49-F238E27FC236}">
                <a16:creationId xmlns:a16="http://schemas.microsoft.com/office/drawing/2014/main" id="{3544D014-C5CF-4B58-BDE8-85CA5D39AF49}"/>
              </a:ext>
            </a:extLst>
          </p:cNvPr>
          <p:cNvSpPr>
            <a:spLocks noGrp="1"/>
          </p:cNvSpPr>
          <p:nvPr/>
        </p:nvSpPr>
        <p:spPr>
          <a:xfrm>
            <a:off x="876300" y="2345055"/>
            <a:ext cx="868680" cy="360045"/>
          </a:xfrm>
          <a:prstGeom prst="roundRect">
            <a:avLst>
              <a:gd name="adj" fmla="val 7937"/>
            </a:avLst>
          </a:prstGeom>
          <a:solidFill>
            <a:srgbClr val="B9D7D2"/>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464847A9-E528-4D13-816B-DB6F93F5AB70}"/>
              </a:ext>
            </a:extLst>
          </p:cNvPr>
          <p:cNvSpPr>
            <a:spLocks noGrp="1"/>
          </p:cNvSpPr>
          <p:nvPr/>
        </p:nvSpPr>
        <p:spPr>
          <a:xfrm>
            <a:off x="838200" y="2183130"/>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0.300</a:t>
            </a:r>
          </a:p>
        </p:txBody>
      </p:sp>
      <p:sp>
        <p:nvSpPr>
          <p:cNvPr id="16" name="Rectangle 15">
            <a:extLst>
              <a:ext uri="{FF2B5EF4-FFF2-40B4-BE49-F238E27FC236}">
                <a16:creationId xmlns:a16="http://schemas.microsoft.com/office/drawing/2014/main" id="{09041202-8625-4CC0-AA2B-4E65FCBB8CDC}"/>
              </a:ext>
            </a:extLst>
          </p:cNvPr>
          <p:cNvSpPr>
            <a:spLocks noGrp="1"/>
          </p:cNvSpPr>
          <p:nvPr/>
        </p:nvSpPr>
        <p:spPr>
          <a:xfrm>
            <a:off x="85725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17" name="Rounded Rectangle 16">
            <a:extLst>
              <a:ext uri="{FF2B5EF4-FFF2-40B4-BE49-F238E27FC236}">
                <a16:creationId xmlns:a16="http://schemas.microsoft.com/office/drawing/2014/main" id="{33E905B9-8447-4013-AD41-A177C93943AD}"/>
              </a:ext>
            </a:extLst>
          </p:cNvPr>
          <p:cNvSpPr>
            <a:spLocks noGrp="1"/>
          </p:cNvSpPr>
          <p:nvPr/>
        </p:nvSpPr>
        <p:spPr>
          <a:xfrm>
            <a:off x="1840230" y="2561082"/>
            <a:ext cx="868680" cy="144018"/>
          </a:xfrm>
          <a:prstGeom prst="roundRect">
            <a:avLst>
              <a:gd name="adj" fmla="val 19841"/>
            </a:avLst>
          </a:prstGeom>
          <a:solidFill>
            <a:srgbClr val="B9D7D2"/>
          </a:solidFill>
          <a:ln w="0">
            <a:solidFill>
              <a:srgbClr val="000000">
                <a:alpha val="0"/>
              </a:srgbClr>
            </a:solidFill>
            <a:prstDash val="solid"/>
          </a:ln>
        </p:spPr>
        <p:txBody>
          <a:bodyPr/>
          <a:lstStyle/>
          <a:p>
            <a:endParaRPr/>
          </a:p>
        </p:txBody>
      </p:sp>
      <p:sp>
        <p:nvSpPr>
          <p:cNvPr id="18" name="Rectangle 17">
            <a:extLst>
              <a:ext uri="{FF2B5EF4-FFF2-40B4-BE49-F238E27FC236}">
                <a16:creationId xmlns:a16="http://schemas.microsoft.com/office/drawing/2014/main" id="{E36661AB-11C3-46D7-BC2E-9DBC4D1FE046}"/>
              </a:ext>
            </a:extLst>
          </p:cNvPr>
          <p:cNvSpPr>
            <a:spLocks noGrp="1"/>
          </p:cNvSpPr>
          <p:nvPr/>
        </p:nvSpPr>
        <p:spPr>
          <a:xfrm>
            <a:off x="1802130" y="2399157"/>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0.120</a:t>
            </a:r>
          </a:p>
        </p:txBody>
      </p:sp>
      <p:sp>
        <p:nvSpPr>
          <p:cNvPr id="19" name="Rectangle 18">
            <a:extLst>
              <a:ext uri="{FF2B5EF4-FFF2-40B4-BE49-F238E27FC236}">
                <a16:creationId xmlns:a16="http://schemas.microsoft.com/office/drawing/2014/main" id="{2E41C380-175A-40D8-A544-18CA471BDC3F}"/>
              </a:ext>
            </a:extLst>
          </p:cNvPr>
          <p:cNvSpPr>
            <a:spLocks noGrp="1"/>
          </p:cNvSpPr>
          <p:nvPr/>
        </p:nvSpPr>
        <p:spPr>
          <a:xfrm>
            <a:off x="182118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20" name="Rounded Rectangle 19">
            <a:extLst>
              <a:ext uri="{FF2B5EF4-FFF2-40B4-BE49-F238E27FC236}">
                <a16:creationId xmlns:a16="http://schemas.microsoft.com/office/drawing/2014/main" id="{78B43432-7A64-449C-B483-A1C85ABA7043}"/>
              </a:ext>
            </a:extLst>
          </p:cNvPr>
          <p:cNvSpPr>
            <a:spLocks noGrp="1"/>
          </p:cNvSpPr>
          <p:nvPr/>
        </p:nvSpPr>
        <p:spPr>
          <a:xfrm>
            <a:off x="2804160" y="2348655"/>
            <a:ext cx="868680" cy="356445"/>
          </a:xfrm>
          <a:prstGeom prst="roundRect">
            <a:avLst>
              <a:gd name="adj" fmla="val 8017"/>
            </a:avLst>
          </a:prstGeom>
          <a:solidFill>
            <a:srgbClr val="B9D7D2"/>
          </a:solidFill>
          <a:ln w="0">
            <a:solidFill>
              <a:srgbClr val="000000">
                <a:alpha val="0"/>
              </a:srgbClr>
            </a:solidFill>
            <a:prstDash val="solid"/>
          </a:ln>
        </p:spPr>
        <p:txBody>
          <a:bodyPr/>
          <a:lstStyle/>
          <a:p>
            <a:endParaRPr/>
          </a:p>
        </p:txBody>
      </p:sp>
      <p:sp>
        <p:nvSpPr>
          <p:cNvPr id="21" name="Rectangle 20">
            <a:extLst>
              <a:ext uri="{FF2B5EF4-FFF2-40B4-BE49-F238E27FC236}">
                <a16:creationId xmlns:a16="http://schemas.microsoft.com/office/drawing/2014/main" id="{0E8DEA83-681F-43BA-9E53-D3214CD69E60}"/>
              </a:ext>
            </a:extLst>
          </p:cNvPr>
          <p:cNvSpPr>
            <a:spLocks noGrp="1"/>
          </p:cNvSpPr>
          <p:nvPr/>
        </p:nvSpPr>
        <p:spPr>
          <a:xfrm>
            <a:off x="2766060" y="2186730"/>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0.297</a:t>
            </a:r>
          </a:p>
        </p:txBody>
      </p:sp>
      <p:sp>
        <p:nvSpPr>
          <p:cNvPr id="22" name="Rectangle 21">
            <a:extLst>
              <a:ext uri="{FF2B5EF4-FFF2-40B4-BE49-F238E27FC236}">
                <a16:creationId xmlns:a16="http://schemas.microsoft.com/office/drawing/2014/main" id="{FA2E0596-F23D-439A-B38A-B9D877870E79}"/>
              </a:ext>
            </a:extLst>
          </p:cNvPr>
          <p:cNvSpPr>
            <a:spLocks noGrp="1"/>
          </p:cNvSpPr>
          <p:nvPr/>
        </p:nvSpPr>
        <p:spPr>
          <a:xfrm>
            <a:off x="278511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23" name="Rounded Rectangle 22">
            <a:extLst>
              <a:ext uri="{FF2B5EF4-FFF2-40B4-BE49-F238E27FC236}">
                <a16:creationId xmlns:a16="http://schemas.microsoft.com/office/drawing/2014/main" id="{E5D815AE-5EEE-4D6B-9CFC-689D728449AC}"/>
              </a:ext>
            </a:extLst>
          </p:cNvPr>
          <p:cNvSpPr>
            <a:spLocks noGrp="1"/>
          </p:cNvSpPr>
          <p:nvPr/>
        </p:nvSpPr>
        <p:spPr>
          <a:xfrm>
            <a:off x="3768090" y="2217839"/>
            <a:ext cx="868680" cy="487261"/>
          </a:xfrm>
          <a:prstGeom prst="roundRect">
            <a:avLst>
              <a:gd name="adj" fmla="val 5864"/>
            </a:avLst>
          </a:prstGeom>
          <a:solidFill>
            <a:srgbClr val="B9D7D2"/>
          </a:solidFill>
          <a:ln w="0">
            <a:solidFill>
              <a:srgbClr val="000000">
                <a:alpha val="0"/>
              </a:srgbClr>
            </a:solidFill>
            <a:prstDash val="solid"/>
          </a:ln>
        </p:spPr>
        <p:txBody>
          <a:bodyPr/>
          <a:lstStyle/>
          <a:p>
            <a:endParaRPr/>
          </a:p>
        </p:txBody>
      </p:sp>
      <p:sp>
        <p:nvSpPr>
          <p:cNvPr id="24" name="Rectangle 23">
            <a:extLst>
              <a:ext uri="{FF2B5EF4-FFF2-40B4-BE49-F238E27FC236}">
                <a16:creationId xmlns:a16="http://schemas.microsoft.com/office/drawing/2014/main" id="{7CAF730A-A9B9-4DFA-8A26-FF57CD450E32}"/>
              </a:ext>
            </a:extLst>
          </p:cNvPr>
          <p:cNvSpPr>
            <a:spLocks noGrp="1"/>
          </p:cNvSpPr>
          <p:nvPr/>
        </p:nvSpPr>
        <p:spPr>
          <a:xfrm>
            <a:off x="3729990" y="2055914"/>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0.406</a:t>
            </a:r>
          </a:p>
        </p:txBody>
      </p:sp>
      <p:sp>
        <p:nvSpPr>
          <p:cNvPr id="25" name="Rectangle 24">
            <a:extLst>
              <a:ext uri="{FF2B5EF4-FFF2-40B4-BE49-F238E27FC236}">
                <a16:creationId xmlns:a16="http://schemas.microsoft.com/office/drawing/2014/main" id="{07FD89A2-66E6-4C96-877F-9E9FFD52620F}"/>
              </a:ext>
            </a:extLst>
          </p:cNvPr>
          <p:cNvSpPr>
            <a:spLocks noGrp="1"/>
          </p:cNvSpPr>
          <p:nvPr/>
        </p:nvSpPr>
        <p:spPr>
          <a:xfrm>
            <a:off x="374904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26" name="Rounded Rectangle 25">
            <a:extLst>
              <a:ext uri="{FF2B5EF4-FFF2-40B4-BE49-F238E27FC236}">
                <a16:creationId xmlns:a16="http://schemas.microsoft.com/office/drawing/2014/main" id="{206F9F8F-D552-4CDE-A06A-51657AAA8F94}"/>
              </a:ext>
            </a:extLst>
          </p:cNvPr>
          <p:cNvSpPr>
            <a:spLocks noGrp="1"/>
          </p:cNvSpPr>
          <p:nvPr/>
        </p:nvSpPr>
        <p:spPr>
          <a:xfrm>
            <a:off x="4732020" y="1693374"/>
            <a:ext cx="868680" cy="1011726"/>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27" name="Rectangle 26">
            <a:extLst>
              <a:ext uri="{FF2B5EF4-FFF2-40B4-BE49-F238E27FC236}">
                <a16:creationId xmlns:a16="http://schemas.microsoft.com/office/drawing/2014/main" id="{AE2777BD-6E4D-4D0A-BD64-6267218B9A4E}"/>
              </a:ext>
            </a:extLst>
          </p:cNvPr>
          <p:cNvSpPr>
            <a:spLocks noGrp="1"/>
          </p:cNvSpPr>
          <p:nvPr/>
        </p:nvSpPr>
        <p:spPr>
          <a:xfrm>
            <a:off x="4693920" y="1531449"/>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0.843</a:t>
            </a:r>
          </a:p>
        </p:txBody>
      </p:sp>
      <p:sp>
        <p:nvSpPr>
          <p:cNvPr id="28" name="Rectangle 27">
            <a:extLst>
              <a:ext uri="{FF2B5EF4-FFF2-40B4-BE49-F238E27FC236}">
                <a16:creationId xmlns:a16="http://schemas.microsoft.com/office/drawing/2014/main" id="{B129AB0D-75BF-4E8D-8CAB-288EA76D36C9}"/>
              </a:ext>
            </a:extLst>
          </p:cNvPr>
          <p:cNvSpPr>
            <a:spLocks noGrp="1"/>
          </p:cNvSpPr>
          <p:nvPr/>
        </p:nvSpPr>
        <p:spPr>
          <a:xfrm>
            <a:off x="471297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29" name="Rounded Rectangle 28">
            <a:extLst>
              <a:ext uri="{FF2B5EF4-FFF2-40B4-BE49-F238E27FC236}">
                <a16:creationId xmlns:a16="http://schemas.microsoft.com/office/drawing/2014/main" id="{F08CB1CF-C3A8-4FF1-BD06-6125A00AF0C0}"/>
              </a:ext>
            </a:extLst>
          </p:cNvPr>
          <p:cNvSpPr>
            <a:spLocks noGrp="1"/>
          </p:cNvSpPr>
          <p:nvPr/>
        </p:nvSpPr>
        <p:spPr>
          <a:xfrm>
            <a:off x="6381750" y="9906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1E6EC30E-417E-4B06-AF56-28E245B5070D}"/>
              </a:ext>
            </a:extLst>
          </p:cNvPr>
          <p:cNvSpPr>
            <a:spLocks noGrp="1"/>
          </p:cNvSpPr>
          <p:nvPr/>
        </p:nvSpPr>
        <p:spPr>
          <a:xfrm>
            <a:off x="6515100" y="10858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Children</a:t>
            </a:r>
          </a:p>
        </p:txBody>
      </p:sp>
      <p:sp>
        <p:nvSpPr>
          <p:cNvPr id="31" name="Rectangle 30">
            <a:extLst>
              <a:ext uri="{FF2B5EF4-FFF2-40B4-BE49-F238E27FC236}">
                <a16:creationId xmlns:a16="http://schemas.microsoft.com/office/drawing/2014/main" id="{F887C129-004B-4608-A2E6-6B7486B9D3F8}"/>
              </a:ext>
            </a:extLst>
          </p:cNvPr>
          <p:cNvSpPr>
            <a:spLocks noGrp="1"/>
          </p:cNvSpPr>
          <p:nvPr/>
        </p:nvSpPr>
        <p:spPr>
          <a:xfrm>
            <a:off x="6705600" y="27051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32" name="Rectangle 31">
            <a:extLst>
              <a:ext uri="{FF2B5EF4-FFF2-40B4-BE49-F238E27FC236}">
                <a16:creationId xmlns:a16="http://schemas.microsoft.com/office/drawing/2014/main" id="{643AE6F8-8BD0-4339-B6A0-546C0BAC97E4}"/>
              </a:ext>
            </a:extLst>
          </p:cNvPr>
          <p:cNvSpPr>
            <a:spLocks noGrp="1"/>
          </p:cNvSpPr>
          <p:nvPr/>
        </p:nvSpPr>
        <p:spPr>
          <a:xfrm>
            <a:off x="6705600" y="21050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33" name="Rectangle 32">
            <a:extLst>
              <a:ext uri="{FF2B5EF4-FFF2-40B4-BE49-F238E27FC236}">
                <a16:creationId xmlns:a16="http://schemas.microsoft.com/office/drawing/2014/main" id="{CEB7E7E3-BFD8-425B-9C9E-2A34E8FA1324}"/>
              </a:ext>
            </a:extLst>
          </p:cNvPr>
          <p:cNvSpPr>
            <a:spLocks noGrp="1"/>
          </p:cNvSpPr>
          <p:nvPr/>
        </p:nvSpPr>
        <p:spPr>
          <a:xfrm>
            <a:off x="6705600" y="15049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34" name="Rectangle 33">
            <a:extLst>
              <a:ext uri="{FF2B5EF4-FFF2-40B4-BE49-F238E27FC236}">
                <a16:creationId xmlns:a16="http://schemas.microsoft.com/office/drawing/2014/main" id="{73B8AF2A-EF1D-4E99-A68B-1D01823BFD90}"/>
              </a:ext>
            </a:extLst>
          </p:cNvPr>
          <p:cNvSpPr>
            <a:spLocks noGrp="1"/>
          </p:cNvSpPr>
          <p:nvPr/>
        </p:nvSpPr>
        <p:spPr>
          <a:xfrm>
            <a:off x="6477000" y="14573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35" name="Rectangle 34">
            <a:extLst>
              <a:ext uri="{FF2B5EF4-FFF2-40B4-BE49-F238E27FC236}">
                <a16:creationId xmlns:a16="http://schemas.microsoft.com/office/drawing/2014/main" id="{665AF9B8-D709-472C-AAD7-1A770F21F47A}"/>
              </a:ext>
            </a:extLst>
          </p:cNvPr>
          <p:cNvSpPr>
            <a:spLocks noGrp="1"/>
          </p:cNvSpPr>
          <p:nvPr/>
        </p:nvSpPr>
        <p:spPr>
          <a:xfrm>
            <a:off x="6477000" y="26479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36" name="Rounded Rectangle 35">
            <a:extLst>
              <a:ext uri="{FF2B5EF4-FFF2-40B4-BE49-F238E27FC236}">
                <a16:creationId xmlns:a16="http://schemas.microsoft.com/office/drawing/2014/main" id="{EEF1790D-8468-4129-9829-B01C334FED82}"/>
              </a:ext>
            </a:extLst>
          </p:cNvPr>
          <p:cNvSpPr>
            <a:spLocks noGrp="1"/>
          </p:cNvSpPr>
          <p:nvPr/>
        </p:nvSpPr>
        <p:spPr>
          <a:xfrm>
            <a:off x="6705600" y="1658569"/>
            <a:ext cx="868680" cy="1046531"/>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37" name="Rectangle 36">
            <a:extLst>
              <a:ext uri="{FF2B5EF4-FFF2-40B4-BE49-F238E27FC236}">
                <a16:creationId xmlns:a16="http://schemas.microsoft.com/office/drawing/2014/main" id="{53527A7D-7EAE-490C-9D6C-3C13F3A838F7}"/>
              </a:ext>
            </a:extLst>
          </p:cNvPr>
          <p:cNvSpPr>
            <a:spLocks noGrp="1"/>
          </p:cNvSpPr>
          <p:nvPr/>
        </p:nvSpPr>
        <p:spPr>
          <a:xfrm>
            <a:off x="6667500" y="1496644"/>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0.872</a:t>
            </a:r>
          </a:p>
        </p:txBody>
      </p:sp>
      <p:sp>
        <p:nvSpPr>
          <p:cNvPr id="38" name="Rectangle 37">
            <a:extLst>
              <a:ext uri="{FF2B5EF4-FFF2-40B4-BE49-F238E27FC236}">
                <a16:creationId xmlns:a16="http://schemas.microsoft.com/office/drawing/2014/main" id="{45C2B59B-DDE4-4D41-94AA-AA81735E5C3B}"/>
              </a:ext>
            </a:extLst>
          </p:cNvPr>
          <p:cNvSpPr>
            <a:spLocks noGrp="1"/>
          </p:cNvSpPr>
          <p:nvPr/>
        </p:nvSpPr>
        <p:spPr>
          <a:xfrm>
            <a:off x="668655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39" name="Rounded Rectangle 38">
            <a:extLst>
              <a:ext uri="{FF2B5EF4-FFF2-40B4-BE49-F238E27FC236}">
                <a16:creationId xmlns:a16="http://schemas.microsoft.com/office/drawing/2014/main" id="{D40656F4-CD4D-475F-A97B-DCD765EFA482}"/>
              </a:ext>
            </a:extLst>
          </p:cNvPr>
          <p:cNvSpPr>
            <a:spLocks noGrp="1"/>
          </p:cNvSpPr>
          <p:nvPr/>
        </p:nvSpPr>
        <p:spPr>
          <a:xfrm>
            <a:off x="7669530" y="1772583"/>
            <a:ext cx="868680" cy="932517"/>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40" name="Rectangle 39">
            <a:extLst>
              <a:ext uri="{FF2B5EF4-FFF2-40B4-BE49-F238E27FC236}">
                <a16:creationId xmlns:a16="http://schemas.microsoft.com/office/drawing/2014/main" id="{92E0504E-2095-4FB5-90D8-ED117B6AA8AD}"/>
              </a:ext>
            </a:extLst>
          </p:cNvPr>
          <p:cNvSpPr>
            <a:spLocks noGrp="1"/>
          </p:cNvSpPr>
          <p:nvPr/>
        </p:nvSpPr>
        <p:spPr>
          <a:xfrm>
            <a:off x="7631430" y="1610658"/>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0.777</a:t>
            </a:r>
          </a:p>
        </p:txBody>
      </p:sp>
      <p:sp>
        <p:nvSpPr>
          <p:cNvPr id="41" name="Rectangle 40">
            <a:extLst>
              <a:ext uri="{FF2B5EF4-FFF2-40B4-BE49-F238E27FC236}">
                <a16:creationId xmlns:a16="http://schemas.microsoft.com/office/drawing/2014/main" id="{743FBB40-6AE8-4E42-838D-E610FDB2AED5}"/>
              </a:ext>
            </a:extLst>
          </p:cNvPr>
          <p:cNvSpPr>
            <a:spLocks noGrp="1"/>
          </p:cNvSpPr>
          <p:nvPr/>
        </p:nvSpPr>
        <p:spPr>
          <a:xfrm>
            <a:off x="765048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42" name="Rounded Rectangle 41">
            <a:extLst>
              <a:ext uri="{FF2B5EF4-FFF2-40B4-BE49-F238E27FC236}">
                <a16:creationId xmlns:a16="http://schemas.microsoft.com/office/drawing/2014/main" id="{674B5FC0-5C26-4CA7-8BBC-344BA5578A90}"/>
              </a:ext>
            </a:extLst>
          </p:cNvPr>
          <p:cNvSpPr>
            <a:spLocks noGrp="1"/>
          </p:cNvSpPr>
          <p:nvPr/>
        </p:nvSpPr>
        <p:spPr>
          <a:xfrm>
            <a:off x="8633460" y="1674171"/>
            <a:ext cx="868680" cy="1030929"/>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43" name="Rectangle 42">
            <a:extLst>
              <a:ext uri="{FF2B5EF4-FFF2-40B4-BE49-F238E27FC236}">
                <a16:creationId xmlns:a16="http://schemas.microsoft.com/office/drawing/2014/main" id="{8E748F9F-8516-4AF1-B6DB-EB2054CD6A6D}"/>
              </a:ext>
            </a:extLst>
          </p:cNvPr>
          <p:cNvSpPr>
            <a:spLocks noGrp="1"/>
          </p:cNvSpPr>
          <p:nvPr/>
        </p:nvSpPr>
        <p:spPr>
          <a:xfrm>
            <a:off x="8595360" y="1512246"/>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0.859</a:t>
            </a:r>
          </a:p>
        </p:txBody>
      </p:sp>
      <p:sp>
        <p:nvSpPr>
          <p:cNvPr id="44" name="Rectangle 43">
            <a:extLst>
              <a:ext uri="{FF2B5EF4-FFF2-40B4-BE49-F238E27FC236}">
                <a16:creationId xmlns:a16="http://schemas.microsoft.com/office/drawing/2014/main" id="{37568402-3F32-4A5E-8917-AD6FC271F729}"/>
              </a:ext>
            </a:extLst>
          </p:cNvPr>
          <p:cNvSpPr>
            <a:spLocks noGrp="1"/>
          </p:cNvSpPr>
          <p:nvPr/>
        </p:nvSpPr>
        <p:spPr>
          <a:xfrm>
            <a:off x="861441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45" name="Rounded Rectangle 44">
            <a:extLst>
              <a:ext uri="{FF2B5EF4-FFF2-40B4-BE49-F238E27FC236}">
                <a16:creationId xmlns:a16="http://schemas.microsoft.com/office/drawing/2014/main" id="{A69582E3-98C1-40F4-85C9-6EACF5CD0C42}"/>
              </a:ext>
            </a:extLst>
          </p:cNvPr>
          <p:cNvSpPr>
            <a:spLocks noGrp="1"/>
          </p:cNvSpPr>
          <p:nvPr/>
        </p:nvSpPr>
        <p:spPr>
          <a:xfrm>
            <a:off x="9597390" y="1718577"/>
            <a:ext cx="868680" cy="986523"/>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46" name="Rectangle 45">
            <a:extLst>
              <a:ext uri="{FF2B5EF4-FFF2-40B4-BE49-F238E27FC236}">
                <a16:creationId xmlns:a16="http://schemas.microsoft.com/office/drawing/2014/main" id="{8EB42FA8-B1C2-4C8D-9498-81860C7DDFCD}"/>
              </a:ext>
            </a:extLst>
          </p:cNvPr>
          <p:cNvSpPr>
            <a:spLocks noGrp="1"/>
          </p:cNvSpPr>
          <p:nvPr/>
        </p:nvSpPr>
        <p:spPr>
          <a:xfrm>
            <a:off x="9559290" y="1556652"/>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0.822</a:t>
            </a:r>
          </a:p>
        </p:txBody>
      </p:sp>
      <p:sp>
        <p:nvSpPr>
          <p:cNvPr id="47" name="Rectangle 46">
            <a:extLst>
              <a:ext uri="{FF2B5EF4-FFF2-40B4-BE49-F238E27FC236}">
                <a16:creationId xmlns:a16="http://schemas.microsoft.com/office/drawing/2014/main" id="{D4899FA3-05F9-4462-84E0-E47A66350298}"/>
              </a:ext>
            </a:extLst>
          </p:cNvPr>
          <p:cNvSpPr>
            <a:spLocks noGrp="1"/>
          </p:cNvSpPr>
          <p:nvPr/>
        </p:nvSpPr>
        <p:spPr>
          <a:xfrm>
            <a:off x="957834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48" name="Rounded Rectangle 47">
            <a:extLst>
              <a:ext uri="{FF2B5EF4-FFF2-40B4-BE49-F238E27FC236}">
                <a16:creationId xmlns:a16="http://schemas.microsoft.com/office/drawing/2014/main" id="{A8BBDB81-C62E-4224-8BD6-83ED23BC02A2}"/>
              </a:ext>
            </a:extLst>
          </p:cNvPr>
          <p:cNvSpPr>
            <a:spLocks noGrp="1"/>
          </p:cNvSpPr>
          <p:nvPr/>
        </p:nvSpPr>
        <p:spPr>
          <a:xfrm>
            <a:off x="10561320" y="1567358"/>
            <a:ext cx="868680" cy="1137742"/>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49" name="Rectangle 48">
            <a:extLst>
              <a:ext uri="{FF2B5EF4-FFF2-40B4-BE49-F238E27FC236}">
                <a16:creationId xmlns:a16="http://schemas.microsoft.com/office/drawing/2014/main" id="{E6EF579F-C6B0-40E4-AE38-07B197416594}"/>
              </a:ext>
            </a:extLst>
          </p:cNvPr>
          <p:cNvSpPr>
            <a:spLocks noGrp="1"/>
          </p:cNvSpPr>
          <p:nvPr/>
        </p:nvSpPr>
        <p:spPr>
          <a:xfrm>
            <a:off x="10523220" y="1405433"/>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0.948</a:t>
            </a:r>
          </a:p>
        </p:txBody>
      </p:sp>
      <p:sp>
        <p:nvSpPr>
          <p:cNvPr id="50" name="Rectangle 49">
            <a:extLst>
              <a:ext uri="{FF2B5EF4-FFF2-40B4-BE49-F238E27FC236}">
                <a16:creationId xmlns:a16="http://schemas.microsoft.com/office/drawing/2014/main" id="{7FF24E9F-BC71-472F-9D05-208D99124880}"/>
              </a:ext>
            </a:extLst>
          </p:cNvPr>
          <p:cNvSpPr>
            <a:spLocks noGrp="1"/>
          </p:cNvSpPr>
          <p:nvPr/>
        </p:nvSpPr>
        <p:spPr>
          <a:xfrm>
            <a:off x="1054227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51" name="Rounded Rectangle 50">
            <a:extLst>
              <a:ext uri="{FF2B5EF4-FFF2-40B4-BE49-F238E27FC236}">
                <a16:creationId xmlns:a16="http://schemas.microsoft.com/office/drawing/2014/main" id="{AECD8386-03EC-4512-8897-FF385E1D7D92}"/>
              </a:ext>
            </a:extLst>
          </p:cNvPr>
          <p:cNvSpPr>
            <a:spLocks noGrp="1"/>
          </p:cNvSpPr>
          <p:nvPr/>
        </p:nvSpPr>
        <p:spPr>
          <a:xfrm>
            <a:off x="552450" y="33147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52" name="Rectangle 51">
            <a:extLst>
              <a:ext uri="{FF2B5EF4-FFF2-40B4-BE49-F238E27FC236}">
                <a16:creationId xmlns:a16="http://schemas.microsoft.com/office/drawing/2014/main" id="{6010F8A1-75CB-440B-840A-9EE1E340CFA9}"/>
              </a:ext>
            </a:extLst>
          </p:cNvPr>
          <p:cNvSpPr>
            <a:spLocks noGrp="1"/>
          </p:cNvSpPr>
          <p:nvPr/>
        </p:nvSpPr>
        <p:spPr>
          <a:xfrm>
            <a:off x="685800" y="34099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IAM</a:t>
            </a:r>
          </a:p>
        </p:txBody>
      </p:sp>
      <p:sp>
        <p:nvSpPr>
          <p:cNvPr id="53" name="Rectangle 52">
            <a:extLst>
              <a:ext uri="{FF2B5EF4-FFF2-40B4-BE49-F238E27FC236}">
                <a16:creationId xmlns:a16="http://schemas.microsoft.com/office/drawing/2014/main" id="{5DDFB107-7346-4729-938C-36A5C511EDAC}"/>
              </a:ext>
            </a:extLst>
          </p:cNvPr>
          <p:cNvSpPr>
            <a:spLocks noGrp="1"/>
          </p:cNvSpPr>
          <p:nvPr/>
        </p:nvSpPr>
        <p:spPr>
          <a:xfrm>
            <a:off x="876300" y="50292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54" name="Rectangle 53">
            <a:extLst>
              <a:ext uri="{FF2B5EF4-FFF2-40B4-BE49-F238E27FC236}">
                <a16:creationId xmlns:a16="http://schemas.microsoft.com/office/drawing/2014/main" id="{02EBA4ED-DB27-4944-AE3D-CB378EE67F06}"/>
              </a:ext>
            </a:extLst>
          </p:cNvPr>
          <p:cNvSpPr>
            <a:spLocks noGrp="1"/>
          </p:cNvSpPr>
          <p:nvPr/>
        </p:nvSpPr>
        <p:spPr>
          <a:xfrm>
            <a:off x="876300" y="44291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55" name="Rectangle 54">
            <a:extLst>
              <a:ext uri="{FF2B5EF4-FFF2-40B4-BE49-F238E27FC236}">
                <a16:creationId xmlns:a16="http://schemas.microsoft.com/office/drawing/2014/main" id="{0895A833-AE46-49A2-999C-1A37A4AD4A26}"/>
              </a:ext>
            </a:extLst>
          </p:cNvPr>
          <p:cNvSpPr>
            <a:spLocks noGrp="1"/>
          </p:cNvSpPr>
          <p:nvPr/>
        </p:nvSpPr>
        <p:spPr>
          <a:xfrm>
            <a:off x="876300" y="38290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56" name="Rectangle 55">
            <a:extLst>
              <a:ext uri="{FF2B5EF4-FFF2-40B4-BE49-F238E27FC236}">
                <a16:creationId xmlns:a16="http://schemas.microsoft.com/office/drawing/2014/main" id="{769FE93E-4026-42B6-BC48-7C645D443D26}"/>
              </a:ext>
            </a:extLst>
          </p:cNvPr>
          <p:cNvSpPr>
            <a:spLocks noGrp="1"/>
          </p:cNvSpPr>
          <p:nvPr/>
        </p:nvSpPr>
        <p:spPr>
          <a:xfrm>
            <a:off x="647700" y="37814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57" name="Rectangle 56">
            <a:extLst>
              <a:ext uri="{FF2B5EF4-FFF2-40B4-BE49-F238E27FC236}">
                <a16:creationId xmlns:a16="http://schemas.microsoft.com/office/drawing/2014/main" id="{BD2FC343-4E1B-4243-BB9E-B39B94C58335}"/>
              </a:ext>
            </a:extLst>
          </p:cNvPr>
          <p:cNvSpPr>
            <a:spLocks noGrp="1"/>
          </p:cNvSpPr>
          <p:nvPr/>
        </p:nvSpPr>
        <p:spPr>
          <a:xfrm>
            <a:off x="647700" y="49720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58" name="Rounded Rectangle 57">
            <a:extLst>
              <a:ext uri="{FF2B5EF4-FFF2-40B4-BE49-F238E27FC236}">
                <a16:creationId xmlns:a16="http://schemas.microsoft.com/office/drawing/2014/main" id="{8BEB6130-000D-480D-89B8-0A70C0693437}"/>
              </a:ext>
            </a:extLst>
          </p:cNvPr>
          <p:cNvSpPr>
            <a:spLocks noGrp="1"/>
          </p:cNvSpPr>
          <p:nvPr/>
        </p:nvSpPr>
        <p:spPr>
          <a:xfrm>
            <a:off x="876300" y="4322312"/>
            <a:ext cx="868680" cy="706888"/>
          </a:xfrm>
          <a:prstGeom prst="roundRect">
            <a:avLst>
              <a:gd name="adj" fmla="val 4042"/>
            </a:avLst>
          </a:prstGeom>
          <a:solidFill>
            <a:srgbClr val="B9D7D2"/>
          </a:solidFill>
          <a:ln w="0">
            <a:solidFill>
              <a:srgbClr val="000000">
                <a:alpha val="0"/>
              </a:srgbClr>
            </a:solidFill>
            <a:prstDash val="solid"/>
          </a:ln>
        </p:spPr>
        <p:txBody>
          <a:bodyPr/>
          <a:lstStyle/>
          <a:p>
            <a:endParaRPr/>
          </a:p>
        </p:txBody>
      </p:sp>
      <p:sp>
        <p:nvSpPr>
          <p:cNvPr id="59" name="Rectangle 58">
            <a:extLst>
              <a:ext uri="{FF2B5EF4-FFF2-40B4-BE49-F238E27FC236}">
                <a16:creationId xmlns:a16="http://schemas.microsoft.com/office/drawing/2014/main" id="{149E6EB4-185B-4086-9BB4-B4463D28C28F}"/>
              </a:ext>
            </a:extLst>
          </p:cNvPr>
          <p:cNvSpPr>
            <a:spLocks noGrp="1"/>
          </p:cNvSpPr>
          <p:nvPr/>
        </p:nvSpPr>
        <p:spPr>
          <a:xfrm>
            <a:off x="838200" y="4160387"/>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0.589</a:t>
            </a:r>
          </a:p>
        </p:txBody>
      </p:sp>
      <p:sp>
        <p:nvSpPr>
          <p:cNvPr id="60" name="Rectangle 59">
            <a:extLst>
              <a:ext uri="{FF2B5EF4-FFF2-40B4-BE49-F238E27FC236}">
                <a16:creationId xmlns:a16="http://schemas.microsoft.com/office/drawing/2014/main" id="{0A792151-2684-427D-9404-18A6F4E1B27E}"/>
              </a:ext>
            </a:extLst>
          </p:cNvPr>
          <p:cNvSpPr>
            <a:spLocks noGrp="1"/>
          </p:cNvSpPr>
          <p:nvPr/>
        </p:nvSpPr>
        <p:spPr>
          <a:xfrm>
            <a:off x="85725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61" name="Rounded Rectangle 60">
            <a:extLst>
              <a:ext uri="{FF2B5EF4-FFF2-40B4-BE49-F238E27FC236}">
                <a16:creationId xmlns:a16="http://schemas.microsoft.com/office/drawing/2014/main" id="{8727CD94-B122-4CC0-8EF8-8B3A17732ED9}"/>
              </a:ext>
            </a:extLst>
          </p:cNvPr>
          <p:cNvSpPr>
            <a:spLocks noGrp="1"/>
          </p:cNvSpPr>
          <p:nvPr/>
        </p:nvSpPr>
        <p:spPr>
          <a:xfrm>
            <a:off x="1840230" y="4126687"/>
            <a:ext cx="868680" cy="902513"/>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62" name="Rectangle 61">
            <a:extLst>
              <a:ext uri="{FF2B5EF4-FFF2-40B4-BE49-F238E27FC236}">
                <a16:creationId xmlns:a16="http://schemas.microsoft.com/office/drawing/2014/main" id="{1FA04383-D94D-4903-97AE-16F07BE5CCD5}"/>
              </a:ext>
            </a:extLst>
          </p:cNvPr>
          <p:cNvSpPr>
            <a:spLocks noGrp="1"/>
          </p:cNvSpPr>
          <p:nvPr/>
        </p:nvSpPr>
        <p:spPr>
          <a:xfrm>
            <a:off x="1802130" y="3964762"/>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0.752</a:t>
            </a:r>
          </a:p>
        </p:txBody>
      </p:sp>
      <p:sp>
        <p:nvSpPr>
          <p:cNvPr id="63" name="Rectangle 62">
            <a:extLst>
              <a:ext uri="{FF2B5EF4-FFF2-40B4-BE49-F238E27FC236}">
                <a16:creationId xmlns:a16="http://schemas.microsoft.com/office/drawing/2014/main" id="{5AE95634-8C2C-49BD-ADB8-74FF60804674}"/>
              </a:ext>
            </a:extLst>
          </p:cNvPr>
          <p:cNvSpPr>
            <a:spLocks noGrp="1"/>
          </p:cNvSpPr>
          <p:nvPr/>
        </p:nvSpPr>
        <p:spPr>
          <a:xfrm>
            <a:off x="182118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64" name="Rounded Rectangle 63">
            <a:extLst>
              <a:ext uri="{FF2B5EF4-FFF2-40B4-BE49-F238E27FC236}">
                <a16:creationId xmlns:a16="http://schemas.microsoft.com/office/drawing/2014/main" id="{069EE8D3-E8A0-4F37-B4AA-0DB7FD173143}"/>
              </a:ext>
            </a:extLst>
          </p:cNvPr>
          <p:cNvSpPr>
            <a:spLocks noGrp="1"/>
          </p:cNvSpPr>
          <p:nvPr/>
        </p:nvSpPr>
        <p:spPr>
          <a:xfrm>
            <a:off x="2804160" y="3891458"/>
            <a:ext cx="868680" cy="1137742"/>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65" name="Rectangle 64">
            <a:extLst>
              <a:ext uri="{FF2B5EF4-FFF2-40B4-BE49-F238E27FC236}">
                <a16:creationId xmlns:a16="http://schemas.microsoft.com/office/drawing/2014/main" id="{4FB07E6C-17E8-4B88-8AEA-9940B35D1103}"/>
              </a:ext>
            </a:extLst>
          </p:cNvPr>
          <p:cNvSpPr>
            <a:spLocks noGrp="1"/>
          </p:cNvSpPr>
          <p:nvPr/>
        </p:nvSpPr>
        <p:spPr>
          <a:xfrm>
            <a:off x="2766060" y="3729533"/>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0.948</a:t>
            </a:r>
          </a:p>
        </p:txBody>
      </p:sp>
      <p:sp>
        <p:nvSpPr>
          <p:cNvPr id="66" name="Rectangle 65">
            <a:extLst>
              <a:ext uri="{FF2B5EF4-FFF2-40B4-BE49-F238E27FC236}">
                <a16:creationId xmlns:a16="http://schemas.microsoft.com/office/drawing/2014/main" id="{F4EFC1A0-FDAE-48C7-A4CE-5A1C4DE035B9}"/>
              </a:ext>
            </a:extLst>
          </p:cNvPr>
          <p:cNvSpPr>
            <a:spLocks noGrp="1"/>
          </p:cNvSpPr>
          <p:nvPr/>
        </p:nvSpPr>
        <p:spPr>
          <a:xfrm>
            <a:off x="278511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67" name="Rounded Rectangle 66">
            <a:extLst>
              <a:ext uri="{FF2B5EF4-FFF2-40B4-BE49-F238E27FC236}">
                <a16:creationId xmlns:a16="http://schemas.microsoft.com/office/drawing/2014/main" id="{CCC889D4-7123-414A-8504-8EE0CB775933}"/>
              </a:ext>
            </a:extLst>
          </p:cNvPr>
          <p:cNvSpPr>
            <a:spLocks noGrp="1"/>
          </p:cNvSpPr>
          <p:nvPr/>
        </p:nvSpPr>
        <p:spPr>
          <a:xfrm>
            <a:off x="3768090" y="4003072"/>
            <a:ext cx="868680" cy="1026128"/>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68" name="Rectangle 67">
            <a:extLst>
              <a:ext uri="{FF2B5EF4-FFF2-40B4-BE49-F238E27FC236}">
                <a16:creationId xmlns:a16="http://schemas.microsoft.com/office/drawing/2014/main" id="{E9C8CF91-DD13-452A-A38D-C0717BA99BCB}"/>
              </a:ext>
            </a:extLst>
          </p:cNvPr>
          <p:cNvSpPr>
            <a:spLocks noGrp="1"/>
          </p:cNvSpPr>
          <p:nvPr/>
        </p:nvSpPr>
        <p:spPr>
          <a:xfrm>
            <a:off x="3729990" y="3841147"/>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0.855</a:t>
            </a:r>
          </a:p>
        </p:txBody>
      </p:sp>
      <p:sp>
        <p:nvSpPr>
          <p:cNvPr id="69" name="Rectangle 68">
            <a:extLst>
              <a:ext uri="{FF2B5EF4-FFF2-40B4-BE49-F238E27FC236}">
                <a16:creationId xmlns:a16="http://schemas.microsoft.com/office/drawing/2014/main" id="{262C6E9A-F5B2-4D94-B677-FCEAA79FDCE7}"/>
              </a:ext>
            </a:extLst>
          </p:cNvPr>
          <p:cNvSpPr>
            <a:spLocks noGrp="1"/>
          </p:cNvSpPr>
          <p:nvPr/>
        </p:nvSpPr>
        <p:spPr>
          <a:xfrm>
            <a:off x="374904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70" name="Rounded Rectangle 69">
            <a:extLst>
              <a:ext uri="{FF2B5EF4-FFF2-40B4-BE49-F238E27FC236}">
                <a16:creationId xmlns:a16="http://schemas.microsoft.com/office/drawing/2014/main" id="{67B2DDEA-39E8-4C50-9843-D37C3C38D127}"/>
              </a:ext>
            </a:extLst>
          </p:cNvPr>
          <p:cNvSpPr>
            <a:spLocks noGrp="1"/>
          </p:cNvSpPr>
          <p:nvPr/>
        </p:nvSpPr>
        <p:spPr>
          <a:xfrm>
            <a:off x="4732020" y="3829050"/>
            <a:ext cx="868680" cy="1200150"/>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71" name="Rectangle 70">
            <a:extLst>
              <a:ext uri="{FF2B5EF4-FFF2-40B4-BE49-F238E27FC236}">
                <a16:creationId xmlns:a16="http://schemas.microsoft.com/office/drawing/2014/main" id="{FB1999AD-2758-4246-8DDB-483364C87280}"/>
              </a:ext>
            </a:extLst>
          </p:cNvPr>
          <p:cNvSpPr>
            <a:spLocks noGrp="1"/>
          </p:cNvSpPr>
          <p:nvPr/>
        </p:nvSpPr>
        <p:spPr>
          <a:xfrm>
            <a:off x="4693920" y="3667125"/>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1.000</a:t>
            </a:r>
          </a:p>
        </p:txBody>
      </p:sp>
      <p:sp>
        <p:nvSpPr>
          <p:cNvPr id="72" name="Rectangle 71">
            <a:extLst>
              <a:ext uri="{FF2B5EF4-FFF2-40B4-BE49-F238E27FC236}">
                <a16:creationId xmlns:a16="http://schemas.microsoft.com/office/drawing/2014/main" id="{13823DA4-5AEA-4EFC-9B24-79AEC3AB8C48}"/>
              </a:ext>
            </a:extLst>
          </p:cNvPr>
          <p:cNvSpPr>
            <a:spLocks noGrp="1"/>
          </p:cNvSpPr>
          <p:nvPr/>
        </p:nvSpPr>
        <p:spPr>
          <a:xfrm>
            <a:off x="471297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73" name="Rounded Rectangle 72">
            <a:extLst>
              <a:ext uri="{FF2B5EF4-FFF2-40B4-BE49-F238E27FC236}">
                <a16:creationId xmlns:a16="http://schemas.microsoft.com/office/drawing/2014/main" id="{E392FBF8-ED06-48F5-A566-B8A3B973E4A9}"/>
              </a:ext>
            </a:extLst>
          </p:cNvPr>
          <p:cNvSpPr>
            <a:spLocks noGrp="1"/>
          </p:cNvSpPr>
          <p:nvPr/>
        </p:nvSpPr>
        <p:spPr>
          <a:xfrm>
            <a:off x="6381750" y="33147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74" name="Rectangle 73">
            <a:extLst>
              <a:ext uri="{FF2B5EF4-FFF2-40B4-BE49-F238E27FC236}">
                <a16:creationId xmlns:a16="http://schemas.microsoft.com/office/drawing/2014/main" id="{AF3502C5-1465-41E7-828F-54ED4F663AF0}"/>
              </a:ext>
            </a:extLst>
          </p:cNvPr>
          <p:cNvSpPr>
            <a:spLocks noGrp="1"/>
          </p:cNvSpPr>
          <p:nvPr/>
        </p:nvSpPr>
        <p:spPr>
          <a:xfrm>
            <a:off x="6515100" y="34099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Washington</a:t>
            </a:r>
          </a:p>
        </p:txBody>
      </p:sp>
      <p:sp>
        <p:nvSpPr>
          <p:cNvPr id="75" name="Rectangle 74">
            <a:extLst>
              <a:ext uri="{FF2B5EF4-FFF2-40B4-BE49-F238E27FC236}">
                <a16:creationId xmlns:a16="http://schemas.microsoft.com/office/drawing/2014/main" id="{29FB7BD7-D9AE-4ED2-98E9-D82A24E00CF8}"/>
              </a:ext>
            </a:extLst>
          </p:cNvPr>
          <p:cNvSpPr>
            <a:spLocks noGrp="1"/>
          </p:cNvSpPr>
          <p:nvPr/>
        </p:nvSpPr>
        <p:spPr>
          <a:xfrm>
            <a:off x="6705600" y="50292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76" name="Rectangle 75">
            <a:extLst>
              <a:ext uri="{FF2B5EF4-FFF2-40B4-BE49-F238E27FC236}">
                <a16:creationId xmlns:a16="http://schemas.microsoft.com/office/drawing/2014/main" id="{45B39B34-433B-4FA2-8421-1EDC6822C821}"/>
              </a:ext>
            </a:extLst>
          </p:cNvPr>
          <p:cNvSpPr>
            <a:spLocks noGrp="1"/>
          </p:cNvSpPr>
          <p:nvPr/>
        </p:nvSpPr>
        <p:spPr>
          <a:xfrm>
            <a:off x="6705600" y="44291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77" name="Rectangle 76">
            <a:extLst>
              <a:ext uri="{FF2B5EF4-FFF2-40B4-BE49-F238E27FC236}">
                <a16:creationId xmlns:a16="http://schemas.microsoft.com/office/drawing/2014/main" id="{56709D43-B797-4761-82F3-B075F2B38C70}"/>
              </a:ext>
            </a:extLst>
          </p:cNvPr>
          <p:cNvSpPr>
            <a:spLocks noGrp="1"/>
          </p:cNvSpPr>
          <p:nvPr/>
        </p:nvSpPr>
        <p:spPr>
          <a:xfrm>
            <a:off x="6705600" y="38290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78" name="Rectangle 77">
            <a:extLst>
              <a:ext uri="{FF2B5EF4-FFF2-40B4-BE49-F238E27FC236}">
                <a16:creationId xmlns:a16="http://schemas.microsoft.com/office/drawing/2014/main" id="{165B54CE-10CF-4BFB-9B84-CA042F923860}"/>
              </a:ext>
            </a:extLst>
          </p:cNvPr>
          <p:cNvSpPr>
            <a:spLocks noGrp="1"/>
          </p:cNvSpPr>
          <p:nvPr/>
        </p:nvSpPr>
        <p:spPr>
          <a:xfrm>
            <a:off x="6477000" y="37814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79" name="Rectangle 78">
            <a:extLst>
              <a:ext uri="{FF2B5EF4-FFF2-40B4-BE49-F238E27FC236}">
                <a16:creationId xmlns:a16="http://schemas.microsoft.com/office/drawing/2014/main" id="{76FE67B2-DB5B-405A-BC07-796A5AFE0E22}"/>
              </a:ext>
            </a:extLst>
          </p:cNvPr>
          <p:cNvSpPr>
            <a:spLocks noGrp="1"/>
          </p:cNvSpPr>
          <p:nvPr/>
        </p:nvSpPr>
        <p:spPr>
          <a:xfrm>
            <a:off x="6477000" y="49720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80" name="Rounded Rectangle 79">
            <a:extLst>
              <a:ext uri="{FF2B5EF4-FFF2-40B4-BE49-F238E27FC236}">
                <a16:creationId xmlns:a16="http://schemas.microsoft.com/office/drawing/2014/main" id="{EF77C1A4-98CD-4660-B108-0C216DB10D05}"/>
              </a:ext>
            </a:extLst>
          </p:cNvPr>
          <p:cNvSpPr>
            <a:spLocks noGrp="1"/>
          </p:cNvSpPr>
          <p:nvPr/>
        </p:nvSpPr>
        <p:spPr>
          <a:xfrm>
            <a:off x="6705600" y="4245502"/>
            <a:ext cx="868680" cy="783698"/>
          </a:xfrm>
          <a:prstGeom prst="roundRect">
            <a:avLst>
              <a:gd name="adj" fmla="val 3646"/>
            </a:avLst>
          </a:prstGeom>
          <a:solidFill>
            <a:srgbClr val="B9D7D2"/>
          </a:solidFill>
          <a:ln w="0">
            <a:solidFill>
              <a:srgbClr val="000000">
                <a:alpha val="0"/>
              </a:srgbClr>
            </a:solidFill>
            <a:prstDash val="solid"/>
          </a:ln>
        </p:spPr>
        <p:txBody>
          <a:bodyPr/>
          <a:lstStyle/>
          <a:p>
            <a:endParaRPr/>
          </a:p>
        </p:txBody>
      </p:sp>
      <p:sp>
        <p:nvSpPr>
          <p:cNvPr id="81" name="Rectangle 80">
            <a:extLst>
              <a:ext uri="{FF2B5EF4-FFF2-40B4-BE49-F238E27FC236}">
                <a16:creationId xmlns:a16="http://schemas.microsoft.com/office/drawing/2014/main" id="{34973896-7A15-442F-9215-3C2F09CFCCEE}"/>
              </a:ext>
            </a:extLst>
          </p:cNvPr>
          <p:cNvSpPr>
            <a:spLocks noGrp="1"/>
          </p:cNvSpPr>
          <p:nvPr/>
        </p:nvSpPr>
        <p:spPr>
          <a:xfrm>
            <a:off x="6667500" y="4083577"/>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0.653</a:t>
            </a:r>
          </a:p>
        </p:txBody>
      </p:sp>
      <p:sp>
        <p:nvSpPr>
          <p:cNvPr id="82" name="Rectangle 81">
            <a:extLst>
              <a:ext uri="{FF2B5EF4-FFF2-40B4-BE49-F238E27FC236}">
                <a16:creationId xmlns:a16="http://schemas.microsoft.com/office/drawing/2014/main" id="{BB6111C2-1A22-4732-BC8D-983B6164CC23}"/>
              </a:ext>
            </a:extLst>
          </p:cNvPr>
          <p:cNvSpPr>
            <a:spLocks noGrp="1"/>
          </p:cNvSpPr>
          <p:nvPr/>
        </p:nvSpPr>
        <p:spPr>
          <a:xfrm>
            <a:off x="668655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83" name="Rounded Rectangle 82">
            <a:extLst>
              <a:ext uri="{FF2B5EF4-FFF2-40B4-BE49-F238E27FC236}">
                <a16:creationId xmlns:a16="http://schemas.microsoft.com/office/drawing/2014/main" id="{DE4B5B39-A5E1-4438-A96C-F989CEDC9429}"/>
              </a:ext>
            </a:extLst>
          </p:cNvPr>
          <p:cNvSpPr>
            <a:spLocks noGrp="1"/>
          </p:cNvSpPr>
          <p:nvPr/>
        </p:nvSpPr>
        <p:spPr>
          <a:xfrm>
            <a:off x="7669530" y="4175893"/>
            <a:ext cx="868680" cy="853307"/>
          </a:xfrm>
          <a:prstGeom prst="roundRect">
            <a:avLst>
              <a:gd name="adj" fmla="val 3349"/>
            </a:avLst>
          </a:prstGeom>
          <a:solidFill>
            <a:srgbClr val="B9D7D2"/>
          </a:solidFill>
          <a:ln w="0">
            <a:solidFill>
              <a:srgbClr val="000000">
                <a:alpha val="0"/>
              </a:srgbClr>
            </a:solidFill>
            <a:prstDash val="solid"/>
          </a:ln>
        </p:spPr>
        <p:txBody>
          <a:bodyPr/>
          <a:lstStyle/>
          <a:p>
            <a:endParaRPr/>
          </a:p>
        </p:txBody>
      </p:sp>
      <p:sp>
        <p:nvSpPr>
          <p:cNvPr id="84" name="Rectangle 83">
            <a:extLst>
              <a:ext uri="{FF2B5EF4-FFF2-40B4-BE49-F238E27FC236}">
                <a16:creationId xmlns:a16="http://schemas.microsoft.com/office/drawing/2014/main" id="{2C48A6A8-351D-4666-A6C3-0CF06594BE2A}"/>
              </a:ext>
            </a:extLst>
          </p:cNvPr>
          <p:cNvSpPr>
            <a:spLocks noGrp="1"/>
          </p:cNvSpPr>
          <p:nvPr/>
        </p:nvSpPr>
        <p:spPr>
          <a:xfrm>
            <a:off x="7631430" y="4013968"/>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0.711</a:t>
            </a:r>
          </a:p>
        </p:txBody>
      </p:sp>
      <p:sp>
        <p:nvSpPr>
          <p:cNvPr id="85" name="Rectangle 84">
            <a:extLst>
              <a:ext uri="{FF2B5EF4-FFF2-40B4-BE49-F238E27FC236}">
                <a16:creationId xmlns:a16="http://schemas.microsoft.com/office/drawing/2014/main" id="{7EBA76F3-6214-4130-A94E-B885B56F8BA0}"/>
              </a:ext>
            </a:extLst>
          </p:cNvPr>
          <p:cNvSpPr>
            <a:spLocks noGrp="1"/>
          </p:cNvSpPr>
          <p:nvPr/>
        </p:nvSpPr>
        <p:spPr>
          <a:xfrm>
            <a:off x="765048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86" name="Rounded Rectangle 85">
            <a:extLst>
              <a:ext uri="{FF2B5EF4-FFF2-40B4-BE49-F238E27FC236}">
                <a16:creationId xmlns:a16="http://schemas.microsoft.com/office/drawing/2014/main" id="{0A2D49FF-E832-44F8-99E0-8F81C5BDBD5E}"/>
              </a:ext>
            </a:extLst>
          </p:cNvPr>
          <p:cNvSpPr>
            <a:spLocks noGrp="1"/>
          </p:cNvSpPr>
          <p:nvPr/>
        </p:nvSpPr>
        <p:spPr>
          <a:xfrm>
            <a:off x="8633460" y="4048677"/>
            <a:ext cx="868680" cy="980523"/>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87" name="Rectangle 86">
            <a:extLst>
              <a:ext uri="{FF2B5EF4-FFF2-40B4-BE49-F238E27FC236}">
                <a16:creationId xmlns:a16="http://schemas.microsoft.com/office/drawing/2014/main" id="{F39B48B1-2968-4F19-9889-7EC6D6EC37C9}"/>
              </a:ext>
            </a:extLst>
          </p:cNvPr>
          <p:cNvSpPr>
            <a:spLocks noGrp="1"/>
          </p:cNvSpPr>
          <p:nvPr/>
        </p:nvSpPr>
        <p:spPr>
          <a:xfrm>
            <a:off x="8595360" y="3886752"/>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0.817</a:t>
            </a:r>
          </a:p>
        </p:txBody>
      </p:sp>
      <p:sp>
        <p:nvSpPr>
          <p:cNvPr id="88" name="Rectangle 87">
            <a:extLst>
              <a:ext uri="{FF2B5EF4-FFF2-40B4-BE49-F238E27FC236}">
                <a16:creationId xmlns:a16="http://schemas.microsoft.com/office/drawing/2014/main" id="{DCFC951A-6DD6-4FCA-BA26-260ADA68143F}"/>
              </a:ext>
            </a:extLst>
          </p:cNvPr>
          <p:cNvSpPr>
            <a:spLocks noGrp="1"/>
          </p:cNvSpPr>
          <p:nvPr/>
        </p:nvSpPr>
        <p:spPr>
          <a:xfrm>
            <a:off x="861441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89" name="Rounded Rectangle 88">
            <a:extLst>
              <a:ext uri="{FF2B5EF4-FFF2-40B4-BE49-F238E27FC236}">
                <a16:creationId xmlns:a16="http://schemas.microsoft.com/office/drawing/2014/main" id="{7616B6DC-BCC4-4AFE-950D-E0A89518675F}"/>
              </a:ext>
            </a:extLst>
          </p:cNvPr>
          <p:cNvSpPr>
            <a:spLocks noGrp="1"/>
          </p:cNvSpPr>
          <p:nvPr/>
        </p:nvSpPr>
        <p:spPr>
          <a:xfrm>
            <a:off x="9597390" y="3969468"/>
            <a:ext cx="868680" cy="1059732"/>
          </a:xfrm>
          <a:prstGeom prst="roundRect">
            <a:avLst>
              <a:gd name="adj" fmla="val 3289"/>
            </a:avLst>
          </a:prstGeom>
          <a:solidFill>
            <a:srgbClr val="B9D7D2"/>
          </a:solidFill>
          <a:ln w="0">
            <a:solidFill>
              <a:srgbClr val="000000">
                <a:alpha val="0"/>
              </a:srgbClr>
            </a:solidFill>
            <a:prstDash val="solid"/>
          </a:ln>
        </p:spPr>
        <p:txBody>
          <a:bodyPr/>
          <a:lstStyle/>
          <a:p>
            <a:endParaRPr/>
          </a:p>
        </p:txBody>
      </p:sp>
      <p:sp>
        <p:nvSpPr>
          <p:cNvPr id="90" name="Rectangle 89">
            <a:extLst>
              <a:ext uri="{FF2B5EF4-FFF2-40B4-BE49-F238E27FC236}">
                <a16:creationId xmlns:a16="http://schemas.microsoft.com/office/drawing/2014/main" id="{E53A0F12-8795-4D8A-A274-2D8BED0D0E70}"/>
              </a:ext>
            </a:extLst>
          </p:cNvPr>
          <p:cNvSpPr>
            <a:spLocks noGrp="1"/>
          </p:cNvSpPr>
          <p:nvPr/>
        </p:nvSpPr>
        <p:spPr>
          <a:xfrm>
            <a:off x="9559290" y="3807543"/>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0.883</a:t>
            </a:r>
          </a:p>
        </p:txBody>
      </p:sp>
      <p:sp>
        <p:nvSpPr>
          <p:cNvPr id="91" name="Rectangle 90">
            <a:extLst>
              <a:ext uri="{FF2B5EF4-FFF2-40B4-BE49-F238E27FC236}">
                <a16:creationId xmlns:a16="http://schemas.microsoft.com/office/drawing/2014/main" id="{0BDD3234-3586-416A-A914-21B053B0DEA3}"/>
              </a:ext>
            </a:extLst>
          </p:cNvPr>
          <p:cNvSpPr>
            <a:spLocks noGrp="1"/>
          </p:cNvSpPr>
          <p:nvPr/>
        </p:nvSpPr>
        <p:spPr>
          <a:xfrm>
            <a:off x="957834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92" name="Rounded Rectangle 91">
            <a:extLst>
              <a:ext uri="{FF2B5EF4-FFF2-40B4-BE49-F238E27FC236}">
                <a16:creationId xmlns:a16="http://schemas.microsoft.com/office/drawing/2014/main" id="{45FCACC9-0895-4F42-969F-600806687776}"/>
              </a:ext>
            </a:extLst>
          </p:cNvPr>
          <p:cNvSpPr>
            <a:spLocks noGrp="1"/>
          </p:cNvSpPr>
          <p:nvPr/>
        </p:nvSpPr>
        <p:spPr>
          <a:xfrm>
            <a:off x="10561320" y="3853053"/>
            <a:ext cx="868680" cy="1176147"/>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93" name="Rectangle 92">
            <a:extLst>
              <a:ext uri="{FF2B5EF4-FFF2-40B4-BE49-F238E27FC236}">
                <a16:creationId xmlns:a16="http://schemas.microsoft.com/office/drawing/2014/main" id="{F8D11D92-1133-472B-AFB9-B14E444792F0}"/>
              </a:ext>
            </a:extLst>
          </p:cNvPr>
          <p:cNvSpPr>
            <a:spLocks noGrp="1"/>
          </p:cNvSpPr>
          <p:nvPr/>
        </p:nvSpPr>
        <p:spPr>
          <a:xfrm>
            <a:off x="10523220" y="3691128"/>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0.980</a:t>
            </a:r>
          </a:p>
        </p:txBody>
      </p:sp>
      <p:sp>
        <p:nvSpPr>
          <p:cNvPr id="94" name="Rectangle 93">
            <a:extLst>
              <a:ext uri="{FF2B5EF4-FFF2-40B4-BE49-F238E27FC236}">
                <a16:creationId xmlns:a16="http://schemas.microsoft.com/office/drawing/2014/main" id="{883712B1-6688-4EA5-B283-0F07FCC654A2}"/>
              </a:ext>
            </a:extLst>
          </p:cNvPr>
          <p:cNvSpPr>
            <a:spLocks noGrp="1"/>
          </p:cNvSpPr>
          <p:nvPr/>
        </p:nvSpPr>
        <p:spPr>
          <a:xfrm>
            <a:off x="1054227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98" name="Rectangle 97">
            <a:extLst>
              <a:ext uri="{FF2B5EF4-FFF2-40B4-BE49-F238E27FC236}">
                <a16:creationId xmlns:a16="http://schemas.microsoft.com/office/drawing/2014/main" id="{275F23C9-B6BE-4B0C-ABAA-D3706D366A76}"/>
              </a:ext>
            </a:extLst>
          </p:cNvPr>
          <p:cNvSpPr>
            <a:spLocks noGrp="1"/>
          </p:cNvSpPr>
          <p:nvPr/>
        </p:nvSpPr>
        <p:spPr>
          <a:xfrm>
            <a:off x="742950" y="5562600"/>
            <a:ext cx="1619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88" b="1">
                <a:solidFill>
                  <a:srgbClr val="5C686B"/>
                </a:solidFill>
                <a:latin typeface="Aptos"/>
                <a:ea typeface="Aptos"/>
                <a:cs typeface="Aptos"/>
              </a:defRPr>
            </a:pPr>
            <a:r>
              <a:rPr sz="825" b="1">
                <a:solidFill>
                  <a:srgbClr val="5C686B"/>
                </a:solidFill>
                <a:latin typeface="Aptos"/>
                <a:ea typeface="Aptos"/>
                <a:cs typeface="Aptos"/>
              </a:rPr>
              <a:t>Metric: LAnorm±</a:t>
            </a:r>
          </a:p>
        </p:txBody>
      </p:sp>
      <p:sp>
        <p:nvSpPr>
          <p:cNvPr id="99" name="Rounded Rectangle 98">
            <a:extLst>
              <a:ext uri="{FF2B5EF4-FFF2-40B4-BE49-F238E27FC236}">
                <a16:creationId xmlns:a16="http://schemas.microsoft.com/office/drawing/2014/main" id="{A094C62A-1E2A-4830-974B-025E97683C1F}"/>
              </a:ext>
            </a:extLst>
          </p:cNvPr>
          <p:cNvSpPr>
            <a:spLocks noGrp="1"/>
          </p:cNvSpPr>
          <p:nvPr/>
        </p:nvSpPr>
        <p:spPr>
          <a:xfrm>
            <a:off x="7239000" y="5524500"/>
            <a:ext cx="4000500" cy="400050"/>
          </a:xfrm>
          <a:prstGeom prst="roundRect">
            <a:avLst>
              <a:gd name="adj" fmla="val 14286"/>
            </a:avLst>
          </a:prstGeom>
          <a:solidFill>
            <a:srgbClr val="DDEDE9"/>
          </a:solidFill>
          <a:ln w="9525">
            <a:solidFill>
              <a:srgbClr val="2A9D8F"/>
            </a:solidFill>
            <a:prstDash val="solid"/>
          </a:ln>
        </p:spPr>
        <p:txBody>
          <a:bodyPr/>
          <a:lstStyle/>
          <a:p>
            <a:endParaRPr/>
          </a:p>
        </p:txBody>
      </p:sp>
      <p:sp>
        <p:nvSpPr>
          <p:cNvPr id="100" name="Rectangle 99">
            <a:extLst>
              <a:ext uri="{FF2B5EF4-FFF2-40B4-BE49-F238E27FC236}">
                <a16:creationId xmlns:a16="http://schemas.microsoft.com/office/drawing/2014/main" id="{DEF75AE1-220D-41B9-B1B8-17D2DA191275}"/>
              </a:ext>
            </a:extLst>
          </p:cNvPr>
          <p:cNvSpPr>
            <a:spLocks noGrp="1"/>
          </p:cNvSpPr>
          <p:nvPr/>
        </p:nvSpPr>
        <p:spPr>
          <a:xfrm>
            <a:off x="6867525" y="5638800"/>
            <a:ext cx="4762500" cy="1905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013" b="1">
                <a:solidFill>
                  <a:srgbClr val="264653"/>
                </a:solidFill>
                <a:latin typeface="Aptos"/>
                <a:ea typeface="Aptos"/>
                <a:cs typeface="Aptos"/>
              </a:defRPr>
            </a:pPr>
            <a:r>
              <a:rPr sz="1050" b="1">
                <a:solidFill>
                  <a:srgbClr val="264653"/>
                </a:solidFill>
                <a:latin typeface="Aptos"/>
                <a:ea typeface="Aptos"/>
                <a:cs typeface="Aptos"/>
              </a:rPr>
              <a:t>M5 Is Highest-Scoring Among Evaluated LLM/VLM Methods.</a:t>
            </a:r>
          </a:p>
        </p:txBody>
      </p:sp>
      <p:sp>
        <p:nvSpPr>
          <p:cNvPr id="101" name="Rectangle 100">
            <a:extLst>
              <a:ext uri="{FF2B5EF4-FFF2-40B4-BE49-F238E27FC236}">
                <a16:creationId xmlns:a16="http://schemas.microsoft.com/office/drawing/2014/main" id="{6D46A625-1883-4E3B-973C-6CF38DB3D47A}"/>
              </a:ext>
            </a:extLst>
          </p:cNvPr>
          <p:cNvSpPr>
            <a:spLocks noGrp="1"/>
          </p:cNvSpPr>
          <p:nvPr/>
        </p:nvSpPr>
        <p:spPr>
          <a:xfrm>
            <a:off x="742950" y="5886450"/>
            <a:ext cx="6477000" cy="2476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95" b="0">
                <a:solidFill>
                  <a:srgbClr val="5C686B"/>
                </a:solidFill>
                <a:latin typeface="Aptos"/>
                <a:ea typeface="Aptos"/>
                <a:cs typeface="Aptos"/>
              </a:defRPr>
            </a:pPr>
            <a:r>
              <a:rPr sz="750" b="0">
                <a:solidFill>
                  <a:srgbClr val="5C686B"/>
                </a:solidFill>
                <a:latin typeface="Aptos"/>
                <a:ea typeface="Aptos"/>
                <a:cs typeface="Aptos"/>
              </a:rPr>
              <a:t>Intermediate methods are dataset-dependent; no monotonic component ablation is claimed.</a:t>
            </a:r>
          </a:p>
        </p:txBody>
      </p:sp>
    </p:spTree>
    <p:extLst>
      <p:ext uri="{BB962C8B-B14F-4D97-AF65-F5344CB8AC3E}">
        <p14:creationId xmlns:p14="http://schemas.microsoft.com/office/powerpoint/2010/main" val="154923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9CE5426-5C87-4E27-83CF-AFCDDA36CFB0}"/>
              </a:ext>
            </a:extLst>
          </p:cNvPr>
          <p:cNvSpPr>
            <a:spLocks noGrp="1"/>
          </p:cNvSpPr>
          <p:nvPr/>
        </p:nvSpPr>
        <p:spPr>
          <a:xfrm>
            <a:off x="530352" y="694944"/>
            <a:ext cx="11155680" cy="256032"/>
          </a:xfrm>
          <a:prstGeom prst="rect">
            <a:avLst/>
          </a:prstGeom>
          <a:noFill/>
        </p:spPr>
        <p:txBody>
          <a:bodyPr wrap="none" lIns="36576" tIns="18288" rIns="36576" bIns="18288" anchor="ctr">
            <a:spAutoFit/>
          </a:bodyPr>
          <a:lstStyle/>
          <a:p>
            <a:pPr algn="ctr">
              <a:buNone/>
            </a:pPr>
            <a:r>
              <a:rPr sz="960" b="1">
                <a:solidFill>
                  <a:srgbClr val="1E4954"/>
                </a:solidFill>
                <a:latin typeface="Aptos"/>
                <a:ea typeface="Aptos"/>
                <a:cs typeface="Aptos"/>
              </a:rPr>
              <a:t>Whitespace-normalized LAnorm+/- macro scores. Means are unweighted over represented cells; partial rows are context, and dashes stay missing/ineligible.</a:t>
            </a:r>
          </a:p>
        </p:txBody>
      </p:sp>
      <p:sp>
        <p:nvSpPr>
          <p:cNvPr id="9" name="Rounded Rectangle 8">
            <a:extLst>
              <a:ext uri="{FF2B5EF4-FFF2-40B4-BE49-F238E27FC236}">
                <a16:creationId xmlns:a16="http://schemas.microsoft.com/office/drawing/2014/main" id="{E1746E5F-6D7A-4297-A285-948EF62A3640}"/>
              </a:ext>
            </a:extLst>
          </p:cNvPr>
          <p:cNvSpPr>
            <a:spLocks noGrp="1"/>
          </p:cNvSpPr>
          <p:nvPr/>
        </p:nvSpPr>
        <p:spPr>
          <a:xfrm>
            <a:off x="304800" y="1009650"/>
            <a:ext cx="5715000" cy="278217"/>
          </a:xfrm>
          <a:prstGeom prst="roundRect">
            <a:avLst/>
          </a:prstGeom>
          <a:solidFill>
            <a:srgbClr val="2A9D8F"/>
          </a:solidFill>
          <a:ln w="5080">
            <a:solidFill>
              <a:srgbClr val="2A9D8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EB8FCA0-DCA4-4C4C-8AC2-4A4EB4DC497F}"/>
              </a:ext>
            </a:extLst>
          </p:cNvPr>
          <p:cNvSpPr>
            <a:spLocks noGrp="1"/>
          </p:cNvSpPr>
          <p:nvPr/>
        </p:nvSpPr>
        <p:spPr>
          <a:xfrm>
            <a:off x="2440488" y="1030936"/>
            <a:ext cx="1443626" cy="215036"/>
          </a:xfrm>
          <a:prstGeom prst="rect">
            <a:avLst/>
          </a:prstGeom>
          <a:noFill/>
        </p:spPr>
        <p:txBody>
          <a:bodyPr wrap="none" lIns="36576" tIns="18288" rIns="36576" bIns="18288" anchor="ctr">
            <a:spAutoFit/>
          </a:bodyPr>
          <a:lstStyle/>
          <a:p>
            <a:pPr algn="ctr">
              <a:buNone/>
            </a:pPr>
            <a:r>
              <a:rPr sz="1150" b="1">
                <a:solidFill>
                  <a:srgbClr val="FFFFFF"/>
                </a:solidFill>
                <a:latin typeface="Aptos"/>
                <a:ea typeface="Aptos"/>
                <a:cs typeface="Aptos"/>
              </a:rPr>
              <a:t>Complete four-dataset</a:t>
            </a:r>
          </a:p>
        </p:txBody>
      </p:sp>
      <p:sp>
        <p:nvSpPr>
          <p:cNvPr id="11" name="Rectangle 10">
            <a:extLst>
              <a:ext uri="{FF2B5EF4-FFF2-40B4-BE49-F238E27FC236}">
                <a16:creationId xmlns:a16="http://schemas.microsoft.com/office/drawing/2014/main" id="{E8D6B4AF-9F3C-41F5-B44E-CF7C843C2EA0}"/>
              </a:ext>
            </a:extLst>
          </p:cNvPr>
          <p:cNvSpPr>
            <a:spLocks noGrp="1"/>
          </p:cNvSpPr>
          <p:nvPr/>
        </p:nvSpPr>
        <p:spPr>
          <a:xfrm>
            <a:off x="304800" y="1370302"/>
            <a:ext cx="2365886" cy="337734"/>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5D3193-44AC-474F-973A-CC7556A8EEAE}"/>
              </a:ext>
            </a:extLst>
          </p:cNvPr>
          <p:cNvSpPr>
            <a:spLocks noGrp="1"/>
          </p:cNvSpPr>
          <p:nvPr/>
        </p:nvSpPr>
        <p:spPr>
          <a:xfrm>
            <a:off x="304800" y="1456582"/>
            <a:ext cx="871369" cy="173416"/>
          </a:xfrm>
          <a:prstGeom prst="rect">
            <a:avLst/>
          </a:prstGeom>
          <a:noFill/>
        </p:spPr>
        <p:txBody>
          <a:bodyPr wrap="none" lIns="22860" tIns="0" rIns="22860" bIns="0" anchor="ctr">
            <a:spAutoFit/>
          </a:bodyPr>
          <a:lstStyle/>
          <a:p>
            <a:pPr algn="l">
              <a:buNone/>
            </a:pPr>
            <a:r>
              <a:rPr sz="1150" b="1">
                <a:solidFill>
                  <a:srgbClr val="FFFFFF"/>
                </a:solidFill>
                <a:latin typeface="Aptos"/>
                <a:ea typeface="Aptos"/>
                <a:cs typeface="Aptos"/>
              </a:rPr>
              <a:t>Configuration</a:t>
            </a:r>
          </a:p>
        </p:txBody>
      </p:sp>
      <p:sp>
        <p:nvSpPr>
          <p:cNvPr id="13" name="Rectangle 12">
            <a:extLst>
              <a:ext uri="{FF2B5EF4-FFF2-40B4-BE49-F238E27FC236}">
                <a16:creationId xmlns:a16="http://schemas.microsoft.com/office/drawing/2014/main" id="{E8694D8C-1C34-4EF2-AF23-2A639270E93B}"/>
              </a:ext>
            </a:extLst>
          </p:cNvPr>
          <p:cNvSpPr>
            <a:spLocks noGrp="1"/>
          </p:cNvSpPr>
          <p:nvPr/>
        </p:nvSpPr>
        <p:spPr>
          <a:xfrm>
            <a:off x="2670686" y="1370302"/>
            <a:ext cx="479323" cy="337734"/>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78D5ADA4-15BC-4C36-984A-9B451D55890F}"/>
              </a:ext>
            </a:extLst>
          </p:cNvPr>
          <p:cNvSpPr>
            <a:spLocks noGrp="1"/>
          </p:cNvSpPr>
          <p:nvPr/>
        </p:nvSpPr>
        <p:spPr>
          <a:xfrm>
            <a:off x="2670686" y="1370302"/>
            <a:ext cx="479323" cy="337734"/>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Cov</a:t>
            </a:r>
          </a:p>
        </p:txBody>
      </p:sp>
      <p:sp>
        <p:nvSpPr>
          <p:cNvPr id="15" name="Rectangle 14">
            <a:extLst>
              <a:ext uri="{FF2B5EF4-FFF2-40B4-BE49-F238E27FC236}">
                <a16:creationId xmlns:a16="http://schemas.microsoft.com/office/drawing/2014/main" id="{43E28B42-E3E8-4027-8A22-2CEFAA61F9C2}"/>
              </a:ext>
            </a:extLst>
          </p:cNvPr>
          <p:cNvSpPr>
            <a:spLocks noGrp="1"/>
          </p:cNvSpPr>
          <p:nvPr/>
        </p:nvSpPr>
        <p:spPr>
          <a:xfrm>
            <a:off x="3150009" y="1370302"/>
            <a:ext cx="583790" cy="337734"/>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C1135AC6-61AD-4F52-AAC6-D9F8C4DCE0E3}"/>
              </a:ext>
            </a:extLst>
          </p:cNvPr>
          <p:cNvSpPr>
            <a:spLocks noGrp="1"/>
          </p:cNvSpPr>
          <p:nvPr/>
        </p:nvSpPr>
        <p:spPr>
          <a:xfrm>
            <a:off x="3150009" y="1370302"/>
            <a:ext cx="583790" cy="337734"/>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Mean</a:t>
            </a:r>
          </a:p>
        </p:txBody>
      </p:sp>
      <p:sp>
        <p:nvSpPr>
          <p:cNvPr id="17" name="Rectangle 16">
            <a:extLst>
              <a:ext uri="{FF2B5EF4-FFF2-40B4-BE49-F238E27FC236}">
                <a16:creationId xmlns:a16="http://schemas.microsoft.com/office/drawing/2014/main" id="{94C29C69-223B-40FB-B4C4-E5ACD5A6E84D}"/>
              </a:ext>
            </a:extLst>
          </p:cNvPr>
          <p:cNvSpPr>
            <a:spLocks noGrp="1"/>
          </p:cNvSpPr>
          <p:nvPr/>
        </p:nvSpPr>
        <p:spPr>
          <a:xfrm>
            <a:off x="3733800" y="1370302"/>
            <a:ext cx="571500" cy="337734"/>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6C46C44-9EF4-44AF-A7FB-85D6C0589AE4}"/>
              </a:ext>
            </a:extLst>
          </p:cNvPr>
          <p:cNvSpPr>
            <a:spLocks noGrp="1"/>
          </p:cNvSpPr>
          <p:nvPr/>
        </p:nvSpPr>
        <p:spPr>
          <a:xfrm>
            <a:off x="3733800" y="1370302"/>
            <a:ext cx="571500" cy="337734"/>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B</a:t>
            </a:r>
          </a:p>
        </p:txBody>
      </p:sp>
      <p:sp>
        <p:nvSpPr>
          <p:cNvPr id="19" name="Rectangle 18">
            <a:extLst>
              <a:ext uri="{FF2B5EF4-FFF2-40B4-BE49-F238E27FC236}">
                <a16:creationId xmlns:a16="http://schemas.microsoft.com/office/drawing/2014/main" id="{8DEE2BA5-04A0-4E4A-AC30-D3E65C823DC2}"/>
              </a:ext>
            </a:extLst>
          </p:cNvPr>
          <p:cNvSpPr>
            <a:spLocks noGrp="1"/>
          </p:cNvSpPr>
          <p:nvPr/>
        </p:nvSpPr>
        <p:spPr>
          <a:xfrm>
            <a:off x="4305300" y="1370302"/>
            <a:ext cx="571500" cy="337734"/>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3A5921E0-BAA1-4B09-AC25-A38891B43BB5}"/>
              </a:ext>
            </a:extLst>
          </p:cNvPr>
          <p:cNvSpPr>
            <a:spLocks noGrp="1"/>
          </p:cNvSpPr>
          <p:nvPr/>
        </p:nvSpPr>
        <p:spPr>
          <a:xfrm>
            <a:off x="4305300" y="1370302"/>
            <a:ext cx="571500" cy="337734"/>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C</a:t>
            </a:r>
          </a:p>
        </p:txBody>
      </p:sp>
      <p:sp>
        <p:nvSpPr>
          <p:cNvPr id="21" name="Rectangle 20">
            <a:extLst>
              <a:ext uri="{FF2B5EF4-FFF2-40B4-BE49-F238E27FC236}">
                <a16:creationId xmlns:a16="http://schemas.microsoft.com/office/drawing/2014/main" id="{EF0A1866-885B-49A1-A8DB-F62400043D47}"/>
              </a:ext>
            </a:extLst>
          </p:cNvPr>
          <p:cNvSpPr>
            <a:spLocks noGrp="1"/>
          </p:cNvSpPr>
          <p:nvPr/>
        </p:nvSpPr>
        <p:spPr>
          <a:xfrm>
            <a:off x="4876799" y="1370302"/>
            <a:ext cx="571500" cy="337734"/>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F6E1BC6-B946-4E8F-B111-D2608045229E}"/>
              </a:ext>
            </a:extLst>
          </p:cNvPr>
          <p:cNvSpPr>
            <a:spLocks noGrp="1"/>
          </p:cNvSpPr>
          <p:nvPr/>
        </p:nvSpPr>
        <p:spPr>
          <a:xfrm>
            <a:off x="4876799" y="1370302"/>
            <a:ext cx="571500" cy="337734"/>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IAM</a:t>
            </a:r>
          </a:p>
        </p:txBody>
      </p:sp>
      <p:sp>
        <p:nvSpPr>
          <p:cNvPr id="23" name="Rectangle 22">
            <a:extLst>
              <a:ext uri="{FF2B5EF4-FFF2-40B4-BE49-F238E27FC236}">
                <a16:creationId xmlns:a16="http://schemas.microsoft.com/office/drawing/2014/main" id="{35E27237-CBC8-474B-91CF-43D65CC0A53D}"/>
              </a:ext>
            </a:extLst>
          </p:cNvPr>
          <p:cNvSpPr>
            <a:spLocks noGrp="1"/>
          </p:cNvSpPr>
          <p:nvPr/>
        </p:nvSpPr>
        <p:spPr>
          <a:xfrm>
            <a:off x="5448299" y="1370302"/>
            <a:ext cx="571500" cy="337734"/>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2A406A55-C1CC-470C-B0F0-75411018CF9C}"/>
              </a:ext>
            </a:extLst>
          </p:cNvPr>
          <p:cNvSpPr>
            <a:spLocks noGrp="1"/>
          </p:cNvSpPr>
          <p:nvPr/>
        </p:nvSpPr>
        <p:spPr>
          <a:xfrm>
            <a:off x="5448299" y="1370302"/>
            <a:ext cx="571500" cy="337734"/>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W</a:t>
            </a:r>
          </a:p>
        </p:txBody>
      </p:sp>
      <p:sp>
        <p:nvSpPr>
          <p:cNvPr id="25" name="Rectangle 24">
            <a:extLst>
              <a:ext uri="{FF2B5EF4-FFF2-40B4-BE49-F238E27FC236}">
                <a16:creationId xmlns:a16="http://schemas.microsoft.com/office/drawing/2014/main" id="{6D0A8A53-5E56-479B-9F2D-93F26B554542}"/>
              </a:ext>
            </a:extLst>
          </p:cNvPr>
          <p:cNvSpPr>
            <a:spLocks noGrp="1"/>
          </p:cNvSpPr>
          <p:nvPr/>
        </p:nvSpPr>
        <p:spPr>
          <a:xfrm>
            <a:off x="304800" y="1708036"/>
            <a:ext cx="2365886" cy="331113"/>
          </a:xfrm>
          <a:prstGeom prst="rect">
            <a:avLst/>
          </a:prstGeom>
          <a:solidFill>
            <a:srgbClr val="F2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E5F68CFE-591D-4EC5-9D31-D84087EE00BE}"/>
              </a:ext>
            </a:extLst>
          </p:cNvPr>
          <p:cNvSpPr>
            <a:spLocks noGrp="1"/>
          </p:cNvSpPr>
          <p:nvPr/>
        </p:nvSpPr>
        <p:spPr>
          <a:xfrm>
            <a:off x="304800" y="1789975"/>
            <a:ext cx="1123487" cy="173416"/>
          </a:xfrm>
          <a:prstGeom prst="rect">
            <a:avLst/>
          </a:prstGeom>
          <a:noFill/>
        </p:spPr>
        <p:txBody>
          <a:bodyPr wrap="none" lIns="22860" tIns="0" rIns="22860" bIns="0" anchor="ctr">
            <a:spAutoFit/>
          </a:bodyPr>
          <a:lstStyle/>
          <a:p>
            <a:pPr algn="l">
              <a:buNone/>
            </a:pPr>
            <a:r>
              <a:rPr sz="1100" b="1">
                <a:solidFill>
                  <a:srgbClr val="1E4954"/>
                </a:solidFill>
                <a:latin typeface="Aptos"/>
                <a:ea typeface="Aptos"/>
                <a:cs typeface="Aptos"/>
              </a:rPr>
              <a:t>GPT-5.4-0305 / M5</a:t>
            </a:r>
          </a:p>
        </p:txBody>
      </p:sp>
      <p:sp>
        <p:nvSpPr>
          <p:cNvPr id="27" name="Rectangle 26">
            <a:extLst>
              <a:ext uri="{FF2B5EF4-FFF2-40B4-BE49-F238E27FC236}">
                <a16:creationId xmlns:a16="http://schemas.microsoft.com/office/drawing/2014/main" id="{7BD07671-D611-41C1-905C-536335A13A31}"/>
              </a:ext>
            </a:extLst>
          </p:cNvPr>
          <p:cNvSpPr>
            <a:spLocks noGrp="1"/>
          </p:cNvSpPr>
          <p:nvPr/>
        </p:nvSpPr>
        <p:spPr>
          <a:xfrm>
            <a:off x="2670686" y="1708036"/>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735DA54-6B0E-4FA7-A82C-D46A52351D63}"/>
              </a:ext>
            </a:extLst>
          </p:cNvPr>
          <p:cNvSpPr>
            <a:spLocks noGrp="1"/>
          </p:cNvSpPr>
          <p:nvPr/>
        </p:nvSpPr>
        <p:spPr>
          <a:xfrm>
            <a:off x="2670686" y="1708036"/>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29" name="Rectangle 28">
            <a:extLst>
              <a:ext uri="{FF2B5EF4-FFF2-40B4-BE49-F238E27FC236}">
                <a16:creationId xmlns:a16="http://schemas.microsoft.com/office/drawing/2014/main" id="{5BB8096F-D23F-4969-865A-0E93575F8CF6}"/>
              </a:ext>
            </a:extLst>
          </p:cNvPr>
          <p:cNvSpPr>
            <a:spLocks noGrp="1"/>
          </p:cNvSpPr>
          <p:nvPr/>
        </p:nvSpPr>
        <p:spPr>
          <a:xfrm>
            <a:off x="3150009" y="1708036"/>
            <a:ext cx="583790" cy="331113"/>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BE466BBE-0C06-47E4-8421-3581A1D7084C}"/>
              </a:ext>
            </a:extLst>
          </p:cNvPr>
          <p:cNvSpPr>
            <a:spLocks noGrp="1"/>
          </p:cNvSpPr>
          <p:nvPr/>
        </p:nvSpPr>
        <p:spPr>
          <a:xfrm>
            <a:off x="3150009" y="1708036"/>
            <a:ext cx="583790" cy="331113"/>
          </a:xfrm>
          <a:prstGeom prst="rect">
            <a:avLst/>
          </a:prstGeom>
          <a:noFill/>
        </p:spPr>
        <p:txBody>
          <a:bodyPr wrap="none" lIns="9525" tIns="0" rIns="9525" bIns="0" anchor="ctr">
            <a:spAutoFit/>
          </a:bodyPr>
          <a:lstStyle/>
          <a:p>
            <a:pPr algn="ctr">
              <a:buNone/>
            </a:pPr>
            <a:r>
              <a:rPr sz="1100" b="1">
                <a:solidFill>
                  <a:srgbClr val="1E4954"/>
                </a:solidFill>
                <a:latin typeface="Aptos"/>
                <a:ea typeface="Aptos"/>
                <a:cs typeface="Aptos"/>
              </a:rPr>
              <a:t>0.940</a:t>
            </a:r>
          </a:p>
        </p:txBody>
      </p:sp>
      <p:sp>
        <p:nvSpPr>
          <p:cNvPr id="31" name="Rectangle 30">
            <a:extLst>
              <a:ext uri="{FF2B5EF4-FFF2-40B4-BE49-F238E27FC236}">
                <a16:creationId xmlns:a16="http://schemas.microsoft.com/office/drawing/2014/main" id="{5D1F1C05-64D8-4344-A842-043F9A788340}"/>
              </a:ext>
            </a:extLst>
          </p:cNvPr>
          <p:cNvSpPr>
            <a:spLocks noGrp="1"/>
          </p:cNvSpPr>
          <p:nvPr/>
        </p:nvSpPr>
        <p:spPr>
          <a:xfrm>
            <a:off x="3733800" y="1708036"/>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9C680CD3-DA41-451B-93B2-4D4E07D507C9}"/>
              </a:ext>
            </a:extLst>
          </p:cNvPr>
          <p:cNvSpPr>
            <a:spLocks noGrp="1"/>
          </p:cNvSpPr>
          <p:nvPr/>
        </p:nvSpPr>
        <p:spPr>
          <a:xfrm>
            <a:off x="3733800" y="1708036"/>
            <a:ext cx="571500" cy="331113"/>
          </a:xfrm>
          <a:prstGeom prst="rect">
            <a:avLst/>
          </a:prstGeom>
          <a:noFill/>
        </p:spPr>
        <p:txBody>
          <a:bodyPr wrap="none" lIns="9525" tIns="0" rIns="9525" bIns="0" anchor="ctr">
            <a:spAutoFit/>
          </a:bodyPr>
          <a:lstStyle/>
          <a:p>
            <a:pPr algn="ctr">
              <a:buNone/>
            </a:pPr>
            <a:r>
              <a:rPr sz="1100" b="1">
                <a:solidFill>
                  <a:srgbClr val="1E4954"/>
                </a:solidFill>
                <a:latin typeface="Aptos"/>
                <a:ea typeface="Aptos"/>
                <a:cs typeface="Aptos"/>
              </a:rPr>
              <a:t>0.843</a:t>
            </a:r>
          </a:p>
        </p:txBody>
      </p:sp>
      <p:sp>
        <p:nvSpPr>
          <p:cNvPr id="33" name="Rectangle 32">
            <a:extLst>
              <a:ext uri="{FF2B5EF4-FFF2-40B4-BE49-F238E27FC236}">
                <a16:creationId xmlns:a16="http://schemas.microsoft.com/office/drawing/2014/main" id="{CE26EC99-AD16-49A4-A2EE-D41ADCBEE7B3}"/>
              </a:ext>
            </a:extLst>
          </p:cNvPr>
          <p:cNvSpPr>
            <a:spLocks noGrp="1"/>
          </p:cNvSpPr>
          <p:nvPr/>
        </p:nvSpPr>
        <p:spPr>
          <a:xfrm>
            <a:off x="4305300" y="1708036"/>
            <a:ext cx="571500" cy="331113"/>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67F2B573-3708-4B62-9C87-9C1E517DCD17}"/>
              </a:ext>
            </a:extLst>
          </p:cNvPr>
          <p:cNvSpPr>
            <a:spLocks noGrp="1"/>
          </p:cNvSpPr>
          <p:nvPr/>
        </p:nvSpPr>
        <p:spPr>
          <a:xfrm>
            <a:off x="4305300" y="1708036"/>
            <a:ext cx="571500" cy="331113"/>
          </a:xfrm>
          <a:prstGeom prst="rect">
            <a:avLst/>
          </a:prstGeom>
          <a:noFill/>
        </p:spPr>
        <p:txBody>
          <a:bodyPr wrap="none" lIns="9525" tIns="0" rIns="9525" bIns="0" anchor="ctr">
            <a:spAutoFit/>
          </a:bodyPr>
          <a:lstStyle/>
          <a:p>
            <a:pPr algn="ctr">
              <a:buNone/>
            </a:pPr>
            <a:r>
              <a:rPr sz="1100" b="1">
                <a:solidFill>
                  <a:srgbClr val="1E4954"/>
                </a:solidFill>
                <a:latin typeface="Aptos"/>
                <a:ea typeface="Aptos"/>
                <a:cs typeface="Aptos"/>
              </a:rPr>
              <a:t>0.948</a:t>
            </a:r>
          </a:p>
        </p:txBody>
      </p:sp>
      <p:sp>
        <p:nvSpPr>
          <p:cNvPr id="35" name="Rectangle 34">
            <a:extLst>
              <a:ext uri="{FF2B5EF4-FFF2-40B4-BE49-F238E27FC236}">
                <a16:creationId xmlns:a16="http://schemas.microsoft.com/office/drawing/2014/main" id="{338FF28A-AC29-4E09-AAC5-57FCB235AB5E}"/>
              </a:ext>
            </a:extLst>
          </p:cNvPr>
          <p:cNvSpPr>
            <a:spLocks noGrp="1"/>
          </p:cNvSpPr>
          <p:nvPr/>
        </p:nvSpPr>
        <p:spPr>
          <a:xfrm>
            <a:off x="4876799" y="1708036"/>
            <a:ext cx="571500" cy="331113"/>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643DBF9D-48E7-4FDF-A220-7C1BDCF099AA}"/>
              </a:ext>
            </a:extLst>
          </p:cNvPr>
          <p:cNvSpPr>
            <a:spLocks noGrp="1"/>
          </p:cNvSpPr>
          <p:nvPr/>
        </p:nvSpPr>
        <p:spPr>
          <a:xfrm>
            <a:off x="4876799" y="1708036"/>
            <a:ext cx="571500" cy="331113"/>
          </a:xfrm>
          <a:prstGeom prst="rect">
            <a:avLst/>
          </a:prstGeom>
          <a:noFill/>
        </p:spPr>
        <p:txBody>
          <a:bodyPr wrap="none" lIns="9525" tIns="0" rIns="9525" bIns="0" anchor="ctr">
            <a:spAutoFit/>
          </a:bodyPr>
          <a:lstStyle/>
          <a:p>
            <a:pPr algn="ctr">
              <a:buNone/>
            </a:pPr>
            <a:r>
              <a:rPr sz="1100" b="1">
                <a:solidFill>
                  <a:srgbClr val="1E4954"/>
                </a:solidFill>
                <a:latin typeface="Aptos"/>
                <a:ea typeface="Aptos"/>
                <a:cs typeface="Aptos"/>
              </a:rPr>
              <a:t>1.000</a:t>
            </a:r>
          </a:p>
        </p:txBody>
      </p:sp>
      <p:sp>
        <p:nvSpPr>
          <p:cNvPr id="37" name="Rectangle 36">
            <a:extLst>
              <a:ext uri="{FF2B5EF4-FFF2-40B4-BE49-F238E27FC236}">
                <a16:creationId xmlns:a16="http://schemas.microsoft.com/office/drawing/2014/main" id="{4EED7330-EE72-4EC9-95CE-06C8EA5D4B36}"/>
              </a:ext>
            </a:extLst>
          </p:cNvPr>
          <p:cNvSpPr>
            <a:spLocks noGrp="1"/>
          </p:cNvSpPr>
          <p:nvPr/>
        </p:nvSpPr>
        <p:spPr>
          <a:xfrm>
            <a:off x="5448299" y="1708036"/>
            <a:ext cx="571500" cy="331113"/>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4F0F7EFF-93AA-4634-8D73-F5D233D77D7C}"/>
              </a:ext>
            </a:extLst>
          </p:cNvPr>
          <p:cNvSpPr>
            <a:spLocks noGrp="1"/>
          </p:cNvSpPr>
          <p:nvPr/>
        </p:nvSpPr>
        <p:spPr>
          <a:xfrm>
            <a:off x="5448299" y="1708036"/>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0.970</a:t>
            </a:r>
          </a:p>
        </p:txBody>
      </p:sp>
      <p:sp>
        <p:nvSpPr>
          <p:cNvPr id="39" name="Rectangle 38">
            <a:extLst>
              <a:ext uri="{FF2B5EF4-FFF2-40B4-BE49-F238E27FC236}">
                <a16:creationId xmlns:a16="http://schemas.microsoft.com/office/drawing/2014/main" id="{9E3468AE-5B5E-4435-9ECE-38533EE3F785}"/>
              </a:ext>
            </a:extLst>
          </p:cNvPr>
          <p:cNvSpPr>
            <a:spLocks noGrp="1"/>
          </p:cNvSpPr>
          <p:nvPr/>
        </p:nvSpPr>
        <p:spPr>
          <a:xfrm>
            <a:off x="304800" y="2039149"/>
            <a:ext cx="2365886" cy="331113"/>
          </a:xfrm>
          <a:prstGeom prst="rect">
            <a:avLst/>
          </a:prstGeom>
          <a:solidFill>
            <a:srgbClr val="F2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D70D658C-05E1-4424-BA82-71EACB10226C}"/>
              </a:ext>
            </a:extLst>
          </p:cNvPr>
          <p:cNvSpPr>
            <a:spLocks noGrp="1"/>
          </p:cNvSpPr>
          <p:nvPr/>
        </p:nvSpPr>
        <p:spPr>
          <a:xfrm>
            <a:off x="304800" y="2121088"/>
            <a:ext cx="1191047"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Gemini-2.5-Pro / M5</a:t>
            </a:r>
          </a:p>
        </p:txBody>
      </p:sp>
      <p:sp>
        <p:nvSpPr>
          <p:cNvPr id="41" name="Rectangle 40">
            <a:extLst>
              <a:ext uri="{FF2B5EF4-FFF2-40B4-BE49-F238E27FC236}">
                <a16:creationId xmlns:a16="http://schemas.microsoft.com/office/drawing/2014/main" id="{834B45D8-74D3-485A-91EC-CEF0821BC846}"/>
              </a:ext>
            </a:extLst>
          </p:cNvPr>
          <p:cNvSpPr>
            <a:spLocks noGrp="1"/>
          </p:cNvSpPr>
          <p:nvPr/>
        </p:nvSpPr>
        <p:spPr>
          <a:xfrm>
            <a:off x="2670686" y="2039149"/>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FC9EACBB-3E54-4E61-BDF5-04A053967ED0}"/>
              </a:ext>
            </a:extLst>
          </p:cNvPr>
          <p:cNvSpPr>
            <a:spLocks noGrp="1"/>
          </p:cNvSpPr>
          <p:nvPr/>
        </p:nvSpPr>
        <p:spPr>
          <a:xfrm>
            <a:off x="2670686" y="2039149"/>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43" name="Rectangle 42">
            <a:extLst>
              <a:ext uri="{FF2B5EF4-FFF2-40B4-BE49-F238E27FC236}">
                <a16:creationId xmlns:a16="http://schemas.microsoft.com/office/drawing/2014/main" id="{893DE394-F2B0-44C6-AF06-F251A30F07B4}"/>
              </a:ext>
            </a:extLst>
          </p:cNvPr>
          <p:cNvSpPr>
            <a:spLocks noGrp="1"/>
          </p:cNvSpPr>
          <p:nvPr/>
        </p:nvSpPr>
        <p:spPr>
          <a:xfrm>
            <a:off x="3150009" y="2039149"/>
            <a:ext cx="58379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CD42C2B7-4402-4853-8E93-4F3A643298FC}"/>
              </a:ext>
            </a:extLst>
          </p:cNvPr>
          <p:cNvSpPr>
            <a:spLocks noGrp="1"/>
          </p:cNvSpPr>
          <p:nvPr/>
        </p:nvSpPr>
        <p:spPr>
          <a:xfrm>
            <a:off x="3150009" y="2039149"/>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0.786</a:t>
            </a:r>
          </a:p>
        </p:txBody>
      </p:sp>
      <p:sp>
        <p:nvSpPr>
          <p:cNvPr id="45" name="Rectangle 44">
            <a:extLst>
              <a:ext uri="{FF2B5EF4-FFF2-40B4-BE49-F238E27FC236}">
                <a16:creationId xmlns:a16="http://schemas.microsoft.com/office/drawing/2014/main" id="{D996FCFA-7F01-46ED-8209-FA9910B0736F}"/>
              </a:ext>
            </a:extLst>
          </p:cNvPr>
          <p:cNvSpPr>
            <a:spLocks noGrp="1"/>
          </p:cNvSpPr>
          <p:nvPr/>
        </p:nvSpPr>
        <p:spPr>
          <a:xfrm>
            <a:off x="3733800" y="2039149"/>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TextBox 45">
            <a:extLst>
              <a:ext uri="{FF2B5EF4-FFF2-40B4-BE49-F238E27FC236}">
                <a16:creationId xmlns:a16="http://schemas.microsoft.com/office/drawing/2014/main" id="{586AB700-86A2-4ACF-8250-5EF6123C30A0}"/>
              </a:ext>
            </a:extLst>
          </p:cNvPr>
          <p:cNvSpPr>
            <a:spLocks noGrp="1"/>
          </p:cNvSpPr>
          <p:nvPr/>
        </p:nvSpPr>
        <p:spPr>
          <a:xfrm>
            <a:off x="3733800" y="2039149"/>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0.423</a:t>
            </a:r>
          </a:p>
        </p:txBody>
      </p:sp>
      <p:sp>
        <p:nvSpPr>
          <p:cNvPr id="47" name="Rectangle 46">
            <a:extLst>
              <a:ext uri="{FF2B5EF4-FFF2-40B4-BE49-F238E27FC236}">
                <a16:creationId xmlns:a16="http://schemas.microsoft.com/office/drawing/2014/main" id="{1B886CE2-B6CE-4BA5-BEEB-788A86D6D10E}"/>
              </a:ext>
            </a:extLst>
          </p:cNvPr>
          <p:cNvSpPr>
            <a:spLocks noGrp="1"/>
          </p:cNvSpPr>
          <p:nvPr/>
        </p:nvSpPr>
        <p:spPr>
          <a:xfrm>
            <a:off x="4305300" y="2039149"/>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38A48E65-2B47-43ED-B355-ACB33B90A717}"/>
              </a:ext>
            </a:extLst>
          </p:cNvPr>
          <p:cNvSpPr>
            <a:spLocks noGrp="1"/>
          </p:cNvSpPr>
          <p:nvPr/>
        </p:nvSpPr>
        <p:spPr>
          <a:xfrm>
            <a:off x="4305300" y="2039149"/>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0.846</a:t>
            </a:r>
          </a:p>
        </p:txBody>
      </p:sp>
      <p:sp>
        <p:nvSpPr>
          <p:cNvPr id="49" name="Rectangle 48">
            <a:extLst>
              <a:ext uri="{FF2B5EF4-FFF2-40B4-BE49-F238E27FC236}">
                <a16:creationId xmlns:a16="http://schemas.microsoft.com/office/drawing/2014/main" id="{4FB24F7B-727C-41B7-8622-CD7C417A46A5}"/>
              </a:ext>
            </a:extLst>
          </p:cNvPr>
          <p:cNvSpPr>
            <a:spLocks noGrp="1"/>
          </p:cNvSpPr>
          <p:nvPr/>
        </p:nvSpPr>
        <p:spPr>
          <a:xfrm>
            <a:off x="4876799" y="2039149"/>
            <a:ext cx="571500" cy="331113"/>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5C827F26-9E75-44CD-8EB7-2B977EF75175}"/>
              </a:ext>
            </a:extLst>
          </p:cNvPr>
          <p:cNvSpPr>
            <a:spLocks noGrp="1"/>
          </p:cNvSpPr>
          <p:nvPr/>
        </p:nvSpPr>
        <p:spPr>
          <a:xfrm>
            <a:off x="4876799" y="2039149"/>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0.992</a:t>
            </a:r>
          </a:p>
        </p:txBody>
      </p:sp>
      <p:sp>
        <p:nvSpPr>
          <p:cNvPr id="51" name="Rectangle 50">
            <a:extLst>
              <a:ext uri="{FF2B5EF4-FFF2-40B4-BE49-F238E27FC236}">
                <a16:creationId xmlns:a16="http://schemas.microsoft.com/office/drawing/2014/main" id="{11696F9B-7737-4E3E-A2D2-21C38AE1D3EB}"/>
              </a:ext>
            </a:extLst>
          </p:cNvPr>
          <p:cNvSpPr>
            <a:spLocks noGrp="1"/>
          </p:cNvSpPr>
          <p:nvPr/>
        </p:nvSpPr>
        <p:spPr>
          <a:xfrm>
            <a:off x="5448299" y="2039149"/>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7F9BBCC4-1160-4386-9257-F462A06C80A7}"/>
              </a:ext>
            </a:extLst>
          </p:cNvPr>
          <p:cNvSpPr>
            <a:spLocks noGrp="1"/>
          </p:cNvSpPr>
          <p:nvPr/>
        </p:nvSpPr>
        <p:spPr>
          <a:xfrm>
            <a:off x="5448299" y="2039149"/>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0.883</a:t>
            </a:r>
          </a:p>
        </p:txBody>
      </p:sp>
      <p:sp>
        <p:nvSpPr>
          <p:cNvPr id="53" name="Rectangle 52">
            <a:extLst>
              <a:ext uri="{FF2B5EF4-FFF2-40B4-BE49-F238E27FC236}">
                <a16:creationId xmlns:a16="http://schemas.microsoft.com/office/drawing/2014/main" id="{D17E9BB1-9B10-4FEC-A3C3-594064AA728E}"/>
              </a:ext>
            </a:extLst>
          </p:cNvPr>
          <p:cNvSpPr>
            <a:spLocks noGrp="1"/>
          </p:cNvSpPr>
          <p:nvPr/>
        </p:nvSpPr>
        <p:spPr>
          <a:xfrm>
            <a:off x="304800" y="2370263"/>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17AD3085-1199-4768-83F9-1EF65420DEBE}"/>
              </a:ext>
            </a:extLst>
          </p:cNvPr>
          <p:cNvSpPr>
            <a:spLocks noGrp="1"/>
          </p:cNvSpPr>
          <p:nvPr/>
        </p:nvSpPr>
        <p:spPr>
          <a:xfrm>
            <a:off x="304800" y="2452202"/>
            <a:ext cx="1103713"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GPT-5.4-0305 / M3</a:t>
            </a:r>
          </a:p>
        </p:txBody>
      </p:sp>
      <p:sp>
        <p:nvSpPr>
          <p:cNvPr id="55" name="Rectangle 54">
            <a:extLst>
              <a:ext uri="{FF2B5EF4-FFF2-40B4-BE49-F238E27FC236}">
                <a16:creationId xmlns:a16="http://schemas.microsoft.com/office/drawing/2014/main" id="{37CE9C95-0864-417E-B001-C54548E9BC5E}"/>
              </a:ext>
            </a:extLst>
          </p:cNvPr>
          <p:cNvSpPr>
            <a:spLocks noGrp="1"/>
          </p:cNvSpPr>
          <p:nvPr/>
        </p:nvSpPr>
        <p:spPr>
          <a:xfrm>
            <a:off x="2670686" y="2370263"/>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88B922BF-5E40-4A35-B5CD-B0D80E48FAB1}"/>
              </a:ext>
            </a:extLst>
          </p:cNvPr>
          <p:cNvSpPr>
            <a:spLocks noGrp="1"/>
          </p:cNvSpPr>
          <p:nvPr/>
        </p:nvSpPr>
        <p:spPr>
          <a:xfrm>
            <a:off x="2670686" y="2370263"/>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57" name="Rectangle 56">
            <a:extLst>
              <a:ext uri="{FF2B5EF4-FFF2-40B4-BE49-F238E27FC236}">
                <a16:creationId xmlns:a16="http://schemas.microsoft.com/office/drawing/2014/main" id="{F473C8AD-0D38-4A06-A1DE-BE8FFEC6399D}"/>
              </a:ext>
            </a:extLst>
          </p:cNvPr>
          <p:cNvSpPr>
            <a:spLocks noGrp="1"/>
          </p:cNvSpPr>
          <p:nvPr/>
        </p:nvSpPr>
        <p:spPr>
          <a:xfrm>
            <a:off x="3150009" y="2370263"/>
            <a:ext cx="58379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8" name="TextBox 57">
            <a:extLst>
              <a:ext uri="{FF2B5EF4-FFF2-40B4-BE49-F238E27FC236}">
                <a16:creationId xmlns:a16="http://schemas.microsoft.com/office/drawing/2014/main" id="{BEC94123-6197-4592-85EE-CED47F458F22}"/>
              </a:ext>
            </a:extLst>
          </p:cNvPr>
          <p:cNvSpPr>
            <a:spLocks noGrp="1"/>
          </p:cNvSpPr>
          <p:nvPr/>
        </p:nvSpPr>
        <p:spPr>
          <a:xfrm>
            <a:off x="3150009" y="2370263"/>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0.730</a:t>
            </a:r>
          </a:p>
        </p:txBody>
      </p:sp>
      <p:sp>
        <p:nvSpPr>
          <p:cNvPr id="59" name="Rectangle 58">
            <a:extLst>
              <a:ext uri="{FF2B5EF4-FFF2-40B4-BE49-F238E27FC236}">
                <a16:creationId xmlns:a16="http://schemas.microsoft.com/office/drawing/2014/main" id="{89F0E051-57E7-45CA-A0A4-009A8D42D813}"/>
              </a:ext>
            </a:extLst>
          </p:cNvPr>
          <p:cNvSpPr>
            <a:spLocks noGrp="1"/>
          </p:cNvSpPr>
          <p:nvPr/>
        </p:nvSpPr>
        <p:spPr>
          <a:xfrm>
            <a:off x="3733800" y="2370263"/>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0" name="TextBox 59">
            <a:extLst>
              <a:ext uri="{FF2B5EF4-FFF2-40B4-BE49-F238E27FC236}">
                <a16:creationId xmlns:a16="http://schemas.microsoft.com/office/drawing/2014/main" id="{1A39C949-EB33-480D-9F57-0783BCE409C2}"/>
              </a:ext>
            </a:extLst>
          </p:cNvPr>
          <p:cNvSpPr>
            <a:spLocks noGrp="1"/>
          </p:cNvSpPr>
          <p:nvPr/>
        </p:nvSpPr>
        <p:spPr>
          <a:xfrm>
            <a:off x="3733800" y="237026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0.297</a:t>
            </a:r>
          </a:p>
        </p:txBody>
      </p:sp>
      <p:sp>
        <p:nvSpPr>
          <p:cNvPr id="61" name="Rectangle 60">
            <a:extLst>
              <a:ext uri="{FF2B5EF4-FFF2-40B4-BE49-F238E27FC236}">
                <a16:creationId xmlns:a16="http://schemas.microsoft.com/office/drawing/2014/main" id="{5383BBE6-D9F5-4E3C-AE1D-0F37A0C24948}"/>
              </a:ext>
            </a:extLst>
          </p:cNvPr>
          <p:cNvSpPr>
            <a:spLocks noGrp="1"/>
          </p:cNvSpPr>
          <p:nvPr/>
        </p:nvSpPr>
        <p:spPr>
          <a:xfrm>
            <a:off x="4305300" y="2370263"/>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2" name="TextBox 61">
            <a:extLst>
              <a:ext uri="{FF2B5EF4-FFF2-40B4-BE49-F238E27FC236}">
                <a16:creationId xmlns:a16="http://schemas.microsoft.com/office/drawing/2014/main" id="{27DB66EF-7197-4AC2-A3F6-CC045AF0297D}"/>
              </a:ext>
            </a:extLst>
          </p:cNvPr>
          <p:cNvSpPr>
            <a:spLocks noGrp="1"/>
          </p:cNvSpPr>
          <p:nvPr/>
        </p:nvSpPr>
        <p:spPr>
          <a:xfrm>
            <a:off x="4305300" y="237026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0.859</a:t>
            </a:r>
          </a:p>
        </p:txBody>
      </p:sp>
      <p:sp>
        <p:nvSpPr>
          <p:cNvPr id="63" name="Rectangle 62">
            <a:extLst>
              <a:ext uri="{FF2B5EF4-FFF2-40B4-BE49-F238E27FC236}">
                <a16:creationId xmlns:a16="http://schemas.microsoft.com/office/drawing/2014/main" id="{C7F35C29-1A93-43CB-9F5A-D424AEB59BB8}"/>
              </a:ext>
            </a:extLst>
          </p:cNvPr>
          <p:cNvSpPr>
            <a:spLocks noGrp="1"/>
          </p:cNvSpPr>
          <p:nvPr/>
        </p:nvSpPr>
        <p:spPr>
          <a:xfrm>
            <a:off x="4876799" y="2370263"/>
            <a:ext cx="571500" cy="331113"/>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19F5D99A-5315-4672-A4DA-5E2122E93FC3}"/>
              </a:ext>
            </a:extLst>
          </p:cNvPr>
          <p:cNvSpPr>
            <a:spLocks noGrp="1"/>
          </p:cNvSpPr>
          <p:nvPr/>
        </p:nvSpPr>
        <p:spPr>
          <a:xfrm>
            <a:off x="4876799" y="237026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0.948</a:t>
            </a:r>
          </a:p>
        </p:txBody>
      </p:sp>
      <p:sp>
        <p:nvSpPr>
          <p:cNvPr id="65" name="Rectangle 64">
            <a:extLst>
              <a:ext uri="{FF2B5EF4-FFF2-40B4-BE49-F238E27FC236}">
                <a16:creationId xmlns:a16="http://schemas.microsoft.com/office/drawing/2014/main" id="{599DDA1C-813C-4F15-A273-FCE8196F84FC}"/>
              </a:ext>
            </a:extLst>
          </p:cNvPr>
          <p:cNvSpPr>
            <a:spLocks noGrp="1"/>
          </p:cNvSpPr>
          <p:nvPr/>
        </p:nvSpPr>
        <p:spPr>
          <a:xfrm>
            <a:off x="5448299" y="2370263"/>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6" name="TextBox 65">
            <a:extLst>
              <a:ext uri="{FF2B5EF4-FFF2-40B4-BE49-F238E27FC236}">
                <a16:creationId xmlns:a16="http://schemas.microsoft.com/office/drawing/2014/main" id="{27F7CCFA-568C-4534-8870-BE3AD29B3E8A}"/>
              </a:ext>
            </a:extLst>
          </p:cNvPr>
          <p:cNvSpPr>
            <a:spLocks noGrp="1"/>
          </p:cNvSpPr>
          <p:nvPr/>
        </p:nvSpPr>
        <p:spPr>
          <a:xfrm>
            <a:off x="5448299" y="237026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0.817</a:t>
            </a:r>
          </a:p>
        </p:txBody>
      </p:sp>
      <p:sp>
        <p:nvSpPr>
          <p:cNvPr id="67" name="Rectangle 66">
            <a:extLst>
              <a:ext uri="{FF2B5EF4-FFF2-40B4-BE49-F238E27FC236}">
                <a16:creationId xmlns:a16="http://schemas.microsoft.com/office/drawing/2014/main" id="{CDD42EBF-E49F-4D27-8C23-D9826EBD38B4}"/>
              </a:ext>
            </a:extLst>
          </p:cNvPr>
          <p:cNvSpPr>
            <a:spLocks noGrp="1"/>
          </p:cNvSpPr>
          <p:nvPr/>
        </p:nvSpPr>
        <p:spPr>
          <a:xfrm>
            <a:off x="304800" y="2701375"/>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8" name="TextBox 67">
            <a:extLst>
              <a:ext uri="{FF2B5EF4-FFF2-40B4-BE49-F238E27FC236}">
                <a16:creationId xmlns:a16="http://schemas.microsoft.com/office/drawing/2014/main" id="{1D0C7424-24A4-4D72-BBF4-95EA83B16E90}"/>
              </a:ext>
            </a:extLst>
          </p:cNvPr>
          <p:cNvSpPr>
            <a:spLocks noGrp="1"/>
          </p:cNvSpPr>
          <p:nvPr/>
        </p:nvSpPr>
        <p:spPr>
          <a:xfrm>
            <a:off x="304800" y="2783314"/>
            <a:ext cx="1103713"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GPT-5.4-0305 / M4</a:t>
            </a:r>
          </a:p>
        </p:txBody>
      </p:sp>
      <p:sp>
        <p:nvSpPr>
          <p:cNvPr id="69" name="Rectangle 68">
            <a:extLst>
              <a:ext uri="{FF2B5EF4-FFF2-40B4-BE49-F238E27FC236}">
                <a16:creationId xmlns:a16="http://schemas.microsoft.com/office/drawing/2014/main" id="{642C5045-5DAC-41C1-941B-8183DCF414E6}"/>
              </a:ext>
            </a:extLst>
          </p:cNvPr>
          <p:cNvSpPr>
            <a:spLocks noGrp="1"/>
          </p:cNvSpPr>
          <p:nvPr/>
        </p:nvSpPr>
        <p:spPr>
          <a:xfrm>
            <a:off x="2670686" y="2701375"/>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0" name="TextBox 69">
            <a:extLst>
              <a:ext uri="{FF2B5EF4-FFF2-40B4-BE49-F238E27FC236}">
                <a16:creationId xmlns:a16="http://schemas.microsoft.com/office/drawing/2014/main" id="{5912194B-03C6-4451-9A62-4BC930EF0FCE}"/>
              </a:ext>
            </a:extLst>
          </p:cNvPr>
          <p:cNvSpPr>
            <a:spLocks noGrp="1"/>
          </p:cNvSpPr>
          <p:nvPr/>
        </p:nvSpPr>
        <p:spPr>
          <a:xfrm>
            <a:off x="2670686" y="2701375"/>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71" name="Rectangle 70">
            <a:extLst>
              <a:ext uri="{FF2B5EF4-FFF2-40B4-BE49-F238E27FC236}">
                <a16:creationId xmlns:a16="http://schemas.microsoft.com/office/drawing/2014/main" id="{AAA5E8F4-AF52-4207-BDB5-5883FADC5750}"/>
              </a:ext>
            </a:extLst>
          </p:cNvPr>
          <p:cNvSpPr>
            <a:spLocks noGrp="1"/>
          </p:cNvSpPr>
          <p:nvPr/>
        </p:nvSpPr>
        <p:spPr>
          <a:xfrm>
            <a:off x="3150009" y="2701375"/>
            <a:ext cx="58379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2" name="TextBox 71">
            <a:extLst>
              <a:ext uri="{FF2B5EF4-FFF2-40B4-BE49-F238E27FC236}">
                <a16:creationId xmlns:a16="http://schemas.microsoft.com/office/drawing/2014/main" id="{901040AE-84BF-4685-9F02-4CBE218C0828}"/>
              </a:ext>
            </a:extLst>
          </p:cNvPr>
          <p:cNvSpPr>
            <a:spLocks noGrp="1"/>
          </p:cNvSpPr>
          <p:nvPr/>
        </p:nvSpPr>
        <p:spPr>
          <a:xfrm>
            <a:off x="3150009" y="2701375"/>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0.705</a:t>
            </a:r>
          </a:p>
        </p:txBody>
      </p:sp>
      <p:sp>
        <p:nvSpPr>
          <p:cNvPr id="73" name="Rectangle 72">
            <a:extLst>
              <a:ext uri="{FF2B5EF4-FFF2-40B4-BE49-F238E27FC236}">
                <a16:creationId xmlns:a16="http://schemas.microsoft.com/office/drawing/2014/main" id="{65926764-CCAC-4E26-9747-20146F3EF3B7}"/>
              </a:ext>
            </a:extLst>
          </p:cNvPr>
          <p:cNvSpPr>
            <a:spLocks noGrp="1"/>
          </p:cNvSpPr>
          <p:nvPr/>
        </p:nvSpPr>
        <p:spPr>
          <a:xfrm>
            <a:off x="3733800" y="2701375"/>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4" name="TextBox 73">
            <a:extLst>
              <a:ext uri="{FF2B5EF4-FFF2-40B4-BE49-F238E27FC236}">
                <a16:creationId xmlns:a16="http://schemas.microsoft.com/office/drawing/2014/main" id="{08CDBB3E-DB75-4624-B675-4FA13937BC11}"/>
              </a:ext>
            </a:extLst>
          </p:cNvPr>
          <p:cNvSpPr>
            <a:spLocks noGrp="1"/>
          </p:cNvSpPr>
          <p:nvPr/>
        </p:nvSpPr>
        <p:spPr>
          <a:xfrm>
            <a:off x="3733800" y="270137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0.406</a:t>
            </a:r>
          </a:p>
        </p:txBody>
      </p:sp>
      <p:sp>
        <p:nvSpPr>
          <p:cNvPr id="75" name="Rectangle 74">
            <a:extLst>
              <a:ext uri="{FF2B5EF4-FFF2-40B4-BE49-F238E27FC236}">
                <a16:creationId xmlns:a16="http://schemas.microsoft.com/office/drawing/2014/main" id="{07479829-B359-41C4-AC91-8302F58556FB}"/>
              </a:ext>
            </a:extLst>
          </p:cNvPr>
          <p:cNvSpPr>
            <a:spLocks noGrp="1"/>
          </p:cNvSpPr>
          <p:nvPr/>
        </p:nvSpPr>
        <p:spPr>
          <a:xfrm>
            <a:off x="4305300" y="2701375"/>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6" name="TextBox 75">
            <a:extLst>
              <a:ext uri="{FF2B5EF4-FFF2-40B4-BE49-F238E27FC236}">
                <a16:creationId xmlns:a16="http://schemas.microsoft.com/office/drawing/2014/main" id="{E60FA1DE-0D7E-425A-9648-F2DA5D3E6F61}"/>
              </a:ext>
            </a:extLst>
          </p:cNvPr>
          <p:cNvSpPr>
            <a:spLocks noGrp="1"/>
          </p:cNvSpPr>
          <p:nvPr/>
        </p:nvSpPr>
        <p:spPr>
          <a:xfrm>
            <a:off x="4305300" y="270137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0.822</a:t>
            </a:r>
          </a:p>
        </p:txBody>
      </p:sp>
      <p:sp>
        <p:nvSpPr>
          <p:cNvPr id="77" name="Rectangle 76">
            <a:extLst>
              <a:ext uri="{FF2B5EF4-FFF2-40B4-BE49-F238E27FC236}">
                <a16:creationId xmlns:a16="http://schemas.microsoft.com/office/drawing/2014/main" id="{5AAD3064-AAF1-4AEA-8511-45AC16DA82BF}"/>
              </a:ext>
            </a:extLst>
          </p:cNvPr>
          <p:cNvSpPr>
            <a:spLocks noGrp="1"/>
          </p:cNvSpPr>
          <p:nvPr/>
        </p:nvSpPr>
        <p:spPr>
          <a:xfrm>
            <a:off x="4876799" y="2701375"/>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 name="TextBox 77">
            <a:extLst>
              <a:ext uri="{FF2B5EF4-FFF2-40B4-BE49-F238E27FC236}">
                <a16:creationId xmlns:a16="http://schemas.microsoft.com/office/drawing/2014/main" id="{F3CD4649-34B1-408F-8084-F8558E705554}"/>
              </a:ext>
            </a:extLst>
          </p:cNvPr>
          <p:cNvSpPr>
            <a:spLocks noGrp="1"/>
          </p:cNvSpPr>
          <p:nvPr/>
        </p:nvSpPr>
        <p:spPr>
          <a:xfrm>
            <a:off x="4876799" y="270137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0.855</a:t>
            </a:r>
          </a:p>
        </p:txBody>
      </p:sp>
      <p:sp>
        <p:nvSpPr>
          <p:cNvPr id="79" name="Rectangle 78">
            <a:extLst>
              <a:ext uri="{FF2B5EF4-FFF2-40B4-BE49-F238E27FC236}">
                <a16:creationId xmlns:a16="http://schemas.microsoft.com/office/drawing/2014/main" id="{0BF534A7-1F1B-4AB9-BC98-87851DDF20BD}"/>
              </a:ext>
            </a:extLst>
          </p:cNvPr>
          <p:cNvSpPr>
            <a:spLocks noGrp="1"/>
          </p:cNvSpPr>
          <p:nvPr/>
        </p:nvSpPr>
        <p:spPr>
          <a:xfrm>
            <a:off x="5448299" y="2701375"/>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0" name="TextBox 79">
            <a:extLst>
              <a:ext uri="{FF2B5EF4-FFF2-40B4-BE49-F238E27FC236}">
                <a16:creationId xmlns:a16="http://schemas.microsoft.com/office/drawing/2014/main" id="{F4ADABC3-F9D3-4AE3-8A8F-76BB0A66A639}"/>
              </a:ext>
            </a:extLst>
          </p:cNvPr>
          <p:cNvSpPr>
            <a:spLocks noGrp="1"/>
          </p:cNvSpPr>
          <p:nvPr/>
        </p:nvSpPr>
        <p:spPr>
          <a:xfrm>
            <a:off x="5448299" y="270137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0.737</a:t>
            </a:r>
          </a:p>
        </p:txBody>
      </p:sp>
      <p:sp>
        <p:nvSpPr>
          <p:cNvPr id="81" name="Rectangle 80">
            <a:extLst>
              <a:ext uri="{FF2B5EF4-FFF2-40B4-BE49-F238E27FC236}">
                <a16:creationId xmlns:a16="http://schemas.microsoft.com/office/drawing/2014/main" id="{5E003BF2-E5EC-4E5E-9754-0BEA30C7CC02}"/>
              </a:ext>
            </a:extLst>
          </p:cNvPr>
          <p:cNvSpPr>
            <a:spLocks noGrp="1"/>
          </p:cNvSpPr>
          <p:nvPr/>
        </p:nvSpPr>
        <p:spPr>
          <a:xfrm>
            <a:off x="304800" y="3032488"/>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2" name="TextBox 81">
            <a:extLst>
              <a:ext uri="{FF2B5EF4-FFF2-40B4-BE49-F238E27FC236}">
                <a16:creationId xmlns:a16="http://schemas.microsoft.com/office/drawing/2014/main" id="{A38921E5-DFC9-46F4-B49C-7867035268E0}"/>
              </a:ext>
            </a:extLst>
          </p:cNvPr>
          <p:cNvSpPr>
            <a:spLocks noGrp="1"/>
          </p:cNvSpPr>
          <p:nvPr/>
        </p:nvSpPr>
        <p:spPr>
          <a:xfrm>
            <a:off x="304800" y="3114427"/>
            <a:ext cx="1039447"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Mistral-2512 / M4</a:t>
            </a:r>
          </a:p>
        </p:txBody>
      </p:sp>
      <p:sp>
        <p:nvSpPr>
          <p:cNvPr id="83" name="Rectangle 82">
            <a:extLst>
              <a:ext uri="{FF2B5EF4-FFF2-40B4-BE49-F238E27FC236}">
                <a16:creationId xmlns:a16="http://schemas.microsoft.com/office/drawing/2014/main" id="{792167D4-5504-4B94-9072-860C4F47DEB1}"/>
              </a:ext>
            </a:extLst>
          </p:cNvPr>
          <p:cNvSpPr>
            <a:spLocks noGrp="1"/>
          </p:cNvSpPr>
          <p:nvPr/>
        </p:nvSpPr>
        <p:spPr>
          <a:xfrm>
            <a:off x="2670686" y="3032488"/>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4" name="TextBox 83">
            <a:extLst>
              <a:ext uri="{FF2B5EF4-FFF2-40B4-BE49-F238E27FC236}">
                <a16:creationId xmlns:a16="http://schemas.microsoft.com/office/drawing/2014/main" id="{F6C157D1-71DB-4109-89FD-959E9F347561}"/>
              </a:ext>
            </a:extLst>
          </p:cNvPr>
          <p:cNvSpPr>
            <a:spLocks noGrp="1"/>
          </p:cNvSpPr>
          <p:nvPr/>
        </p:nvSpPr>
        <p:spPr>
          <a:xfrm>
            <a:off x="2670686" y="3032488"/>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85" name="Rectangle 84">
            <a:extLst>
              <a:ext uri="{FF2B5EF4-FFF2-40B4-BE49-F238E27FC236}">
                <a16:creationId xmlns:a16="http://schemas.microsoft.com/office/drawing/2014/main" id="{76B5D0E6-3192-434C-9481-1FE14C64E529}"/>
              </a:ext>
            </a:extLst>
          </p:cNvPr>
          <p:cNvSpPr>
            <a:spLocks noGrp="1"/>
          </p:cNvSpPr>
          <p:nvPr/>
        </p:nvSpPr>
        <p:spPr>
          <a:xfrm>
            <a:off x="3150009" y="3032488"/>
            <a:ext cx="58379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6" name="TextBox 85">
            <a:extLst>
              <a:ext uri="{FF2B5EF4-FFF2-40B4-BE49-F238E27FC236}">
                <a16:creationId xmlns:a16="http://schemas.microsoft.com/office/drawing/2014/main" id="{2AF42B68-2968-403E-89BC-496FD2E0BE4D}"/>
              </a:ext>
            </a:extLst>
          </p:cNvPr>
          <p:cNvSpPr>
            <a:spLocks noGrp="1"/>
          </p:cNvSpPr>
          <p:nvPr/>
        </p:nvSpPr>
        <p:spPr>
          <a:xfrm>
            <a:off x="3150009" y="3032488"/>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0.610</a:t>
            </a:r>
          </a:p>
        </p:txBody>
      </p:sp>
      <p:sp>
        <p:nvSpPr>
          <p:cNvPr id="87" name="Rectangle 86">
            <a:extLst>
              <a:ext uri="{FF2B5EF4-FFF2-40B4-BE49-F238E27FC236}">
                <a16:creationId xmlns:a16="http://schemas.microsoft.com/office/drawing/2014/main" id="{20FF3080-0E4F-47D3-BDA0-33CDE9091013}"/>
              </a:ext>
            </a:extLst>
          </p:cNvPr>
          <p:cNvSpPr>
            <a:spLocks noGrp="1"/>
          </p:cNvSpPr>
          <p:nvPr/>
        </p:nvSpPr>
        <p:spPr>
          <a:xfrm>
            <a:off x="3733800" y="3032488"/>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8" name="TextBox 87">
            <a:extLst>
              <a:ext uri="{FF2B5EF4-FFF2-40B4-BE49-F238E27FC236}">
                <a16:creationId xmlns:a16="http://schemas.microsoft.com/office/drawing/2014/main" id="{D13DE3E9-ED92-4BE7-8143-C5F8FD0071C4}"/>
              </a:ext>
            </a:extLst>
          </p:cNvPr>
          <p:cNvSpPr>
            <a:spLocks noGrp="1"/>
          </p:cNvSpPr>
          <p:nvPr/>
        </p:nvSpPr>
        <p:spPr>
          <a:xfrm>
            <a:off x="3733800" y="303248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0.380</a:t>
            </a:r>
          </a:p>
        </p:txBody>
      </p:sp>
      <p:sp>
        <p:nvSpPr>
          <p:cNvPr id="89" name="Rectangle 88">
            <a:extLst>
              <a:ext uri="{FF2B5EF4-FFF2-40B4-BE49-F238E27FC236}">
                <a16:creationId xmlns:a16="http://schemas.microsoft.com/office/drawing/2014/main" id="{999D9E59-5141-41B3-A3F1-6E073CD63A63}"/>
              </a:ext>
            </a:extLst>
          </p:cNvPr>
          <p:cNvSpPr>
            <a:spLocks noGrp="1"/>
          </p:cNvSpPr>
          <p:nvPr/>
        </p:nvSpPr>
        <p:spPr>
          <a:xfrm>
            <a:off x="4305300" y="3032488"/>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0" name="TextBox 89">
            <a:extLst>
              <a:ext uri="{FF2B5EF4-FFF2-40B4-BE49-F238E27FC236}">
                <a16:creationId xmlns:a16="http://schemas.microsoft.com/office/drawing/2014/main" id="{955D71EF-FC5D-41C2-ADE7-C5F7C4B3F50C}"/>
              </a:ext>
            </a:extLst>
          </p:cNvPr>
          <p:cNvSpPr>
            <a:spLocks noGrp="1"/>
          </p:cNvSpPr>
          <p:nvPr/>
        </p:nvSpPr>
        <p:spPr>
          <a:xfrm>
            <a:off x="4305300" y="303248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0.351</a:t>
            </a:r>
          </a:p>
        </p:txBody>
      </p:sp>
      <p:sp>
        <p:nvSpPr>
          <p:cNvPr id="91" name="Rectangle 90">
            <a:extLst>
              <a:ext uri="{FF2B5EF4-FFF2-40B4-BE49-F238E27FC236}">
                <a16:creationId xmlns:a16="http://schemas.microsoft.com/office/drawing/2014/main" id="{BCF92955-578B-4A0A-9576-CA907BC7269E}"/>
              </a:ext>
            </a:extLst>
          </p:cNvPr>
          <p:cNvSpPr>
            <a:spLocks noGrp="1"/>
          </p:cNvSpPr>
          <p:nvPr/>
        </p:nvSpPr>
        <p:spPr>
          <a:xfrm>
            <a:off x="4876799" y="3032488"/>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2" name="TextBox 91">
            <a:extLst>
              <a:ext uri="{FF2B5EF4-FFF2-40B4-BE49-F238E27FC236}">
                <a16:creationId xmlns:a16="http://schemas.microsoft.com/office/drawing/2014/main" id="{DB81C13D-EFE0-4004-8451-3B48785C2222}"/>
              </a:ext>
            </a:extLst>
          </p:cNvPr>
          <p:cNvSpPr>
            <a:spLocks noGrp="1"/>
          </p:cNvSpPr>
          <p:nvPr/>
        </p:nvSpPr>
        <p:spPr>
          <a:xfrm>
            <a:off x="4876799" y="303248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0.830</a:t>
            </a:r>
          </a:p>
        </p:txBody>
      </p:sp>
      <p:sp>
        <p:nvSpPr>
          <p:cNvPr id="93" name="Rectangle 92">
            <a:extLst>
              <a:ext uri="{FF2B5EF4-FFF2-40B4-BE49-F238E27FC236}">
                <a16:creationId xmlns:a16="http://schemas.microsoft.com/office/drawing/2014/main" id="{3413E145-DA0F-4DB9-A13E-9F1854DA0C6F}"/>
              </a:ext>
            </a:extLst>
          </p:cNvPr>
          <p:cNvSpPr>
            <a:spLocks noGrp="1"/>
          </p:cNvSpPr>
          <p:nvPr/>
        </p:nvSpPr>
        <p:spPr>
          <a:xfrm>
            <a:off x="5448299" y="3032488"/>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4" name="TextBox 93">
            <a:extLst>
              <a:ext uri="{FF2B5EF4-FFF2-40B4-BE49-F238E27FC236}">
                <a16:creationId xmlns:a16="http://schemas.microsoft.com/office/drawing/2014/main" id="{F462C1D9-5E57-4358-A2BF-AF69910A5DAA}"/>
              </a:ext>
            </a:extLst>
          </p:cNvPr>
          <p:cNvSpPr>
            <a:spLocks noGrp="1"/>
          </p:cNvSpPr>
          <p:nvPr/>
        </p:nvSpPr>
        <p:spPr>
          <a:xfrm>
            <a:off x="5448299" y="303248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0.876</a:t>
            </a:r>
          </a:p>
        </p:txBody>
      </p:sp>
      <p:sp>
        <p:nvSpPr>
          <p:cNvPr id="95" name="Rectangle 94">
            <a:extLst>
              <a:ext uri="{FF2B5EF4-FFF2-40B4-BE49-F238E27FC236}">
                <a16:creationId xmlns:a16="http://schemas.microsoft.com/office/drawing/2014/main" id="{443AF7E5-9AAF-4841-9229-3AB159D15E06}"/>
              </a:ext>
            </a:extLst>
          </p:cNvPr>
          <p:cNvSpPr>
            <a:spLocks noGrp="1"/>
          </p:cNvSpPr>
          <p:nvPr/>
        </p:nvSpPr>
        <p:spPr>
          <a:xfrm>
            <a:off x="304800" y="3363601"/>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6" name="TextBox 95">
            <a:extLst>
              <a:ext uri="{FF2B5EF4-FFF2-40B4-BE49-F238E27FC236}">
                <a16:creationId xmlns:a16="http://schemas.microsoft.com/office/drawing/2014/main" id="{9E86BDC8-A5E4-4A13-928E-53DC5570DED8}"/>
              </a:ext>
            </a:extLst>
          </p:cNvPr>
          <p:cNvSpPr>
            <a:spLocks noGrp="1"/>
          </p:cNvSpPr>
          <p:nvPr/>
        </p:nvSpPr>
        <p:spPr>
          <a:xfrm>
            <a:off x="304800" y="3445540"/>
            <a:ext cx="1103713"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GPT-5.4-0305 / M2</a:t>
            </a:r>
          </a:p>
        </p:txBody>
      </p:sp>
      <p:sp>
        <p:nvSpPr>
          <p:cNvPr id="97" name="Rectangle 96">
            <a:extLst>
              <a:ext uri="{FF2B5EF4-FFF2-40B4-BE49-F238E27FC236}">
                <a16:creationId xmlns:a16="http://schemas.microsoft.com/office/drawing/2014/main" id="{6C17F7F1-1504-4F07-B4B3-B4F2CB46A3E4}"/>
              </a:ext>
            </a:extLst>
          </p:cNvPr>
          <p:cNvSpPr>
            <a:spLocks noGrp="1"/>
          </p:cNvSpPr>
          <p:nvPr/>
        </p:nvSpPr>
        <p:spPr>
          <a:xfrm>
            <a:off x="2670686" y="3363601"/>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8" name="TextBox 97">
            <a:extLst>
              <a:ext uri="{FF2B5EF4-FFF2-40B4-BE49-F238E27FC236}">
                <a16:creationId xmlns:a16="http://schemas.microsoft.com/office/drawing/2014/main" id="{7C40F9D2-965F-414A-85A9-E31D9FC1FB44}"/>
              </a:ext>
            </a:extLst>
          </p:cNvPr>
          <p:cNvSpPr>
            <a:spLocks noGrp="1"/>
          </p:cNvSpPr>
          <p:nvPr/>
        </p:nvSpPr>
        <p:spPr>
          <a:xfrm>
            <a:off x="2670686" y="3363601"/>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99" name="Rectangle 98">
            <a:extLst>
              <a:ext uri="{FF2B5EF4-FFF2-40B4-BE49-F238E27FC236}">
                <a16:creationId xmlns:a16="http://schemas.microsoft.com/office/drawing/2014/main" id="{AC8AF7BE-D5D7-4EC2-84DE-C0FAE6902A88}"/>
              </a:ext>
            </a:extLst>
          </p:cNvPr>
          <p:cNvSpPr>
            <a:spLocks noGrp="1"/>
          </p:cNvSpPr>
          <p:nvPr/>
        </p:nvSpPr>
        <p:spPr>
          <a:xfrm>
            <a:off x="3150009" y="3363601"/>
            <a:ext cx="58379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0" name="TextBox 99">
            <a:extLst>
              <a:ext uri="{FF2B5EF4-FFF2-40B4-BE49-F238E27FC236}">
                <a16:creationId xmlns:a16="http://schemas.microsoft.com/office/drawing/2014/main" id="{B1926365-2DB5-41E3-B07E-654F2138AD4A}"/>
              </a:ext>
            </a:extLst>
          </p:cNvPr>
          <p:cNvSpPr>
            <a:spLocks noGrp="1"/>
          </p:cNvSpPr>
          <p:nvPr/>
        </p:nvSpPr>
        <p:spPr>
          <a:xfrm>
            <a:off x="3150009" y="3363601"/>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0.590</a:t>
            </a:r>
          </a:p>
        </p:txBody>
      </p:sp>
      <p:sp>
        <p:nvSpPr>
          <p:cNvPr id="101" name="Rectangle 100">
            <a:extLst>
              <a:ext uri="{FF2B5EF4-FFF2-40B4-BE49-F238E27FC236}">
                <a16:creationId xmlns:a16="http://schemas.microsoft.com/office/drawing/2014/main" id="{C6F268BF-A78C-40E8-835E-6DCFAE7BBA81}"/>
              </a:ext>
            </a:extLst>
          </p:cNvPr>
          <p:cNvSpPr>
            <a:spLocks noGrp="1"/>
          </p:cNvSpPr>
          <p:nvPr/>
        </p:nvSpPr>
        <p:spPr>
          <a:xfrm>
            <a:off x="3733800" y="3363601"/>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2" name="TextBox 101">
            <a:extLst>
              <a:ext uri="{FF2B5EF4-FFF2-40B4-BE49-F238E27FC236}">
                <a16:creationId xmlns:a16="http://schemas.microsoft.com/office/drawing/2014/main" id="{88470C57-F92D-4C8A-8753-D404ADF48149}"/>
              </a:ext>
            </a:extLst>
          </p:cNvPr>
          <p:cNvSpPr>
            <a:spLocks noGrp="1"/>
          </p:cNvSpPr>
          <p:nvPr/>
        </p:nvSpPr>
        <p:spPr>
          <a:xfrm>
            <a:off x="3733800" y="336360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0.120</a:t>
            </a:r>
          </a:p>
        </p:txBody>
      </p:sp>
      <p:sp>
        <p:nvSpPr>
          <p:cNvPr id="103" name="Rectangle 102">
            <a:extLst>
              <a:ext uri="{FF2B5EF4-FFF2-40B4-BE49-F238E27FC236}">
                <a16:creationId xmlns:a16="http://schemas.microsoft.com/office/drawing/2014/main" id="{687661BE-2A08-4051-9A0B-76FA1440EEA0}"/>
              </a:ext>
            </a:extLst>
          </p:cNvPr>
          <p:cNvSpPr>
            <a:spLocks noGrp="1"/>
          </p:cNvSpPr>
          <p:nvPr/>
        </p:nvSpPr>
        <p:spPr>
          <a:xfrm>
            <a:off x="4305300" y="3363601"/>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4" name="TextBox 103">
            <a:extLst>
              <a:ext uri="{FF2B5EF4-FFF2-40B4-BE49-F238E27FC236}">
                <a16:creationId xmlns:a16="http://schemas.microsoft.com/office/drawing/2014/main" id="{BE684AA2-C5ED-470B-BCAF-169529103A58}"/>
              </a:ext>
            </a:extLst>
          </p:cNvPr>
          <p:cNvSpPr>
            <a:spLocks noGrp="1"/>
          </p:cNvSpPr>
          <p:nvPr/>
        </p:nvSpPr>
        <p:spPr>
          <a:xfrm>
            <a:off x="4305300" y="336360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0.777</a:t>
            </a:r>
          </a:p>
        </p:txBody>
      </p:sp>
      <p:sp>
        <p:nvSpPr>
          <p:cNvPr id="105" name="Rectangle 104">
            <a:extLst>
              <a:ext uri="{FF2B5EF4-FFF2-40B4-BE49-F238E27FC236}">
                <a16:creationId xmlns:a16="http://schemas.microsoft.com/office/drawing/2014/main" id="{5E20A880-3255-4C81-8219-3FCB16B60706}"/>
              </a:ext>
            </a:extLst>
          </p:cNvPr>
          <p:cNvSpPr>
            <a:spLocks noGrp="1"/>
          </p:cNvSpPr>
          <p:nvPr/>
        </p:nvSpPr>
        <p:spPr>
          <a:xfrm>
            <a:off x="4876799" y="3363601"/>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6" name="TextBox 105">
            <a:extLst>
              <a:ext uri="{FF2B5EF4-FFF2-40B4-BE49-F238E27FC236}">
                <a16:creationId xmlns:a16="http://schemas.microsoft.com/office/drawing/2014/main" id="{453C89F7-4821-4AED-B99F-852892C3DC81}"/>
              </a:ext>
            </a:extLst>
          </p:cNvPr>
          <p:cNvSpPr>
            <a:spLocks noGrp="1"/>
          </p:cNvSpPr>
          <p:nvPr/>
        </p:nvSpPr>
        <p:spPr>
          <a:xfrm>
            <a:off x="4876799" y="336360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0.752</a:t>
            </a:r>
          </a:p>
        </p:txBody>
      </p:sp>
      <p:sp>
        <p:nvSpPr>
          <p:cNvPr id="107" name="Rectangle 106">
            <a:extLst>
              <a:ext uri="{FF2B5EF4-FFF2-40B4-BE49-F238E27FC236}">
                <a16:creationId xmlns:a16="http://schemas.microsoft.com/office/drawing/2014/main" id="{CDD8C8DC-DC28-4E2D-99B8-B06696712AEB}"/>
              </a:ext>
            </a:extLst>
          </p:cNvPr>
          <p:cNvSpPr>
            <a:spLocks noGrp="1"/>
          </p:cNvSpPr>
          <p:nvPr/>
        </p:nvSpPr>
        <p:spPr>
          <a:xfrm>
            <a:off x="5448299" y="3363601"/>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8" name="TextBox 107">
            <a:extLst>
              <a:ext uri="{FF2B5EF4-FFF2-40B4-BE49-F238E27FC236}">
                <a16:creationId xmlns:a16="http://schemas.microsoft.com/office/drawing/2014/main" id="{47C12324-CB8A-43C7-BBCC-6C03C986ACEB}"/>
              </a:ext>
            </a:extLst>
          </p:cNvPr>
          <p:cNvSpPr>
            <a:spLocks noGrp="1"/>
          </p:cNvSpPr>
          <p:nvPr/>
        </p:nvSpPr>
        <p:spPr>
          <a:xfrm>
            <a:off x="5448299" y="336360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0.711</a:t>
            </a:r>
          </a:p>
        </p:txBody>
      </p:sp>
      <p:sp>
        <p:nvSpPr>
          <p:cNvPr id="109" name="Rectangle 108">
            <a:extLst>
              <a:ext uri="{FF2B5EF4-FFF2-40B4-BE49-F238E27FC236}">
                <a16:creationId xmlns:a16="http://schemas.microsoft.com/office/drawing/2014/main" id="{FD0A8490-930F-49FA-A8CE-B20069832F2A}"/>
              </a:ext>
            </a:extLst>
          </p:cNvPr>
          <p:cNvSpPr>
            <a:spLocks noGrp="1"/>
          </p:cNvSpPr>
          <p:nvPr/>
        </p:nvSpPr>
        <p:spPr>
          <a:xfrm>
            <a:off x="304800" y="3694713"/>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0" name="TextBox 109">
            <a:extLst>
              <a:ext uri="{FF2B5EF4-FFF2-40B4-BE49-F238E27FC236}">
                <a16:creationId xmlns:a16="http://schemas.microsoft.com/office/drawing/2014/main" id="{44181735-2F36-433E-8FB0-165A99BA4CD3}"/>
              </a:ext>
            </a:extLst>
          </p:cNvPr>
          <p:cNvSpPr>
            <a:spLocks noGrp="1"/>
          </p:cNvSpPr>
          <p:nvPr/>
        </p:nvSpPr>
        <p:spPr>
          <a:xfrm>
            <a:off x="304800" y="3776652"/>
            <a:ext cx="1103713"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GPT-5.4-0305 / M1</a:t>
            </a:r>
          </a:p>
        </p:txBody>
      </p:sp>
      <p:sp>
        <p:nvSpPr>
          <p:cNvPr id="111" name="Rectangle 110">
            <a:extLst>
              <a:ext uri="{FF2B5EF4-FFF2-40B4-BE49-F238E27FC236}">
                <a16:creationId xmlns:a16="http://schemas.microsoft.com/office/drawing/2014/main" id="{38215F00-E05E-463E-9A51-29A1E0B1411C}"/>
              </a:ext>
            </a:extLst>
          </p:cNvPr>
          <p:cNvSpPr>
            <a:spLocks noGrp="1"/>
          </p:cNvSpPr>
          <p:nvPr/>
        </p:nvSpPr>
        <p:spPr>
          <a:xfrm>
            <a:off x="2670686" y="3694713"/>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2" name="TextBox 111">
            <a:extLst>
              <a:ext uri="{FF2B5EF4-FFF2-40B4-BE49-F238E27FC236}">
                <a16:creationId xmlns:a16="http://schemas.microsoft.com/office/drawing/2014/main" id="{60314F72-698C-49B7-84CD-A20CAE39B68D}"/>
              </a:ext>
            </a:extLst>
          </p:cNvPr>
          <p:cNvSpPr>
            <a:spLocks noGrp="1"/>
          </p:cNvSpPr>
          <p:nvPr/>
        </p:nvSpPr>
        <p:spPr>
          <a:xfrm>
            <a:off x="2670686" y="3694713"/>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113" name="Rectangle 112">
            <a:extLst>
              <a:ext uri="{FF2B5EF4-FFF2-40B4-BE49-F238E27FC236}">
                <a16:creationId xmlns:a16="http://schemas.microsoft.com/office/drawing/2014/main" id="{DC3F4F25-112A-46D8-9775-DD321DCDD75A}"/>
              </a:ext>
            </a:extLst>
          </p:cNvPr>
          <p:cNvSpPr>
            <a:spLocks noGrp="1"/>
          </p:cNvSpPr>
          <p:nvPr/>
        </p:nvSpPr>
        <p:spPr>
          <a:xfrm>
            <a:off x="3150009" y="3694713"/>
            <a:ext cx="58379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4" name="TextBox 113">
            <a:extLst>
              <a:ext uri="{FF2B5EF4-FFF2-40B4-BE49-F238E27FC236}">
                <a16:creationId xmlns:a16="http://schemas.microsoft.com/office/drawing/2014/main" id="{C30CA527-4597-4FA3-981F-6CFFFD5113E9}"/>
              </a:ext>
            </a:extLst>
          </p:cNvPr>
          <p:cNvSpPr>
            <a:spLocks noGrp="1"/>
          </p:cNvSpPr>
          <p:nvPr/>
        </p:nvSpPr>
        <p:spPr>
          <a:xfrm>
            <a:off x="3150009" y="3694713"/>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0.554</a:t>
            </a:r>
          </a:p>
        </p:txBody>
      </p:sp>
      <p:sp>
        <p:nvSpPr>
          <p:cNvPr id="115" name="Rectangle 114">
            <a:extLst>
              <a:ext uri="{FF2B5EF4-FFF2-40B4-BE49-F238E27FC236}">
                <a16:creationId xmlns:a16="http://schemas.microsoft.com/office/drawing/2014/main" id="{00BA6472-BF17-4BCD-96E9-C1F2BA949A2E}"/>
              </a:ext>
            </a:extLst>
          </p:cNvPr>
          <p:cNvSpPr>
            <a:spLocks noGrp="1"/>
          </p:cNvSpPr>
          <p:nvPr/>
        </p:nvSpPr>
        <p:spPr>
          <a:xfrm>
            <a:off x="3733800" y="3694713"/>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6" name="TextBox 115">
            <a:extLst>
              <a:ext uri="{FF2B5EF4-FFF2-40B4-BE49-F238E27FC236}">
                <a16:creationId xmlns:a16="http://schemas.microsoft.com/office/drawing/2014/main" id="{82D2C318-2995-4B21-9D37-DB2C622E5AD5}"/>
              </a:ext>
            </a:extLst>
          </p:cNvPr>
          <p:cNvSpPr>
            <a:spLocks noGrp="1"/>
          </p:cNvSpPr>
          <p:nvPr/>
        </p:nvSpPr>
        <p:spPr>
          <a:xfrm>
            <a:off x="3733800" y="369471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0.300</a:t>
            </a:r>
          </a:p>
        </p:txBody>
      </p:sp>
      <p:sp>
        <p:nvSpPr>
          <p:cNvPr id="117" name="Rectangle 116">
            <a:extLst>
              <a:ext uri="{FF2B5EF4-FFF2-40B4-BE49-F238E27FC236}">
                <a16:creationId xmlns:a16="http://schemas.microsoft.com/office/drawing/2014/main" id="{2D84A749-4B63-4FEF-B2F3-0E2DA30D2803}"/>
              </a:ext>
            </a:extLst>
          </p:cNvPr>
          <p:cNvSpPr>
            <a:spLocks noGrp="1"/>
          </p:cNvSpPr>
          <p:nvPr/>
        </p:nvSpPr>
        <p:spPr>
          <a:xfrm>
            <a:off x="4305300" y="3694713"/>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8" name="TextBox 117">
            <a:extLst>
              <a:ext uri="{FF2B5EF4-FFF2-40B4-BE49-F238E27FC236}">
                <a16:creationId xmlns:a16="http://schemas.microsoft.com/office/drawing/2014/main" id="{F1F788C4-B009-4F5B-9422-33A19F5C0AB3}"/>
              </a:ext>
            </a:extLst>
          </p:cNvPr>
          <p:cNvSpPr>
            <a:spLocks noGrp="1"/>
          </p:cNvSpPr>
          <p:nvPr/>
        </p:nvSpPr>
        <p:spPr>
          <a:xfrm>
            <a:off x="4305300" y="369471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0.804</a:t>
            </a:r>
          </a:p>
        </p:txBody>
      </p:sp>
      <p:sp>
        <p:nvSpPr>
          <p:cNvPr id="119" name="Rectangle 118">
            <a:extLst>
              <a:ext uri="{FF2B5EF4-FFF2-40B4-BE49-F238E27FC236}">
                <a16:creationId xmlns:a16="http://schemas.microsoft.com/office/drawing/2014/main" id="{83B79C67-103D-4A05-9FE8-3E79FCAF77E0}"/>
              </a:ext>
            </a:extLst>
          </p:cNvPr>
          <p:cNvSpPr>
            <a:spLocks noGrp="1"/>
          </p:cNvSpPr>
          <p:nvPr/>
        </p:nvSpPr>
        <p:spPr>
          <a:xfrm>
            <a:off x="4876799" y="3694713"/>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0" name="TextBox 119">
            <a:extLst>
              <a:ext uri="{FF2B5EF4-FFF2-40B4-BE49-F238E27FC236}">
                <a16:creationId xmlns:a16="http://schemas.microsoft.com/office/drawing/2014/main" id="{1FA32BB9-F05F-4503-BDCB-7C245337A00C}"/>
              </a:ext>
            </a:extLst>
          </p:cNvPr>
          <p:cNvSpPr>
            <a:spLocks noGrp="1"/>
          </p:cNvSpPr>
          <p:nvPr/>
        </p:nvSpPr>
        <p:spPr>
          <a:xfrm>
            <a:off x="4876799" y="369471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0.458</a:t>
            </a:r>
          </a:p>
        </p:txBody>
      </p:sp>
      <p:sp>
        <p:nvSpPr>
          <p:cNvPr id="121" name="Rectangle 120">
            <a:extLst>
              <a:ext uri="{FF2B5EF4-FFF2-40B4-BE49-F238E27FC236}">
                <a16:creationId xmlns:a16="http://schemas.microsoft.com/office/drawing/2014/main" id="{983A99E2-6FD2-405E-873A-8E0A4408F101}"/>
              </a:ext>
            </a:extLst>
          </p:cNvPr>
          <p:cNvSpPr>
            <a:spLocks noGrp="1"/>
          </p:cNvSpPr>
          <p:nvPr/>
        </p:nvSpPr>
        <p:spPr>
          <a:xfrm>
            <a:off x="5448299" y="3694713"/>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2" name="TextBox 121">
            <a:extLst>
              <a:ext uri="{FF2B5EF4-FFF2-40B4-BE49-F238E27FC236}">
                <a16:creationId xmlns:a16="http://schemas.microsoft.com/office/drawing/2014/main" id="{2523D166-EC95-425A-AC6D-349884B8D3F6}"/>
              </a:ext>
            </a:extLst>
          </p:cNvPr>
          <p:cNvSpPr>
            <a:spLocks noGrp="1"/>
          </p:cNvSpPr>
          <p:nvPr/>
        </p:nvSpPr>
        <p:spPr>
          <a:xfrm>
            <a:off x="5448299" y="3694713"/>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0.653</a:t>
            </a:r>
          </a:p>
        </p:txBody>
      </p:sp>
      <p:sp>
        <p:nvSpPr>
          <p:cNvPr id="123" name="Rectangle 122">
            <a:extLst>
              <a:ext uri="{FF2B5EF4-FFF2-40B4-BE49-F238E27FC236}">
                <a16:creationId xmlns:a16="http://schemas.microsoft.com/office/drawing/2014/main" id="{21107E71-9EC9-4651-BEAF-D863AD21A51A}"/>
              </a:ext>
            </a:extLst>
          </p:cNvPr>
          <p:cNvSpPr>
            <a:spLocks noGrp="1"/>
          </p:cNvSpPr>
          <p:nvPr/>
        </p:nvSpPr>
        <p:spPr>
          <a:xfrm>
            <a:off x="304800" y="4025827"/>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4" name="TextBox 123">
            <a:extLst>
              <a:ext uri="{FF2B5EF4-FFF2-40B4-BE49-F238E27FC236}">
                <a16:creationId xmlns:a16="http://schemas.microsoft.com/office/drawing/2014/main" id="{041C189A-A189-44BA-A472-A7BDE2DBD257}"/>
              </a:ext>
            </a:extLst>
          </p:cNvPr>
          <p:cNvSpPr>
            <a:spLocks noGrp="1"/>
          </p:cNvSpPr>
          <p:nvPr/>
        </p:nvSpPr>
        <p:spPr>
          <a:xfrm>
            <a:off x="304800" y="4107766"/>
            <a:ext cx="1039447"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Mistral-2512 / M3</a:t>
            </a:r>
          </a:p>
        </p:txBody>
      </p:sp>
      <p:sp>
        <p:nvSpPr>
          <p:cNvPr id="125" name="Rectangle 124">
            <a:extLst>
              <a:ext uri="{FF2B5EF4-FFF2-40B4-BE49-F238E27FC236}">
                <a16:creationId xmlns:a16="http://schemas.microsoft.com/office/drawing/2014/main" id="{A171FFEF-D8BC-43B1-A138-22EA54C6D3CC}"/>
              </a:ext>
            </a:extLst>
          </p:cNvPr>
          <p:cNvSpPr>
            <a:spLocks noGrp="1"/>
          </p:cNvSpPr>
          <p:nvPr/>
        </p:nvSpPr>
        <p:spPr>
          <a:xfrm>
            <a:off x="2670686" y="4025827"/>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6" name="TextBox 125">
            <a:extLst>
              <a:ext uri="{FF2B5EF4-FFF2-40B4-BE49-F238E27FC236}">
                <a16:creationId xmlns:a16="http://schemas.microsoft.com/office/drawing/2014/main" id="{BF33E42E-9C36-4D8B-BA7B-72045C0F8580}"/>
              </a:ext>
            </a:extLst>
          </p:cNvPr>
          <p:cNvSpPr>
            <a:spLocks noGrp="1"/>
          </p:cNvSpPr>
          <p:nvPr/>
        </p:nvSpPr>
        <p:spPr>
          <a:xfrm>
            <a:off x="2670686" y="4025827"/>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127" name="Rectangle 126">
            <a:extLst>
              <a:ext uri="{FF2B5EF4-FFF2-40B4-BE49-F238E27FC236}">
                <a16:creationId xmlns:a16="http://schemas.microsoft.com/office/drawing/2014/main" id="{C4AF26A1-7354-4BF9-996F-BFCE83238D84}"/>
              </a:ext>
            </a:extLst>
          </p:cNvPr>
          <p:cNvSpPr>
            <a:spLocks noGrp="1"/>
          </p:cNvSpPr>
          <p:nvPr/>
        </p:nvSpPr>
        <p:spPr>
          <a:xfrm>
            <a:off x="3150009" y="4025827"/>
            <a:ext cx="58379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8" name="TextBox 127">
            <a:extLst>
              <a:ext uri="{FF2B5EF4-FFF2-40B4-BE49-F238E27FC236}">
                <a16:creationId xmlns:a16="http://schemas.microsoft.com/office/drawing/2014/main" id="{45F2A919-7D30-4A6D-A0CE-56FDC03967A2}"/>
              </a:ext>
            </a:extLst>
          </p:cNvPr>
          <p:cNvSpPr>
            <a:spLocks noGrp="1"/>
          </p:cNvSpPr>
          <p:nvPr/>
        </p:nvSpPr>
        <p:spPr>
          <a:xfrm>
            <a:off x="3150009" y="4025827"/>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0.405</a:t>
            </a:r>
          </a:p>
        </p:txBody>
      </p:sp>
      <p:sp>
        <p:nvSpPr>
          <p:cNvPr id="129" name="Rectangle 128">
            <a:extLst>
              <a:ext uri="{FF2B5EF4-FFF2-40B4-BE49-F238E27FC236}">
                <a16:creationId xmlns:a16="http://schemas.microsoft.com/office/drawing/2014/main" id="{BA5EAE77-0C63-4AC5-B58A-DFF266C1722F}"/>
              </a:ext>
            </a:extLst>
          </p:cNvPr>
          <p:cNvSpPr>
            <a:spLocks noGrp="1"/>
          </p:cNvSpPr>
          <p:nvPr/>
        </p:nvSpPr>
        <p:spPr>
          <a:xfrm>
            <a:off x="3733800" y="4025827"/>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0" name="TextBox 129">
            <a:extLst>
              <a:ext uri="{FF2B5EF4-FFF2-40B4-BE49-F238E27FC236}">
                <a16:creationId xmlns:a16="http://schemas.microsoft.com/office/drawing/2014/main" id="{A460EF11-CB6A-409B-B565-04E4CF9A2E12}"/>
              </a:ext>
            </a:extLst>
          </p:cNvPr>
          <p:cNvSpPr>
            <a:spLocks noGrp="1"/>
          </p:cNvSpPr>
          <p:nvPr/>
        </p:nvSpPr>
        <p:spPr>
          <a:xfrm>
            <a:off x="3733800" y="4025827"/>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0.067</a:t>
            </a:r>
          </a:p>
        </p:txBody>
      </p:sp>
      <p:sp>
        <p:nvSpPr>
          <p:cNvPr id="131" name="Rectangle 130">
            <a:extLst>
              <a:ext uri="{FF2B5EF4-FFF2-40B4-BE49-F238E27FC236}">
                <a16:creationId xmlns:a16="http://schemas.microsoft.com/office/drawing/2014/main" id="{E505C3CD-BF32-483C-9D7F-27BC7DA912ED}"/>
              </a:ext>
            </a:extLst>
          </p:cNvPr>
          <p:cNvSpPr>
            <a:spLocks noGrp="1"/>
          </p:cNvSpPr>
          <p:nvPr/>
        </p:nvSpPr>
        <p:spPr>
          <a:xfrm>
            <a:off x="4305300" y="4025827"/>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2" name="TextBox 131">
            <a:extLst>
              <a:ext uri="{FF2B5EF4-FFF2-40B4-BE49-F238E27FC236}">
                <a16:creationId xmlns:a16="http://schemas.microsoft.com/office/drawing/2014/main" id="{F02CCA39-2722-4EE7-9E3E-308CF5B45198}"/>
              </a:ext>
            </a:extLst>
          </p:cNvPr>
          <p:cNvSpPr>
            <a:spLocks noGrp="1"/>
          </p:cNvSpPr>
          <p:nvPr/>
        </p:nvSpPr>
        <p:spPr>
          <a:xfrm>
            <a:off x="4305300" y="4025827"/>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0.556</a:t>
            </a:r>
          </a:p>
        </p:txBody>
      </p:sp>
      <p:sp>
        <p:nvSpPr>
          <p:cNvPr id="133" name="Rectangle 132">
            <a:extLst>
              <a:ext uri="{FF2B5EF4-FFF2-40B4-BE49-F238E27FC236}">
                <a16:creationId xmlns:a16="http://schemas.microsoft.com/office/drawing/2014/main" id="{292A0D2D-A6BD-458F-98CB-B7BACC525C0C}"/>
              </a:ext>
            </a:extLst>
          </p:cNvPr>
          <p:cNvSpPr>
            <a:spLocks noGrp="1"/>
          </p:cNvSpPr>
          <p:nvPr/>
        </p:nvSpPr>
        <p:spPr>
          <a:xfrm>
            <a:off x="4876799" y="4025827"/>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4" name="TextBox 133">
            <a:extLst>
              <a:ext uri="{FF2B5EF4-FFF2-40B4-BE49-F238E27FC236}">
                <a16:creationId xmlns:a16="http://schemas.microsoft.com/office/drawing/2014/main" id="{AA52B274-6DD3-4E19-AAE4-6F634DF65610}"/>
              </a:ext>
            </a:extLst>
          </p:cNvPr>
          <p:cNvSpPr>
            <a:spLocks noGrp="1"/>
          </p:cNvSpPr>
          <p:nvPr/>
        </p:nvSpPr>
        <p:spPr>
          <a:xfrm>
            <a:off x="4876799" y="4025827"/>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0.789</a:t>
            </a:r>
          </a:p>
        </p:txBody>
      </p:sp>
      <p:sp>
        <p:nvSpPr>
          <p:cNvPr id="135" name="Rectangle 134">
            <a:extLst>
              <a:ext uri="{FF2B5EF4-FFF2-40B4-BE49-F238E27FC236}">
                <a16:creationId xmlns:a16="http://schemas.microsoft.com/office/drawing/2014/main" id="{9A66B546-8C19-4585-9C2F-5D4CF3D9E3EA}"/>
              </a:ext>
            </a:extLst>
          </p:cNvPr>
          <p:cNvSpPr>
            <a:spLocks noGrp="1"/>
          </p:cNvSpPr>
          <p:nvPr/>
        </p:nvSpPr>
        <p:spPr>
          <a:xfrm>
            <a:off x="5448299" y="4025827"/>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6" name="TextBox 135">
            <a:extLst>
              <a:ext uri="{FF2B5EF4-FFF2-40B4-BE49-F238E27FC236}">
                <a16:creationId xmlns:a16="http://schemas.microsoft.com/office/drawing/2014/main" id="{59B2BF0C-C635-49E4-8081-A698B0BDAD48}"/>
              </a:ext>
            </a:extLst>
          </p:cNvPr>
          <p:cNvSpPr>
            <a:spLocks noGrp="1"/>
          </p:cNvSpPr>
          <p:nvPr/>
        </p:nvSpPr>
        <p:spPr>
          <a:xfrm>
            <a:off x="5448299" y="4025827"/>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0.208</a:t>
            </a:r>
          </a:p>
        </p:txBody>
      </p:sp>
      <p:sp>
        <p:nvSpPr>
          <p:cNvPr id="137" name="Rectangle 136">
            <a:extLst>
              <a:ext uri="{FF2B5EF4-FFF2-40B4-BE49-F238E27FC236}">
                <a16:creationId xmlns:a16="http://schemas.microsoft.com/office/drawing/2014/main" id="{547E9F19-7A12-493A-A3BE-95204F571111}"/>
              </a:ext>
            </a:extLst>
          </p:cNvPr>
          <p:cNvSpPr>
            <a:spLocks noGrp="1"/>
          </p:cNvSpPr>
          <p:nvPr/>
        </p:nvSpPr>
        <p:spPr>
          <a:xfrm>
            <a:off x="304800" y="4356940"/>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8" name="TextBox 137">
            <a:extLst>
              <a:ext uri="{FF2B5EF4-FFF2-40B4-BE49-F238E27FC236}">
                <a16:creationId xmlns:a16="http://schemas.microsoft.com/office/drawing/2014/main" id="{084AEB32-DD0A-4BAA-88D5-12665DA4B9AE}"/>
              </a:ext>
            </a:extLst>
          </p:cNvPr>
          <p:cNvSpPr>
            <a:spLocks noGrp="1"/>
          </p:cNvSpPr>
          <p:nvPr/>
        </p:nvSpPr>
        <p:spPr>
          <a:xfrm>
            <a:off x="304800" y="4438879"/>
            <a:ext cx="953760"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Gemini-3.1 / M1</a:t>
            </a:r>
          </a:p>
        </p:txBody>
      </p:sp>
      <p:sp>
        <p:nvSpPr>
          <p:cNvPr id="139" name="Rectangle 138">
            <a:extLst>
              <a:ext uri="{FF2B5EF4-FFF2-40B4-BE49-F238E27FC236}">
                <a16:creationId xmlns:a16="http://schemas.microsoft.com/office/drawing/2014/main" id="{45818882-E750-4281-9FE4-61EC94354116}"/>
              </a:ext>
            </a:extLst>
          </p:cNvPr>
          <p:cNvSpPr>
            <a:spLocks noGrp="1"/>
          </p:cNvSpPr>
          <p:nvPr/>
        </p:nvSpPr>
        <p:spPr>
          <a:xfrm>
            <a:off x="2670686" y="4356940"/>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0" name="TextBox 139">
            <a:extLst>
              <a:ext uri="{FF2B5EF4-FFF2-40B4-BE49-F238E27FC236}">
                <a16:creationId xmlns:a16="http://schemas.microsoft.com/office/drawing/2014/main" id="{D8573900-8B4D-4636-BAB5-735733AF64BB}"/>
              </a:ext>
            </a:extLst>
          </p:cNvPr>
          <p:cNvSpPr>
            <a:spLocks noGrp="1"/>
          </p:cNvSpPr>
          <p:nvPr/>
        </p:nvSpPr>
        <p:spPr>
          <a:xfrm>
            <a:off x="2670686" y="4356940"/>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141" name="Rectangle 140">
            <a:extLst>
              <a:ext uri="{FF2B5EF4-FFF2-40B4-BE49-F238E27FC236}">
                <a16:creationId xmlns:a16="http://schemas.microsoft.com/office/drawing/2014/main" id="{BFDC9C1C-93B3-43A6-B4A2-D1ABC2AC8B18}"/>
              </a:ext>
            </a:extLst>
          </p:cNvPr>
          <p:cNvSpPr>
            <a:spLocks noGrp="1"/>
          </p:cNvSpPr>
          <p:nvPr/>
        </p:nvSpPr>
        <p:spPr>
          <a:xfrm>
            <a:off x="3150009" y="4356940"/>
            <a:ext cx="58379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2" name="TextBox 141">
            <a:extLst>
              <a:ext uri="{FF2B5EF4-FFF2-40B4-BE49-F238E27FC236}">
                <a16:creationId xmlns:a16="http://schemas.microsoft.com/office/drawing/2014/main" id="{05CF3F30-6162-488C-A32F-46BF8CB6FAA8}"/>
              </a:ext>
            </a:extLst>
          </p:cNvPr>
          <p:cNvSpPr>
            <a:spLocks noGrp="1"/>
          </p:cNvSpPr>
          <p:nvPr/>
        </p:nvSpPr>
        <p:spPr>
          <a:xfrm>
            <a:off x="3150009" y="4356940"/>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0.397</a:t>
            </a:r>
          </a:p>
        </p:txBody>
      </p:sp>
      <p:sp>
        <p:nvSpPr>
          <p:cNvPr id="143" name="Rectangle 142">
            <a:extLst>
              <a:ext uri="{FF2B5EF4-FFF2-40B4-BE49-F238E27FC236}">
                <a16:creationId xmlns:a16="http://schemas.microsoft.com/office/drawing/2014/main" id="{404ABF57-B5BE-44C2-B86D-D47C899417A5}"/>
              </a:ext>
            </a:extLst>
          </p:cNvPr>
          <p:cNvSpPr>
            <a:spLocks noGrp="1"/>
          </p:cNvSpPr>
          <p:nvPr/>
        </p:nvSpPr>
        <p:spPr>
          <a:xfrm>
            <a:off x="3733800" y="4356940"/>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4" name="TextBox 143">
            <a:extLst>
              <a:ext uri="{FF2B5EF4-FFF2-40B4-BE49-F238E27FC236}">
                <a16:creationId xmlns:a16="http://schemas.microsoft.com/office/drawing/2014/main" id="{411CDC07-1795-48FF-9094-35F7E5F13002}"/>
              </a:ext>
            </a:extLst>
          </p:cNvPr>
          <p:cNvSpPr>
            <a:spLocks noGrp="1"/>
          </p:cNvSpPr>
          <p:nvPr/>
        </p:nvSpPr>
        <p:spPr>
          <a:xfrm>
            <a:off x="3733800" y="4356940"/>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0.062</a:t>
            </a:r>
          </a:p>
        </p:txBody>
      </p:sp>
      <p:sp>
        <p:nvSpPr>
          <p:cNvPr id="145" name="Rectangle 144">
            <a:extLst>
              <a:ext uri="{FF2B5EF4-FFF2-40B4-BE49-F238E27FC236}">
                <a16:creationId xmlns:a16="http://schemas.microsoft.com/office/drawing/2014/main" id="{62FD7A8F-F773-4ECB-9CB2-57A57D8D4A3E}"/>
              </a:ext>
            </a:extLst>
          </p:cNvPr>
          <p:cNvSpPr>
            <a:spLocks noGrp="1"/>
          </p:cNvSpPr>
          <p:nvPr/>
        </p:nvSpPr>
        <p:spPr>
          <a:xfrm>
            <a:off x="4305300" y="4356940"/>
            <a:ext cx="571500" cy="331113"/>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6" name="TextBox 145">
            <a:extLst>
              <a:ext uri="{FF2B5EF4-FFF2-40B4-BE49-F238E27FC236}">
                <a16:creationId xmlns:a16="http://schemas.microsoft.com/office/drawing/2014/main" id="{E3D6C526-E322-47E9-9C4A-3E3240A00772}"/>
              </a:ext>
            </a:extLst>
          </p:cNvPr>
          <p:cNvSpPr>
            <a:spLocks noGrp="1"/>
          </p:cNvSpPr>
          <p:nvPr/>
        </p:nvSpPr>
        <p:spPr>
          <a:xfrm>
            <a:off x="4305300" y="4356940"/>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0.872</a:t>
            </a:r>
          </a:p>
        </p:txBody>
      </p:sp>
      <p:sp>
        <p:nvSpPr>
          <p:cNvPr id="147" name="Rectangle 146">
            <a:extLst>
              <a:ext uri="{FF2B5EF4-FFF2-40B4-BE49-F238E27FC236}">
                <a16:creationId xmlns:a16="http://schemas.microsoft.com/office/drawing/2014/main" id="{BA28ECCF-9A38-4464-A42E-684249E8071A}"/>
              </a:ext>
            </a:extLst>
          </p:cNvPr>
          <p:cNvSpPr>
            <a:spLocks noGrp="1"/>
          </p:cNvSpPr>
          <p:nvPr/>
        </p:nvSpPr>
        <p:spPr>
          <a:xfrm>
            <a:off x="4876799" y="4356940"/>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8" name="TextBox 147">
            <a:extLst>
              <a:ext uri="{FF2B5EF4-FFF2-40B4-BE49-F238E27FC236}">
                <a16:creationId xmlns:a16="http://schemas.microsoft.com/office/drawing/2014/main" id="{511C17A2-AB7B-47B4-8DEE-3949BF763745}"/>
              </a:ext>
            </a:extLst>
          </p:cNvPr>
          <p:cNvSpPr>
            <a:spLocks noGrp="1"/>
          </p:cNvSpPr>
          <p:nvPr/>
        </p:nvSpPr>
        <p:spPr>
          <a:xfrm>
            <a:off x="4876799" y="4356940"/>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0.589</a:t>
            </a:r>
          </a:p>
        </p:txBody>
      </p:sp>
      <p:sp>
        <p:nvSpPr>
          <p:cNvPr id="149" name="Rectangle 148">
            <a:extLst>
              <a:ext uri="{FF2B5EF4-FFF2-40B4-BE49-F238E27FC236}">
                <a16:creationId xmlns:a16="http://schemas.microsoft.com/office/drawing/2014/main" id="{9ABC2171-862C-4272-8385-D7356138C383}"/>
              </a:ext>
            </a:extLst>
          </p:cNvPr>
          <p:cNvSpPr>
            <a:spLocks noGrp="1"/>
          </p:cNvSpPr>
          <p:nvPr/>
        </p:nvSpPr>
        <p:spPr>
          <a:xfrm>
            <a:off x="5448299" y="4356940"/>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0" name="TextBox 149">
            <a:extLst>
              <a:ext uri="{FF2B5EF4-FFF2-40B4-BE49-F238E27FC236}">
                <a16:creationId xmlns:a16="http://schemas.microsoft.com/office/drawing/2014/main" id="{F7E54EBE-0CE1-4DB1-A75B-BADEA2463D6B}"/>
              </a:ext>
            </a:extLst>
          </p:cNvPr>
          <p:cNvSpPr>
            <a:spLocks noGrp="1"/>
          </p:cNvSpPr>
          <p:nvPr/>
        </p:nvSpPr>
        <p:spPr>
          <a:xfrm>
            <a:off x="5448299" y="4356940"/>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0.065</a:t>
            </a:r>
          </a:p>
        </p:txBody>
      </p:sp>
      <p:sp>
        <p:nvSpPr>
          <p:cNvPr id="151" name="Rectangle 150">
            <a:extLst>
              <a:ext uri="{FF2B5EF4-FFF2-40B4-BE49-F238E27FC236}">
                <a16:creationId xmlns:a16="http://schemas.microsoft.com/office/drawing/2014/main" id="{923822D9-A81B-4391-B166-0C9E6D47B79F}"/>
              </a:ext>
            </a:extLst>
          </p:cNvPr>
          <p:cNvSpPr>
            <a:spLocks noGrp="1"/>
          </p:cNvSpPr>
          <p:nvPr/>
        </p:nvSpPr>
        <p:spPr>
          <a:xfrm>
            <a:off x="304800" y="4688052"/>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2" name="TextBox 151">
            <a:extLst>
              <a:ext uri="{FF2B5EF4-FFF2-40B4-BE49-F238E27FC236}">
                <a16:creationId xmlns:a16="http://schemas.microsoft.com/office/drawing/2014/main" id="{CE8B3FE6-1110-4460-83CC-1F0D49119FF0}"/>
              </a:ext>
            </a:extLst>
          </p:cNvPr>
          <p:cNvSpPr>
            <a:spLocks noGrp="1"/>
          </p:cNvSpPr>
          <p:nvPr/>
        </p:nvSpPr>
        <p:spPr>
          <a:xfrm>
            <a:off x="304800" y="4769991"/>
            <a:ext cx="1107009"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Qwen3-VL-8B / M2</a:t>
            </a:r>
          </a:p>
        </p:txBody>
      </p:sp>
      <p:sp>
        <p:nvSpPr>
          <p:cNvPr id="153" name="Rectangle 152">
            <a:extLst>
              <a:ext uri="{FF2B5EF4-FFF2-40B4-BE49-F238E27FC236}">
                <a16:creationId xmlns:a16="http://schemas.microsoft.com/office/drawing/2014/main" id="{DD41D272-3A8D-4497-A067-33682F51357D}"/>
              </a:ext>
            </a:extLst>
          </p:cNvPr>
          <p:cNvSpPr>
            <a:spLocks noGrp="1"/>
          </p:cNvSpPr>
          <p:nvPr/>
        </p:nvSpPr>
        <p:spPr>
          <a:xfrm>
            <a:off x="2670686" y="4688052"/>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4" name="TextBox 153">
            <a:extLst>
              <a:ext uri="{FF2B5EF4-FFF2-40B4-BE49-F238E27FC236}">
                <a16:creationId xmlns:a16="http://schemas.microsoft.com/office/drawing/2014/main" id="{F5B1BF36-0301-48C7-997A-DF55A17EE1B5}"/>
              </a:ext>
            </a:extLst>
          </p:cNvPr>
          <p:cNvSpPr>
            <a:spLocks noGrp="1"/>
          </p:cNvSpPr>
          <p:nvPr/>
        </p:nvSpPr>
        <p:spPr>
          <a:xfrm>
            <a:off x="2670686" y="4688052"/>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155" name="Rectangle 154">
            <a:extLst>
              <a:ext uri="{FF2B5EF4-FFF2-40B4-BE49-F238E27FC236}">
                <a16:creationId xmlns:a16="http://schemas.microsoft.com/office/drawing/2014/main" id="{F5AB2EEF-8256-4A1C-8EC1-C8667CB44310}"/>
              </a:ext>
            </a:extLst>
          </p:cNvPr>
          <p:cNvSpPr>
            <a:spLocks noGrp="1"/>
          </p:cNvSpPr>
          <p:nvPr/>
        </p:nvSpPr>
        <p:spPr>
          <a:xfrm>
            <a:off x="3150009" y="4688052"/>
            <a:ext cx="58379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6" name="TextBox 155">
            <a:extLst>
              <a:ext uri="{FF2B5EF4-FFF2-40B4-BE49-F238E27FC236}">
                <a16:creationId xmlns:a16="http://schemas.microsoft.com/office/drawing/2014/main" id="{339AD2DB-6156-4374-BF90-CE3FC6982E62}"/>
              </a:ext>
            </a:extLst>
          </p:cNvPr>
          <p:cNvSpPr>
            <a:spLocks noGrp="1"/>
          </p:cNvSpPr>
          <p:nvPr/>
        </p:nvSpPr>
        <p:spPr>
          <a:xfrm>
            <a:off x="3150009" y="4688052"/>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0.234</a:t>
            </a:r>
          </a:p>
        </p:txBody>
      </p:sp>
      <p:sp>
        <p:nvSpPr>
          <p:cNvPr id="157" name="Rectangle 156">
            <a:extLst>
              <a:ext uri="{FF2B5EF4-FFF2-40B4-BE49-F238E27FC236}">
                <a16:creationId xmlns:a16="http://schemas.microsoft.com/office/drawing/2014/main" id="{529D0CF9-2A59-4EDD-A3EE-049DA602C69B}"/>
              </a:ext>
            </a:extLst>
          </p:cNvPr>
          <p:cNvSpPr>
            <a:spLocks noGrp="1"/>
          </p:cNvSpPr>
          <p:nvPr/>
        </p:nvSpPr>
        <p:spPr>
          <a:xfrm>
            <a:off x="3733800" y="4688052"/>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8" name="TextBox 157">
            <a:extLst>
              <a:ext uri="{FF2B5EF4-FFF2-40B4-BE49-F238E27FC236}">
                <a16:creationId xmlns:a16="http://schemas.microsoft.com/office/drawing/2014/main" id="{79D82F38-CD5C-42D9-B01D-90D28FBD333C}"/>
              </a:ext>
            </a:extLst>
          </p:cNvPr>
          <p:cNvSpPr>
            <a:spLocks noGrp="1"/>
          </p:cNvSpPr>
          <p:nvPr/>
        </p:nvSpPr>
        <p:spPr>
          <a:xfrm>
            <a:off x="3733800" y="4688052"/>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0.040</a:t>
            </a:r>
          </a:p>
        </p:txBody>
      </p:sp>
      <p:sp>
        <p:nvSpPr>
          <p:cNvPr id="159" name="Rectangle 158">
            <a:extLst>
              <a:ext uri="{FF2B5EF4-FFF2-40B4-BE49-F238E27FC236}">
                <a16:creationId xmlns:a16="http://schemas.microsoft.com/office/drawing/2014/main" id="{D3FE6E89-5A6E-46E7-8727-974A447B81FD}"/>
              </a:ext>
            </a:extLst>
          </p:cNvPr>
          <p:cNvSpPr>
            <a:spLocks noGrp="1"/>
          </p:cNvSpPr>
          <p:nvPr/>
        </p:nvSpPr>
        <p:spPr>
          <a:xfrm>
            <a:off x="4305300" y="4688052"/>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0" name="TextBox 159">
            <a:extLst>
              <a:ext uri="{FF2B5EF4-FFF2-40B4-BE49-F238E27FC236}">
                <a16:creationId xmlns:a16="http://schemas.microsoft.com/office/drawing/2014/main" id="{00B01547-F234-48E8-B331-2E18CB754D55}"/>
              </a:ext>
            </a:extLst>
          </p:cNvPr>
          <p:cNvSpPr>
            <a:spLocks noGrp="1"/>
          </p:cNvSpPr>
          <p:nvPr/>
        </p:nvSpPr>
        <p:spPr>
          <a:xfrm>
            <a:off x="4305300" y="4688052"/>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0.352</a:t>
            </a:r>
          </a:p>
        </p:txBody>
      </p:sp>
      <p:sp>
        <p:nvSpPr>
          <p:cNvPr id="161" name="Rectangle 160">
            <a:extLst>
              <a:ext uri="{FF2B5EF4-FFF2-40B4-BE49-F238E27FC236}">
                <a16:creationId xmlns:a16="http://schemas.microsoft.com/office/drawing/2014/main" id="{963F5AFA-8B43-4843-8055-3A3DA69E0527}"/>
              </a:ext>
            </a:extLst>
          </p:cNvPr>
          <p:cNvSpPr>
            <a:spLocks noGrp="1"/>
          </p:cNvSpPr>
          <p:nvPr/>
        </p:nvSpPr>
        <p:spPr>
          <a:xfrm>
            <a:off x="4876799" y="4688052"/>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2" name="TextBox 161">
            <a:extLst>
              <a:ext uri="{FF2B5EF4-FFF2-40B4-BE49-F238E27FC236}">
                <a16:creationId xmlns:a16="http://schemas.microsoft.com/office/drawing/2014/main" id="{5BC11BD6-A1F1-457D-B7CF-DFAAE873A934}"/>
              </a:ext>
            </a:extLst>
          </p:cNvPr>
          <p:cNvSpPr>
            <a:spLocks noGrp="1"/>
          </p:cNvSpPr>
          <p:nvPr/>
        </p:nvSpPr>
        <p:spPr>
          <a:xfrm>
            <a:off x="4876799" y="4688052"/>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0.000</a:t>
            </a:r>
          </a:p>
        </p:txBody>
      </p:sp>
      <p:sp>
        <p:nvSpPr>
          <p:cNvPr id="163" name="Rectangle 162">
            <a:extLst>
              <a:ext uri="{FF2B5EF4-FFF2-40B4-BE49-F238E27FC236}">
                <a16:creationId xmlns:a16="http://schemas.microsoft.com/office/drawing/2014/main" id="{76413A0F-E399-4AEA-83F1-320A71DA0C91}"/>
              </a:ext>
            </a:extLst>
          </p:cNvPr>
          <p:cNvSpPr>
            <a:spLocks noGrp="1"/>
          </p:cNvSpPr>
          <p:nvPr/>
        </p:nvSpPr>
        <p:spPr>
          <a:xfrm>
            <a:off x="5448299" y="4688052"/>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4" name="TextBox 163">
            <a:extLst>
              <a:ext uri="{FF2B5EF4-FFF2-40B4-BE49-F238E27FC236}">
                <a16:creationId xmlns:a16="http://schemas.microsoft.com/office/drawing/2014/main" id="{A25E638F-9D47-498F-B034-07CD55DEDDE3}"/>
              </a:ext>
            </a:extLst>
          </p:cNvPr>
          <p:cNvSpPr>
            <a:spLocks noGrp="1"/>
          </p:cNvSpPr>
          <p:nvPr/>
        </p:nvSpPr>
        <p:spPr>
          <a:xfrm>
            <a:off x="5448299" y="4688052"/>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0.545</a:t>
            </a:r>
          </a:p>
        </p:txBody>
      </p:sp>
      <p:sp>
        <p:nvSpPr>
          <p:cNvPr id="165" name="Rectangle 164">
            <a:extLst>
              <a:ext uri="{FF2B5EF4-FFF2-40B4-BE49-F238E27FC236}">
                <a16:creationId xmlns:a16="http://schemas.microsoft.com/office/drawing/2014/main" id="{D2120B3A-A041-4B55-9258-38B14B12A420}"/>
              </a:ext>
            </a:extLst>
          </p:cNvPr>
          <p:cNvSpPr>
            <a:spLocks noGrp="1"/>
          </p:cNvSpPr>
          <p:nvPr/>
        </p:nvSpPr>
        <p:spPr>
          <a:xfrm>
            <a:off x="304800" y="5019165"/>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6" name="TextBox 165">
            <a:extLst>
              <a:ext uri="{FF2B5EF4-FFF2-40B4-BE49-F238E27FC236}">
                <a16:creationId xmlns:a16="http://schemas.microsoft.com/office/drawing/2014/main" id="{432944CF-571D-4FD3-B04C-8B21DFBA5168}"/>
              </a:ext>
            </a:extLst>
          </p:cNvPr>
          <p:cNvSpPr>
            <a:spLocks noGrp="1"/>
          </p:cNvSpPr>
          <p:nvPr/>
        </p:nvSpPr>
        <p:spPr>
          <a:xfrm>
            <a:off x="304800" y="5101104"/>
            <a:ext cx="1039447"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Mistral-2512 / M2</a:t>
            </a:r>
          </a:p>
        </p:txBody>
      </p:sp>
      <p:sp>
        <p:nvSpPr>
          <p:cNvPr id="167" name="Rectangle 166">
            <a:extLst>
              <a:ext uri="{FF2B5EF4-FFF2-40B4-BE49-F238E27FC236}">
                <a16:creationId xmlns:a16="http://schemas.microsoft.com/office/drawing/2014/main" id="{02FA32AF-48F7-46EE-8706-45DEB4494278}"/>
              </a:ext>
            </a:extLst>
          </p:cNvPr>
          <p:cNvSpPr>
            <a:spLocks noGrp="1"/>
          </p:cNvSpPr>
          <p:nvPr/>
        </p:nvSpPr>
        <p:spPr>
          <a:xfrm>
            <a:off x="2670686" y="5019165"/>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8" name="TextBox 167">
            <a:extLst>
              <a:ext uri="{FF2B5EF4-FFF2-40B4-BE49-F238E27FC236}">
                <a16:creationId xmlns:a16="http://schemas.microsoft.com/office/drawing/2014/main" id="{8007A365-F595-43B3-807E-2B970C4ECF7B}"/>
              </a:ext>
            </a:extLst>
          </p:cNvPr>
          <p:cNvSpPr>
            <a:spLocks noGrp="1"/>
          </p:cNvSpPr>
          <p:nvPr/>
        </p:nvSpPr>
        <p:spPr>
          <a:xfrm>
            <a:off x="2670686" y="5019165"/>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169" name="Rectangle 168">
            <a:extLst>
              <a:ext uri="{FF2B5EF4-FFF2-40B4-BE49-F238E27FC236}">
                <a16:creationId xmlns:a16="http://schemas.microsoft.com/office/drawing/2014/main" id="{D0EB2DE6-F405-488D-ABD4-2090B68AC0BC}"/>
              </a:ext>
            </a:extLst>
          </p:cNvPr>
          <p:cNvSpPr>
            <a:spLocks noGrp="1"/>
          </p:cNvSpPr>
          <p:nvPr/>
        </p:nvSpPr>
        <p:spPr>
          <a:xfrm>
            <a:off x="3150009" y="5019165"/>
            <a:ext cx="58379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0" name="TextBox 169">
            <a:extLst>
              <a:ext uri="{FF2B5EF4-FFF2-40B4-BE49-F238E27FC236}">
                <a16:creationId xmlns:a16="http://schemas.microsoft.com/office/drawing/2014/main" id="{198E10A2-F319-441D-96F4-C515E045AC17}"/>
              </a:ext>
            </a:extLst>
          </p:cNvPr>
          <p:cNvSpPr>
            <a:spLocks noGrp="1"/>
          </p:cNvSpPr>
          <p:nvPr/>
        </p:nvSpPr>
        <p:spPr>
          <a:xfrm>
            <a:off x="3150009" y="5019165"/>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0.234</a:t>
            </a:r>
          </a:p>
        </p:txBody>
      </p:sp>
      <p:sp>
        <p:nvSpPr>
          <p:cNvPr id="171" name="Rectangle 170">
            <a:extLst>
              <a:ext uri="{FF2B5EF4-FFF2-40B4-BE49-F238E27FC236}">
                <a16:creationId xmlns:a16="http://schemas.microsoft.com/office/drawing/2014/main" id="{E11E2FC0-EEA8-4965-9822-7DDEE7628B4C}"/>
              </a:ext>
            </a:extLst>
          </p:cNvPr>
          <p:cNvSpPr>
            <a:spLocks noGrp="1"/>
          </p:cNvSpPr>
          <p:nvPr/>
        </p:nvSpPr>
        <p:spPr>
          <a:xfrm>
            <a:off x="3733800" y="5019165"/>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2" name="TextBox 171">
            <a:extLst>
              <a:ext uri="{FF2B5EF4-FFF2-40B4-BE49-F238E27FC236}">
                <a16:creationId xmlns:a16="http://schemas.microsoft.com/office/drawing/2014/main" id="{736E0217-ACE6-4398-901F-129501018D1F}"/>
              </a:ext>
            </a:extLst>
          </p:cNvPr>
          <p:cNvSpPr>
            <a:spLocks noGrp="1"/>
          </p:cNvSpPr>
          <p:nvPr/>
        </p:nvSpPr>
        <p:spPr>
          <a:xfrm>
            <a:off x="3733800" y="501916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0.027</a:t>
            </a:r>
          </a:p>
        </p:txBody>
      </p:sp>
      <p:sp>
        <p:nvSpPr>
          <p:cNvPr id="173" name="Rectangle 172">
            <a:extLst>
              <a:ext uri="{FF2B5EF4-FFF2-40B4-BE49-F238E27FC236}">
                <a16:creationId xmlns:a16="http://schemas.microsoft.com/office/drawing/2014/main" id="{5B3EC62B-ED9B-4C24-B1FE-0A83675262A7}"/>
              </a:ext>
            </a:extLst>
          </p:cNvPr>
          <p:cNvSpPr>
            <a:spLocks noGrp="1"/>
          </p:cNvSpPr>
          <p:nvPr/>
        </p:nvSpPr>
        <p:spPr>
          <a:xfrm>
            <a:off x="4305300" y="5019165"/>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4" name="TextBox 173">
            <a:extLst>
              <a:ext uri="{FF2B5EF4-FFF2-40B4-BE49-F238E27FC236}">
                <a16:creationId xmlns:a16="http://schemas.microsoft.com/office/drawing/2014/main" id="{64FEB5D1-898B-426A-A459-F08A0D8E6834}"/>
              </a:ext>
            </a:extLst>
          </p:cNvPr>
          <p:cNvSpPr>
            <a:spLocks noGrp="1"/>
          </p:cNvSpPr>
          <p:nvPr/>
        </p:nvSpPr>
        <p:spPr>
          <a:xfrm>
            <a:off x="4305300" y="501916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0.401</a:t>
            </a:r>
          </a:p>
        </p:txBody>
      </p:sp>
      <p:sp>
        <p:nvSpPr>
          <p:cNvPr id="175" name="Rectangle 174">
            <a:extLst>
              <a:ext uri="{FF2B5EF4-FFF2-40B4-BE49-F238E27FC236}">
                <a16:creationId xmlns:a16="http://schemas.microsoft.com/office/drawing/2014/main" id="{C69BB984-5158-4C48-873C-F091E1EFC9CC}"/>
              </a:ext>
            </a:extLst>
          </p:cNvPr>
          <p:cNvSpPr>
            <a:spLocks noGrp="1"/>
          </p:cNvSpPr>
          <p:nvPr/>
        </p:nvSpPr>
        <p:spPr>
          <a:xfrm>
            <a:off x="4876799" y="5019165"/>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6" name="TextBox 175">
            <a:extLst>
              <a:ext uri="{FF2B5EF4-FFF2-40B4-BE49-F238E27FC236}">
                <a16:creationId xmlns:a16="http://schemas.microsoft.com/office/drawing/2014/main" id="{A5A22A50-B086-4918-A39C-842AC78F96A6}"/>
              </a:ext>
            </a:extLst>
          </p:cNvPr>
          <p:cNvSpPr>
            <a:spLocks noGrp="1"/>
          </p:cNvSpPr>
          <p:nvPr/>
        </p:nvSpPr>
        <p:spPr>
          <a:xfrm>
            <a:off x="4876799" y="501916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0.246</a:t>
            </a:r>
          </a:p>
        </p:txBody>
      </p:sp>
      <p:sp>
        <p:nvSpPr>
          <p:cNvPr id="177" name="Rectangle 176">
            <a:extLst>
              <a:ext uri="{FF2B5EF4-FFF2-40B4-BE49-F238E27FC236}">
                <a16:creationId xmlns:a16="http://schemas.microsoft.com/office/drawing/2014/main" id="{B0CD2B41-4E75-48E3-A19A-A20C8D164985}"/>
              </a:ext>
            </a:extLst>
          </p:cNvPr>
          <p:cNvSpPr>
            <a:spLocks noGrp="1"/>
          </p:cNvSpPr>
          <p:nvPr/>
        </p:nvSpPr>
        <p:spPr>
          <a:xfrm>
            <a:off x="5448299" y="5019165"/>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8" name="TextBox 177">
            <a:extLst>
              <a:ext uri="{FF2B5EF4-FFF2-40B4-BE49-F238E27FC236}">
                <a16:creationId xmlns:a16="http://schemas.microsoft.com/office/drawing/2014/main" id="{380E75BF-3DEC-4C3D-B88F-27FB010F31DB}"/>
              </a:ext>
            </a:extLst>
          </p:cNvPr>
          <p:cNvSpPr>
            <a:spLocks noGrp="1"/>
          </p:cNvSpPr>
          <p:nvPr/>
        </p:nvSpPr>
        <p:spPr>
          <a:xfrm>
            <a:off x="5448299" y="5019165"/>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0.263</a:t>
            </a:r>
          </a:p>
        </p:txBody>
      </p:sp>
      <p:sp>
        <p:nvSpPr>
          <p:cNvPr id="179" name="Rectangle 178">
            <a:extLst>
              <a:ext uri="{FF2B5EF4-FFF2-40B4-BE49-F238E27FC236}">
                <a16:creationId xmlns:a16="http://schemas.microsoft.com/office/drawing/2014/main" id="{DB4BE00D-D7E5-4629-97F4-9F1F728112B6}"/>
              </a:ext>
            </a:extLst>
          </p:cNvPr>
          <p:cNvSpPr>
            <a:spLocks noGrp="1"/>
          </p:cNvSpPr>
          <p:nvPr/>
        </p:nvSpPr>
        <p:spPr>
          <a:xfrm>
            <a:off x="304800" y="5350278"/>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0" name="TextBox 179">
            <a:extLst>
              <a:ext uri="{FF2B5EF4-FFF2-40B4-BE49-F238E27FC236}">
                <a16:creationId xmlns:a16="http://schemas.microsoft.com/office/drawing/2014/main" id="{6510A3B4-9878-4C06-A827-C31F57B6AD6A}"/>
              </a:ext>
            </a:extLst>
          </p:cNvPr>
          <p:cNvSpPr>
            <a:spLocks noGrp="1"/>
          </p:cNvSpPr>
          <p:nvPr/>
        </p:nvSpPr>
        <p:spPr>
          <a:xfrm>
            <a:off x="304800" y="5432217"/>
            <a:ext cx="1107009"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Qwen3-VL-8B / M1</a:t>
            </a:r>
          </a:p>
        </p:txBody>
      </p:sp>
      <p:sp>
        <p:nvSpPr>
          <p:cNvPr id="181" name="Rectangle 180">
            <a:extLst>
              <a:ext uri="{FF2B5EF4-FFF2-40B4-BE49-F238E27FC236}">
                <a16:creationId xmlns:a16="http://schemas.microsoft.com/office/drawing/2014/main" id="{BE51FD39-5776-46BF-9C68-932D14B260E4}"/>
              </a:ext>
            </a:extLst>
          </p:cNvPr>
          <p:cNvSpPr>
            <a:spLocks noGrp="1"/>
          </p:cNvSpPr>
          <p:nvPr/>
        </p:nvSpPr>
        <p:spPr>
          <a:xfrm>
            <a:off x="2670686" y="5350278"/>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2" name="TextBox 181">
            <a:extLst>
              <a:ext uri="{FF2B5EF4-FFF2-40B4-BE49-F238E27FC236}">
                <a16:creationId xmlns:a16="http://schemas.microsoft.com/office/drawing/2014/main" id="{8CF2A218-A85D-45C4-A920-2D457C547EE4}"/>
              </a:ext>
            </a:extLst>
          </p:cNvPr>
          <p:cNvSpPr>
            <a:spLocks noGrp="1"/>
          </p:cNvSpPr>
          <p:nvPr/>
        </p:nvSpPr>
        <p:spPr>
          <a:xfrm>
            <a:off x="2670686" y="5350278"/>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183" name="Rectangle 182">
            <a:extLst>
              <a:ext uri="{FF2B5EF4-FFF2-40B4-BE49-F238E27FC236}">
                <a16:creationId xmlns:a16="http://schemas.microsoft.com/office/drawing/2014/main" id="{758FDD00-D920-451A-B74C-F6988EB3BB2A}"/>
              </a:ext>
            </a:extLst>
          </p:cNvPr>
          <p:cNvSpPr>
            <a:spLocks noGrp="1"/>
          </p:cNvSpPr>
          <p:nvPr/>
        </p:nvSpPr>
        <p:spPr>
          <a:xfrm>
            <a:off x="3150009" y="5350278"/>
            <a:ext cx="58379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4" name="TextBox 183">
            <a:extLst>
              <a:ext uri="{FF2B5EF4-FFF2-40B4-BE49-F238E27FC236}">
                <a16:creationId xmlns:a16="http://schemas.microsoft.com/office/drawing/2014/main" id="{1D415FAB-810C-4BEE-9BC7-64836205BD33}"/>
              </a:ext>
            </a:extLst>
          </p:cNvPr>
          <p:cNvSpPr>
            <a:spLocks noGrp="1"/>
          </p:cNvSpPr>
          <p:nvPr/>
        </p:nvSpPr>
        <p:spPr>
          <a:xfrm>
            <a:off x="3150009" y="5350278"/>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0.225</a:t>
            </a:r>
          </a:p>
        </p:txBody>
      </p:sp>
      <p:sp>
        <p:nvSpPr>
          <p:cNvPr id="185" name="Rectangle 184">
            <a:extLst>
              <a:ext uri="{FF2B5EF4-FFF2-40B4-BE49-F238E27FC236}">
                <a16:creationId xmlns:a16="http://schemas.microsoft.com/office/drawing/2014/main" id="{7435CCDA-E9B2-4008-B080-DC162E1A011F}"/>
              </a:ext>
            </a:extLst>
          </p:cNvPr>
          <p:cNvSpPr>
            <a:spLocks noGrp="1"/>
          </p:cNvSpPr>
          <p:nvPr/>
        </p:nvSpPr>
        <p:spPr>
          <a:xfrm>
            <a:off x="3733800" y="5350278"/>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6" name="TextBox 185">
            <a:extLst>
              <a:ext uri="{FF2B5EF4-FFF2-40B4-BE49-F238E27FC236}">
                <a16:creationId xmlns:a16="http://schemas.microsoft.com/office/drawing/2014/main" id="{15B9A83D-B307-442F-B601-19E6F48C9813}"/>
              </a:ext>
            </a:extLst>
          </p:cNvPr>
          <p:cNvSpPr>
            <a:spLocks noGrp="1"/>
          </p:cNvSpPr>
          <p:nvPr/>
        </p:nvSpPr>
        <p:spPr>
          <a:xfrm>
            <a:off x="3733800" y="535027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0.108</a:t>
            </a:r>
          </a:p>
        </p:txBody>
      </p:sp>
      <p:sp>
        <p:nvSpPr>
          <p:cNvPr id="187" name="Rectangle 186">
            <a:extLst>
              <a:ext uri="{FF2B5EF4-FFF2-40B4-BE49-F238E27FC236}">
                <a16:creationId xmlns:a16="http://schemas.microsoft.com/office/drawing/2014/main" id="{5C22C120-F839-4D80-BF6A-9F5B7C46B4FC}"/>
              </a:ext>
            </a:extLst>
          </p:cNvPr>
          <p:cNvSpPr>
            <a:spLocks noGrp="1"/>
          </p:cNvSpPr>
          <p:nvPr/>
        </p:nvSpPr>
        <p:spPr>
          <a:xfrm>
            <a:off x="4305300" y="5350278"/>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8" name="TextBox 187">
            <a:extLst>
              <a:ext uri="{FF2B5EF4-FFF2-40B4-BE49-F238E27FC236}">
                <a16:creationId xmlns:a16="http://schemas.microsoft.com/office/drawing/2014/main" id="{CF3CB195-8D75-4F2E-8455-D9D02BBBCF3A}"/>
              </a:ext>
            </a:extLst>
          </p:cNvPr>
          <p:cNvSpPr>
            <a:spLocks noGrp="1"/>
          </p:cNvSpPr>
          <p:nvPr/>
        </p:nvSpPr>
        <p:spPr>
          <a:xfrm>
            <a:off x="4305300" y="535027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0.485</a:t>
            </a:r>
          </a:p>
        </p:txBody>
      </p:sp>
      <p:sp>
        <p:nvSpPr>
          <p:cNvPr id="189" name="Rectangle 188">
            <a:extLst>
              <a:ext uri="{FF2B5EF4-FFF2-40B4-BE49-F238E27FC236}">
                <a16:creationId xmlns:a16="http://schemas.microsoft.com/office/drawing/2014/main" id="{EA1A25BC-D39A-403C-B8AC-DD68A9540745}"/>
              </a:ext>
            </a:extLst>
          </p:cNvPr>
          <p:cNvSpPr>
            <a:spLocks noGrp="1"/>
          </p:cNvSpPr>
          <p:nvPr/>
        </p:nvSpPr>
        <p:spPr>
          <a:xfrm>
            <a:off x="4876799" y="5350278"/>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0" name="TextBox 189">
            <a:extLst>
              <a:ext uri="{FF2B5EF4-FFF2-40B4-BE49-F238E27FC236}">
                <a16:creationId xmlns:a16="http://schemas.microsoft.com/office/drawing/2014/main" id="{C16E5145-6D44-4B42-BBEA-CEC75BEB8348}"/>
              </a:ext>
            </a:extLst>
          </p:cNvPr>
          <p:cNvSpPr>
            <a:spLocks noGrp="1"/>
          </p:cNvSpPr>
          <p:nvPr/>
        </p:nvSpPr>
        <p:spPr>
          <a:xfrm>
            <a:off x="4876799" y="535027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0.003</a:t>
            </a:r>
          </a:p>
        </p:txBody>
      </p:sp>
      <p:sp>
        <p:nvSpPr>
          <p:cNvPr id="191" name="Rectangle 190">
            <a:extLst>
              <a:ext uri="{FF2B5EF4-FFF2-40B4-BE49-F238E27FC236}">
                <a16:creationId xmlns:a16="http://schemas.microsoft.com/office/drawing/2014/main" id="{4EC38DFF-A205-4AF5-A1F0-97C233C7FBCC}"/>
              </a:ext>
            </a:extLst>
          </p:cNvPr>
          <p:cNvSpPr>
            <a:spLocks noGrp="1"/>
          </p:cNvSpPr>
          <p:nvPr/>
        </p:nvSpPr>
        <p:spPr>
          <a:xfrm>
            <a:off x="5448299" y="5350278"/>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2" name="TextBox 191">
            <a:extLst>
              <a:ext uri="{FF2B5EF4-FFF2-40B4-BE49-F238E27FC236}">
                <a16:creationId xmlns:a16="http://schemas.microsoft.com/office/drawing/2014/main" id="{659E3E1A-19EC-4741-9591-63ED6857A06E}"/>
              </a:ext>
            </a:extLst>
          </p:cNvPr>
          <p:cNvSpPr>
            <a:spLocks noGrp="1"/>
          </p:cNvSpPr>
          <p:nvPr/>
        </p:nvSpPr>
        <p:spPr>
          <a:xfrm>
            <a:off x="5448299" y="5350278"/>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0.305</a:t>
            </a:r>
          </a:p>
        </p:txBody>
      </p:sp>
      <p:sp>
        <p:nvSpPr>
          <p:cNvPr id="193" name="Rectangle 192">
            <a:extLst>
              <a:ext uri="{FF2B5EF4-FFF2-40B4-BE49-F238E27FC236}">
                <a16:creationId xmlns:a16="http://schemas.microsoft.com/office/drawing/2014/main" id="{8FAE4E78-D5F6-4109-8467-B5E41432DBD8}"/>
              </a:ext>
            </a:extLst>
          </p:cNvPr>
          <p:cNvSpPr>
            <a:spLocks noGrp="1"/>
          </p:cNvSpPr>
          <p:nvPr/>
        </p:nvSpPr>
        <p:spPr>
          <a:xfrm>
            <a:off x="304800" y="5681391"/>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4" name="TextBox 193">
            <a:extLst>
              <a:ext uri="{FF2B5EF4-FFF2-40B4-BE49-F238E27FC236}">
                <a16:creationId xmlns:a16="http://schemas.microsoft.com/office/drawing/2014/main" id="{2C405FDB-7AC7-4D7D-9DA9-73E30C0D71C3}"/>
              </a:ext>
            </a:extLst>
          </p:cNvPr>
          <p:cNvSpPr>
            <a:spLocks noGrp="1"/>
          </p:cNvSpPr>
          <p:nvPr/>
        </p:nvSpPr>
        <p:spPr>
          <a:xfrm>
            <a:off x="304800" y="5763330"/>
            <a:ext cx="1039447"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Mistral-2512 / M1</a:t>
            </a:r>
          </a:p>
        </p:txBody>
      </p:sp>
      <p:sp>
        <p:nvSpPr>
          <p:cNvPr id="195" name="Rectangle 194">
            <a:extLst>
              <a:ext uri="{FF2B5EF4-FFF2-40B4-BE49-F238E27FC236}">
                <a16:creationId xmlns:a16="http://schemas.microsoft.com/office/drawing/2014/main" id="{3BDED857-6758-432B-927E-FA78C706EAFA}"/>
              </a:ext>
            </a:extLst>
          </p:cNvPr>
          <p:cNvSpPr>
            <a:spLocks noGrp="1"/>
          </p:cNvSpPr>
          <p:nvPr/>
        </p:nvSpPr>
        <p:spPr>
          <a:xfrm>
            <a:off x="2670686" y="5681391"/>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6" name="TextBox 195">
            <a:extLst>
              <a:ext uri="{FF2B5EF4-FFF2-40B4-BE49-F238E27FC236}">
                <a16:creationId xmlns:a16="http://schemas.microsoft.com/office/drawing/2014/main" id="{0828C960-003A-4410-8337-57AE84CBF91F}"/>
              </a:ext>
            </a:extLst>
          </p:cNvPr>
          <p:cNvSpPr>
            <a:spLocks noGrp="1"/>
          </p:cNvSpPr>
          <p:nvPr/>
        </p:nvSpPr>
        <p:spPr>
          <a:xfrm>
            <a:off x="2670686" y="5681391"/>
            <a:ext cx="479323"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4/4</a:t>
            </a:r>
          </a:p>
        </p:txBody>
      </p:sp>
      <p:sp>
        <p:nvSpPr>
          <p:cNvPr id="197" name="Rectangle 196">
            <a:extLst>
              <a:ext uri="{FF2B5EF4-FFF2-40B4-BE49-F238E27FC236}">
                <a16:creationId xmlns:a16="http://schemas.microsoft.com/office/drawing/2014/main" id="{4261EB7B-514E-4B13-A63C-144E0886CA46}"/>
              </a:ext>
            </a:extLst>
          </p:cNvPr>
          <p:cNvSpPr>
            <a:spLocks noGrp="1"/>
          </p:cNvSpPr>
          <p:nvPr/>
        </p:nvSpPr>
        <p:spPr>
          <a:xfrm>
            <a:off x="3150009" y="5681391"/>
            <a:ext cx="58379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8" name="TextBox 197">
            <a:extLst>
              <a:ext uri="{FF2B5EF4-FFF2-40B4-BE49-F238E27FC236}">
                <a16:creationId xmlns:a16="http://schemas.microsoft.com/office/drawing/2014/main" id="{F48900E9-156B-43E1-95ED-1202821C29CA}"/>
              </a:ext>
            </a:extLst>
          </p:cNvPr>
          <p:cNvSpPr>
            <a:spLocks noGrp="1"/>
          </p:cNvSpPr>
          <p:nvPr/>
        </p:nvSpPr>
        <p:spPr>
          <a:xfrm>
            <a:off x="3150009" y="5681391"/>
            <a:ext cx="58379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0.216</a:t>
            </a:r>
          </a:p>
        </p:txBody>
      </p:sp>
      <p:sp>
        <p:nvSpPr>
          <p:cNvPr id="199" name="Rectangle 198">
            <a:extLst>
              <a:ext uri="{FF2B5EF4-FFF2-40B4-BE49-F238E27FC236}">
                <a16:creationId xmlns:a16="http://schemas.microsoft.com/office/drawing/2014/main" id="{E382313D-153C-4782-BF8A-667D69BA4E7A}"/>
              </a:ext>
            </a:extLst>
          </p:cNvPr>
          <p:cNvSpPr>
            <a:spLocks noGrp="1"/>
          </p:cNvSpPr>
          <p:nvPr/>
        </p:nvSpPr>
        <p:spPr>
          <a:xfrm>
            <a:off x="3733800" y="5681391"/>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0" name="TextBox 199">
            <a:extLst>
              <a:ext uri="{FF2B5EF4-FFF2-40B4-BE49-F238E27FC236}">
                <a16:creationId xmlns:a16="http://schemas.microsoft.com/office/drawing/2014/main" id="{3C74115D-4D32-4DD8-AFE1-2E3C47144A52}"/>
              </a:ext>
            </a:extLst>
          </p:cNvPr>
          <p:cNvSpPr>
            <a:spLocks noGrp="1"/>
          </p:cNvSpPr>
          <p:nvPr/>
        </p:nvSpPr>
        <p:spPr>
          <a:xfrm>
            <a:off x="3733800" y="568139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0.046</a:t>
            </a:r>
          </a:p>
        </p:txBody>
      </p:sp>
      <p:sp>
        <p:nvSpPr>
          <p:cNvPr id="201" name="Rectangle 200">
            <a:extLst>
              <a:ext uri="{FF2B5EF4-FFF2-40B4-BE49-F238E27FC236}">
                <a16:creationId xmlns:a16="http://schemas.microsoft.com/office/drawing/2014/main" id="{BBD6CB63-1DF4-49F6-A56B-297A0845D445}"/>
              </a:ext>
            </a:extLst>
          </p:cNvPr>
          <p:cNvSpPr>
            <a:spLocks noGrp="1"/>
          </p:cNvSpPr>
          <p:nvPr/>
        </p:nvSpPr>
        <p:spPr>
          <a:xfrm>
            <a:off x="4305300" y="5681391"/>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2" name="TextBox 201">
            <a:extLst>
              <a:ext uri="{FF2B5EF4-FFF2-40B4-BE49-F238E27FC236}">
                <a16:creationId xmlns:a16="http://schemas.microsoft.com/office/drawing/2014/main" id="{387CE632-F4BC-4940-9066-BCFBB3A91B03}"/>
              </a:ext>
            </a:extLst>
          </p:cNvPr>
          <p:cNvSpPr>
            <a:spLocks noGrp="1"/>
          </p:cNvSpPr>
          <p:nvPr/>
        </p:nvSpPr>
        <p:spPr>
          <a:xfrm>
            <a:off x="4305300" y="568139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0.525</a:t>
            </a:r>
          </a:p>
        </p:txBody>
      </p:sp>
      <p:sp>
        <p:nvSpPr>
          <p:cNvPr id="203" name="Rectangle 202">
            <a:extLst>
              <a:ext uri="{FF2B5EF4-FFF2-40B4-BE49-F238E27FC236}">
                <a16:creationId xmlns:a16="http://schemas.microsoft.com/office/drawing/2014/main" id="{216ACF50-F5A1-4ECD-B83E-1C056C646DE2}"/>
              </a:ext>
            </a:extLst>
          </p:cNvPr>
          <p:cNvSpPr>
            <a:spLocks noGrp="1"/>
          </p:cNvSpPr>
          <p:nvPr/>
        </p:nvSpPr>
        <p:spPr>
          <a:xfrm>
            <a:off x="4876799" y="5681391"/>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4" name="TextBox 203">
            <a:extLst>
              <a:ext uri="{FF2B5EF4-FFF2-40B4-BE49-F238E27FC236}">
                <a16:creationId xmlns:a16="http://schemas.microsoft.com/office/drawing/2014/main" id="{FB7D2048-5136-44CB-A643-82FE5C2F39DB}"/>
              </a:ext>
            </a:extLst>
          </p:cNvPr>
          <p:cNvSpPr>
            <a:spLocks noGrp="1"/>
          </p:cNvSpPr>
          <p:nvPr/>
        </p:nvSpPr>
        <p:spPr>
          <a:xfrm>
            <a:off x="4876799" y="568139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0.111</a:t>
            </a:r>
          </a:p>
        </p:txBody>
      </p:sp>
      <p:sp>
        <p:nvSpPr>
          <p:cNvPr id="205" name="Rectangle 204">
            <a:extLst>
              <a:ext uri="{FF2B5EF4-FFF2-40B4-BE49-F238E27FC236}">
                <a16:creationId xmlns:a16="http://schemas.microsoft.com/office/drawing/2014/main" id="{922E7E72-AD29-4B56-99E4-75E7458CD141}"/>
              </a:ext>
            </a:extLst>
          </p:cNvPr>
          <p:cNvSpPr>
            <a:spLocks noGrp="1"/>
          </p:cNvSpPr>
          <p:nvPr/>
        </p:nvSpPr>
        <p:spPr>
          <a:xfrm>
            <a:off x="5448299" y="5681391"/>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6" name="TextBox 205">
            <a:extLst>
              <a:ext uri="{FF2B5EF4-FFF2-40B4-BE49-F238E27FC236}">
                <a16:creationId xmlns:a16="http://schemas.microsoft.com/office/drawing/2014/main" id="{3F42145C-93A8-4A8F-A2AA-3C8DAA865F10}"/>
              </a:ext>
            </a:extLst>
          </p:cNvPr>
          <p:cNvSpPr>
            <a:spLocks noGrp="1"/>
          </p:cNvSpPr>
          <p:nvPr/>
        </p:nvSpPr>
        <p:spPr>
          <a:xfrm>
            <a:off x="5448299" y="5681391"/>
            <a:ext cx="571500" cy="331113"/>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0.181</a:t>
            </a:r>
          </a:p>
        </p:txBody>
      </p:sp>
      <p:sp>
        <p:nvSpPr>
          <p:cNvPr id="207" name="Rectangle 206">
            <a:extLst>
              <a:ext uri="{FF2B5EF4-FFF2-40B4-BE49-F238E27FC236}">
                <a16:creationId xmlns:a16="http://schemas.microsoft.com/office/drawing/2014/main" id="{1EF665A9-317B-4ABD-AD5F-7A0F9CB9D786}"/>
              </a:ext>
            </a:extLst>
          </p:cNvPr>
          <p:cNvSpPr>
            <a:spLocks noGrp="1"/>
          </p:cNvSpPr>
          <p:nvPr/>
        </p:nvSpPr>
        <p:spPr>
          <a:xfrm>
            <a:off x="304800" y="6012504"/>
            <a:ext cx="2365886"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8" name="TextBox 207">
            <a:extLst>
              <a:ext uri="{FF2B5EF4-FFF2-40B4-BE49-F238E27FC236}">
                <a16:creationId xmlns:a16="http://schemas.microsoft.com/office/drawing/2014/main" id="{F20DE6FD-25FB-4FCE-A24D-64D2E166218D}"/>
              </a:ext>
            </a:extLst>
          </p:cNvPr>
          <p:cNvSpPr>
            <a:spLocks noGrp="1"/>
          </p:cNvSpPr>
          <p:nvPr/>
        </p:nvSpPr>
        <p:spPr>
          <a:xfrm>
            <a:off x="304800" y="6094443"/>
            <a:ext cx="1107009"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Qwen3-VL-8B / M3</a:t>
            </a:r>
          </a:p>
        </p:txBody>
      </p:sp>
      <p:sp>
        <p:nvSpPr>
          <p:cNvPr id="209" name="Rectangle 208">
            <a:extLst>
              <a:ext uri="{FF2B5EF4-FFF2-40B4-BE49-F238E27FC236}">
                <a16:creationId xmlns:a16="http://schemas.microsoft.com/office/drawing/2014/main" id="{DD093A0B-1EA1-4F27-960B-98B1B8EF47FE}"/>
              </a:ext>
            </a:extLst>
          </p:cNvPr>
          <p:cNvSpPr>
            <a:spLocks noGrp="1"/>
          </p:cNvSpPr>
          <p:nvPr/>
        </p:nvSpPr>
        <p:spPr>
          <a:xfrm>
            <a:off x="2670686" y="6012504"/>
            <a:ext cx="479323" cy="331113"/>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0" name="TextBox 209">
            <a:extLst>
              <a:ext uri="{FF2B5EF4-FFF2-40B4-BE49-F238E27FC236}">
                <a16:creationId xmlns:a16="http://schemas.microsoft.com/office/drawing/2014/main" id="{7DDE6AC6-D5F2-4CC9-8A5C-9C0BC512670C}"/>
              </a:ext>
            </a:extLst>
          </p:cNvPr>
          <p:cNvSpPr>
            <a:spLocks noGrp="1"/>
          </p:cNvSpPr>
          <p:nvPr/>
        </p:nvSpPr>
        <p:spPr>
          <a:xfrm>
            <a:off x="2793517" y="6094443"/>
            <a:ext cx="233661"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4/4</a:t>
            </a:r>
          </a:p>
        </p:txBody>
      </p:sp>
      <p:sp>
        <p:nvSpPr>
          <p:cNvPr id="211" name="Rectangle 210">
            <a:extLst>
              <a:ext uri="{FF2B5EF4-FFF2-40B4-BE49-F238E27FC236}">
                <a16:creationId xmlns:a16="http://schemas.microsoft.com/office/drawing/2014/main" id="{5ACC33E1-D0EF-4515-AF5D-1675058B60D9}"/>
              </a:ext>
            </a:extLst>
          </p:cNvPr>
          <p:cNvSpPr>
            <a:spLocks noGrp="1"/>
          </p:cNvSpPr>
          <p:nvPr/>
        </p:nvSpPr>
        <p:spPr>
          <a:xfrm>
            <a:off x="3150009" y="6012504"/>
            <a:ext cx="58379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2" name="TextBox 211">
            <a:extLst>
              <a:ext uri="{FF2B5EF4-FFF2-40B4-BE49-F238E27FC236}">
                <a16:creationId xmlns:a16="http://schemas.microsoft.com/office/drawing/2014/main" id="{FBA62A6C-2C4A-444F-B754-15A52E7A43E1}"/>
              </a:ext>
            </a:extLst>
          </p:cNvPr>
          <p:cNvSpPr>
            <a:spLocks noGrp="1"/>
          </p:cNvSpPr>
          <p:nvPr/>
        </p:nvSpPr>
        <p:spPr>
          <a:xfrm>
            <a:off x="3257512" y="6094443"/>
            <a:ext cx="368784"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0.173</a:t>
            </a:r>
          </a:p>
        </p:txBody>
      </p:sp>
      <p:sp>
        <p:nvSpPr>
          <p:cNvPr id="213" name="Rectangle 212">
            <a:extLst>
              <a:ext uri="{FF2B5EF4-FFF2-40B4-BE49-F238E27FC236}">
                <a16:creationId xmlns:a16="http://schemas.microsoft.com/office/drawing/2014/main" id="{B608C2B6-F1BE-4D6F-8BF7-F6067611E603}"/>
              </a:ext>
            </a:extLst>
          </p:cNvPr>
          <p:cNvSpPr>
            <a:spLocks noGrp="1"/>
          </p:cNvSpPr>
          <p:nvPr/>
        </p:nvSpPr>
        <p:spPr>
          <a:xfrm>
            <a:off x="3733800" y="6012504"/>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4" name="TextBox 213">
            <a:extLst>
              <a:ext uri="{FF2B5EF4-FFF2-40B4-BE49-F238E27FC236}">
                <a16:creationId xmlns:a16="http://schemas.microsoft.com/office/drawing/2014/main" id="{488DA5A3-F914-4E5F-B24B-D498E45A3AF9}"/>
              </a:ext>
            </a:extLst>
          </p:cNvPr>
          <p:cNvSpPr>
            <a:spLocks noGrp="1"/>
          </p:cNvSpPr>
          <p:nvPr/>
        </p:nvSpPr>
        <p:spPr>
          <a:xfrm>
            <a:off x="3835158" y="6094443"/>
            <a:ext cx="368783"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0.002</a:t>
            </a:r>
          </a:p>
        </p:txBody>
      </p:sp>
      <p:sp>
        <p:nvSpPr>
          <p:cNvPr id="215" name="Rectangle 214">
            <a:extLst>
              <a:ext uri="{FF2B5EF4-FFF2-40B4-BE49-F238E27FC236}">
                <a16:creationId xmlns:a16="http://schemas.microsoft.com/office/drawing/2014/main" id="{00A6832D-CA50-4CA9-B97C-80AD1E1D2977}"/>
              </a:ext>
            </a:extLst>
          </p:cNvPr>
          <p:cNvSpPr>
            <a:spLocks noGrp="1"/>
          </p:cNvSpPr>
          <p:nvPr/>
        </p:nvSpPr>
        <p:spPr>
          <a:xfrm>
            <a:off x="4305300" y="6012504"/>
            <a:ext cx="571500" cy="331113"/>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6" name="TextBox 215">
            <a:extLst>
              <a:ext uri="{FF2B5EF4-FFF2-40B4-BE49-F238E27FC236}">
                <a16:creationId xmlns:a16="http://schemas.microsoft.com/office/drawing/2014/main" id="{F98B759C-CBA4-42E5-94CA-D327BA043968}"/>
              </a:ext>
            </a:extLst>
          </p:cNvPr>
          <p:cNvSpPr>
            <a:spLocks noGrp="1"/>
          </p:cNvSpPr>
          <p:nvPr/>
        </p:nvSpPr>
        <p:spPr>
          <a:xfrm>
            <a:off x="4406658" y="6094443"/>
            <a:ext cx="368783"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0.190</a:t>
            </a:r>
          </a:p>
        </p:txBody>
      </p:sp>
      <p:sp>
        <p:nvSpPr>
          <p:cNvPr id="217" name="Rectangle 216">
            <a:extLst>
              <a:ext uri="{FF2B5EF4-FFF2-40B4-BE49-F238E27FC236}">
                <a16:creationId xmlns:a16="http://schemas.microsoft.com/office/drawing/2014/main" id="{BB100ABA-2645-45A8-B320-305AFFC738F4}"/>
              </a:ext>
            </a:extLst>
          </p:cNvPr>
          <p:cNvSpPr>
            <a:spLocks noGrp="1"/>
          </p:cNvSpPr>
          <p:nvPr/>
        </p:nvSpPr>
        <p:spPr>
          <a:xfrm>
            <a:off x="4876799" y="6012504"/>
            <a:ext cx="571500" cy="331113"/>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8" name="TextBox 217">
            <a:extLst>
              <a:ext uri="{FF2B5EF4-FFF2-40B4-BE49-F238E27FC236}">
                <a16:creationId xmlns:a16="http://schemas.microsoft.com/office/drawing/2014/main" id="{E250E02C-17CE-45C6-B0E1-E2DFF4A10CE4}"/>
              </a:ext>
            </a:extLst>
          </p:cNvPr>
          <p:cNvSpPr>
            <a:spLocks noGrp="1"/>
          </p:cNvSpPr>
          <p:nvPr/>
        </p:nvSpPr>
        <p:spPr>
          <a:xfrm>
            <a:off x="4978157" y="6094443"/>
            <a:ext cx="368783"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0.424</a:t>
            </a:r>
          </a:p>
        </p:txBody>
      </p:sp>
      <p:sp>
        <p:nvSpPr>
          <p:cNvPr id="219" name="Rectangle 218">
            <a:extLst>
              <a:ext uri="{FF2B5EF4-FFF2-40B4-BE49-F238E27FC236}">
                <a16:creationId xmlns:a16="http://schemas.microsoft.com/office/drawing/2014/main" id="{9828A983-E7B7-4E6F-A6D7-36B9C207A5A8}"/>
              </a:ext>
            </a:extLst>
          </p:cNvPr>
          <p:cNvSpPr>
            <a:spLocks noGrp="1"/>
          </p:cNvSpPr>
          <p:nvPr/>
        </p:nvSpPr>
        <p:spPr>
          <a:xfrm>
            <a:off x="5448299" y="6012504"/>
            <a:ext cx="571500" cy="331113"/>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0" name="TextBox 219">
            <a:extLst>
              <a:ext uri="{FF2B5EF4-FFF2-40B4-BE49-F238E27FC236}">
                <a16:creationId xmlns:a16="http://schemas.microsoft.com/office/drawing/2014/main" id="{200C0010-ACA9-440C-AC06-D560C4C728EB}"/>
              </a:ext>
            </a:extLst>
          </p:cNvPr>
          <p:cNvSpPr>
            <a:spLocks noGrp="1"/>
          </p:cNvSpPr>
          <p:nvPr/>
        </p:nvSpPr>
        <p:spPr>
          <a:xfrm>
            <a:off x="5549657" y="6094443"/>
            <a:ext cx="368783"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0.076</a:t>
            </a:r>
          </a:p>
        </p:txBody>
      </p:sp>
      <p:sp>
        <p:nvSpPr>
          <p:cNvPr id="221" name="Rounded Rectangle 220">
            <a:extLst>
              <a:ext uri="{FF2B5EF4-FFF2-40B4-BE49-F238E27FC236}">
                <a16:creationId xmlns:a16="http://schemas.microsoft.com/office/drawing/2014/main" id="{85338866-3937-423E-B36A-749E543CA76F}"/>
              </a:ext>
            </a:extLst>
          </p:cNvPr>
          <p:cNvSpPr>
            <a:spLocks noGrp="1"/>
          </p:cNvSpPr>
          <p:nvPr/>
        </p:nvSpPr>
        <p:spPr>
          <a:xfrm>
            <a:off x="6172200" y="1009650"/>
            <a:ext cx="5715000" cy="278217"/>
          </a:xfrm>
          <a:prstGeom prst="roundRect">
            <a:avLst/>
          </a:prstGeom>
          <a:solidFill>
            <a:srgbClr val="2A9D8F"/>
          </a:solidFill>
          <a:ln w="5080">
            <a:solidFill>
              <a:srgbClr val="2A9D8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2" name="TextBox 221">
            <a:extLst>
              <a:ext uri="{FF2B5EF4-FFF2-40B4-BE49-F238E27FC236}">
                <a16:creationId xmlns:a16="http://schemas.microsoft.com/office/drawing/2014/main" id="{50AE6FF8-71D1-4708-B18A-6E2390EEA461}"/>
              </a:ext>
            </a:extLst>
          </p:cNvPr>
          <p:cNvSpPr>
            <a:spLocks noGrp="1"/>
          </p:cNvSpPr>
          <p:nvPr/>
        </p:nvSpPr>
        <p:spPr>
          <a:xfrm>
            <a:off x="8508100" y="1030937"/>
            <a:ext cx="1043205" cy="215036"/>
          </a:xfrm>
          <a:prstGeom prst="rect">
            <a:avLst/>
          </a:prstGeom>
          <a:noFill/>
        </p:spPr>
        <p:txBody>
          <a:bodyPr wrap="none" lIns="36576" tIns="18288" rIns="36576" bIns="18288" anchor="ctr">
            <a:spAutoFit/>
          </a:bodyPr>
          <a:lstStyle/>
          <a:p>
            <a:pPr algn="ctr">
              <a:buNone/>
            </a:pPr>
            <a:r>
              <a:rPr sz="1150" b="1">
                <a:solidFill>
                  <a:srgbClr val="FFFFFF"/>
                </a:solidFill>
                <a:latin typeface="Aptos"/>
                <a:ea typeface="Aptos"/>
                <a:cs typeface="Aptos"/>
              </a:rPr>
              <a:t>Partial coverage</a:t>
            </a:r>
          </a:p>
        </p:txBody>
      </p:sp>
      <p:sp>
        <p:nvSpPr>
          <p:cNvPr id="223" name="Rectangle 222">
            <a:extLst>
              <a:ext uri="{FF2B5EF4-FFF2-40B4-BE49-F238E27FC236}">
                <a16:creationId xmlns:a16="http://schemas.microsoft.com/office/drawing/2014/main" id="{1FB08CB0-37DA-4E28-82A0-C137515FB779}"/>
              </a:ext>
            </a:extLst>
          </p:cNvPr>
          <p:cNvSpPr>
            <a:spLocks noGrp="1"/>
          </p:cNvSpPr>
          <p:nvPr/>
        </p:nvSpPr>
        <p:spPr>
          <a:xfrm>
            <a:off x="6172200" y="1370302"/>
            <a:ext cx="2365886" cy="316626"/>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4" name="TextBox 223">
            <a:extLst>
              <a:ext uri="{FF2B5EF4-FFF2-40B4-BE49-F238E27FC236}">
                <a16:creationId xmlns:a16="http://schemas.microsoft.com/office/drawing/2014/main" id="{D85B8D42-B0A4-4F77-A153-2797E8980FDF}"/>
              </a:ext>
            </a:extLst>
          </p:cNvPr>
          <p:cNvSpPr>
            <a:spLocks noGrp="1"/>
          </p:cNvSpPr>
          <p:nvPr/>
        </p:nvSpPr>
        <p:spPr>
          <a:xfrm>
            <a:off x="6172200" y="1370302"/>
            <a:ext cx="2365886" cy="316626"/>
          </a:xfrm>
          <a:prstGeom prst="rect">
            <a:avLst/>
          </a:prstGeom>
          <a:noFill/>
        </p:spPr>
        <p:txBody>
          <a:bodyPr wrap="none" lIns="11430" tIns="0" rIns="11430" bIns="0" anchor="ctr">
            <a:spAutoFit/>
          </a:bodyPr>
          <a:lstStyle/>
          <a:p>
            <a:pPr algn="l">
              <a:buNone/>
            </a:pPr>
            <a:r>
              <a:rPr sz="1150" b="1">
                <a:solidFill>
                  <a:srgbClr val="FFFFFF"/>
                </a:solidFill>
                <a:latin typeface="Aptos"/>
                <a:ea typeface="Aptos"/>
                <a:cs typeface="Aptos"/>
              </a:rPr>
              <a:t>Configuration</a:t>
            </a:r>
          </a:p>
        </p:txBody>
      </p:sp>
      <p:sp>
        <p:nvSpPr>
          <p:cNvPr id="225" name="Rectangle 224">
            <a:extLst>
              <a:ext uri="{FF2B5EF4-FFF2-40B4-BE49-F238E27FC236}">
                <a16:creationId xmlns:a16="http://schemas.microsoft.com/office/drawing/2014/main" id="{086E8967-04C4-47F1-9EA2-FC7D04DEE577}"/>
              </a:ext>
            </a:extLst>
          </p:cNvPr>
          <p:cNvSpPr>
            <a:spLocks noGrp="1"/>
          </p:cNvSpPr>
          <p:nvPr/>
        </p:nvSpPr>
        <p:spPr>
          <a:xfrm>
            <a:off x="8538086" y="1370302"/>
            <a:ext cx="479323" cy="316626"/>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6" name="TextBox 225">
            <a:extLst>
              <a:ext uri="{FF2B5EF4-FFF2-40B4-BE49-F238E27FC236}">
                <a16:creationId xmlns:a16="http://schemas.microsoft.com/office/drawing/2014/main" id="{7F37FF44-A6E0-4739-8D19-222F04C53A65}"/>
              </a:ext>
            </a:extLst>
          </p:cNvPr>
          <p:cNvSpPr>
            <a:spLocks noGrp="1"/>
          </p:cNvSpPr>
          <p:nvPr/>
        </p:nvSpPr>
        <p:spPr>
          <a:xfrm>
            <a:off x="8538086" y="1370302"/>
            <a:ext cx="479323" cy="316626"/>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Cov</a:t>
            </a:r>
          </a:p>
        </p:txBody>
      </p:sp>
      <p:sp>
        <p:nvSpPr>
          <p:cNvPr id="227" name="Rectangle 226">
            <a:extLst>
              <a:ext uri="{FF2B5EF4-FFF2-40B4-BE49-F238E27FC236}">
                <a16:creationId xmlns:a16="http://schemas.microsoft.com/office/drawing/2014/main" id="{E03ED9A3-EAFF-4C96-AA0A-20257B923C96}"/>
              </a:ext>
            </a:extLst>
          </p:cNvPr>
          <p:cNvSpPr>
            <a:spLocks noGrp="1"/>
          </p:cNvSpPr>
          <p:nvPr/>
        </p:nvSpPr>
        <p:spPr>
          <a:xfrm>
            <a:off x="9017409" y="1370302"/>
            <a:ext cx="583790" cy="316626"/>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8" name="TextBox 227">
            <a:extLst>
              <a:ext uri="{FF2B5EF4-FFF2-40B4-BE49-F238E27FC236}">
                <a16:creationId xmlns:a16="http://schemas.microsoft.com/office/drawing/2014/main" id="{59BAB4BF-D263-49A5-A70E-CE28CD9CF60F}"/>
              </a:ext>
            </a:extLst>
          </p:cNvPr>
          <p:cNvSpPr>
            <a:spLocks noGrp="1"/>
          </p:cNvSpPr>
          <p:nvPr/>
        </p:nvSpPr>
        <p:spPr>
          <a:xfrm>
            <a:off x="9017409" y="1370302"/>
            <a:ext cx="583790" cy="316626"/>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Mean</a:t>
            </a:r>
          </a:p>
        </p:txBody>
      </p:sp>
      <p:sp>
        <p:nvSpPr>
          <p:cNvPr id="229" name="Rectangle 228">
            <a:extLst>
              <a:ext uri="{FF2B5EF4-FFF2-40B4-BE49-F238E27FC236}">
                <a16:creationId xmlns:a16="http://schemas.microsoft.com/office/drawing/2014/main" id="{DAFBB516-453F-494F-9D72-902D4D82990B}"/>
              </a:ext>
            </a:extLst>
          </p:cNvPr>
          <p:cNvSpPr>
            <a:spLocks noGrp="1"/>
          </p:cNvSpPr>
          <p:nvPr/>
        </p:nvSpPr>
        <p:spPr>
          <a:xfrm>
            <a:off x="9601200" y="1370302"/>
            <a:ext cx="571500" cy="316626"/>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0" name="TextBox 229">
            <a:extLst>
              <a:ext uri="{FF2B5EF4-FFF2-40B4-BE49-F238E27FC236}">
                <a16:creationId xmlns:a16="http://schemas.microsoft.com/office/drawing/2014/main" id="{7F346280-5828-4223-9A1C-D57301E1AB3B}"/>
              </a:ext>
            </a:extLst>
          </p:cNvPr>
          <p:cNvSpPr>
            <a:spLocks noGrp="1"/>
          </p:cNvSpPr>
          <p:nvPr/>
        </p:nvSpPr>
        <p:spPr>
          <a:xfrm>
            <a:off x="9601200" y="1370302"/>
            <a:ext cx="571500" cy="316626"/>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B</a:t>
            </a:r>
          </a:p>
        </p:txBody>
      </p:sp>
      <p:sp>
        <p:nvSpPr>
          <p:cNvPr id="231" name="Rectangle 230">
            <a:extLst>
              <a:ext uri="{FF2B5EF4-FFF2-40B4-BE49-F238E27FC236}">
                <a16:creationId xmlns:a16="http://schemas.microsoft.com/office/drawing/2014/main" id="{C4AB2852-358B-44C7-B5F2-37FB3659E9F6}"/>
              </a:ext>
            </a:extLst>
          </p:cNvPr>
          <p:cNvSpPr>
            <a:spLocks noGrp="1"/>
          </p:cNvSpPr>
          <p:nvPr/>
        </p:nvSpPr>
        <p:spPr>
          <a:xfrm>
            <a:off x="10172700" y="1370302"/>
            <a:ext cx="571500" cy="316626"/>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2" name="TextBox 231">
            <a:extLst>
              <a:ext uri="{FF2B5EF4-FFF2-40B4-BE49-F238E27FC236}">
                <a16:creationId xmlns:a16="http://schemas.microsoft.com/office/drawing/2014/main" id="{557CEDE7-F83D-42E5-B645-BC7664B0F6EF}"/>
              </a:ext>
            </a:extLst>
          </p:cNvPr>
          <p:cNvSpPr>
            <a:spLocks noGrp="1"/>
          </p:cNvSpPr>
          <p:nvPr/>
        </p:nvSpPr>
        <p:spPr>
          <a:xfrm>
            <a:off x="10172700" y="1370302"/>
            <a:ext cx="571500" cy="316626"/>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C</a:t>
            </a:r>
          </a:p>
        </p:txBody>
      </p:sp>
      <p:sp>
        <p:nvSpPr>
          <p:cNvPr id="233" name="Rectangle 232">
            <a:extLst>
              <a:ext uri="{FF2B5EF4-FFF2-40B4-BE49-F238E27FC236}">
                <a16:creationId xmlns:a16="http://schemas.microsoft.com/office/drawing/2014/main" id="{DE8CCDAF-2FFC-410B-92D4-B2BDC1805687}"/>
              </a:ext>
            </a:extLst>
          </p:cNvPr>
          <p:cNvSpPr>
            <a:spLocks noGrp="1"/>
          </p:cNvSpPr>
          <p:nvPr/>
        </p:nvSpPr>
        <p:spPr>
          <a:xfrm>
            <a:off x="10744199" y="1370302"/>
            <a:ext cx="571500" cy="316626"/>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4" name="TextBox 233">
            <a:extLst>
              <a:ext uri="{FF2B5EF4-FFF2-40B4-BE49-F238E27FC236}">
                <a16:creationId xmlns:a16="http://schemas.microsoft.com/office/drawing/2014/main" id="{74413A11-59BD-482D-A3AC-42490B7E630D}"/>
              </a:ext>
            </a:extLst>
          </p:cNvPr>
          <p:cNvSpPr>
            <a:spLocks noGrp="1"/>
          </p:cNvSpPr>
          <p:nvPr/>
        </p:nvSpPr>
        <p:spPr>
          <a:xfrm>
            <a:off x="10744199" y="1370302"/>
            <a:ext cx="571500" cy="316626"/>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IAM</a:t>
            </a:r>
          </a:p>
        </p:txBody>
      </p:sp>
      <p:sp>
        <p:nvSpPr>
          <p:cNvPr id="235" name="Rectangle 234">
            <a:extLst>
              <a:ext uri="{FF2B5EF4-FFF2-40B4-BE49-F238E27FC236}">
                <a16:creationId xmlns:a16="http://schemas.microsoft.com/office/drawing/2014/main" id="{4BC02AF6-738E-427F-8D49-F23F281906F1}"/>
              </a:ext>
            </a:extLst>
          </p:cNvPr>
          <p:cNvSpPr>
            <a:spLocks noGrp="1"/>
          </p:cNvSpPr>
          <p:nvPr/>
        </p:nvSpPr>
        <p:spPr>
          <a:xfrm>
            <a:off x="11315699" y="1370302"/>
            <a:ext cx="571500" cy="316626"/>
          </a:xfrm>
          <a:prstGeom prst="rect">
            <a:avLst/>
          </a:prstGeom>
          <a:solidFill>
            <a:srgbClr val="204753"/>
          </a:solidFill>
          <a:ln w="5080">
            <a:solidFill>
              <a:srgbClr val="F7F3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6" name="TextBox 235">
            <a:extLst>
              <a:ext uri="{FF2B5EF4-FFF2-40B4-BE49-F238E27FC236}">
                <a16:creationId xmlns:a16="http://schemas.microsoft.com/office/drawing/2014/main" id="{99AE6709-3270-4312-B87C-FB8D429E71B7}"/>
              </a:ext>
            </a:extLst>
          </p:cNvPr>
          <p:cNvSpPr>
            <a:spLocks noGrp="1"/>
          </p:cNvSpPr>
          <p:nvPr/>
        </p:nvSpPr>
        <p:spPr>
          <a:xfrm>
            <a:off x="11315699" y="1370302"/>
            <a:ext cx="571500" cy="316626"/>
          </a:xfrm>
          <a:prstGeom prst="rect">
            <a:avLst/>
          </a:prstGeom>
          <a:noFill/>
        </p:spPr>
        <p:txBody>
          <a:bodyPr wrap="none" lIns="11430" tIns="0" rIns="11430" bIns="0" anchor="ctr">
            <a:spAutoFit/>
          </a:bodyPr>
          <a:lstStyle/>
          <a:p>
            <a:pPr algn="ctr">
              <a:buNone/>
            </a:pPr>
            <a:r>
              <a:rPr sz="1150" b="1">
                <a:solidFill>
                  <a:srgbClr val="FFFFFF"/>
                </a:solidFill>
                <a:latin typeface="Aptos"/>
                <a:ea typeface="Aptos"/>
                <a:cs typeface="Aptos"/>
              </a:rPr>
              <a:t>W</a:t>
            </a:r>
          </a:p>
        </p:txBody>
      </p:sp>
      <p:sp>
        <p:nvSpPr>
          <p:cNvPr id="237" name="Rectangle 236">
            <a:extLst>
              <a:ext uri="{FF2B5EF4-FFF2-40B4-BE49-F238E27FC236}">
                <a16:creationId xmlns:a16="http://schemas.microsoft.com/office/drawing/2014/main" id="{AB1E7D48-B431-48B9-AC98-207103D1B68A}"/>
              </a:ext>
            </a:extLst>
          </p:cNvPr>
          <p:cNvSpPr>
            <a:spLocks noGrp="1"/>
          </p:cNvSpPr>
          <p:nvPr/>
        </p:nvSpPr>
        <p:spPr>
          <a:xfrm>
            <a:off x="6172200" y="1686928"/>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8" name="TextBox 237">
            <a:extLst>
              <a:ext uri="{FF2B5EF4-FFF2-40B4-BE49-F238E27FC236}">
                <a16:creationId xmlns:a16="http://schemas.microsoft.com/office/drawing/2014/main" id="{E251D5E8-7B96-402E-B9C3-469937358641}"/>
              </a:ext>
            </a:extLst>
          </p:cNvPr>
          <p:cNvSpPr>
            <a:spLocks noGrp="1"/>
          </p:cNvSpPr>
          <p:nvPr/>
        </p:nvSpPr>
        <p:spPr>
          <a:xfrm>
            <a:off x="6172200" y="1686928"/>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NNTP / NNTP</a:t>
            </a:r>
          </a:p>
        </p:txBody>
      </p:sp>
      <p:sp>
        <p:nvSpPr>
          <p:cNvPr id="239" name="Rectangle 238">
            <a:extLst>
              <a:ext uri="{FF2B5EF4-FFF2-40B4-BE49-F238E27FC236}">
                <a16:creationId xmlns:a16="http://schemas.microsoft.com/office/drawing/2014/main" id="{F8B8F09B-1B3F-4F05-BF45-9AB36A3ED9E2}"/>
              </a:ext>
            </a:extLst>
          </p:cNvPr>
          <p:cNvSpPr>
            <a:spLocks noGrp="1"/>
          </p:cNvSpPr>
          <p:nvPr/>
        </p:nvSpPr>
        <p:spPr>
          <a:xfrm>
            <a:off x="8538086" y="1686928"/>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0" name="TextBox 239">
            <a:extLst>
              <a:ext uri="{FF2B5EF4-FFF2-40B4-BE49-F238E27FC236}">
                <a16:creationId xmlns:a16="http://schemas.microsoft.com/office/drawing/2014/main" id="{1B6721EE-04D3-424B-9126-B22B31DC63DE}"/>
              </a:ext>
            </a:extLst>
          </p:cNvPr>
          <p:cNvSpPr>
            <a:spLocks noGrp="1"/>
          </p:cNvSpPr>
          <p:nvPr/>
        </p:nvSpPr>
        <p:spPr>
          <a:xfrm>
            <a:off x="8538086" y="1686928"/>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3/4</a:t>
            </a:r>
          </a:p>
        </p:txBody>
      </p:sp>
      <p:sp>
        <p:nvSpPr>
          <p:cNvPr id="241" name="Rectangle 240">
            <a:extLst>
              <a:ext uri="{FF2B5EF4-FFF2-40B4-BE49-F238E27FC236}">
                <a16:creationId xmlns:a16="http://schemas.microsoft.com/office/drawing/2014/main" id="{1C0CD4CD-2D9B-4674-92C7-E38760D22F65}"/>
              </a:ext>
            </a:extLst>
          </p:cNvPr>
          <p:cNvSpPr>
            <a:spLocks noGrp="1"/>
          </p:cNvSpPr>
          <p:nvPr/>
        </p:nvSpPr>
        <p:spPr>
          <a:xfrm>
            <a:off x="9017409" y="1686928"/>
            <a:ext cx="58379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2" name="TextBox 241">
            <a:extLst>
              <a:ext uri="{FF2B5EF4-FFF2-40B4-BE49-F238E27FC236}">
                <a16:creationId xmlns:a16="http://schemas.microsoft.com/office/drawing/2014/main" id="{2AF044E5-4594-4128-B1BC-9C0DB214CF1A}"/>
              </a:ext>
            </a:extLst>
          </p:cNvPr>
          <p:cNvSpPr>
            <a:spLocks noGrp="1"/>
          </p:cNvSpPr>
          <p:nvPr/>
        </p:nvSpPr>
        <p:spPr>
          <a:xfrm>
            <a:off x="9017409" y="1686928"/>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0.976</a:t>
            </a:r>
          </a:p>
        </p:txBody>
      </p:sp>
      <p:sp>
        <p:nvSpPr>
          <p:cNvPr id="243" name="Rectangle 242">
            <a:extLst>
              <a:ext uri="{FF2B5EF4-FFF2-40B4-BE49-F238E27FC236}">
                <a16:creationId xmlns:a16="http://schemas.microsoft.com/office/drawing/2014/main" id="{7DEC9991-2843-4FA8-9EB8-5580E4E50635}"/>
              </a:ext>
            </a:extLst>
          </p:cNvPr>
          <p:cNvSpPr>
            <a:spLocks noGrp="1"/>
          </p:cNvSpPr>
          <p:nvPr/>
        </p:nvSpPr>
        <p:spPr>
          <a:xfrm>
            <a:off x="9601200" y="1686928"/>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4" name="TextBox 243">
            <a:extLst>
              <a:ext uri="{FF2B5EF4-FFF2-40B4-BE49-F238E27FC236}">
                <a16:creationId xmlns:a16="http://schemas.microsoft.com/office/drawing/2014/main" id="{DC6872C6-2BF4-4C38-8CEA-41DA0491345E}"/>
              </a:ext>
            </a:extLst>
          </p:cNvPr>
          <p:cNvSpPr>
            <a:spLocks noGrp="1"/>
          </p:cNvSpPr>
          <p:nvPr/>
        </p:nvSpPr>
        <p:spPr>
          <a:xfrm>
            <a:off x="9601200" y="1686928"/>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245" name="Rectangle 244">
            <a:extLst>
              <a:ext uri="{FF2B5EF4-FFF2-40B4-BE49-F238E27FC236}">
                <a16:creationId xmlns:a16="http://schemas.microsoft.com/office/drawing/2014/main" id="{E752911E-96B1-4A78-96D5-EAEFC89DBB9A}"/>
              </a:ext>
            </a:extLst>
          </p:cNvPr>
          <p:cNvSpPr>
            <a:spLocks noGrp="1"/>
          </p:cNvSpPr>
          <p:nvPr/>
        </p:nvSpPr>
        <p:spPr>
          <a:xfrm>
            <a:off x="10172700" y="1686928"/>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6" name="TextBox 245">
            <a:extLst>
              <a:ext uri="{FF2B5EF4-FFF2-40B4-BE49-F238E27FC236}">
                <a16:creationId xmlns:a16="http://schemas.microsoft.com/office/drawing/2014/main" id="{939CAA65-7766-45D6-87CC-28D58BA2893A}"/>
              </a:ext>
            </a:extLst>
          </p:cNvPr>
          <p:cNvSpPr>
            <a:spLocks noGrp="1"/>
          </p:cNvSpPr>
          <p:nvPr/>
        </p:nvSpPr>
        <p:spPr>
          <a:xfrm>
            <a:off x="10172700" y="1686928"/>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0.939</a:t>
            </a:r>
          </a:p>
        </p:txBody>
      </p:sp>
      <p:sp>
        <p:nvSpPr>
          <p:cNvPr id="247" name="Rectangle 246">
            <a:extLst>
              <a:ext uri="{FF2B5EF4-FFF2-40B4-BE49-F238E27FC236}">
                <a16:creationId xmlns:a16="http://schemas.microsoft.com/office/drawing/2014/main" id="{23C0A787-B350-4B15-B906-BB3394FBB4EF}"/>
              </a:ext>
            </a:extLst>
          </p:cNvPr>
          <p:cNvSpPr>
            <a:spLocks noGrp="1"/>
          </p:cNvSpPr>
          <p:nvPr/>
        </p:nvSpPr>
        <p:spPr>
          <a:xfrm>
            <a:off x="10744199" y="1686928"/>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8" name="TextBox 247">
            <a:extLst>
              <a:ext uri="{FF2B5EF4-FFF2-40B4-BE49-F238E27FC236}">
                <a16:creationId xmlns:a16="http://schemas.microsoft.com/office/drawing/2014/main" id="{34398367-CFBF-43FA-916C-FE883D87810B}"/>
              </a:ext>
            </a:extLst>
          </p:cNvPr>
          <p:cNvSpPr>
            <a:spLocks noGrp="1"/>
          </p:cNvSpPr>
          <p:nvPr/>
        </p:nvSpPr>
        <p:spPr>
          <a:xfrm>
            <a:off x="10744199" y="1686928"/>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1.000</a:t>
            </a:r>
          </a:p>
        </p:txBody>
      </p:sp>
      <p:sp>
        <p:nvSpPr>
          <p:cNvPr id="249" name="Rectangle 248">
            <a:extLst>
              <a:ext uri="{FF2B5EF4-FFF2-40B4-BE49-F238E27FC236}">
                <a16:creationId xmlns:a16="http://schemas.microsoft.com/office/drawing/2014/main" id="{1590B17F-4C62-473E-A7D4-DBBA012CE66B}"/>
              </a:ext>
            </a:extLst>
          </p:cNvPr>
          <p:cNvSpPr>
            <a:spLocks noGrp="1"/>
          </p:cNvSpPr>
          <p:nvPr/>
        </p:nvSpPr>
        <p:spPr>
          <a:xfrm>
            <a:off x="11315699" y="1686928"/>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0" name="TextBox 249">
            <a:extLst>
              <a:ext uri="{FF2B5EF4-FFF2-40B4-BE49-F238E27FC236}">
                <a16:creationId xmlns:a16="http://schemas.microsoft.com/office/drawing/2014/main" id="{1B634B78-F2E2-4AE3-BD3C-75F692C55051}"/>
              </a:ext>
            </a:extLst>
          </p:cNvPr>
          <p:cNvSpPr>
            <a:spLocks noGrp="1"/>
          </p:cNvSpPr>
          <p:nvPr/>
        </p:nvSpPr>
        <p:spPr>
          <a:xfrm>
            <a:off x="11315699" y="1686928"/>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0.990</a:t>
            </a:r>
          </a:p>
        </p:txBody>
      </p:sp>
      <p:sp>
        <p:nvSpPr>
          <p:cNvPr id="251" name="Rectangle 250">
            <a:extLst>
              <a:ext uri="{FF2B5EF4-FFF2-40B4-BE49-F238E27FC236}">
                <a16:creationId xmlns:a16="http://schemas.microsoft.com/office/drawing/2014/main" id="{9A72891F-CFDA-45BD-9546-5D0074428C28}"/>
              </a:ext>
            </a:extLst>
          </p:cNvPr>
          <p:cNvSpPr>
            <a:spLocks noGrp="1"/>
          </p:cNvSpPr>
          <p:nvPr/>
        </p:nvSpPr>
        <p:spPr>
          <a:xfrm>
            <a:off x="6172200" y="1997347"/>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2" name="TextBox 251">
            <a:extLst>
              <a:ext uri="{FF2B5EF4-FFF2-40B4-BE49-F238E27FC236}">
                <a16:creationId xmlns:a16="http://schemas.microsoft.com/office/drawing/2014/main" id="{ACB1D00A-8471-4CAE-92E8-BFCE94339EAE}"/>
              </a:ext>
            </a:extLst>
          </p:cNvPr>
          <p:cNvSpPr>
            <a:spLocks noGrp="1"/>
          </p:cNvSpPr>
          <p:nvPr/>
        </p:nvSpPr>
        <p:spPr>
          <a:xfrm>
            <a:off x="6172200" y="1997347"/>
            <a:ext cx="2365886" cy="310418"/>
          </a:xfrm>
          <a:prstGeom prst="rect">
            <a:avLst/>
          </a:prstGeom>
          <a:noFill/>
        </p:spPr>
        <p:txBody>
          <a:bodyPr wrap="none" lIns="28575" tIns="0" rIns="28575" bIns="0" anchor="ctr">
            <a:spAutoFit/>
          </a:bodyPr>
          <a:lstStyle/>
          <a:p>
            <a:pPr algn="l">
              <a:buNone/>
            </a:pPr>
            <a:r>
              <a:rPr sz="1100" b="1">
                <a:solidFill>
                  <a:srgbClr val="1E4954"/>
                </a:solidFill>
                <a:latin typeface="Aptos"/>
                <a:ea typeface="Aptos"/>
                <a:cs typeface="Aptos"/>
              </a:rPr>
              <a:t>Qwen3-VL-32B / M5</a:t>
            </a:r>
          </a:p>
        </p:txBody>
      </p:sp>
      <p:sp>
        <p:nvSpPr>
          <p:cNvPr id="253" name="Rectangle 252">
            <a:extLst>
              <a:ext uri="{FF2B5EF4-FFF2-40B4-BE49-F238E27FC236}">
                <a16:creationId xmlns:a16="http://schemas.microsoft.com/office/drawing/2014/main" id="{B62D3C79-0AAA-44F1-93CC-A6466ABF736A}"/>
              </a:ext>
            </a:extLst>
          </p:cNvPr>
          <p:cNvSpPr>
            <a:spLocks noGrp="1"/>
          </p:cNvSpPr>
          <p:nvPr/>
        </p:nvSpPr>
        <p:spPr>
          <a:xfrm>
            <a:off x="8538086" y="1997347"/>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4" name="TextBox 253">
            <a:extLst>
              <a:ext uri="{FF2B5EF4-FFF2-40B4-BE49-F238E27FC236}">
                <a16:creationId xmlns:a16="http://schemas.microsoft.com/office/drawing/2014/main" id="{71ED9895-0E3C-432E-8C21-D18ACA85DEC2}"/>
              </a:ext>
            </a:extLst>
          </p:cNvPr>
          <p:cNvSpPr>
            <a:spLocks noGrp="1"/>
          </p:cNvSpPr>
          <p:nvPr/>
        </p:nvSpPr>
        <p:spPr>
          <a:xfrm>
            <a:off x="8538086" y="1997347"/>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3/4</a:t>
            </a:r>
          </a:p>
        </p:txBody>
      </p:sp>
      <p:sp>
        <p:nvSpPr>
          <p:cNvPr id="255" name="Rectangle 254">
            <a:extLst>
              <a:ext uri="{FF2B5EF4-FFF2-40B4-BE49-F238E27FC236}">
                <a16:creationId xmlns:a16="http://schemas.microsoft.com/office/drawing/2014/main" id="{254032E5-67AC-4AB1-B163-CB39C8006019}"/>
              </a:ext>
            </a:extLst>
          </p:cNvPr>
          <p:cNvSpPr>
            <a:spLocks noGrp="1"/>
          </p:cNvSpPr>
          <p:nvPr/>
        </p:nvSpPr>
        <p:spPr>
          <a:xfrm>
            <a:off x="9017409" y="1997347"/>
            <a:ext cx="58379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6" name="TextBox 255">
            <a:extLst>
              <a:ext uri="{FF2B5EF4-FFF2-40B4-BE49-F238E27FC236}">
                <a16:creationId xmlns:a16="http://schemas.microsoft.com/office/drawing/2014/main" id="{C7A3F750-A332-4D6E-BA0A-584367BB48EA}"/>
              </a:ext>
            </a:extLst>
          </p:cNvPr>
          <p:cNvSpPr>
            <a:spLocks noGrp="1"/>
          </p:cNvSpPr>
          <p:nvPr/>
        </p:nvSpPr>
        <p:spPr>
          <a:xfrm>
            <a:off x="9017409" y="1997347"/>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0.962</a:t>
            </a:r>
          </a:p>
        </p:txBody>
      </p:sp>
      <p:sp>
        <p:nvSpPr>
          <p:cNvPr id="257" name="Rectangle 256">
            <a:extLst>
              <a:ext uri="{FF2B5EF4-FFF2-40B4-BE49-F238E27FC236}">
                <a16:creationId xmlns:a16="http://schemas.microsoft.com/office/drawing/2014/main" id="{2602CA05-F3A8-491C-8BEE-288EA0208F19}"/>
              </a:ext>
            </a:extLst>
          </p:cNvPr>
          <p:cNvSpPr>
            <a:spLocks noGrp="1"/>
          </p:cNvSpPr>
          <p:nvPr/>
        </p:nvSpPr>
        <p:spPr>
          <a:xfrm>
            <a:off x="9601200" y="1997347"/>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8" name="TextBox 257">
            <a:extLst>
              <a:ext uri="{FF2B5EF4-FFF2-40B4-BE49-F238E27FC236}">
                <a16:creationId xmlns:a16="http://schemas.microsoft.com/office/drawing/2014/main" id="{9DCA5C6F-0C01-48F7-B68E-DC40C130C58E}"/>
              </a:ext>
            </a:extLst>
          </p:cNvPr>
          <p:cNvSpPr>
            <a:spLocks noGrp="1"/>
          </p:cNvSpPr>
          <p:nvPr/>
        </p:nvSpPr>
        <p:spPr>
          <a:xfrm>
            <a:off x="9601200" y="1997347"/>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259" name="Rectangle 258">
            <a:extLst>
              <a:ext uri="{FF2B5EF4-FFF2-40B4-BE49-F238E27FC236}">
                <a16:creationId xmlns:a16="http://schemas.microsoft.com/office/drawing/2014/main" id="{43BE3AD1-2A01-40C3-A583-F9D82FB3DE8B}"/>
              </a:ext>
            </a:extLst>
          </p:cNvPr>
          <p:cNvSpPr>
            <a:spLocks noGrp="1"/>
          </p:cNvSpPr>
          <p:nvPr/>
        </p:nvSpPr>
        <p:spPr>
          <a:xfrm>
            <a:off x="10172700" y="1997347"/>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0" name="TextBox 259">
            <a:extLst>
              <a:ext uri="{FF2B5EF4-FFF2-40B4-BE49-F238E27FC236}">
                <a16:creationId xmlns:a16="http://schemas.microsoft.com/office/drawing/2014/main" id="{F1D089D9-E7FE-409A-8F41-8CC1376E6FED}"/>
              </a:ext>
            </a:extLst>
          </p:cNvPr>
          <p:cNvSpPr>
            <a:spLocks noGrp="1"/>
          </p:cNvSpPr>
          <p:nvPr/>
        </p:nvSpPr>
        <p:spPr>
          <a:xfrm>
            <a:off x="10172700" y="1997347"/>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0.923</a:t>
            </a:r>
          </a:p>
        </p:txBody>
      </p:sp>
      <p:sp>
        <p:nvSpPr>
          <p:cNvPr id="261" name="Rectangle 260">
            <a:extLst>
              <a:ext uri="{FF2B5EF4-FFF2-40B4-BE49-F238E27FC236}">
                <a16:creationId xmlns:a16="http://schemas.microsoft.com/office/drawing/2014/main" id="{57BB9E90-4B67-4970-B383-5B6A0216B7CD}"/>
              </a:ext>
            </a:extLst>
          </p:cNvPr>
          <p:cNvSpPr>
            <a:spLocks noGrp="1"/>
          </p:cNvSpPr>
          <p:nvPr/>
        </p:nvSpPr>
        <p:spPr>
          <a:xfrm>
            <a:off x="10744199" y="1997347"/>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2" name="TextBox 261">
            <a:extLst>
              <a:ext uri="{FF2B5EF4-FFF2-40B4-BE49-F238E27FC236}">
                <a16:creationId xmlns:a16="http://schemas.microsoft.com/office/drawing/2014/main" id="{405A7E4B-0EE5-4928-BE5A-25A33BBE0735}"/>
              </a:ext>
            </a:extLst>
          </p:cNvPr>
          <p:cNvSpPr>
            <a:spLocks noGrp="1"/>
          </p:cNvSpPr>
          <p:nvPr/>
        </p:nvSpPr>
        <p:spPr>
          <a:xfrm>
            <a:off x="10744199" y="1997347"/>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0.982</a:t>
            </a:r>
          </a:p>
        </p:txBody>
      </p:sp>
      <p:sp>
        <p:nvSpPr>
          <p:cNvPr id="263" name="Rectangle 262">
            <a:extLst>
              <a:ext uri="{FF2B5EF4-FFF2-40B4-BE49-F238E27FC236}">
                <a16:creationId xmlns:a16="http://schemas.microsoft.com/office/drawing/2014/main" id="{6B28A66C-F91F-41A1-898D-80460E341D36}"/>
              </a:ext>
            </a:extLst>
          </p:cNvPr>
          <p:cNvSpPr>
            <a:spLocks noGrp="1"/>
          </p:cNvSpPr>
          <p:nvPr/>
        </p:nvSpPr>
        <p:spPr>
          <a:xfrm>
            <a:off x="11315699" y="1997347"/>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4" name="TextBox 263">
            <a:extLst>
              <a:ext uri="{FF2B5EF4-FFF2-40B4-BE49-F238E27FC236}">
                <a16:creationId xmlns:a16="http://schemas.microsoft.com/office/drawing/2014/main" id="{F7F07B68-DD82-42FB-9231-FAC300DB77C6}"/>
              </a:ext>
            </a:extLst>
          </p:cNvPr>
          <p:cNvSpPr>
            <a:spLocks noGrp="1"/>
          </p:cNvSpPr>
          <p:nvPr/>
        </p:nvSpPr>
        <p:spPr>
          <a:xfrm>
            <a:off x="11315699" y="1997347"/>
            <a:ext cx="571500" cy="310418"/>
          </a:xfrm>
          <a:prstGeom prst="rect">
            <a:avLst/>
          </a:prstGeom>
          <a:noFill/>
        </p:spPr>
        <p:txBody>
          <a:bodyPr wrap="none" lIns="9525" tIns="0" rIns="9525" bIns="0" anchor="ctr">
            <a:spAutoFit/>
          </a:bodyPr>
          <a:lstStyle/>
          <a:p>
            <a:pPr algn="ctr">
              <a:buNone/>
            </a:pPr>
            <a:r>
              <a:rPr sz="1100" b="1">
                <a:solidFill>
                  <a:srgbClr val="1E4954"/>
                </a:solidFill>
                <a:latin typeface="Aptos"/>
                <a:ea typeface="Aptos"/>
                <a:cs typeface="Aptos"/>
              </a:rPr>
              <a:t>0.980</a:t>
            </a:r>
          </a:p>
        </p:txBody>
      </p:sp>
      <p:sp>
        <p:nvSpPr>
          <p:cNvPr id="265" name="Rectangle 264">
            <a:extLst>
              <a:ext uri="{FF2B5EF4-FFF2-40B4-BE49-F238E27FC236}">
                <a16:creationId xmlns:a16="http://schemas.microsoft.com/office/drawing/2014/main" id="{9B7A9919-C6F8-41F9-8514-E35F45943433}"/>
              </a:ext>
            </a:extLst>
          </p:cNvPr>
          <p:cNvSpPr>
            <a:spLocks noGrp="1"/>
          </p:cNvSpPr>
          <p:nvPr/>
        </p:nvSpPr>
        <p:spPr>
          <a:xfrm>
            <a:off x="6172200" y="2307765"/>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6" name="TextBox 265">
            <a:extLst>
              <a:ext uri="{FF2B5EF4-FFF2-40B4-BE49-F238E27FC236}">
                <a16:creationId xmlns:a16="http://schemas.microsoft.com/office/drawing/2014/main" id="{C10CCF73-7C96-4E23-8BE5-EB791CFE0C1F}"/>
              </a:ext>
            </a:extLst>
          </p:cNvPr>
          <p:cNvSpPr>
            <a:spLocks noGrp="1"/>
          </p:cNvSpPr>
          <p:nvPr/>
        </p:nvSpPr>
        <p:spPr>
          <a:xfrm>
            <a:off x="6172200" y="2307765"/>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Mistral-2512 / M5</a:t>
            </a:r>
          </a:p>
        </p:txBody>
      </p:sp>
      <p:sp>
        <p:nvSpPr>
          <p:cNvPr id="267" name="Rectangle 266">
            <a:extLst>
              <a:ext uri="{FF2B5EF4-FFF2-40B4-BE49-F238E27FC236}">
                <a16:creationId xmlns:a16="http://schemas.microsoft.com/office/drawing/2014/main" id="{E7745B24-0C50-446A-B99B-66D2E70E493F}"/>
              </a:ext>
            </a:extLst>
          </p:cNvPr>
          <p:cNvSpPr>
            <a:spLocks noGrp="1"/>
          </p:cNvSpPr>
          <p:nvPr/>
        </p:nvSpPr>
        <p:spPr>
          <a:xfrm>
            <a:off x="8538086" y="2307765"/>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8" name="TextBox 267">
            <a:extLst>
              <a:ext uri="{FF2B5EF4-FFF2-40B4-BE49-F238E27FC236}">
                <a16:creationId xmlns:a16="http://schemas.microsoft.com/office/drawing/2014/main" id="{5E8ECEC6-A6C8-43F0-B454-C00876F4C3CF}"/>
              </a:ext>
            </a:extLst>
          </p:cNvPr>
          <p:cNvSpPr>
            <a:spLocks noGrp="1"/>
          </p:cNvSpPr>
          <p:nvPr/>
        </p:nvSpPr>
        <p:spPr>
          <a:xfrm>
            <a:off x="8538086" y="2307765"/>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3/4</a:t>
            </a:r>
          </a:p>
        </p:txBody>
      </p:sp>
      <p:sp>
        <p:nvSpPr>
          <p:cNvPr id="269" name="Rectangle 268">
            <a:extLst>
              <a:ext uri="{FF2B5EF4-FFF2-40B4-BE49-F238E27FC236}">
                <a16:creationId xmlns:a16="http://schemas.microsoft.com/office/drawing/2014/main" id="{EEE70B9D-CF48-45DD-87D5-A4C90FC93940}"/>
              </a:ext>
            </a:extLst>
          </p:cNvPr>
          <p:cNvSpPr>
            <a:spLocks noGrp="1"/>
          </p:cNvSpPr>
          <p:nvPr/>
        </p:nvSpPr>
        <p:spPr>
          <a:xfrm>
            <a:off x="9017409" y="2307765"/>
            <a:ext cx="58379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0" name="TextBox 269">
            <a:extLst>
              <a:ext uri="{FF2B5EF4-FFF2-40B4-BE49-F238E27FC236}">
                <a16:creationId xmlns:a16="http://schemas.microsoft.com/office/drawing/2014/main" id="{6F3C5AC1-CA4D-4AD6-B716-51C9BE99761E}"/>
              </a:ext>
            </a:extLst>
          </p:cNvPr>
          <p:cNvSpPr>
            <a:spLocks noGrp="1"/>
          </p:cNvSpPr>
          <p:nvPr/>
        </p:nvSpPr>
        <p:spPr>
          <a:xfrm>
            <a:off x="9017409" y="2307765"/>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0.911</a:t>
            </a:r>
          </a:p>
        </p:txBody>
      </p:sp>
      <p:sp>
        <p:nvSpPr>
          <p:cNvPr id="271" name="Rectangle 270">
            <a:extLst>
              <a:ext uri="{FF2B5EF4-FFF2-40B4-BE49-F238E27FC236}">
                <a16:creationId xmlns:a16="http://schemas.microsoft.com/office/drawing/2014/main" id="{2239CD2F-1634-4E8B-98B4-EA2BEB6BB48F}"/>
              </a:ext>
            </a:extLst>
          </p:cNvPr>
          <p:cNvSpPr>
            <a:spLocks noGrp="1"/>
          </p:cNvSpPr>
          <p:nvPr/>
        </p:nvSpPr>
        <p:spPr>
          <a:xfrm>
            <a:off x="9601200" y="2307765"/>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2" name="TextBox 271">
            <a:extLst>
              <a:ext uri="{FF2B5EF4-FFF2-40B4-BE49-F238E27FC236}">
                <a16:creationId xmlns:a16="http://schemas.microsoft.com/office/drawing/2014/main" id="{FEC91766-D392-460B-AAD4-75C52F28A7E7}"/>
              </a:ext>
            </a:extLst>
          </p:cNvPr>
          <p:cNvSpPr>
            <a:spLocks noGrp="1"/>
          </p:cNvSpPr>
          <p:nvPr/>
        </p:nvSpPr>
        <p:spPr>
          <a:xfrm>
            <a:off x="9601200" y="2307765"/>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273" name="Rectangle 272">
            <a:extLst>
              <a:ext uri="{FF2B5EF4-FFF2-40B4-BE49-F238E27FC236}">
                <a16:creationId xmlns:a16="http://schemas.microsoft.com/office/drawing/2014/main" id="{E6A6B597-0923-4A4A-B9D7-4C2EC640122A}"/>
              </a:ext>
            </a:extLst>
          </p:cNvPr>
          <p:cNvSpPr>
            <a:spLocks noGrp="1"/>
          </p:cNvSpPr>
          <p:nvPr/>
        </p:nvSpPr>
        <p:spPr>
          <a:xfrm>
            <a:off x="10172700" y="2307765"/>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4" name="TextBox 273">
            <a:extLst>
              <a:ext uri="{FF2B5EF4-FFF2-40B4-BE49-F238E27FC236}">
                <a16:creationId xmlns:a16="http://schemas.microsoft.com/office/drawing/2014/main" id="{747D4F0C-509A-4E4E-ABEE-6936ED83F5C9}"/>
              </a:ext>
            </a:extLst>
          </p:cNvPr>
          <p:cNvSpPr>
            <a:spLocks noGrp="1"/>
          </p:cNvSpPr>
          <p:nvPr/>
        </p:nvSpPr>
        <p:spPr>
          <a:xfrm>
            <a:off x="10172700" y="2307765"/>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0.846</a:t>
            </a:r>
          </a:p>
        </p:txBody>
      </p:sp>
      <p:sp>
        <p:nvSpPr>
          <p:cNvPr id="275" name="Rectangle 274">
            <a:extLst>
              <a:ext uri="{FF2B5EF4-FFF2-40B4-BE49-F238E27FC236}">
                <a16:creationId xmlns:a16="http://schemas.microsoft.com/office/drawing/2014/main" id="{C9280FB2-2F78-4EE4-8400-063E4A2120D9}"/>
              </a:ext>
            </a:extLst>
          </p:cNvPr>
          <p:cNvSpPr>
            <a:spLocks noGrp="1"/>
          </p:cNvSpPr>
          <p:nvPr/>
        </p:nvSpPr>
        <p:spPr>
          <a:xfrm>
            <a:off x="10744199" y="2307765"/>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6" name="TextBox 275">
            <a:extLst>
              <a:ext uri="{FF2B5EF4-FFF2-40B4-BE49-F238E27FC236}">
                <a16:creationId xmlns:a16="http://schemas.microsoft.com/office/drawing/2014/main" id="{564F08BD-8B03-4AB1-9952-24DA164919B2}"/>
              </a:ext>
            </a:extLst>
          </p:cNvPr>
          <p:cNvSpPr>
            <a:spLocks noGrp="1"/>
          </p:cNvSpPr>
          <p:nvPr/>
        </p:nvSpPr>
        <p:spPr>
          <a:xfrm>
            <a:off x="10744199" y="2307765"/>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0.930</a:t>
            </a:r>
          </a:p>
        </p:txBody>
      </p:sp>
      <p:sp>
        <p:nvSpPr>
          <p:cNvPr id="277" name="Rectangle 276">
            <a:extLst>
              <a:ext uri="{FF2B5EF4-FFF2-40B4-BE49-F238E27FC236}">
                <a16:creationId xmlns:a16="http://schemas.microsoft.com/office/drawing/2014/main" id="{E5510A98-C102-4D64-9E03-DDF1F3974813}"/>
              </a:ext>
            </a:extLst>
          </p:cNvPr>
          <p:cNvSpPr>
            <a:spLocks noGrp="1"/>
          </p:cNvSpPr>
          <p:nvPr/>
        </p:nvSpPr>
        <p:spPr>
          <a:xfrm>
            <a:off x="11315699" y="2307765"/>
            <a:ext cx="571500" cy="310418"/>
          </a:xfrm>
          <a:prstGeom prst="rect">
            <a:avLst/>
          </a:prstGeom>
          <a:solidFill>
            <a:srgbClr val="D8EEEA"/>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8" name="TextBox 277">
            <a:extLst>
              <a:ext uri="{FF2B5EF4-FFF2-40B4-BE49-F238E27FC236}">
                <a16:creationId xmlns:a16="http://schemas.microsoft.com/office/drawing/2014/main" id="{6779AA95-E854-4162-A717-9FE2972EB688}"/>
              </a:ext>
            </a:extLst>
          </p:cNvPr>
          <p:cNvSpPr>
            <a:spLocks noGrp="1"/>
          </p:cNvSpPr>
          <p:nvPr/>
        </p:nvSpPr>
        <p:spPr>
          <a:xfrm>
            <a:off x="11315699" y="2307765"/>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0.957</a:t>
            </a:r>
          </a:p>
        </p:txBody>
      </p:sp>
      <p:sp>
        <p:nvSpPr>
          <p:cNvPr id="279" name="Rectangle 278">
            <a:extLst>
              <a:ext uri="{FF2B5EF4-FFF2-40B4-BE49-F238E27FC236}">
                <a16:creationId xmlns:a16="http://schemas.microsoft.com/office/drawing/2014/main" id="{CD8FA533-CA7E-4AFB-8F62-EC2683DCF2F4}"/>
              </a:ext>
            </a:extLst>
          </p:cNvPr>
          <p:cNvSpPr>
            <a:spLocks noGrp="1"/>
          </p:cNvSpPr>
          <p:nvPr/>
        </p:nvSpPr>
        <p:spPr>
          <a:xfrm>
            <a:off x="6172200" y="2618183"/>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0" name="TextBox 279">
            <a:extLst>
              <a:ext uri="{FF2B5EF4-FFF2-40B4-BE49-F238E27FC236}">
                <a16:creationId xmlns:a16="http://schemas.microsoft.com/office/drawing/2014/main" id="{3DA48825-4DE4-4F0A-A018-BEB9BF694495}"/>
              </a:ext>
            </a:extLst>
          </p:cNvPr>
          <p:cNvSpPr>
            <a:spLocks noGrp="1"/>
          </p:cNvSpPr>
          <p:nvPr/>
        </p:nvSpPr>
        <p:spPr>
          <a:xfrm>
            <a:off x="6172200" y="2618183"/>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Qwen3-VL-8B / M4</a:t>
            </a:r>
          </a:p>
        </p:txBody>
      </p:sp>
      <p:sp>
        <p:nvSpPr>
          <p:cNvPr id="281" name="Rectangle 280">
            <a:extLst>
              <a:ext uri="{FF2B5EF4-FFF2-40B4-BE49-F238E27FC236}">
                <a16:creationId xmlns:a16="http://schemas.microsoft.com/office/drawing/2014/main" id="{90D42B6C-7003-4C53-BA70-238475676053}"/>
              </a:ext>
            </a:extLst>
          </p:cNvPr>
          <p:cNvSpPr>
            <a:spLocks noGrp="1"/>
          </p:cNvSpPr>
          <p:nvPr/>
        </p:nvSpPr>
        <p:spPr>
          <a:xfrm>
            <a:off x="8538086" y="2618183"/>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2" name="TextBox 281">
            <a:extLst>
              <a:ext uri="{FF2B5EF4-FFF2-40B4-BE49-F238E27FC236}">
                <a16:creationId xmlns:a16="http://schemas.microsoft.com/office/drawing/2014/main" id="{0B4C41C5-AAE5-4FBC-AA77-330638891527}"/>
              </a:ext>
            </a:extLst>
          </p:cNvPr>
          <p:cNvSpPr>
            <a:spLocks noGrp="1"/>
          </p:cNvSpPr>
          <p:nvPr/>
        </p:nvSpPr>
        <p:spPr>
          <a:xfrm>
            <a:off x="8538086" y="2618183"/>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3/4</a:t>
            </a:r>
          </a:p>
        </p:txBody>
      </p:sp>
      <p:sp>
        <p:nvSpPr>
          <p:cNvPr id="283" name="Rectangle 282">
            <a:extLst>
              <a:ext uri="{FF2B5EF4-FFF2-40B4-BE49-F238E27FC236}">
                <a16:creationId xmlns:a16="http://schemas.microsoft.com/office/drawing/2014/main" id="{6EFC937B-D390-46F4-A4D5-AEAF5C8768B8}"/>
              </a:ext>
            </a:extLst>
          </p:cNvPr>
          <p:cNvSpPr>
            <a:spLocks noGrp="1"/>
          </p:cNvSpPr>
          <p:nvPr/>
        </p:nvSpPr>
        <p:spPr>
          <a:xfrm>
            <a:off x="9017409" y="2618183"/>
            <a:ext cx="583790" cy="310418"/>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4" name="TextBox 283">
            <a:extLst>
              <a:ext uri="{FF2B5EF4-FFF2-40B4-BE49-F238E27FC236}">
                <a16:creationId xmlns:a16="http://schemas.microsoft.com/office/drawing/2014/main" id="{81653C4D-E3A5-4C16-9CD1-54B331AA936C}"/>
              </a:ext>
            </a:extLst>
          </p:cNvPr>
          <p:cNvSpPr>
            <a:spLocks noGrp="1"/>
          </p:cNvSpPr>
          <p:nvPr/>
        </p:nvSpPr>
        <p:spPr>
          <a:xfrm>
            <a:off x="9017409" y="2618183"/>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0.672</a:t>
            </a:r>
          </a:p>
        </p:txBody>
      </p:sp>
      <p:sp>
        <p:nvSpPr>
          <p:cNvPr id="285" name="Rectangle 284">
            <a:extLst>
              <a:ext uri="{FF2B5EF4-FFF2-40B4-BE49-F238E27FC236}">
                <a16:creationId xmlns:a16="http://schemas.microsoft.com/office/drawing/2014/main" id="{2F07507B-48FC-4C45-9978-0BD7883B46B2}"/>
              </a:ext>
            </a:extLst>
          </p:cNvPr>
          <p:cNvSpPr>
            <a:spLocks noGrp="1"/>
          </p:cNvSpPr>
          <p:nvPr/>
        </p:nvSpPr>
        <p:spPr>
          <a:xfrm>
            <a:off x="9601200" y="2618183"/>
            <a:ext cx="57150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6" name="TextBox 285">
            <a:extLst>
              <a:ext uri="{FF2B5EF4-FFF2-40B4-BE49-F238E27FC236}">
                <a16:creationId xmlns:a16="http://schemas.microsoft.com/office/drawing/2014/main" id="{25DFEE83-9139-481F-B09E-56C03DCCA954}"/>
              </a:ext>
            </a:extLst>
          </p:cNvPr>
          <p:cNvSpPr>
            <a:spLocks noGrp="1"/>
          </p:cNvSpPr>
          <p:nvPr/>
        </p:nvSpPr>
        <p:spPr>
          <a:xfrm>
            <a:off x="9601200" y="2618183"/>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0.398</a:t>
            </a:r>
          </a:p>
        </p:txBody>
      </p:sp>
      <p:sp>
        <p:nvSpPr>
          <p:cNvPr id="287" name="Rectangle 286">
            <a:extLst>
              <a:ext uri="{FF2B5EF4-FFF2-40B4-BE49-F238E27FC236}">
                <a16:creationId xmlns:a16="http://schemas.microsoft.com/office/drawing/2014/main" id="{18811D71-1605-4C90-AD91-D1B5E68785AB}"/>
              </a:ext>
            </a:extLst>
          </p:cNvPr>
          <p:cNvSpPr>
            <a:spLocks noGrp="1"/>
          </p:cNvSpPr>
          <p:nvPr/>
        </p:nvSpPr>
        <p:spPr>
          <a:xfrm>
            <a:off x="10172700" y="2618183"/>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8" name="TextBox 287">
            <a:extLst>
              <a:ext uri="{FF2B5EF4-FFF2-40B4-BE49-F238E27FC236}">
                <a16:creationId xmlns:a16="http://schemas.microsoft.com/office/drawing/2014/main" id="{9D7F9778-A62B-4A78-A428-6207B203EE24}"/>
              </a:ext>
            </a:extLst>
          </p:cNvPr>
          <p:cNvSpPr>
            <a:spLocks noGrp="1"/>
          </p:cNvSpPr>
          <p:nvPr/>
        </p:nvSpPr>
        <p:spPr>
          <a:xfrm>
            <a:off x="10172700" y="2618183"/>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289" name="Rectangle 288">
            <a:extLst>
              <a:ext uri="{FF2B5EF4-FFF2-40B4-BE49-F238E27FC236}">
                <a16:creationId xmlns:a16="http://schemas.microsoft.com/office/drawing/2014/main" id="{7974859D-8028-48B1-8F3D-338B136EF423}"/>
              </a:ext>
            </a:extLst>
          </p:cNvPr>
          <p:cNvSpPr>
            <a:spLocks noGrp="1"/>
          </p:cNvSpPr>
          <p:nvPr/>
        </p:nvSpPr>
        <p:spPr>
          <a:xfrm>
            <a:off x="10744199" y="2618183"/>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0" name="TextBox 289">
            <a:extLst>
              <a:ext uri="{FF2B5EF4-FFF2-40B4-BE49-F238E27FC236}">
                <a16:creationId xmlns:a16="http://schemas.microsoft.com/office/drawing/2014/main" id="{DD377B38-32A6-4505-8B4C-22800CA7B4F7}"/>
              </a:ext>
            </a:extLst>
          </p:cNvPr>
          <p:cNvSpPr>
            <a:spLocks noGrp="1"/>
          </p:cNvSpPr>
          <p:nvPr/>
        </p:nvSpPr>
        <p:spPr>
          <a:xfrm>
            <a:off x="10744199" y="2618183"/>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0.736</a:t>
            </a:r>
          </a:p>
        </p:txBody>
      </p:sp>
      <p:sp>
        <p:nvSpPr>
          <p:cNvPr id="291" name="Rectangle 290">
            <a:extLst>
              <a:ext uri="{FF2B5EF4-FFF2-40B4-BE49-F238E27FC236}">
                <a16:creationId xmlns:a16="http://schemas.microsoft.com/office/drawing/2014/main" id="{86958A54-A875-4E34-8B26-8D0FA922BE54}"/>
              </a:ext>
            </a:extLst>
          </p:cNvPr>
          <p:cNvSpPr>
            <a:spLocks noGrp="1"/>
          </p:cNvSpPr>
          <p:nvPr/>
        </p:nvSpPr>
        <p:spPr>
          <a:xfrm>
            <a:off x="11315699" y="2618183"/>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2" name="TextBox 291">
            <a:extLst>
              <a:ext uri="{FF2B5EF4-FFF2-40B4-BE49-F238E27FC236}">
                <a16:creationId xmlns:a16="http://schemas.microsoft.com/office/drawing/2014/main" id="{E0C1D45E-F988-4FCE-B507-C1ADDF0A612F}"/>
              </a:ext>
            </a:extLst>
          </p:cNvPr>
          <p:cNvSpPr>
            <a:spLocks noGrp="1"/>
          </p:cNvSpPr>
          <p:nvPr/>
        </p:nvSpPr>
        <p:spPr>
          <a:xfrm>
            <a:off x="11315699" y="2618183"/>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0.883</a:t>
            </a:r>
          </a:p>
        </p:txBody>
      </p:sp>
      <p:sp>
        <p:nvSpPr>
          <p:cNvPr id="293" name="Rectangle 292">
            <a:extLst>
              <a:ext uri="{FF2B5EF4-FFF2-40B4-BE49-F238E27FC236}">
                <a16:creationId xmlns:a16="http://schemas.microsoft.com/office/drawing/2014/main" id="{80E3C659-AE2D-4878-99DF-FAB0B8FC3BC6}"/>
              </a:ext>
            </a:extLst>
          </p:cNvPr>
          <p:cNvSpPr>
            <a:spLocks noGrp="1"/>
          </p:cNvSpPr>
          <p:nvPr/>
        </p:nvSpPr>
        <p:spPr>
          <a:xfrm>
            <a:off x="6172200" y="2928602"/>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4" name="TextBox 293">
            <a:extLst>
              <a:ext uri="{FF2B5EF4-FFF2-40B4-BE49-F238E27FC236}">
                <a16:creationId xmlns:a16="http://schemas.microsoft.com/office/drawing/2014/main" id="{7CA3BF97-F6B1-4765-9420-0D3E6D302134}"/>
              </a:ext>
            </a:extLst>
          </p:cNvPr>
          <p:cNvSpPr>
            <a:spLocks noGrp="1"/>
          </p:cNvSpPr>
          <p:nvPr/>
        </p:nvSpPr>
        <p:spPr>
          <a:xfrm>
            <a:off x="6172200" y="2928602"/>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Gemini-2.5-Pro / M2</a:t>
            </a:r>
          </a:p>
        </p:txBody>
      </p:sp>
      <p:sp>
        <p:nvSpPr>
          <p:cNvPr id="295" name="Rectangle 294">
            <a:extLst>
              <a:ext uri="{FF2B5EF4-FFF2-40B4-BE49-F238E27FC236}">
                <a16:creationId xmlns:a16="http://schemas.microsoft.com/office/drawing/2014/main" id="{6E51B1C2-383C-4D3E-BCC7-F73E1FFB29FC}"/>
              </a:ext>
            </a:extLst>
          </p:cNvPr>
          <p:cNvSpPr>
            <a:spLocks noGrp="1"/>
          </p:cNvSpPr>
          <p:nvPr/>
        </p:nvSpPr>
        <p:spPr>
          <a:xfrm>
            <a:off x="8538086" y="2928602"/>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6" name="TextBox 295">
            <a:extLst>
              <a:ext uri="{FF2B5EF4-FFF2-40B4-BE49-F238E27FC236}">
                <a16:creationId xmlns:a16="http://schemas.microsoft.com/office/drawing/2014/main" id="{6348C27D-A5B1-4B6E-9573-48BFC7B9330B}"/>
              </a:ext>
            </a:extLst>
          </p:cNvPr>
          <p:cNvSpPr>
            <a:spLocks noGrp="1"/>
          </p:cNvSpPr>
          <p:nvPr/>
        </p:nvSpPr>
        <p:spPr>
          <a:xfrm>
            <a:off x="8538086" y="2928602"/>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297" name="Rectangle 296">
            <a:extLst>
              <a:ext uri="{FF2B5EF4-FFF2-40B4-BE49-F238E27FC236}">
                <a16:creationId xmlns:a16="http://schemas.microsoft.com/office/drawing/2014/main" id="{A1B139A5-4C32-44B8-8AB7-F4F13F21E5D0}"/>
              </a:ext>
            </a:extLst>
          </p:cNvPr>
          <p:cNvSpPr>
            <a:spLocks noGrp="1"/>
          </p:cNvSpPr>
          <p:nvPr/>
        </p:nvSpPr>
        <p:spPr>
          <a:xfrm>
            <a:off x="9017409" y="2928602"/>
            <a:ext cx="58379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8" name="TextBox 297">
            <a:extLst>
              <a:ext uri="{FF2B5EF4-FFF2-40B4-BE49-F238E27FC236}">
                <a16:creationId xmlns:a16="http://schemas.microsoft.com/office/drawing/2014/main" id="{20912C8A-9856-4096-9E9B-ADF86007D8D3}"/>
              </a:ext>
            </a:extLst>
          </p:cNvPr>
          <p:cNvSpPr>
            <a:spLocks noGrp="1"/>
          </p:cNvSpPr>
          <p:nvPr/>
        </p:nvSpPr>
        <p:spPr>
          <a:xfrm>
            <a:off x="9017409" y="2928602"/>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0.873</a:t>
            </a:r>
          </a:p>
        </p:txBody>
      </p:sp>
      <p:sp>
        <p:nvSpPr>
          <p:cNvPr id="299" name="Rectangle 298">
            <a:extLst>
              <a:ext uri="{FF2B5EF4-FFF2-40B4-BE49-F238E27FC236}">
                <a16:creationId xmlns:a16="http://schemas.microsoft.com/office/drawing/2014/main" id="{6301AC56-FDC3-4B2B-A16A-2E49078A42E6}"/>
              </a:ext>
            </a:extLst>
          </p:cNvPr>
          <p:cNvSpPr>
            <a:spLocks noGrp="1"/>
          </p:cNvSpPr>
          <p:nvPr/>
        </p:nvSpPr>
        <p:spPr>
          <a:xfrm>
            <a:off x="9601200" y="2928602"/>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0" name="TextBox 299">
            <a:extLst>
              <a:ext uri="{FF2B5EF4-FFF2-40B4-BE49-F238E27FC236}">
                <a16:creationId xmlns:a16="http://schemas.microsoft.com/office/drawing/2014/main" id="{61964B26-E41E-40FF-B3F7-43D3C1C5E2AD}"/>
              </a:ext>
            </a:extLst>
          </p:cNvPr>
          <p:cNvSpPr>
            <a:spLocks noGrp="1"/>
          </p:cNvSpPr>
          <p:nvPr/>
        </p:nvSpPr>
        <p:spPr>
          <a:xfrm>
            <a:off x="9601200" y="2928602"/>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01" name="Rectangle 300">
            <a:extLst>
              <a:ext uri="{FF2B5EF4-FFF2-40B4-BE49-F238E27FC236}">
                <a16:creationId xmlns:a16="http://schemas.microsoft.com/office/drawing/2014/main" id="{184209D1-8A0A-45E2-A1FB-F77101EF92C1}"/>
              </a:ext>
            </a:extLst>
          </p:cNvPr>
          <p:cNvSpPr>
            <a:spLocks noGrp="1"/>
          </p:cNvSpPr>
          <p:nvPr/>
        </p:nvSpPr>
        <p:spPr>
          <a:xfrm>
            <a:off x="10172700" y="2928602"/>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2" name="TextBox 301">
            <a:extLst>
              <a:ext uri="{FF2B5EF4-FFF2-40B4-BE49-F238E27FC236}">
                <a16:creationId xmlns:a16="http://schemas.microsoft.com/office/drawing/2014/main" id="{9C01D7B4-FC15-4920-941C-C397D75DC993}"/>
              </a:ext>
            </a:extLst>
          </p:cNvPr>
          <p:cNvSpPr>
            <a:spLocks noGrp="1"/>
          </p:cNvSpPr>
          <p:nvPr/>
        </p:nvSpPr>
        <p:spPr>
          <a:xfrm>
            <a:off x="10172700" y="2928602"/>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0.868</a:t>
            </a:r>
          </a:p>
        </p:txBody>
      </p:sp>
      <p:sp>
        <p:nvSpPr>
          <p:cNvPr id="303" name="Rectangle 302">
            <a:extLst>
              <a:ext uri="{FF2B5EF4-FFF2-40B4-BE49-F238E27FC236}">
                <a16:creationId xmlns:a16="http://schemas.microsoft.com/office/drawing/2014/main" id="{14857C31-2353-4946-955B-85D5C3A5544A}"/>
              </a:ext>
            </a:extLst>
          </p:cNvPr>
          <p:cNvSpPr>
            <a:spLocks noGrp="1"/>
          </p:cNvSpPr>
          <p:nvPr/>
        </p:nvSpPr>
        <p:spPr>
          <a:xfrm>
            <a:off x="10744199" y="2928602"/>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4" name="TextBox 303">
            <a:extLst>
              <a:ext uri="{FF2B5EF4-FFF2-40B4-BE49-F238E27FC236}">
                <a16:creationId xmlns:a16="http://schemas.microsoft.com/office/drawing/2014/main" id="{FBC75802-4897-41DA-9C3F-A4F43CC89204}"/>
              </a:ext>
            </a:extLst>
          </p:cNvPr>
          <p:cNvSpPr>
            <a:spLocks noGrp="1"/>
          </p:cNvSpPr>
          <p:nvPr/>
        </p:nvSpPr>
        <p:spPr>
          <a:xfrm>
            <a:off x="10744199" y="2928602"/>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05" name="Rectangle 304">
            <a:extLst>
              <a:ext uri="{FF2B5EF4-FFF2-40B4-BE49-F238E27FC236}">
                <a16:creationId xmlns:a16="http://schemas.microsoft.com/office/drawing/2014/main" id="{CFCF21BA-693B-4882-A5CE-938988FC93E5}"/>
              </a:ext>
            </a:extLst>
          </p:cNvPr>
          <p:cNvSpPr>
            <a:spLocks noGrp="1"/>
          </p:cNvSpPr>
          <p:nvPr/>
        </p:nvSpPr>
        <p:spPr>
          <a:xfrm>
            <a:off x="11315699" y="2928602"/>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6" name="TextBox 305">
            <a:extLst>
              <a:ext uri="{FF2B5EF4-FFF2-40B4-BE49-F238E27FC236}">
                <a16:creationId xmlns:a16="http://schemas.microsoft.com/office/drawing/2014/main" id="{A4C60C0C-B6B9-43BF-8D92-BB3C5FFDE551}"/>
              </a:ext>
            </a:extLst>
          </p:cNvPr>
          <p:cNvSpPr>
            <a:spLocks noGrp="1"/>
          </p:cNvSpPr>
          <p:nvPr/>
        </p:nvSpPr>
        <p:spPr>
          <a:xfrm>
            <a:off x="11315699" y="2928602"/>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0.879</a:t>
            </a:r>
          </a:p>
        </p:txBody>
      </p:sp>
      <p:sp>
        <p:nvSpPr>
          <p:cNvPr id="307" name="Rectangle 306">
            <a:extLst>
              <a:ext uri="{FF2B5EF4-FFF2-40B4-BE49-F238E27FC236}">
                <a16:creationId xmlns:a16="http://schemas.microsoft.com/office/drawing/2014/main" id="{362D0210-11A7-4894-BC0A-23A4C18B0EBA}"/>
              </a:ext>
            </a:extLst>
          </p:cNvPr>
          <p:cNvSpPr>
            <a:spLocks noGrp="1"/>
          </p:cNvSpPr>
          <p:nvPr/>
        </p:nvSpPr>
        <p:spPr>
          <a:xfrm>
            <a:off x="6172200" y="3239020"/>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8" name="TextBox 307">
            <a:extLst>
              <a:ext uri="{FF2B5EF4-FFF2-40B4-BE49-F238E27FC236}">
                <a16:creationId xmlns:a16="http://schemas.microsoft.com/office/drawing/2014/main" id="{172ED5A6-2EDA-4285-9EF7-27653AA99274}"/>
              </a:ext>
            </a:extLst>
          </p:cNvPr>
          <p:cNvSpPr>
            <a:spLocks noGrp="1"/>
          </p:cNvSpPr>
          <p:nvPr/>
        </p:nvSpPr>
        <p:spPr>
          <a:xfrm>
            <a:off x="6172200" y="3239020"/>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Gemini-2.5-Pro / M1</a:t>
            </a:r>
          </a:p>
        </p:txBody>
      </p:sp>
      <p:sp>
        <p:nvSpPr>
          <p:cNvPr id="309" name="Rectangle 308">
            <a:extLst>
              <a:ext uri="{FF2B5EF4-FFF2-40B4-BE49-F238E27FC236}">
                <a16:creationId xmlns:a16="http://schemas.microsoft.com/office/drawing/2014/main" id="{4F02BEBE-FBC1-4A18-A65C-5CEFE582AB14}"/>
              </a:ext>
            </a:extLst>
          </p:cNvPr>
          <p:cNvSpPr>
            <a:spLocks noGrp="1"/>
          </p:cNvSpPr>
          <p:nvPr/>
        </p:nvSpPr>
        <p:spPr>
          <a:xfrm>
            <a:off x="8538086" y="3239020"/>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0" name="TextBox 309">
            <a:extLst>
              <a:ext uri="{FF2B5EF4-FFF2-40B4-BE49-F238E27FC236}">
                <a16:creationId xmlns:a16="http://schemas.microsoft.com/office/drawing/2014/main" id="{8A802AB5-91F0-45A9-8B0A-2A8442D64F9F}"/>
              </a:ext>
            </a:extLst>
          </p:cNvPr>
          <p:cNvSpPr>
            <a:spLocks noGrp="1"/>
          </p:cNvSpPr>
          <p:nvPr/>
        </p:nvSpPr>
        <p:spPr>
          <a:xfrm>
            <a:off x="8538086" y="3239020"/>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311" name="Rectangle 310">
            <a:extLst>
              <a:ext uri="{FF2B5EF4-FFF2-40B4-BE49-F238E27FC236}">
                <a16:creationId xmlns:a16="http://schemas.microsoft.com/office/drawing/2014/main" id="{1CB8FC13-3493-4F0B-8552-00C3F624FC3C}"/>
              </a:ext>
            </a:extLst>
          </p:cNvPr>
          <p:cNvSpPr>
            <a:spLocks noGrp="1"/>
          </p:cNvSpPr>
          <p:nvPr/>
        </p:nvSpPr>
        <p:spPr>
          <a:xfrm>
            <a:off x="9017409" y="3239020"/>
            <a:ext cx="58379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2" name="TextBox 311">
            <a:extLst>
              <a:ext uri="{FF2B5EF4-FFF2-40B4-BE49-F238E27FC236}">
                <a16:creationId xmlns:a16="http://schemas.microsoft.com/office/drawing/2014/main" id="{6C86DD93-2E1F-4EF9-AFBB-E6ED78E6F377}"/>
              </a:ext>
            </a:extLst>
          </p:cNvPr>
          <p:cNvSpPr>
            <a:spLocks noGrp="1"/>
          </p:cNvSpPr>
          <p:nvPr/>
        </p:nvSpPr>
        <p:spPr>
          <a:xfrm>
            <a:off x="9017409" y="3239020"/>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0.867</a:t>
            </a:r>
          </a:p>
        </p:txBody>
      </p:sp>
      <p:sp>
        <p:nvSpPr>
          <p:cNvPr id="313" name="Rectangle 312">
            <a:extLst>
              <a:ext uri="{FF2B5EF4-FFF2-40B4-BE49-F238E27FC236}">
                <a16:creationId xmlns:a16="http://schemas.microsoft.com/office/drawing/2014/main" id="{196B3D65-9BFB-4F27-B25B-2CBFB35D09E8}"/>
              </a:ext>
            </a:extLst>
          </p:cNvPr>
          <p:cNvSpPr>
            <a:spLocks noGrp="1"/>
          </p:cNvSpPr>
          <p:nvPr/>
        </p:nvSpPr>
        <p:spPr>
          <a:xfrm>
            <a:off x="9601200" y="3239020"/>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4" name="TextBox 313">
            <a:extLst>
              <a:ext uri="{FF2B5EF4-FFF2-40B4-BE49-F238E27FC236}">
                <a16:creationId xmlns:a16="http://schemas.microsoft.com/office/drawing/2014/main" id="{94B03EAD-44AB-46A5-B225-2D1E92CADA26}"/>
              </a:ext>
            </a:extLst>
          </p:cNvPr>
          <p:cNvSpPr>
            <a:spLocks noGrp="1"/>
          </p:cNvSpPr>
          <p:nvPr/>
        </p:nvSpPr>
        <p:spPr>
          <a:xfrm>
            <a:off x="9601200" y="3239020"/>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15" name="Rectangle 314">
            <a:extLst>
              <a:ext uri="{FF2B5EF4-FFF2-40B4-BE49-F238E27FC236}">
                <a16:creationId xmlns:a16="http://schemas.microsoft.com/office/drawing/2014/main" id="{BAA334DA-AD35-4566-B700-719A66C4630D}"/>
              </a:ext>
            </a:extLst>
          </p:cNvPr>
          <p:cNvSpPr>
            <a:spLocks noGrp="1"/>
          </p:cNvSpPr>
          <p:nvPr/>
        </p:nvSpPr>
        <p:spPr>
          <a:xfrm>
            <a:off x="10172700" y="3239020"/>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6" name="TextBox 315">
            <a:extLst>
              <a:ext uri="{FF2B5EF4-FFF2-40B4-BE49-F238E27FC236}">
                <a16:creationId xmlns:a16="http://schemas.microsoft.com/office/drawing/2014/main" id="{89FE63C2-ECBD-431F-97D4-F2757CF95161}"/>
              </a:ext>
            </a:extLst>
          </p:cNvPr>
          <p:cNvSpPr>
            <a:spLocks noGrp="1"/>
          </p:cNvSpPr>
          <p:nvPr/>
        </p:nvSpPr>
        <p:spPr>
          <a:xfrm>
            <a:off x="10172700" y="3239020"/>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0.858</a:t>
            </a:r>
          </a:p>
        </p:txBody>
      </p:sp>
      <p:sp>
        <p:nvSpPr>
          <p:cNvPr id="317" name="Rectangle 316">
            <a:extLst>
              <a:ext uri="{FF2B5EF4-FFF2-40B4-BE49-F238E27FC236}">
                <a16:creationId xmlns:a16="http://schemas.microsoft.com/office/drawing/2014/main" id="{BE5F6915-09B0-41A4-97ED-3F61BB347714}"/>
              </a:ext>
            </a:extLst>
          </p:cNvPr>
          <p:cNvSpPr>
            <a:spLocks noGrp="1"/>
          </p:cNvSpPr>
          <p:nvPr/>
        </p:nvSpPr>
        <p:spPr>
          <a:xfrm>
            <a:off x="10744199" y="3239020"/>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8" name="TextBox 317">
            <a:extLst>
              <a:ext uri="{FF2B5EF4-FFF2-40B4-BE49-F238E27FC236}">
                <a16:creationId xmlns:a16="http://schemas.microsoft.com/office/drawing/2014/main" id="{01AF7BA7-E734-4629-BA90-2062F4476CA6}"/>
              </a:ext>
            </a:extLst>
          </p:cNvPr>
          <p:cNvSpPr>
            <a:spLocks noGrp="1"/>
          </p:cNvSpPr>
          <p:nvPr/>
        </p:nvSpPr>
        <p:spPr>
          <a:xfrm>
            <a:off x="10744199" y="3239020"/>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19" name="Rectangle 318">
            <a:extLst>
              <a:ext uri="{FF2B5EF4-FFF2-40B4-BE49-F238E27FC236}">
                <a16:creationId xmlns:a16="http://schemas.microsoft.com/office/drawing/2014/main" id="{E25F1B48-05D8-4ECF-9472-311D74D71147}"/>
              </a:ext>
            </a:extLst>
          </p:cNvPr>
          <p:cNvSpPr>
            <a:spLocks noGrp="1"/>
          </p:cNvSpPr>
          <p:nvPr/>
        </p:nvSpPr>
        <p:spPr>
          <a:xfrm>
            <a:off x="11315699" y="3239020"/>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0" name="TextBox 319">
            <a:extLst>
              <a:ext uri="{FF2B5EF4-FFF2-40B4-BE49-F238E27FC236}">
                <a16:creationId xmlns:a16="http://schemas.microsoft.com/office/drawing/2014/main" id="{4F9AC445-E163-4AA4-A9DA-80CDC4763BD4}"/>
              </a:ext>
            </a:extLst>
          </p:cNvPr>
          <p:cNvSpPr>
            <a:spLocks noGrp="1"/>
          </p:cNvSpPr>
          <p:nvPr/>
        </p:nvSpPr>
        <p:spPr>
          <a:xfrm>
            <a:off x="11315699" y="3239020"/>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0.876</a:t>
            </a:r>
          </a:p>
        </p:txBody>
      </p:sp>
      <p:sp>
        <p:nvSpPr>
          <p:cNvPr id="321" name="Rectangle 320">
            <a:extLst>
              <a:ext uri="{FF2B5EF4-FFF2-40B4-BE49-F238E27FC236}">
                <a16:creationId xmlns:a16="http://schemas.microsoft.com/office/drawing/2014/main" id="{4602CB8D-C072-42A2-9ED1-918DECFDA461}"/>
              </a:ext>
            </a:extLst>
          </p:cNvPr>
          <p:cNvSpPr>
            <a:spLocks noGrp="1"/>
          </p:cNvSpPr>
          <p:nvPr/>
        </p:nvSpPr>
        <p:spPr>
          <a:xfrm>
            <a:off x="6172200" y="3549438"/>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2" name="TextBox 321">
            <a:extLst>
              <a:ext uri="{FF2B5EF4-FFF2-40B4-BE49-F238E27FC236}">
                <a16:creationId xmlns:a16="http://schemas.microsoft.com/office/drawing/2014/main" id="{63E5B304-9845-4BE7-B377-5DCFF2D63880}"/>
              </a:ext>
            </a:extLst>
          </p:cNvPr>
          <p:cNvSpPr>
            <a:spLocks noGrp="1"/>
          </p:cNvSpPr>
          <p:nvPr/>
        </p:nvSpPr>
        <p:spPr>
          <a:xfrm>
            <a:off x="6172200" y="3549438"/>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GPT-5.2 / M1</a:t>
            </a:r>
          </a:p>
        </p:txBody>
      </p:sp>
      <p:sp>
        <p:nvSpPr>
          <p:cNvPr id="323" name="Rectangle 322">
            <a:extLst>
              <a:ext uri="{FF2B5EF4-FFF2-40B4-BE49-F238E27FC236}">
                <a16:creationId xmlns:a16="http://schemas.microsoft.com/office/drawing/2014/main" id="{1ECF09EB-1B6D-46CE-B013-DBA77C13FA69}"/>
              </a:ext>
            </a:extLst>
          </p:cNvPr>
          <p:cNvSpPr>
            <a:spLocks noGrp="1"/>
          </p:cNvSpPr>
          <p:nvPr/>
        </p:nvSpPr>
        <p:spPr>
          <a:xfrm>
            <a:off x="8538086" y="3549438"/>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4" name="TextBox 323">
            <a:extLst>
              <a:ext uri="{FF2B5EF4-FFF2-40B4-BE49-F238E27FC236}">
                <a16:creationId xmlns:a16="http://schemas.microsoft.com/office/drawing/2014/main" id="{C6DB92B1-3F37-46F4-8471-6A8F04DCAE91}"/>
              </a:ext>
            </a:extLst>
          </p:cNvPr>
          <p:cNvSpPr>
            <a:spLocks noGrp="1"/>
          </p:cNvSpPr>
          <p:nvPr/>
        </p:nvSpPr>
        <p:spPr>
          <a:xfrm>
            <a:off x="8538086" y="3549438"/>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325" name="Rectangle 324">
            <a:extLst>
              <a:ext uri="{FF2B5EF4-FFF2-40B4-BE49-F238E27FC236}">
                <a16:creationId xmlns:a16="http://schemas.microsoft.com/office/drawing/2014/main" id="{41BCF019-CB49-4155-8DB9-4ECF81C253A9}"/>
              </a:ext>
            </a:extLst>
          </p:cNvPr>
          <p:cNvSpPr>
            <a:spLocks noGrp="1"/>
          </p:cNvSpPr>
          <p:nvPr/>
        </p:nvSpPr>
        <p:spPr>
          <a:xfrm>
            <a:off x="9017409" y="3549438"/>
            <a:ext cx="58379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6" name="TextBox 325">
            <a:extLst>
              <a:ext uri="{FF2B5EF4-FFF2-40B4-BE49-F238E27FC236}">
                <a16:creationId xmlns:a16="http://schemas.microsoft.com/office/drawing/2014/main" id="{63EDDAE8-7A7D-46AE-AF49-145FBC3A49C3}"/>
              </a:ext>
            </a:extLst>
          </p:cNvPr>
          <p:cNvSpPr>
            <a:spLocks noGrp="1"/>
          </p:cNvSpPr>
          <p:nvPr/>
        </p:nvSpPr>
        <p:spPr>
          <a:xfrm>
            <a:off x="9017409" y="3549438"/>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0.803</a:t>
            </a:r>
          </a:p>
        </p:txBody>
      </p:sp>
      <p:sp>
        <p:nvSpPr>
          <p:cNvPr id="327" name="Rectangle 326">
            <a:extLst>
              <a:ext uri="{FF2B5EF4-FFF2-40B4-BE49-F238E27FC236}">
                <a16:creationId xmlns:a16="http://schemas.microsoft.com/office/drawing/2014/main" id="{9F99707F-E5B9-4DC0-BD19-AA7D26AC7E27}"/>
              </a:ext>
            </a:extLst>
          </p:cNvPr>
          <p:cNvSpPr>
            <a:spLocks noGrp="1"/>
          </p:cNvSpPr>
          <p:nvPr/>
        </p:nvSpPr>
        <p:spPr>
          <a:xfrm>
            <a:off x="9601200" y="3549438"/>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8" name="TextBox 327">
            <a:extLst>
              <a:ext uri="{FF2B5EF4-FFF2-40B4-BE49-F238E27FC236}">
                <a16:creationId xmlns:a16="http://schemas.microsoft.com/office/drawing/2014/main" id="{A3E7A70E-A7B5-4F8D-8F19-EA521A50A021}"/>
              </a:ext>
            </a:extLst>
          </p:cNvPr>
          <p:cNvSpPr>
            <a:spLocks noGrp="1"/>
          </p:cNvSpPr>
          <p:nvPr/>
        </p:nvSpPr>
        <p:spPr>
          <a:xfrm>
            <a:off x="9601200" y="3549438"/>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29" name="Rectangle 328">
            <a:extLst>
              <a:ext uri="{FF2B5EF4-FFF2-40B4-BE49-F238E27FC236}">
                <a16:creationId xmlns:a16="http://schemas.microsoft.com/office/drawing/2014/main" id="{3CC15AA9-3530-402E-AC9A-D7626F23EB0F}"/>
              </a:ext>
            </a:extLst>
          </p:cNvPr>
          <p:cNvSpPr>
            <a:spLocks noGrp="1"/>
          </p:cNvSpPr>
          <p:nvPr/>
        </p:nvSpPr>
        <p:spPr>
          <a:xfrm>
            <a:off x="10172700" y="3549438"/>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0" name="TextBox 329">
            <a:extLst>
              <a:ext uri="{FF2B5EF4-FFF2-40B4-BE49-F238E27FC236}">
                <a16:creationId xmlns:a16="http://schemas.microsoft.com/office/drawing/2014/main" id="{9AEAB754-0BFD-480C-AC14-EBDC91AB5603}"/>
              </a:ext>
            </a:extLst>
          </p:cNvPr>
          <p:cNvSpPr>
            <a:spLocks noGrp="1"/>
          </p:cNvSpPr>
          <p:nvPr/>
        </p:nvSpPr>
        <p:spPr>
          <a:xfrm>
            <a:off x="10172700" y="3549438"/>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0.846</a:t>
            </a:r>
          </a:p>
        </p:txBody>
      </p:sp>
      <p:sp>
        <p:nvSpPr>
          <p:cNvPr id="331" name="Rectangle 330">
            <a:extLst>
              <a:ext uri="{FF2B5EF4-FFF2-40B4-BE49-F238E27FC236}">
                <a16:creationId xmlns:a16="http://schemas.microsoft.com/office/drawing/2014/main" id="{9AAA7DAA-911A-4ACF-B62A-428E7E782907}"/>
              </a:ext>
            </a:extLst>
          </p:cNvPr>
          <p:cNvSpPr>
            <a:spLocks noGrp="1"/>
          </p:cNvSpPr>
          <p:nvPr/>
        </p:nvSpPr>
        <p:spPr>
          <a:xfrm>
            <a:off x="10744199" y="3549438"/>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2" name="TextBox 331">
            <a:extLst>
              <a:ext uri="{FF2B5EF4-FFF2-40B4-BE49-F238E27FC236}">
                <a16:creationId xmlns:a16="http://schemas.microsoft.com/office/drawing/2014/main" id="{7ACA9650-B49E-4523-96F7-B6D2AE0DAE85}"/>
              </a:ext>
            </a:extLst>
          </p:cNvPr>
          <p:cNvSpPr>
            <a:spLocks noGrp="1"/>
          </p:cNvSpPr>
          <p:nvPr/>
        </p:nvSpPr>
        <p:spPr>
          <a:xfrm>
            <a:off x="10744199" y="3549438"/>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33" name="Rectangle 332">
            <a:extLst>
              <a:ext uri="{FF2B5EF4-FFF2-40B4-BE49-F238E27FC236}">
                <a16:creationId xmlns:a16="http://schemas.microsoft.com/office/drawing/2014/main" id="{4BAFF3DF-D349-41FB-BE8E-9F874269F227}"/>
              </a:ext>
            </a:extLst>
          </p:cNvPr>
          <p:cNvSpPr>
            <a:spLocks noGrp="1"/>
          </p:cNvSpPr>
          <p:nvPr/>
        </p:nvSpPr>
        <p:spPr>
          <a:xfrm>
            <a:off x="11315699" y="3549438"/>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4" name="TextBox 333">
            <a:extLst>
              <a:ext uri="{FF2B5EF4-FFF2-40B4-BE49-F238E27FC236}">
                <a16:creationId xmlns:a16="http://schemas.microsoft.com/office/drawing/2014/main" id="{A8CABA9E-33C8-496A-9716-5A3ABCEA73E0}"/>
              </a:ext>
            </a:extLst>
          </p:cNvPr>
          <p:cNvSpPr>
            <a:spLocks noGrp="1"/>
          </p:cNvSpPr>
          <p:nvPr/>
        </p:nvSpPr>
        <p:spPr>
          <a:xfrm>
            <a:off x="11315699" y="3549438"/>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0.761</a:t>
            </a:r>
          </a:p>
        </p:txBody>
      </p:sp>
      <p:sp>
        <p:nvSpPr>
          <p:cNvPr id="335" name="Rectangle 334">
            <a:extLst>
              <a:ext uri="{FF2B5EF4-FFF2-40B4-BE49-F238E27FC236}">
                <a16:creationId xmlns:a16="http://schemas.microsoft.com/office/drawing/2014/main" id="{F4799136-CCF3-45AF-9880-380869EAE6AD}"/>
              </a:ext>
            </a:extLst>
          </p:cNvPr>
          <p:cNvSpPr>
            <a:spLocks noGrp="1"/>
          </p:cNvSpPr>
          <p:nvPr/>
        </p:nvSpPr>
        <p:spPr>
          <a:xfrm>
            <a:off x="6172200" y="3859857"/>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6" name="TextBox 335">
            <a:extLst>
              <a:ext uri="{FF2B5EF4-FFF2-40B4-BE49-F238E27FC236}">
                <a16:creationId xmlns:a16="http://schemas.microsoft.com/office/drawing/2014/main" id="{986D44DC-EF3D-4455-ABD7-ECACA40054A7}"/>
              </a:ext>
            </a:extLst>
          </p:cNvPr>
          <p:cNvSpPr>
            <a:spLocks noGrp="1"/>
          </p:cNvSpPr>
          <p:nvPr/>
        </p:nvSpPr>
        <p:spPr>
          <a:xfrm>
            <a:off x="6172200" y="3859857"/>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GPT-5.2 / M2</a:t>
            </a:r>
          </a:p>
        </p:txBody>
      </p:sp>
      <p:sp>
        <p:nvSpPr>
          <p:cNvPr id="337" name="Rectangle 336">
            <a:extLst>
              <a:ext uri="{FF2B5EF4-FFF2-40B4-BE49-F238E27FC236}">
                <a16:creationId xmlns:a16="http://schemas.microsoft.com/office/drawing/2014/main" id="{E67933FE-7EB7-4B0D-AE81-763925025380}"/>
              </a:ext>
            </a:extLst>
          </p:cNvPr>
          <p:cNvSpPr>
            <a:spLocks noGrp="1"/>
          </p:cNvSpPr>
          <p:nvPr/>
        </p:nvSpPr>
        <p:spPr>
          <a:xfrm>
            <a:off x="8538086" y="3859857"/>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8" name="TextBox 337">
            <a:extLst>
              <a:ext uri="{FF2B5EF4-FFF2-40B4-BE49-F238E27FC236}">
                <a16:creationId xmlns:a16="http://schemas.microsoft.com/office/drawing/2014/main" id="{EF4DA5B2-0BBC-4992-9B4F-1658F7AFB6E7}"/>
              </a:ext>
            </a:extLst>
          </p:cNvPr>
          <p:cNvSpPr>
            <a:spLocks noGrp="1"/>
          </p:cNvSpPr>
          <p:nvPr/>
        </p:nvSpPr>
        <p:spPr>
          <a:xfrm>
            <a:off x="8538086" y="3859857"/>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339" name="Rectangle 338">
            <a:extLst>
              <a:ext uri="{FF2B5EF4-FFF2-40B4-BE49-F238E27FC236}">
                <a16:creationId xmlns:a16="http://schemas.microsoft.com/office/drawing/2014/main" id="{25748009-1DB2-44E9-A4C9-3FD1DD47240F}"/>
              </a:ext>
            </a:extLst>
          </p:cNvPr>
          <p:cNvSpPr>
            <a:spLocks noGrp="1"/>
          </p:cNvSpPr>
          <p:nvPr/>
        </p:nvSpPr>
        <p:spPr>
          <a:xfrm>
            <a:off x="9017409" y="3859857"/>
            <a:ext cx="58379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0" name="TextBox 339">
            <a:extLst>
              <a:ext uri="{FF2B5EF4-FFF2-40B4-BE49-F238E27FC236}">
                <a16:creationId xmlns:a16="http://schemas.microsoft.com/office/drawing/2014/main" id="{59CFEDDD-0A1E-4B96-B833-6560AEC77763}"/>
              </a:ext>
            </a:extLst>
          </p:cNvPr>
          <p:cNvSpPr>
            <a:spLocks noGrp="1"/>
          </p:cNvSpPr>
          <p:nvPr/>
        </p:nvSpPr>
        <p:spPr>
          <a:xfrm>
            <a:off x="9017409" y="3859857"/>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0.795</a:t>
            </a:r>
          </a:p>
        </p:txBody>
      </p:sp>
      <p:sp>
        <p:nvSpPr>
          <p:cNvPr id="341" name="Rectangle 340">
            <a:extLst>
              <a:ext uri="{FF2B5EF4-FFF2-40B4-BE49-F238E27FC236}">
                <a16:creationId xmlns:a16="http://schemas.microsoft.com/office/drawing/2014/main" id="{17A8C056-D5D4-47D9-90F1-1FB30B024D50}"/>
              </a:ext>
            </a:extLst>
          </p:cNvPr>
          <p:cNvSpPr>
            <a:spLocks noGrp="1"/>
          </p:cNvSpPr>
          <p:nvPr/>
        </p:nvSpPr>
        <p:spPr>
          <a:xfrm>
            <a:off x="9601200" y="3859857"/>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2" name="TextBox 341">
            <a:extLst>
              <a:ext uri="{FF2B5EF4-FFF2-40B4-BE49-F238E27FC236}">
                <a16:creationId xmlns:a16="http://schemas.microsoft.com/office/drawing/2014/main" id="{9C5FC89A-FF8C-4702-9754-4013668C1311}"/>
              </a:ext>
            </a:extLst>
          </p:cNvPr>
          <p:cNvSpPr>
            <a:spLocks noGrp="1"/>
          </p:cNvSpPr>
          <p:nvPr/>
        </p:nvSpPr>
        <p:spPr>
          <a:xfrm>
            <a:off x="9601200" y="3859857"/>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43" name="Rectangle 342">
            <a:extLst>
              <a:ext uri="{FF2B5EF4-FFF2-40B4-BE49-F238E27FC236}">
                <a16:creationId xmlns:a16="http://schemas.microsoft.com/office/drawing/2014/main" id="{780B34DE-8294-435C-9D06-82F678F7CC27}"/>
              </a:ext>
            </a:extLst>
          </p:cNvPr>
          <p:cNvSpPr>
            <a:spLocks noGrp="1"/>
          </p:cNvSpPr>
          <p:nvPr/>
        </p:nvSpPr>
        <p:spPr>
          <a:xfrm>
            <a:off x="10172700" y="3859857"/>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4" name="TextBox 343">
            <a:extLst>
              <a:ext uri="{FF2B5EF4-FFF2-40B4-BE49-F238E27FC236}">
                <a16:creationId xmlns:a16="http://schemas.microsoft.com/office/drawing/2014/main" id="{CFCB969F-97BE-4CD7-B648-7300EB862126}"/>
              </a:ext>
            </a:extLst>
          </p:cNvPr>
          <p:cNvSpPr>
            <a:spLocks noGrp="1"/>
          </p:cNvSpPr>
          <p:nvPr/>
        </p:nvSpPr>
        <p:spPr>
          <a:xfrm>
            <a:off x="10172700" y="3859857"/>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0.837</a:t>
            </a:r>
          </a:p>
        </p:txBody>
      </p:sp>
      <p:sp>
        <p:nvSpPr>
          <p:cNvPr id="345" name="Rectangle 344">
            <a:extLst>
              <a:ext uri="{FF2B5EF4-FFF2-40B4-BE49-F238E27FC236}">
                <a16:creationId xmlns:a16="http://schemas.microsoft.com/office/drawing/2014/main" id="{3186A563-CC52-4118-8180-ABA7F6617C3A}"/>
              </a:ext>
            </a:extLst>
          </p:cNvPr>
          <p:cNvSpPr>
            <a:spLocks noGrp="1"/>
          </p:cNvSpPr>
          <p:nvPr/>
        </p:nvSpPr>
        <p:spPr>
          <a:xfrm>
            <a:off x="10744199" y="3859857"/>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6" name="TextBox 345">
            <a:extLst>
              <a:ext uri="{FF2B5EF4-FFF2-40B4-BE49-F238E27FC236}">
                <a16:creationId xmlns:a16="http://schemas.microsoft.com/office/drawing/2014/main" id="{2BED408A-48A2-42CB-8005-1F77E4285DEF}"/>
              </a:ext>
            </a:extLst>
          </p:cNvPr>
          <p:cNvSpPr>
            <a:spLocks noGrp="1"/>
          </p:cNvSpPr>
          <p:nvPr/>
        </p:nvSpPr>
        <p:spPr>
          <a:xfrm>
            <a:off x="10744199" y="3859857"/>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47" name="Rectangle 346">
            <a:extLst>
              <a:ext uri="{FF2B5EF4-FFF2-40B4-BE49-F238E27FC236}">
                <a16:creationId xmlns:a16="http://schemas.microsoft.com/office/drawing/2014/main" id="{0EB3DF9B-35EF-4DA2-98D0-CB19210C8DC6}"/>
              </a:ext>
            </a:extLst>
          </p:cNvPr>
          <p:cNvSpPr>
            <a:spLocks noGrp="1"/>
          </p:cNvSpPr>
          <p:nvPr/>
        </p:nvSpPr>
        <p:spPr>
          <a:xfrm>
            <a:off x="11315699" y="3859857"/>
            <a:ext cx="571500" cy="310418"/>
          </a:xfrm>
          <a:prstGeom prst="rect">
            <a:avLst/>
          </a:prstGeom>
          <a:solidFill>
            <a:srgbClr val="E0EEE7"/>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8" name="TextBox 347">
            <a:extLst>
              <a:ext uri="{FF2B5EF4-FFF2-40B4-BE49-F238E27FC236}">
                <a16:creationId xmlns:a16="http://schemas.microsoft.com/office/drawing/2014/main" id="{2E048A51-3F13-4CFB-B50E-A1A1EC5AEF15}"/>
              </a:ext>
            </a:extLst>
          </p:cNvPr>
          <p:cNvSpPr>
            <a:spLocks noGrp="1"/>
          </p:cNvSpPr>
          <p:nvPr/>
        </p:nvSpPr>
        <p:spPr>
          <a:xfrm>
            <a:off x="11315699" y="3859857"/>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0.752</a:t>
            </a:r>
          </a:p>
        </p:txBody>
      </p:sp>
      <p:sp>
        <p:nvSpPr>
          <p:cNvPr id="349" name="Rectangle 348">
            <a:extLst>
              <a:ext uri="{FF2B5EF4-FFF2-40B4-BE49-F238E27FC236}">
                <a16:creationId xmlns:a16="http://schemas.microsoft.com/office/drawing/2014/main" id="{74A40564-98BF-4664-A566-47E8973C93CC}"/>
              </a:ext>
            </a:extLst>
          </p:cNvPr>
          <p:cNvSpPr>
            <a:spLocks noGrp="1"/>
          </p:cNvSpPr>
          <p:nvPr/>
        </p:nvSpPr>
        <p:spPr>
          <a:xfrm>
            <a:off x="6172200" y="4170275"/>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0" name="TextBox 349">
            <a:extLst>
              <a:ext uri="{FF2B5EF4-FFF2-40B4-BE49-F238E27FC236}">
                <a16:creationId xmlns:a16="http://schemas.microsoft.com/office/drawing/2014/main" id="{303D06E2-8824-45B4-A57E-94883F28497F}"/>
              </a:ext>
            </a:extLst>
          </p:cNvPr>
          <p:cNvSpPr>
            <a:spLocks noGrp="1"/>
          </p:cNvSpPr>
          <p:nvPr/>
        </p:nvSpPr>
        <p:spPr>
          <a:xfrm>
            <a:off x="6172200" y="4170275"/>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Gemini-2.5-Pro / M3</a:t>
            </a:r>
          </a:p>
        </p:txBody>
      </p:sp>
      <p:sp>
        <p:nvSpPr>
          <p:cNvPr id="351" name="Rectangle 350">
            <a:extLst>
              <a:ext uri="{FF2B5EF4-FFF2-40B4-BE49-F238E27FC236}">
                <a16:creationId xmlns:a16="http://schemas.microsoft.com/office/drawing/2014/main" id="{ECD25D57-60DA-4BF1-A86C-8759204F684C}"/>
              </a:ext>
            </a:extLst>
          </p:cNvPr>
          <p:cNvSpPr>
            <a:spLocks noGrp="1"/>
          </p:cNvSpPr>
          <p:nvPr/>
        </p:nvSpPr>
        <p:spPr>
          <a:xfrm>
            <a:off x="8538086" y="4170275"/>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2" name="TextBox 351">
            <a:extLst>
              <a:ext uri="{FF2B5EF4-FFF2-40B4-BE49-F238E27FC236}">
                <a16:creationId xmlns:a16="http://schemas.microsoft.com/office/drawing/2014/main" id="{9C42A69D-2F31-45EE-B14A-89D22AB8FA66}"/>
              </a:ext>
            </a:extLst>
          </p:cNvPr>
          <p:cNvSpPr>
            <a:spLocks noGrp="1"/>
          </p:cNvSpPr>
          <p:nvPr/>
        </p:nvSpPr>
        <p:spPr>
          <a:xfrm>
            <a:off x="8538086" y="4170275"/>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353" name="Rectangle 352">
            <a:extLst>
              <a:ext uri="{FF2B5EF4-FFF2-40B4-BE49-F238E27FC236}">
                <a16:creationId xmlns:a16="http://schemas.microsoft.com/office/drawing/2014/main" id="{8AB17E48-6125-4102-9999-FC61115CF85A}"/>
              </a:ext>
            </a:extLst>
          </p:cNvPr>
          <p:cNvSpPr>
            <a:spLocks noGrp="1"/>
          </p:cNvSpPr>
          <p:nvPr/>
        </p:nvSpPr>
        <p:spPr>
          <a:xfrm>
            <a:off x="9017409" y="4170275"/>
            <a:ext cx="58379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4" name="TextBox 353">
            <a:extLst>
              <a:ext uri="{FF2B5EF4-FFF2-40B4-BE49-F238E27FC236}">
                <a16:creationId xmlns:a16="http://schemas.microsoft.com/office/drawing/2014/main" id="{9E1EE1BF-CB68-476D-ADCA-19BC369580CC}"/>
              </a:ext>
            </a:extLst>
          </p:cNvPr>
          <p:cNvSpPr>
            <a:spLocks noGrp="1"/>
          </p:cNvSpPr>
          <p:nvPr/>
        </p:nvSpPr>
        <p:spPr>
          <a:xfrm>
            <a:off x="9017409" y="4170275"/>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0.286</a:t>
            </a:r>
          </a:p>
        </p:txBody>
      </p:sp>
      <p:sp>
        <p:nvSpPr>
          <p:cNvPr id="355" name="Rectangle 354">
            <a:extLst>
              <a:ext uri="{FF2B5EF4-FFF2-40B4-BE49-F238E27FC236}">
                <a16:creationId xmlns:a16="http://schemas.microsoft.com/office/drawing/2014/main" id="{0E8BB701-2942-4984-8897-CE0E5D6BABD5}"/>
              </a:ext>
            </a:extLst>
          </p:cNvPr>
          <p:cNvSpPr>
            <a:spLocks noGrp="1"/>
          </p:cNvSpPr>
          <p:nvPr/>
        </p:nvSpPr>
        <p:spPr>
          <a:xfrm>
            <a:off x="9601200" y="4170275"/>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6" name="TextBox 355">
            <a:extLst>
              <a:ext uri="{FF2B5EF4-FFF2-40B4-BE49-F238E27FC236}">
                <a16:creationId xmlns:a16="http://schemas.microsoft.com/office/drawing/2014/main" id="{F5EB0355-F1E8-4427-BE3E-A7362702CD49}"/>
              </a:ext>
            </a:extLst>
          </p:cNvPr>
          <p:cNvSpPr>
            <a:spLocks noGrp="1"/>
          </p:cNvSpPr>
          <p:nvPr/>
        </p:nvSpPr>
        <p:spPr>
          <a:xfrm>
            <a:off x="9601200" y="4170275"/>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57" name="Rectangle 356">
            <a:extLst>
              <a:ext uri="{FF2B5EF4-FFF2-40B4-BE49-F238E27FC236}">
                <a16:creationId xmlns:a16="http://schemas.microsoft.com/office/drawing/2014/main" id="{BAEF0883-1B08-46FB-B1CB-AD683E97FC22}"/>
              </a:ext>
            </a:extLst>
          </p:cNvPr>
          <p:cNvSpPr>
            <a:spLocks noGrp="1"/>
          </p:cNvSpPr>
          <p:nvPr/>
        </p:nvSpPr>
        <p:spPr>
          <a:xfrm>
            <a:off x="10172700" y="4170275"/>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8" name="TextBox 357">
            <a:extLst>
              <a:ext uri="{FF2B5EF4-FFF2-40B4-BE49-F238E27FC236}">
                <a16:creationId xmlns:a16="http://schemas.microsoft.com/office/drawing/2014/main" id="{ECA94CC1-2267-4F18-96F1-53982FE92C5C}"/>
              </a:ext>
            </a:extLst>
          </p:cNvPr>
          <p:cNvSpPr>
            <a:spLocks noGrp="1"/>
          </p:cNvSpPr>
          <p:nvPr/>
        </p:nvSpPr>
        <p:spPr>
          <a:xfrm>
            <a:off x="10172700" y="4170275"/>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0.095</a:t>
            </a:r>
          </a:p>
        </p:txBody>
      </p:sp>
      <p:sp>
        <p:nvSpPr>
          <p:cNvPr id="359" name="Rectangle 358">
            <a:extLst>
              <a:ext uri="{FF2B5EF4-FFF2-40B4-BE49-F238E27FC236}">
                <a16:creationId xmlns:a16="http://schemas.microsoft.com/office/drawing/2014/main" id="{1F9B4107-B280-4765-928E-7069131E71B2}"/>
              </a:ext>
            </a:extLst>
          </p:cNvPr>
          <p:cNvSpPr>
            <a:spLocks noGrp="1"/>
          </p:cNvSpPr>
          <p:nvPr/>
        </p:nvSpPr>
        <p:spPr>
          <a:xfrm>
            <a:off x="10744199" y="4170275"/>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0" name="TextBox 359">
            <a:extLst>
              <a:ext uri="{FF2B5EF4-FFF2-40B4-BE49-F238E27FC236}">
                <a16:creationId xmlns:a16="http://schemas.microsoft.com/office/drawing/2014/main" id="{BEE5D7B7-7832-4CC8-8680-D99B008C8F12}"/>
              </a:ext>
            </a:extLst>
          </p:cNvPr>
          <p:cNvSpPr>
            <a:spLocks noGrp="1"/>
          </p:cNvSpPr>
          <p:nvPr/>
        </p:nvSpPr>
        <p:spPr>
          <a:xfrm>
            <a:off x="10744199" y="4170275"/>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61" name="Rectangle 360">
            <a:extLst>
              <a:ext uri="{FF2B5EF4-FFF2-40B4-BE49-F238E27FC236}">
                <a16:creationId xmlns:a16="http://schemas.microsoft.com/office/drawing/2014/main" id="{855461A9-D531-44D1-90B6-550A29719164}"/>
              </a:ext>
            </a:extLst>
          </p:cNvPr>
          <p:cNvSpPr>
            <a:spLocks noGrp="1"/>
          </p:cNvSpPr>
          <p:nvPr/>
        </p:nvSpPr>
        <p:spPr>
          <a:xfrm>
            <a:off x="11315699" y="4170275"/>
            <a:ext cx="571500" cy="310418"/>
          </a:xfrm>
          <a:prstGeom prst="rect">
            <a:avLst/>
          </a:prstGeom>
          <a:solidFill>
            <a:srgbClr val="EFE7D8"/>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2" name="TextBox 361">
            <a:extLst>
              <a:ext uri="{FF2B5EF4-FFF2-40B4-BE49-F238E27FC236}">
                <a16:creationId xmlns:a16="http://schemas.microsoft.com/office/drawing/2014/main" id="{72337910-7558-43CA-B9B7-096FD7730E72}"/>
              </a:ext>
            </a:extLst>
          </p:cNvPr>
          <p:cNvSpPr>
            <a:spLocks noGrp="1"/>
          </p:cNvSpPr>
          <p:nvPr/>
        </p:nvSpPr>
        <p:spPr>
          <a:xfrm>
            <a:off x="11315699" y="4170275"/>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0.477</a:t>
            </a:r>
          </a:p>
        </p:txBody>
      </p:sp>
      <p:sp>
        <p:nvSpPr>
          <p:cNvPr id="363" name="Rectangle 362">
            <a:extLst>
              <a:ext uri="{FF2B5EF4-FFF2-40B4-BE49-F238E27FC236}">
                <a16:creationId xmlns:a16="http://schemas.microsoft.com/office/drawing/2014/main" id="{E0269F77-D54C-4485-A385-25E294E1DDD4}"/>
              </a:ext>
            </a:extLst>
          </p:cNvPr>
          <p:cNvSpPr>
            <a:spLocks noGrp="1"/>
          </p:cNvSpPr>
          <p:nvPr/>
        </p:nvSpPr>
        <p:spPr>
          <a:xfrm>
            <a:off x="6172200" y="4480693"/>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4" name="TextBox 363">
            <a:extLst>
              <a:ext uri="{FF2B5EF4-FFF2-40B4-BE49-F238E27FC236}">
                <a16:creationId xmlns:a16="http://schemas.microsoft.com/office/drawing/2014/main" id="{5DC3093D-E75B-464D-8806-EA93ACAE1438}"/>
              </a:ext>
            </a:extLst>
          </p:cNvPr>
          <p:cNvSpPr>
            <a:spLocks noGrp="1"/>
          </p:cNvSpPr>
          <p:nvPr/>
        </p:nvSpPr>
        <p:spPr>
          <a:xfrm>
            <a:off x="6172200" y="4480693"/>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GPT-5.2 / M3</a:t>
            </a:r>
          </a:p>
        </p:txBody>
      </p:sp>
      <p:sp>
        <p:nvSpPr>
          <p:cNvPr id="365" name="Rectangle 364">
            <a:extLst>
              <a:ext uri="{FF2B5EF4-FFF2-40B4-BE49-F238E27FC236}">
                <a16:creationId xmlns:a16="http://schemas.microsoft.com/office/drawing/2014/main" id="{FB3F4498-1600-4231-B5BE-5BC22E369ED8}"/>
              </a:ext>
            </a:extLst>
          </p:cNvPr>
          <p:cNvSpPr>
            <a:spLocks noGrp="1"/>
          </p:cNvSpPr>
          <p:nvPr/>
        </p:nvSpPr>
        <p:spPr>
          <a:xfrm>
            <a:off x="8538086" y="4480693"/>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6" name="TextBox 365">
            <a:extLst>
              <a:ext uri="{FF2B5EF4-FFF2-40B4-BE49-F238E27FC236}">
                <a16:creationId xmlns:a16="http://schemas.microsoft.com/office/drawing/2014/main" id="{99ED1CE5-0F08-4AEB-A802-AD3C95C06D99}"/>
              </a:ext>
            </a:extLst>
          </p:cNvPr>
          <p:cNvSpPr>
            <a:spLocks noGrp="1"/>
          </p:cNvSpPr>
          <p:nvPr/>
        </p:nvSpPr>
        <p:spPr>
          <a:xfrm>
            <a:off x="8538086" y="4480693"/>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367" name="Rectangle 366">
            <a:extLst>
              <a:ext uri="{FF2B5EF4-FFF2-40B4-BE49-F238E27FC236}">
                <a16:creationId xmlns:a16="http://schemas.microsoft.com/office/drawing/2014/main" id="{5856970A-E027-4C84-B3B7-88282F36ECF6}"/>
              </a:ext>
            </a:extLst>
          </p:cNvPr>
          <p:cNvSpPr>
            <a:spLocks noGrp="1"/>
          </p:cNvSpPr>
          <p:nvPr/>
        </p:nvSpPr>
        <p:spPr>
          <a:xfrm>
            <a:off x="9017409" y="4480693"/>
            <a:ext cx="58379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8" name="TextBox 367">
            <a:extLst>
              <a:ext uri="{FF2B5EF4-FFF2-40B4-BE49-F238E27FC236}">
                <a16:creationId xmlns:a16="http://schemas.microsoft.com/office/drawing/2014/main" id="{5DD439FE-BBF6-4768-ADB0-674FF64391FE}"/>
              </a:ext>
            </a:extLst>
          </p:cNvPr>
          <p:cNvSpPr>
            <a:spLocks noGrp="1"/>
          </p:cNvSpPr>
          <p:nvPr/>
        </p:nvSpPr>
        <p:spPr>
          <a:xfrm>
            <a:off x="9017409" y="4480693"/>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0.226</a:t>
            </a:r>
          </a:p>
        </p:txBody>
      </p:sp>
      <p:sp>
        <p:nvSpPr>
          <p:cNvPr id="369" name="Rectangle 368">
            <a:extLst>
              <a:ext uri="{FF2B5EF4-FFF2-40B4-BE49-F238E27FC236}">
                <a16:creationId xmlns:a16="http://schemas.microsoft.com/office/drawing/2014/main" id="{F1346B4C-8CAB-4D42-8A41-8767CB4BDD20}"/>
              </a:ext>
            </a:extLst>
          </p:cNvPr>
          <p:cNvSpPr>
            <a:spLocks noGrp="1"/>
          </p:cNvSpPr>
          <p:nvPr/>
        </p:nvSpPr>
        <p:spPr>
          <a:xfrm>
            <a:off x="9601200" y="4480693"/>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0" name="TextBox 369">
            <a:extLst>
              <a:ext uri="{FF2B5EF4-FFF2-40B4-BE49-F238E27FC236}">
                <a16:creationId xmlns:a16="http://schemas.microsoft.com/office/drawing/2014/main" id="{2B02F710-4240-4B76-BF4C-C44D34E7849C}"/>
              </a:ext>
            </a:extLst>
          </p:cNvPr>
          <p:cNvSpPr>
            <a:spLocks noGrp="1"/>
          </p:cNvSpPr>
          <p:nvPr/>
        </p:nvSpPr>
        <p:spPr>
          <a:xfrm>
            <a:off x="9601200" y="4480693"/>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71" name="Rectangle 370">
            <a:extLst>
              <a:ext uri="{FF2B5EF4-FFF2-40B4-BE49-F238E27FC236}">
                <a16:creationId xmlns:a16="http://schemas.microsoft.com/office/drawing/2014/main" id="{64BE0AD8-AECC-4C83-A44A-1BFA725A68E5}"/>
              </a:ext>
            </a:extLst>
          </p:cNvPr>
          <p:cNvSpPr>
            <a:spLocks noGrp="1"/>
          </p:cNvSpPr>
          <p:nvPr/>
        </p:nvSpPr>
        <p:spPr>
          <a:xfrm>
            <a:off x="10172700" y="4480693"/>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2" name="TextBox 371">
            <a:extLst>
              <a:ext uri="{FF2B5EF4-FFF2-40B4-BE49-F238E27FC236}">
                <a16:creationId xmlns:a16="http://schemas.microsoft.com/office/drawing/2014/main" id="{FDD2FBEF-3628-46C1-9165-29D5E914123C}"/>
              </a:ext>
            </a:extLst>
          </p:cNvPr>
          <p:cNvSpPr>
            <a:spLocks noGrp="1"/>
          </p:cNvSpPr>
          <p:nvPr/>
        </p:nvSpPr>
        <p:spPr>
          <a:xfrm>
            <a:off x="10172700" y="4480693"/>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0.066</a:t>
            </a:r>
          </a:p>
        </p:txBody>
      </p:sp>
      <p:sp>
        <p:nvSpPr>
          <p:cNvPr id="373" name="Rectangle 372">
            <a:extLst>
              <a:ext uri="{FF2B5EF4-FFF2-40B4-BE49-F238E27FC236}">
                <a16:creationId xmlns:a16="http://schemas.microsoft.com/office/drawing/2014/main" id="{17C7B7E4-576C-4A18-A9FF-4E3DAFEFF1AB}"/>
              </a:ext>
            </a:extLst>
          </p:cNvPr>
          <p:cNvSpPr>
            <a:spLocks noGrp="1"/>
          </p:cNvSpPr>
          <p:nvPr/>
        </p:nvSpPr>
        <p:spPr>
          <a:xfrm>
            <a:off x="10744199" y="4480693"/>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4" name="TextBox 373">
            <a:extLst>
              <a:ext uri="{FF2B5EF4-FFF2-40B4-BE49-F238E27FC236}">
                <a16:creationId xmlns:a16="http://schemas.microsoft.com/office/drawing/2014/main" id="{1B6F1188-9325-42BD-8BC3-A9CB6A27E196}"/>
              </a:ext>
            </a:extLst>
          </p:cNvPr>
          <p:cNvSpPr>
            <a:spLocks noGrp="1"/>
          </p:cNvSpPr>
          <p:nvPr/>
        </p:nvSpPr>
        <p:spPr>
          <a:xfrm>
            <a:off x="10744199" y="4480693"/>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75" name="Rectangle 374">
            <a:extLst>
              <a:ext uri="{FF2B5EF4-FFF2-40B4-BE49-F238E27FC236}">
                <a16:creationId xmlns:a16="http://schemas.microsoft.com/office/drawing/2014/main" id="{3DEB612E-2FDC-4AE8-886D-A43D25F44BE6}"/>
              </a:ext>
            </a:extLst>
          </p:cNvPr>
          <p:cNvSpPr>
            <a:spLocks noGrp="1"/>
          </p:cNvSpPr>
          <p:nvPr/>
        </p:nvSpPr>
        <p:spPr>
          <a:xfrm>
            <a:off x="11315699" y="4480693"/>
            <a:ext cx="57150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6" name="TextBox 375">
            <a:extLst>
              <a:ext uri="{FF2B5EF4-FFF2-40B4-BE49-F238E27FC236}">
                <a16:creationId xmlns:a16="http://schemas.microsoft.com/office/drawing/2014/main" id="{0C32E6CB-5091-4E16-8F3E-C15CE6D25B4D}"/>
              </a:ext>
            </a:extLst>
          </p:cNvPr>
          <p:cNvSpPr>
            <a:spLocks noGrp="1"/>
          </p:cNvSpPr>
          <p:nvPr/>
        </p:nvSpPr>
        <p:spPr>
          <a:xfrm>
            <a:off x="11315699" y="4480693"/>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0.386</a:t>
            </a:r>
          </a:p>
        </p:txBody>
      </p:sp>
      <p:sp>
        <p:nvSpPr>
          <p:cNvPr id="377" name="Rectangle 376">
            <a:extLst>
              <a:ext uri="{FF2B5EF4-FFF2-40B4-BE49-F238E27FC236}">
                <a16:creationId xmlns:a16="http://schemas.microsoft.com/office/drawing/2014/main" id="{C6CFD63A-0B96-4061-A131-6CD17A4D76D0}"/>
              </a:ext>
            </a:extLst>
          </p:cNvPr>
          <p:cNvSpPr>
            <a:spLocks noGrp="1"/>
          </p:cNvSpPr>
          <p:nvPr/>
        </p:nvSpPr>
        <p:spPr>
          <a:xfrm>
            <a:off x="6172200" y="4791112"/>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8" name="TextBox 377">
            <a:extLst>
              <a:ext uri="{FF2B5EF4-FFF2-40B4-BE49-F238E27FC236}">
                <a16:creationId xmlns:a16="http://schemas.microsoft.com/office/drawing/2014/main" id="{DEBC47F0-8863-4253-AB25-F7B59ACF3657}"/>
              </a:ext>
            </a:extLst>
          </p:cNvPr>
          <p:cNvSpPr>
            <a:spLocks noGrp="1"/>
          </p:cNvSpPr>
          <p:nvPr/>
        </p:nvSpPr>
        <p:spPr>
          <a:xfrm>
            <a:off x="6172200" y="4791112"/>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Gemini-3-Pro / M2</a:t>
            </a:r>
          </a:p>
        </p:txBody>
      </p:sp>
      <p:sp>
        <p:nvSpPr>
          <p:cNvPr id="379" name="Rectangle 378">
            <a:extLst>
              <a:ext uri="{FF2B5EF4-FFF2-40B4-BE49-F238E27FC236}">
                <a16:creationId xmlns:a16="http://schemas.microsoft.com/office/drawing/2014/main" id="{53039E79-1CD4-4D63-9095-513BEADFAEED}"/>
              </a:ext>
            </a:extLst>
          </p:cNvPr>
          <p:cNvSpPr>
            <a:spLocks noGrp="1"/>
          </p:cNvSpPr>
          <p:nvPr/>
        </p:nvSpPr>
        <p:spPr>
          <a:xfrm>
            <a:off x="8538086" y="4791112"/>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0" name="TextBox 379">
            <a:extLst>
              <a:ext uri="{FF2B5EF4-FFF2-40B4-BE49-F238E27FC236}">
                <a16:creationId xmlns:a16="http://schemas.microsoft.com/office/drawing/2014/main" id="{711A12B2-9FA7-4F4F-B40D-C5E0ADB46B00}"/>
              </a:ext>
            </a:extLst>
          </p:cNvPr>
          <p:cNvSpPr>
            <a:spLocks noGrp="1"/>
          </p:cNvSpPr>
          <p:nvPr/>
        </p:nvSpPr>
        <p:spPr>
          <a:xfrm>
            <a:off x="8538086" y="4791112"/>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381" name="Rectangle 380">
            <a:extLst>
              <a:ext uri="{FF2B5EF4-FFF2-40B4-BE49-F238E27FC236}">
                <a16:creationId xmlns:a16="http://schemas.microsoft.com/office/drawing/2014/main" id="{C314F142-3452-4AFD-A889-72E6077DE926}"/>
              </a:ext>
            </a:extLst>
          </p:cNvPr>
          <p:cNvSpPr>
            <a:spLocks noGrp="1"/>
          </p:cNvSpPr>
          <p:nvPr/>
        </p:nvSpPr>
        <p:spPr>
          <a:xfrm>
            <a:off x="9017409" y="4791112"/>
            <a:ext cx="58379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2" name="TextBox 381">
            <a:extLst>
              <a:ext uri="{FF2B5EF4-FFF2-40B4-BE49-F238E27FC236}">
                <a16:creationId xmlns:a16="http://schemas.microsoft.com/office/drawing/2014/main" id="{6F666F2C-8073-4A88-B6CF-A500811B2E31}"/>
              </a:ext>
            </a:extLst>
          </p:cNvPr>
          <p:cNvSpPr>
            <a:spLocks noGrp="1"/>
          </p:cNvSpPr>
          <p:nvPr/>
        </p:nvSpPr>
        <p:spPr>
          <a:xfrm>
            <a:off x="9017409" y="4791112"/>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0.201</a:t>
            </a:r>
          </a:p>
        </p:txBody>
      </p:sp>
      <p:sp>
        <p:nvSpPr>
          <p:cNvPr id="383" name="Rectangle 382">
            <a:extLst>
              <a:ext uri="{FF2B5EF4-FFF2-40B4-BE49-F238E27FC236}">
                <a16:creationId xmlns:a16="http://schemas.microsoft.com/office/drawing/2014/main" id="{4767EB6C-4420-4930-826A-78EB7F25C163}"/>
              </a:ext>
            </a:extLst>
          </p:cNvPr>
          <p:cNvSpPr>
            <a:spLocks noGrp="1"/>
          </p:cNvSpPr>
          <p:nvPr/>
        </p:nvSpPr>
        <p:spPr>
          <a:xfrm>
            <a:off x="9601200" y="4791112"/>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4" name="TextBox 383">
            <a:extLst>
              <a:ext uri="{FF2B5EF4-FFF2-40B4-BE49-F238E27FC236}">
                <a16:creationId xmlns:a16="http://schemas.microsoft.com/office/drawing/2014/main" id="{CABD3357-5A17-4151-B8D8-4DA2B6ADDF90}"/>
              </a:ext>
            </a:extLst>
          </p:cNvPr>
          <p:cNvSpPr>
            <a:spLocks noGrp="1"/>
          </p:cNvSpPr>
          <p:nvPr/>
        </p:nvSpPr>
        <p:spPr>
          <a:xfrm>
            <a:off x="9601200" y="4791112"/>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85" name="Rectangle 384">
            <a:extLst>
              <a:ext uri="{FF2B5EF4-FFF2-40B4-BE49-F238E27FC236}">
                <a16:creationId xmlns:a16="http://schemas.microsoft.com/office/drawing/2014/main" id="{97F79E33-F8E1-4E3F-BC94-B57E231108F8}"/>
              </a:ext>
            </a:extLst>
          </p:cNvPr>
          <p:cNvSpPr>
            <a:spLocks noGrp="1"/>
          </p:cNvSpPr>
          <p:nvPr/>
        </p:nvSpPr>
        <p:spPr>
          <a:xfrm>
            <a:off x="10172700" y="4791112"/>
            <a:ext cx="57150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6" name="TextBox 385">
            <a:extLst>
              <a:ext uri="{FF2B5EF4-FFF2-40B4-BE49-F238E27FC236}">
                <a16:creationId xmlns:a16="http://schemas.microsoft.com/office/drawing/2014/main" id="{28A50490-7C19-4479-9491-9974099E70ED}"/>
              </a:ext>
            </a:extLst>
          </p:cNvPr>
          <p:cNvSpPr>
            <a:spLocks noGrp="1"/>
          </p:cNvSpPr>
          <p:nvPr/>
        </p:nvSpPr>
        <p:spPr>
          <a:xfrm>
            <a:off x="10172700" y="4791112"/>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0.377</a:t>
            </a:r>
          </a:p>
        </p:txBody>
      </p:sp>
      <p:sp>
        <p:nvSpPr>
          <p:cNvPr id="387" name="Rectangle 386">
            <a:extLst>
              <a:ext uri="{FF2B5EF4-FFF2-40B4-BE49-F238E27FC236}">
                <a16:creationId xmlns:a16="http://schemas.microsoft.com/office/drawing/2014/main" id="{88A44B72-2FA3-4868-890A-B715CDC852D5}"/>
              </a:ext>
            </a:extLst>
          </p:cNvPr>
          <p:cNvSpPr>
            <a:spLocks noGrp="1"/>
          </p:cNvSpPr>
          <p:nvPr/>
        </p:nvSpPr>
        <p:spPr>
          <a:xfrm>
            <a:off x="10744199" y="4791112"/>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8" name="TextBox 387">
            <a:extLst>
              <a:ext uri="{FF2B5EF4-FFF2-40B4-BE49-F238E27FC236}">
                <a16:creationId xmlns:a16="http://schemas.microsoft.com/office/drawing/2014/main" id="{CED1316D-6100-4C90-9923-3107D4F9393C}"/>
              </a:ext>
            </a:extLst>
          </p:cNvPr>
          <p:cNvSpPr>
            <a:spLocks noGrp="1"/>
          </p:cNvSpPr>
          <p:nvPr/>
        </p:nvSpPr>
        <p:spPr>
          <a:xfrm>
            <a:off x="10744199" y="4791112"/>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89" name="Rectangle 388">
            <a:extLst>
              <a:ext uri="{FF2B5EF4-FFF2-40B4-BE49-F238E27FC236}">
                <a16:creationId xmlns:a16="http://schemas.microsoft.com/office/drawing/2014/main" id="{FB00D305-D3DC-4794-B4B0-E42C941713D6}"/>
              </a:ext>
            </a:extLst>
          </p:cNvPr>
          <p:cNvSpPr>
            <a:spLocks noGrp="1"/>
          </p:cNvSpPr>
          <p:nvPr/>
        </p:nvSpPr>
        <p:spPr>
          <a:xfrm>
            <a:off x="11315699" y="4791112"/>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0" name="TextBox 389">
            <a:extLst>
              <a:ext uri="{FF2B5EF4-FFF2-40B4-BE49-F238E27FC236}">
                <a16:creationId xmlns:a16="http://schemas.microsoft.com/office/drawing/2014/main" id="{E0FD100C-CB99-4C38-8DB6-5E3F0E5DB30D}"/>
              </a:ext>
            </a:extLst>
          </p:cNvPr>
          <p:cNvSpPr>
            <a:spLocks noGrp="1"/>
          </p:cNvSpPr>
          <p:nvPr/>
        </p:nvSpPr>
        <p:spPr>
          <a:xfrm>
            <a:off x="11315699" y="4791112"/>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0.024</a:t>
            </a:r>
          </a:p>
        </p:txBody>
      </p:sp>
      <p:sp>
        <p:nvSpPr>
          <p:cNvPr id="391" name="Rectangle 390">
            <a:extLst>
              <a:ext uri="{FF2B5EF4-FFF2-40B4-BE49-F238E27FC236}">
                <a16:creationId xmlns:a16="http://schemas.microsoft.com/office/drawing/2014/main" id="{AF0D55D1-E606-4F1C-9E75-48ACCB76B505}"/>
              </a:ext>
            </a:extLst>
          </p:cNvPr>
          <p:cNvSpPr>
            <a:spLocks noGrp="1"/>
          </p:cNvSpPr>
          <p:nvPr/>
        </p:nvSpPr>
        <p:spPr>
          <a:xfrm>
            <a:off x="6172200" y="5101530"/>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2" name="TextBox 391">
            <a:extLst>
              <a:ext uri="{FF2B5EF4-FFF2-40B4-BE49-F238E27FC236}">
                <a16:creationId xmlns:a16="http://schemas.microsoft.com/office/drawing/2014/main" id="{9D6C2AE9-37C7-49F0-BE07-ED43FE2E5E90}"/>
              </a:ext>
            </a:extLst>
          </p:cNvPr>
          <p:cNvSpPr>
            <a:spLocks noGrp="1"/>
          </p:cNvSpPr>
          <p:nvPr/>
        </p:nvSpPr>
        <p:spPr>
          <a:xfrm>
            <a:off x="6172200" y="5101530"/>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Gemini-3-Pro / M1</a:t>
            </a:r>
          </a:p>
        </p:txBody>
      </p:sp>
      <p:sp>
        <p:nvSpPr>
          <p:cNvPr id="393" name="Rectangle 392">
            <a:extLst>
              <a:ext uri="{FF2B5EF4-FFF2-40B4-BE49-F238E27FC236}">
                <a16:creationId xmlns:a16="http://schemas.microsoft.com/office/drawing/2014/main" id="{276AE56F-BA68-4BD7-89DE-15BFCA355F16}"/>
              </a:ext>
            </a:extLst>
          </p:cNvPr>
          <p:cNvSpPr>
            <a:spLocks noGrp="1"/>
          </p:cNvSpPr>
          <p:nvPr/>
        </p:nvSpPr>
        <p:spPr>
          <a:xfrm>
            <a:off x="8538086" y="5101530"/>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4" name="TextBox 393">
            <a:extLst>
              <a:ext uri="{FF2B5EF4-FFF2-40B4-BE49-F238E27FC236}">
                <a16:creationId xmlns:a16="http://schemas.microsoft.com/office/drawing/2014/main" id="{E1B832F1-C56E-41AC-9DBB-4D46A1A43270}"/>
              </a:ext>
            </a:extLst>
          </p:cNvPr>
          <p:cNvSpPr>
            <a:spLocks noGrp="1"/>
          </p:cNvSpPr>
          <p:nvPr/>
        </p:nvSpPr>
        <p:spPr>
          <a:xfrm>
            <a:off x="8538086" y="5101530"/>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395" name="Rectangle 394">
            <a:extLst>
              <a:ext uri="{FF2B5EF4-FFF2-40B4-BE49-F238E27FC236}">
                <a16:creationId xmlns:a16="http://schemas.microsoft.com/office/drawing/2014/main" id="{3F4BF278-C377-4381-8A10-D4FC0A3073BC}"/>
              </a:ext>
            </a:extLst>
          </p:cNvPr>
          <p:cNvSpPr>
            <a:spLocks noGrp="1"/>
          </p:cNvSpPr>
          <p:nvPr/>
        </p:nvSpPr>
        <p:spPr>
          <a:xfrm>
            <a:off x="9017409" y="5101530"/>
            <a:ext cx="58379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6" name="TextBox 395">
            <a:extLst>
              <a:ext uri="{FF2B5EF4-FFF2-40B4-BE49-F238E27FC236}">
                <a16:creationId xmlns:a16="http://schemas.microsoft.com/office/drawing/2014/main" id="{07D6AE35-BE7C-482C-B169-DF473166449A}"/>
              </a:ext>
            </a:extLst>
          </p:cNvPr>
          <p:cNvSpPr>
            <a:spLocks noGrp="1"/>
          </p:cNvSpPr>
          <p:nvPr/>
        </p:nvSpPr>
        <p:spPr>
          <a:xfrm>
            <a:off x="9017409" y="5101530"/>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0.190</a:t>
            </a:r>
          </a:p>
        </p:txBody>
      </p:sp>
      <p:sp>
        <p:nvSpPr>
          <p:cNvPr id="397" name="Rectangle 396">
            <a:extLst>
              <a:ext uri="{FF2B5EF4-FFF2-40B4-BE49-F238E27FC236}">
                <a16:creationId xmlns:a16="http://schemas.microsoft.com/office/drawing/2014/main" id="{1A91E17F-B1E5-458E-9A76-3790B2C1877E}"/>
              </a:ext>
            </a:extLst>
          </p:cNvPr>
          <p:cNvSpPr>
            <a:spLocks noGrp="1"/>
          </p:cNvSpPr>
          <p:nvPr/>
        </p:nvSpPr>
        <p:spPr>
          <a:xfrm>
            <a:off x="9601200" y="5101530"/>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8" name="TextBox 397">
            <a:extLst>
              <a:ext uri="{FF2B5EF4-FFF2-40B4-BE49-F238E27FC236}">
                <a16:creationId xmlns:a16="http://schemas.microsoft.com/office/drawing/2014/main" id="{11160EBF-1AB7-47F6-AA8D-8937E5D1D236}"/>
              </a:ext>
            </a:extLst>
          </p:cNvPr>
          <p:cNvSpPr>
            <a:spLocks noGrp="1"/>
          </p:cNvSpPr>
          <p:nvPr/>
        </p:nvSpPr>
        <p:spPr>
          <a:xfrm>
            <a:off x="9601200" y="5101530"/>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399" name="Rectangle 398">
            <a:extLst>
              <a:ext uri="{FF2B5EF4-FFF2-40B4-BE49-F238E27FC236}">
                <a16:creationId xmlns:a16="http://schemas.microsoft.com/office/drawing/2014/main" id="{B37E0E85-681F-4AD7-96B6-8425672673FF}"/>
              </a:ext>
            </a:extLst>
          </p:cNvPr>
          <p:cNvSpPr>
            <a:spLocks noGrp="1"/>
          </p:cNvSpPr>
          <p:nvPr/>
        </p:nvSpPr>
        <p:spPr>
          <a:xfrm>
            <a:off x="10172700" y="5101530"/>
            <a:ext cx="571500" cy="310418"/>
          </a:xfrm>
          <a:prstGeom prst="rect">
            <a:avLst/>
          </a:prstGeom>
          <a:solidFill>
            <a:srgbClr val="F1DECE"/>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0" name="TextBox 399">
            <a:extLst>
              <a:ext uri="{FF2B5EF4-FFF2-40B4-BE49-F238E27FC236}">
                <a16:creationId xmlns:a16="http://schemas.microsoft.com/office/drawing/2014/main" id="{0D464514-1785-496C-B803-AF41E3EFA90E}"/>
              </a:ext>
            </a:extLst>
          </p:cNvPr>
          <p:cNvSpPr>
            <a:spLocks noGrp="1"/>
          </p:cNvSpPr>
          <p:nvPr/>
        </p:nvSpPr>
        <p:spPr>
          <a:xfrm>
            <a:off x="10172700" y="5101530"/>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0.360</a:t>
            </a:r>
          </a:p>
        </p:txBody>
      </p:sp>
      <p:sp>
        <p:nvSpPr>
          <p:cNvPr id="401" name="Rectangle 400">
            <a:extLst>
              <a:ext uri="{FF2B5EF4-FFF2-40B4-BE49-F238E27FC236}">
                <a16:creationId xmlns:a16="http://schemas.microsoft.com/office/drawing/2014/main" id="{59FF51CC-8635-46D3-9017-88EC510B43F2}"/>
              </a:ext>
            </a:extLst>
          </p:cNvPr>
          <p:cNvSpPr>
            <a:spLocks noGrp="1"/>
          </p:cNvSpPr>
          <p:nvPr/>
        </p:nvSpPr>
        <p:spPr>
          <a:xfrm>
            <a:off x="10744199" y="5101530"/>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2" name="TextBox 401">
            <a:extLst>
              <a:ext uri="{FF2B5EF4-FFF2-40B4-BE49-F238E27FC236}">
                <a16:creationId xmlns:a16="http://schemas.microsoft.com/office/drawing/2014/main" id="{C12DD74D-D9C4-4BF4-90A3-931783F372E3}"/>
              </a:ext>
            </a:extLst>
          </p:cNvPr>
          <p:cNvSpPr>
            <a:spLocks noGrp="1"/>
          </p:cNvSpPr>
          <p:nvPr/>
        </p:nvSpPr>
        <p:spPr>
          <a:xfrm>
            <a:off x="10744199" y="5101530"/>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403" name="Rectangle 402">
            <a:extLst>
              <a:ext uri="{FF2B5EF4-FFF2-40B4-BE49-F238E27FC236}">
                <a16:creationId xmlns:a16="http://schemas.microsoft.com/office/drawing/2014/main" id="{3024B09D-97CA-4692-A51F-F0ADE58DBCAC}"/>
              </a:ext>
            </a:extLst>
          </p:cNvPr>
          <p:cNvSpPr>
            <a:spLocks noGrp="1"/>
          </p:cNvSpPr>
          <p:nvPr/>
        </p:nvSpPr>
        <p:spPr>
          <a:xfrm>
            <a:off x="11315699" y="5101530"/>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4" name="TextBox 403">
            <a:extLst>
              <a:ext uri="{FF2B5EF4-FFF2-40B4-BE49-F238E27FC236}">
                <a16:creationId xmlns:a16="http://schemas.microsoft.com/office/drawing/2014/main" id="{987BCFC9-693C-4D32-9AF9-34AF749EEE34}"/>
              </a:ext>
            </a:extLst>
          </p:cNvPr>
          <p:cNvSpPr>
            <a:spLocks noGrp="1"/>
          </p:cNvSpPr>
          <p:nvPr/>
        </p:nvSpPr>
        <p:spPr>
          <a:xfrm>
            <a:off x="11315699" y="5101530"/>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0.019</a:t>
            </a:r>
          </a:p>
        </p:txBody>
      </p:sp>
      <p:sp>
        <p:nvSpPr>
          <p:cNvPr id="405" name="Rectangle 404">
            <a:extLst>
              <a:ext uri="{FF2B5EF4-FFF2-40B4-BE49-F238E27FC236}">
                <a16:creationId xmlns:a16="http://schemas.microsoft.com/office/drawing/2014/main" id="{CB85F177-3A8A-46E0-B0EB-31A8B326E1DF}"/>
              </a:ext>
            </a:extLst>
          </p:cNvPr>
          <p:cNvSpPr>
            <a:spLocks noGrp="1"/>
          </p:cNvSpPr>
          <p:nvPr/>
        </p:nvSpPr>
        <p:spPr>
          <a:xfrm>
            <a:off x="6172200" y="5411948"/>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6" name="TextBox 405">
            <a:extLst>
              <a:ext uri="{FF2B5EF4-FFF2-40B4-BE49-F238E27FC236}">
                <a16:creationId xmlns:a16="http://schemas.microsoft.com/office/drawing/2014/main" id="{5F049900-FE14-4CC1-8843-C0F1C4D4AAB7}"/>
              </a:ext>
            </a:extLst>
          </p:cNvPr>
          <p:cNvSpPr>
            <a:spLocks noGrp="1"/>
          </p:cNvSpPr>
          <p:nvPr/>
        </p:nvSpPr>
        <p:spPr>
          <a:xfrm>
            <a:off x="6172200" y="5411948"/>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Gemini-3-Pro / M3</a:t>
            </a:r>
          </a:p>
        </p:txBody>
      </p:sp>
      <p:sp>
        <p:nvSpPr>
          <p:cNvPr id="407" name="Rectangle 406">
            <a:extLst>
              <a:ext uri="{FF2B5EF4-FFF2-40B4-BE49-F238E27FC236}">
                <a16:creationId xmlns:a16="http://schemas.microsoft.com/office/drawing/2014/main" id="{C3EAD022-E2B4-4DF0-A3B5-ED9135080AD8}"/>
              </a:ext>
            </a:extLst>
          </p:cNvPr>
          <p:cNvSpPr>
            <a:spLocks noGrp="1"/>
          </p:cNvSpPr>
          <p:nvPr/>
        </p:nvSpPr>
        <p:spPr>
          <a:xfrm>
            <a:off x="8538086" y="5411948"/>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8" name="TextBox 407">
            <a:extLst>
              <a:ext uri="{FF2B5EF4-FFF2-40B4-BE49-F238E27FC236}">
                <a16:creationId xmlns:a16="http://schemas.microsoft.com/office/drawing/2014/main" id="{C3E51812-7EB6-4724-A17E-56F26425DFCC}"/>
              </a:ext>
            </a:extLst>
          </p:cNvPr>
          <p:cNvSpPr>
            <a:spLocks noGrp="1"/>
          </p:cNvSpPr>
          <p:nvPr/>
        </p:nvSpPr>
        <p:spPr>
          <a:xfrm>
            <a:off x="8538086" y="5411948"/>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2/4</a:t>
            </a:r>
          </a:p>
        </p:txBody>
      </p:sp>
      <p:sp>
        <p:nvSpPr>
          <p:cNvPr id="409" name="Rectangle 408">
            <a:extLst>
              <a:ext uri="{FF2B5EF4-FFF2-40B4-BE49-F238E27FC236}">
                <a16:creationId xmlns:a16="http://schemas.microsoft.com/office/drawing/2014/main" id="{A0AB47D3-6B0A-4575-8ECC-B627FE102480}"/>
              </a:ext>
            </a:extLst>
          </p:cNvPr>
          <p:cNvSpPr>
            <a:spLocks noGrp="1"/>
          </p:cNvSpPr>
          <p:nvPr/>
        </p:nvSpPr>
        <p:spPr>
          <a:xfrm>
            <a:off x="9017409" y="5411948"/>
            <a:ext cx="58379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0" name="TextBox 409">
            <a:extLst>
              <a:ext uri="{FF2B5EF4-FFF2-40B4-BE49-F238E27FC236}">
                <a16:creationId xmlns:a16="http://schemas.microsoft.com/office/drawing/2014/main" id="{E11921A9-A529-413C-A939-5D5FEE426712}"/>
              </a:ext>
            </a:extLst>
          </p:cNvPr>
          <p:cNvSpPr>
            <a:spLocks noGrp="1"/>
          </p:cNvSpPr>
          <p:nvPr/>
        </p:nvSpPr>
        <p:spPr>
          <a:xfrm>
            <a:off x="9017409" y="5411948"/>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0.044</a:t>
            </a:r>
          </a:p>
        </p:txBody>
      </p:sp>
      <p:sp>
        <p:nvSpPr>
          <p:cNvPr id="411" name="Rectangle 410">
            <a:extLst>
              <a:ext uri="{FF2B5EF4-FFF2-40B4-BE49-F238E27FC236}">
                <a16:creationId xmlns:a16="http://schemas.microsoft.com/office/drawing/2014/main" id="{4A2F77DE-933D-4F87-B8B3-B160019A7180}"/>
              </a:ext>
            </a:extLst>
          </p:cNvPr>
          <p:cNvSpPr>
            <a:spLocks noGrp="1"/>
          </p:cNvSpPr>
          <p:nvPr/>
        </p:nvSpPr>
        <p:spPr>
          <a:xfrm>
            <a:off x="9601200" y="5411948"/>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2" name="TextBox 411">
            <a:extLst>
              <a:ext uri="{FF2B5EF4-FFF2-40B4-BE49-F238E27FC236}">
                <a16:creationId xmlns:a16="http://schemas.microsoft.com/office/drawing/2014/main" id="{E2511EC3-3F39-4CE9-A31F-B3BBBB7AF639}"/>
              </a:ext>
            </a:extLst>
          </p:cNvPr>
          <p:cNvSpPr>
            <a:spLocks noGrp="1"/>
          </p:cNvSpPr>
          <p:nvPr/>
        </p:nvSpPr>
        <p:spPr>
          <a:xfrm>
            <a:off x="9601200" y="5411948"/>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413" name="Rectangle 412">
            <a:extLst>
              <a:ext uri="{FF2B5EF4-FFF2-40B4-BE49-F238E27FC236}">
                <a16:creationId xmlns:a16="http://schemas.microsoft.com/office/drawing/2014/main" id="{50DBE7E8-DA34-48AC-8C7B-497ED540B8FD}"/>
              </a:ext>
            </a:extLst>
          </p:cNvPr>
          <p:cNvSpPr>
            <a:spLocks noGrp="1"/>
          </p:cNvSpPr>
          <p:nvPr/>
        </p:nvSpPr>
        <p:spPr>
          <a:xfrm>
            <a:off x="10172700" y="5411948"/>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4" name="TextBox 413">
            <a:extLst>
              <a:ext uri="{FF2B5EF4-FFF2-40B4-BE49-F238E27FC236}">
                <a16:creationId xmlns:a16="http://schemas.microsoft.com/office/drawing/2014/main" id="{2F80E082-6EFE-40D8-9517-7A3BDCC97C54}"/>
              </a:ext>
            </a:extLst>
          </p:cNvPr>
          <p:cNvSpPr>
            <a:spLocks noGrp="1"/>
          </p:cNvSpPr>
          <p:nvPr/>
        </p:nvSpPr>
        <p:spPr>
          <a:xfrm>
            <a:off x="10172700" y="5411948"/>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0.066</a:t>
            </a:r>
          </a:p>
        </p:txBody>
      </p:sp>
      <p:sp>
        <p:nvSpPr>
          <p:cNvPr id="415" name="Rectangle 414">
            <a:extLst>
              <a:ext uri="{FF2B5EF4-FFF2-40B4-BE49-F238E27FC236}">
                <a16:creationId xmlns:a16="http://schemas.microsoft.com/office/drawing/2014/main" id="{77D5A7C4-4A76-46E5-AE8B-F6832AFE48BC}"/>
              </a:ext>
            </a:extLst>
          </p:cNvPr>
          <p:cNvSpPr>
            <a:spLocks noGrp="1"/>
          </p:cNvSpPr>
          <p:nvPr/>
        </p:nvSpPr>
        <p:spPr>
          <a:xfrm>
            <a:off x="10744199" y="5411948"/>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6" name="TextBox 415">
            <a:extLst>
              <a:ext uri="{FF2B5EF4-FFF2-40B4-BE49-F238E27FC236}">
                <a16:creationId xmlns:a16="http://schemas.microsoft.com/office/drawing/2014/main" id="{1D97E22A-78C6-48F4-AF39-1DD8C60958F7}"/>
              </a:ext>
            </a:extLst>
          </p:cNvPr>
          <p:cNvSpPr>
            <a:spLocks noGrp="1"/>
          </p:cNvSpPr>
          <p:nvPr/>
        </p:nvSpPr>
        <p:spPr>
          <a:xfrm>
            <a:off x="10744199" y="5411948"/>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417" name="Rectangle 416">
            <a:extLst>
              <a:ext uri="{FF2B5EF4-FFF2-40B4-BE49-F238E27FC236}">
                <a16:creationId xmlns:a16="http://schemas.microsoft.com/office/drawing/2014/main" id="{2CCFBF9D-EAFE-43F9-A329-3778FCC8236F}"/>
              </a:ext>
            </a:extLst>
          </p:cNvPr>
          <p:cNvSpPr>
            <a:spLocks noGrp="1"/>
          </p:cNvSpPr>
          <p:nvPr/>
        </p:nvSpPr>
        <p:spPr>
          <a:xfrm>
            <a:off x="11315699" y="5411948"/>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8" name="TextBox 417">
            <a:extLst>
              <a:ext uri="{FF2B5EF4-FFF2-40B4-BE49-F238E27FC236}">
                <a16:creationId xmlns:a16="http://schemas.microsoft.com/office/drawing/2014/main" id="{F12DE46A-857F-4845-82B6-700DD91D8403}"/>
              </a:ext>
            </a:extLst>
          </p:cNvPr>
          <p:cNvSpPr>
            <a:spLocks noGrp="1"/>
          </p:cNvSpPr>
          <p:nvPr/>
        </p:nvSpPr>
        <p:spPr>
          <a:xfrm>
            <a:off x="11315699" y="5411948"/>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0.022</a:t>
            </a:r>
          </a:p>
        </p:txBody>
      </p:sp>
      <p:sp>
        <p:nvSpPr>
          <p:cNvPr id="419" name="Rectangle 418">
            <a:extLst>
              <a:ext uri="{FF2B5EF4-FFF2-40B4-BE49-F238E27FC236}">
                <a16:creationId xmlns:a16="http://schemas.microsoft.com/office/drawing/2014/main" id="{0EBFCE81-BE2C-45D6-A64A-21D65BBD30BE}"/>
              </a:ext>
            </a:extLst>
          </p:cNvPr>
          <p:cNvSpPr>
            <a:spLocks noGrp="1"/>
          </p:cNvSpPr>
          <p:nvPr/>
        </p:nvSpPr>
        <p:spPr>
          <a:xfrm>
            <a:off x="6172200" y="5722367"/>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0" name="TextBox 419">
            <a:extLst>
              <a:ext uri="{FF2B5EF4-FFF2-40B4-BE49-F238E27FC236}">
                <a16:creationId xmlns:a16="http://schemas.microsoft.com/office/drawing/2014/main" id="{2289A62D-773E-480E-A83A-890B0DD58745}"/>
              </a:ext>
            </a:extLst>
          </p:cNvPr>
          <p:cNvSpPr>
            <a:spLocks noGrp="1"/>
          </p:cNvSpPr>
          <p:nvPr/>
        </p:nvSpPr>
        <p:spPr>
          <a:xfrm>
            <a:off x="6172200" y="5722367"/>
            <a:ext cx="2365886" cy="310418"/>
          </a:xfrm>
          <a:prstGeom prst="rect">
            <a:avLst/>
          </a:prstGeom>
          <a:noFill/>
        </p:spPr>
        <p:txBody>
          <a:bodyPr wrap="none" lIns="28575" tIns="0" rIns="28575" bIns="0" anchor="ctr">
            <a:spAutoFit/>
          </a:bodyPr>
          <a:lstStyle/>
          <a:p>
            <a:pPr algn="l">
              <a:buNone/>
            </a:pPr>
            <a:r>
              <a:rPr sz="1100" b="0">
                <a:solidFill>
                  <a:srgbClr val="1E4954"/>
                </a:solidFill>
                <a:latin typeface="Aptos"/>
                <a:ea typeface="Aptos"/>
                <a:cs typeface="Aptos"/>
              </a:rPr>
              <a:t>Gemini-3.1 / M2</a:t>
            </a:r>
          </a:p>
        </p:txBody>
      </p:sp>
      <p:sp>
        <p:nvSpPr>
          <p:cNvPr id="421" name="Rectangle 420">
            <a:extLst>
              <a:ext uri="{FF2B5EF4-FFF2-40B4-BE49-F238E27FC236}">
                <a16:creationId xmlns:a16="http://schemas.microsoft.com/office/drawing/2014/main" id="{F6CBD6FC-C34D-45F5-8F9E-D606FA206CFF}"/>
              </a:ext>
            </a:extLst>
          </p:cNvPr>
          <p:cNvSpPr>
            <a:spLocks noGrp="1"/>
          </p:cNvSpPr>
          <p:nvPr/>
        </p:nvSpPr>
        <p:spPr>
          <a:xfrm>
            <a:off x="8538086" y="5722367"/>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2" name="TextBox 421">
            <a:extLst>
              <a:ext uri="{FF2B5EF4-FFF2-40B4-BE49-F238E27FC236}">
                <a16:creationId xmlns:a16="http://schemas.microsoft.com/office/drawing/2014/main" id="{BB7BC1B1-2571-4DC2-B1A4-19C22F4A8379}"/>
              </a:ext>
            </a:extLst>
          </p:cNvPr>
          <p:cNvSpPr>
            <a:spLocks noGrp="1"/>
          </p:cNvSpPr>
          <p:nvPr/>
        </p:nvSpPr>
        <p:spPr>
          <a:xfrm>
            <a:off x="8538086" y="5722367"/>
            <a:ext cx="479323"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1/4</a:t>
            </a:r>
          </a:p>
        </p:txBody>
      </p:sp>
      <p:sp>
        <p:nvSpPr>
          <p:cNvPr id="423" name="Rectangle 422">
            <a:extLst>
              <a:ext uri="{FF2B5EF4-FFF2-40B4-BE49-F238E27FC236}">
                <a16:creationId xmlns:a16="http://schemas.microsoft.com/office/drawing/2014/main" id="{EC0CF2B7-336A-4815-B429-0ACC8BABBC68}"/>
              </a:ext>
            </a:extLst>
          </p:cNvPr>
          <p:cNvSpPr>
            <a:spLocks noGrp="1"/>
          </p:cNvSpPr>
          <p:nvPr/>
        </p:nvSpPr>
        <p:spPr>
          <a:xfrm>
            <a:off x="9017409" y="5722367"/>
            <a:ext cx="58379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4" name="TextBox 423">
            <a:extLst>
              <a:ext uri="{FF2B5EF4-FFF2-40B4-BE49-F238E27FC236}">
                <a16:creationId xmlns:a16="http://schemas.microsoft.com/office/drawing/2014/main" id="{2AF2C865-FA3B-4F2A-B3B9-406518EFBC8A}"/>
              </a:ext>
            </a:extLst>
          </p:cNvPr>
          <p:cNvSpPr>
            <a:spLocks noGrp="1"/>
          </p:cNvSpPr>
          <p:nvPr/>
        </p:nvSpPr>
        <p:spPr>
          <a:xfrm>
            <a:off x="9017409" y="5722367"/>
            <a:ext cx="58379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0.092</a:t>
            </a:r>
          </a:p>
        </p:txBody>
      </p:sp>
      <p:sp>
        <p:nvSpPr>
          <p:cNvPr id="425" name="Rectangle 424">
            <a:extLst>
              <a:ext uri="{FF2B5EF4-FFF2-40B4-BE49-F238E27FC236}">
                <a16:creationId xmlns:a16="http://schemas.microsoft.com/office/drawing/2014/main" id="{4C8CFADB-D9F0-4FD9-AA75-9518944CD07E}"/>
              </a:ext>
            </a:extLst>
          </p:cNvPr>
          <p:cNvSpPr>
            <a:spLocks noGrp="1"/>
          </p:cNvSpPr>
          <p:nvPr/>
        </p:nvSpPr>
        <p:spPr>
          <a:xfrm>
            <a:off x="9601200" y="5722367"/>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6" name="TextBox 425">
            <a:extLst>
              <a:ext uri="{FF2B5EF4-FFF2-40B4-BE49-F238E27FC236}">
                <a16:creationId xmlns:a16="http://schemas.microsoft.com/office/drawing/2014/main" id="{2ED7FF1A-CA95-424C-8E28-B3F269C2D924}"/>
              </a:ext>
            </a:extLst>
          </p:cNvPr>
          <p:cNvSpPr>
            <a:spLocks noGrp="1"/>
          </p:cNvSpPr>
          <p:nvPr/>
        </p:nvSpPr>
        <p:spPr>
          <a:xfrm>
            <a:off x="9601200" y="5722367"/>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427" name="Rectangle 426">
            <a:extLst>
              <a:ext uri="{FF2B5EF4-FFF2-40B4-BE49-F238E27FC236}">
                <a16:creationId xmlns:a16="http://schemas.microsoft.com/office/drawing/2014/main" id="{5578E6F5-708E-488E-AB82-A291F26F3A08}"/>
              </a:ext>
            </a:extLst>
          </p:cNvPr>
          <p:cNvSpPr>
            <a:spLocks noGrp="1"/>
          </p:cNvSpPr>
          <p:nvPr/>
        </p:nvSpPr>
        <p:spPr>
          <a:xfrm>
            <a:off x="10172700" y="5722367"/>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8" name="TextBox 427">
            <a:extLst>
              <a:ext uri="{FF2B5EF4-FFF2-40B4-BE49-F238E27FC236}">
                <a16:creationId xmlns:a16="http://schemas.microsoft.com/office/drawing/2014/main" id="{4C2CE88D-5172-4F1D-B61D-972E8D886AEE}"/>
              </a:ext>
            </a:extLst>
          </p:cNvPr>
          <p:cNvSpPr>
            <a:spLocks noGrp="1"/>
          </p:cNvSpPr>
          <p:nvPr/>
        </p:nvSpPr>
        <p:spPr>
          <a:xfrm>
            <a:off x="10172700" y="5722367"/>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429" name="Rectangle 428">
            <a:extLst>
              <a:ext uri="{FF2B5EF4-FFF2-40B4-BE49-F238E27FC236}">
                <a16:creationId xmlns:a16="http://schemas.microsoft.com/office/drawing/2014/main" id="{45807BA3-64AB-438B-BF44-E929927E9A05}"/>
              </a:ext>
            </a:extLst>
          </p:cNvPr>
          <p:cNvSpPr>
            <a:spLocks noGrp="1"/>
          </p:cNvSpPr>
          <p:nvPr/>
        </p:nvSpPr>
        <p:spPr>
          <a:xfrm>
            <a:off x="10744199" y="5722367"/>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0" name="TextBox 429">
            <a:extLst>
              <a:ext uri="{FF2B5EF4-FFF2-40B4-BE49-F238E27FC236}">
                <a16:creationId xmlns:a16="http://schemas.microsoft.com/office/drawing/2014/main" id="{E52C7D5D-3AE3-484A-A027-9CFBB000B614}"/>
              </a:ext>
            </a:extLst>
          </p:cNvPr>
          <p:cNvSpPr>
            <a:spLocks noGrp="1"/>
          </p:cNvSpPr>
          <p:nvPr/>
        </p:nvSpPr>
        <p:spPr>
          <a:xfrm>
            <a:off x="10744199" y="5722367"/>
            <a:ext cx="571500" cy="310418"/>
          </a:xfrm>
          <a:prstGeom prst="rect">
            <a:avLst/>
          </a:prstGeom>
          <a:noFill/>
        </p:spPr>
        <p:txBody>
          <a:bodyPr wrap="none" lIns="9525" tIns="0" rIns="9525" bIns="0" anchor="ctr">
            <a:spAutoFit/>
          </a:bodyPr>
          <a:lstStyle/>
          <a:p>
            <a:pPr algn="ctr">
              <a:buNone/>
            </a:pPr>
            <a:r>
              <a:rPr sz="1100" b="0">
                <a:solidFill>
                  <a:srgbClr val="5D6B70"/>
                </a:solidFill>
                <a:latin typeface="Aptos"/>
                <a:ea typeface="Aptos"/>
                <a:cs typeface="Aptos"/>
              </a:rPr>
              <a:t>-</a:t>
            </a:r>
          </a:p>
        </p:txBody>
      </p:sp>
      <p:sp>
        <p:nvSpPr>
          <p:cNvPr id="431" name="Rectangle 430">
            <a:extLst>
              <a:ext uri="{FF2B5EF4-FFF2-40B4-BE49-F238E27FC236}">
                <a16:creationId xmlns:a16="http://schemas.microsoft.com/office/drawing/2014/main" id="{8C8D8390-498C-4A49-8494-C5619754D12D}"/>
              </a:ext>
            </a:extLst>
          </p:cNvPr>
          <p:cNvSpPr>
            <a:spLocks noGrp="1"/>
          </p:cNvSpPr>
          <p:nvPr/>
        </p:nvSpPr>
        <p:spPr>
          <a:xfrm>
            <a:off x="11315699" y="5722367"/>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2" name="TextBox 431">
            <a:extLst>
              <a:ext uri="{FF2B5EF4-FFF2-40B4-BE49-F238E27FC236}">
                <a16:creationId xmlns:a16="http://schemas.microsoft.com/office/drawing/2014/main" id="{D569AB06-B2F7-48B2-A5A5-10F2C898AF15}"/>
              </a:ext>
            </a:extLst>
          </p:cNvPr>
          <p:cNvSpPr>
            <a:spLocks noGrp="1"/>
          </p:cNvSpPr>
          <p:nvPr/>
        </p:nvSpPr>
        <p:spPr>
          <a:xfrm>
            <a:off x="11315699" y="5722367"/>
            <a:ext cx="571500" cy="310418"/>
          </a:xfrm>
          <a:prstGeom prst="rect">
            <a:avLst/>
          </a:prstGeom>
          <a:noFill/>
        </p:spPr>
        <p:txBody>
          <a:bodyPr wrap="none" lIns="9525" tIns="0" rIns="9525" bIns="0" anchor="ctr">
            <a:spAutoFit/>
          </a:bodyPr>
          <a:lstStyle/>
          <a:p>
            <a:pPr algn="ctr">
              <a:buNone/>
            </a:pPr>
            <a:r>
              <a:rPr sz="1100" b="0">
                <a:solidFill>
                  <a:srgbClr val="1E4954"/>
                </a:solidFill>
                <a:latin typeface="Aptos"/>
                <a:ea typeface="Aptos"/>
                <a:cs typeface="Aptos"/>
              </a:rPr>
              <a:t>0.092</a:t>
            </a:r>
          </a:p>
        </p:txBody>
      </p:sp>
      <p:sp>
        <p:nvSpPr>
          <p:cNvPr id="433" name="Rectangle 432">
            <a:extLst>
              <a:ext uri="{FF2B5EF4-FFF2-40B4-BE49-F238E27FC236}">
                <a16:creationId xmlns:a16="http://schemas.microsoft.com/office/drawing/2014/main" id="{95DDEF86-854F-4F1C-BC4D-659AD657A6A3}"/>
              </a:ext>
            </a:extLst>
          </p:cNvPr>
          <p:cNvSpPr>
            <a:spLocks noGrp="1"/>
          </p:cNvSpPr>
          <p:nvPr/>
        </p:nvSpPr>
        <p:spPr>
          <a:xfrm>
            <a:off x="6172200" y="6032785"/>
            <a:ext cx="2365886"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4" name="TextBox 433">
            <a:extLst>
              <a:ext uri="{FF2B5EF4-FFF2-40B4-BE49-F238E27FC236}">
                <a16:creationId xmlns:a16="http://schemas.microsoft.com/office/drawing/2014/main" id="{075C229E-0E36-45AC-AEE2-A498F863E8A0}"/>
              </a:ext>
            </a:extLst>
          </p:cNvPr>
          <p:cNvSpPr>
            <a:spLocks noGrp="1"/>
          </p:cNvSpPr>
          <p:nvPr/>
        </p:nvSpPr>
        <p:spPr>
          <a:xfrm>
            <a:off x="6172200" y="6104377"/>
            <a:ext cx="953760" cy="173416"/>
          </a:xfrm>
          <a:prstGeom prst="rect">
            <a:avLst/>
          </a:prstGeom>
          <a:noFill/>
        </p:spPr>
        <p:txBody>
          <a:bodyPr wrap="none" lIns="22860" tIns="0" rIns="22860" bIns="0" anchor="ctr">
            <a:spAutoFit/>
          </a:bodyPr>
          <a:lstStyle/>
          <a:p>
            <a:pPr algn="l">
              <a:buNone/>
            </a:pPr>
            <a:r>
              <a:rPr sz="1100" b="0">
                <a:solidFill>
                  <a:srgbClr val="1E4954"/>
                </a:solidFill>
                <a:latin typeface="Aptos"/>
                <a:ea typeface="Aptos"/>
                <a:cs typeface="Aptos"/>
              </a:rPr>
              <a:t>Gemini-3.1 / M3</a:t>
            </a:r>
          </a:p>
        </p:txBody>
      </p:sp>
      <p:sp>
        <p:nvSpPr>
          <p:cNvPr id="435" name="Rectangle 434">
            <a:extLst>
              <a:ext uri="{FF2B5EF4-FFF2-40B4-BE49-F238E27FC236}">
                <a16:creationId xmlns:a16="http://schemas.microsoft.com/office/drawing/2014/main" id="{DB70FAAD-C9F6-493D-A38E-BC14F8B5CC13}"/>
              </a:ext>
            </a:extLst>
          </p:cNvPr>
          <p:cNvSpPr>
            <a:spLocks noGrp="1"/>
          </p:cNvSpPr>
          <p:nvPr/>
        </p:nvSpPr>
        <p:spPr>
          <a:xfrm>
            <a:off x="8538086" y="6032785"/>
            <a:ext cx="479323" cy="310418"/>
          </a:xfrm>
          <a:prstGeom prst="rect">
            <a:avLst/>
          </a:prstGeom>
          <a:solidFill>
            <a:srgbClr val="F1EEE6"/>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6" name="TextBox 435">
            <a:extLst>
              <a:ext uri="{FF2B5EF4-FFF2-40B4-BE49-F238E27FC236}">
                <a16:creationId xmlns:a16="http://schemas.microsoft.com/office/drawing/2014/main" id="{844E59F6-F5FA-406B-BD94-EB45FB9D4AFD}"/>
              </a:ext>
            </a:extLst>
          </p:cNvPr>
          <p:cNvSpPr>
            <a:spLocks noGrp="1"/>
          </p:cNvSpPr>
          <p:nvPr/>
        </p:nvSpPr>
        <p:spPr>
          <a:xfrm>
            <a:off x="8660917" y="6104377"/>
            <a:ext cx="233661"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1/4</a:t>
            </a:r>
          </a:p>
        </p:txBody>
      </p:sp>
      <p:sp>
        <p:nvSpPr>
          <p:cNvPr id="437" name="Rectangle 436">
            <a:extLst>
              <a:ext uri="{FF2B5EF4-FFF2-40B4-BE49-F238E27FC236}">
                <a16:creationId xmlns:a16="http://schemas.microsoft.com/office/drawing/2014/main" id="{44FC3E00-1383-4AFE-90E2-87D192388746}"/>
              </a:ext>
            </a:extLst>
          </p:cNvPr>
          <p:cNvSpPr>
            <a:spLocks noGrp="1"/>
          </p:cNvSpPr>
          <p:nvPr/>
        </p:nvSpPr>
        <p:spPr>
          <a:xfrm>
            <a:off x="9017409" y="6032785"/>
            <a:ext cx="58379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8" name="TextBox 437">
            <a:extLst>
              <a:ext uri="{FF2B5EF4-FFF2-40B4-BE49-F238E27FC236}">
                <a16:creationId xmlns:a16="http://schemas.microsoft.com/office/drawing/2014/main" id="{E1C7038D-2603-498D-8E57-9C6DE90EAE8A}"/>
              </a:ext>
            </a:extLst>
          </p:cNvPr>
          <p:cNvSpPr>
            <a:spLocks noGrp="1"/>
          </p:cNvSpPr>
          <p:nvPr/>
        </p:nvSpPr>
        <p:spPr>
          <a:xfrm>
            <a:off x="9124912" y="6104377"/>
            <a:ext cx="368784"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0.073</a:t>
            </a:r>
          </a:p>
        </p:txBody>
      </p:sp>
      <p:sp>
        <p:nvSpPr>
          <p:cNvPr id="439" name="Rectangle 438">
            <a:extLst>
              <a:ext uri="{FF2B5EF4-FFF2-40B4-BE49-F238E27FC236}">
                <a16:creationId xmlns:a16="http://schemas.microsoft.com/office/drawing/2014/main" id="{2783B44A-7B4A-4E9E-A06B-A13EB364CEDF}"/>
              </a:ext>
            </a:extLst>
          </p:cNvPr>
          <p:cNvSpPr>
            <a:spLocks noGrp="1"/>
          </p:cNvSpPr>
          <p:nvPr/>
        </p:nvSpPr>
        <p:spPr>
          <a:xfrm>
            <a:off x="9601200" y="6032785"/>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0" name="TextBox 439">
            <a:extLst>
              <a:ext uri="{FF2B5EF4-FFF2-40B4-BE49-F238E27FC236}">
                <a16:creationId xmlns:a16="http://schemas.microsoft.com/office/drawing/2014/main" id="{26F8B1AD-DEFD-40E5-ADD0-55FD132EF935}"/>
              </a:ext>
            </a:extLst>
          </p:cNvPr>
          <p:cNvSpPr>
            <a:spLocks noGrp="1"/>
          </p:cNvSpPr>
          <p:nvPr/>
        </p:nvSpPr>
        <p:spPr>
          <a:xfrm>
            <a:off x="9840976" y="6104377"/>
            <a:ext cx="91948" cy="173416"/>
          </a:xfrm>
          <a:prstGeom prst="rect">
            <a:avLst/>
          </a:prstGeom>
          <a:noFill/>
        </p:spPr>
        <p:txBody>
          <a:bodyPr wrap="none" lIns="22860" tIns="0" rIns="22860" bIns="0" anchor="ctr">
            <a:spAutoFit/>
          </a:bodyPr>
          <a:lstStyle/>
          <a:p>
            <a:pPr algn="ctr">
              <a:buNone/>
            </a:pPr>
            <a:r>
              <a:rPr sz="1100" b="0">
                <a:solidFill>
                  <a:srgbClr val="5D6B70"/>
                </a:solidFill>
                <a:latin typeface="Aptos"/>
                <a:ea typeface="Aptos"/>
                <a:cs typeface="Aptos"/>
              </a:rPr>
              <a:t>-</a:t>
            </a:r>
          </a:p>
        </p:txBody>
      </p:sp>
      <p:sp>
        <p:nvSpPr>
          <p:cNvPr id="441" name="Rectangle 440">
            <a:extLst>
              <a:ext uri="{FF2B5EF4-FFF2-40B4-BE49-F238E27FC236}">
                <a16:creationId xmlns:a16="http://schemas.microsoft.com/office/drawing/2014/main" id="{ABD4032F-D6FA-4083-94D8-E19A5B26999E}"/>
              </a:ext>
            </a:extLst>
          </p:cNvPr>
          <p:cNvSpPr>
            <a:spLocks noGrp="1"/>
          </p:cNvSpPr>
          <p:nvPr/>
        </p:nvSpPr>
        <p:spPr>
          <a:xfrm>
            <a:off x="10172700" y="6032785"/>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2" name="TextBox 441">
            <a:extLst>
              <a:ext uri="{FF2B5EF4-FFF2-40B4-BE49-F238E27FC236}">
                <a16:creationId xmlns:a16="http://schemas.microsoft.com/office/drawing/2014/main" id="{A5A75E0A-E947-41EA-934B-C012EAB268DA}"/>
              </a:ext>
            </a:extLst>
          </p:cNvPr>
          <p:cNvSpPr>
            <a:spLocks noGrp="1"/>
          </p:cNvSpPr>
          <p:nvPr/>
        </p:nvSpPr>
        <p:spPr>
          <a:xfrm>
            <a:off x="10412475" y="6104377"/>
            <a:ext cx="91948" cy="173416"/>
          </a:xfrm>
          <a:prstGeom prst="rect">
            <a:avLst/>
          </a:prstGeom>
          <a:noFill/>
        </p:spPr>
        <p:txBody>
          <a:bodyPr wrap="none" lIns="22860" tIns="0" rIns="22860" bIns="0" anchor="ctr">
            <a:spAutoFit/>
          </a:bodyPr>
          <a:lstStyle/>
          <a:p>
            <a:pPr algn="ctr">
              <a:buNone/>
            </a:pPr>
            <a:r>
              <a:rPr sz="1100" b="0">
                <a:solidFill>
                  <a:srgbClr val="5D6B70"/>
                </a:solidFill>
                <a:latin typeface="Aptos"/>
                <a:ea typeface="Aptos"/>
                <a:cs typeface="Aptos"/>
              </a:rPr>
              <a:t>-</a:t>
            </a:r>
          </a:p>
        </p:txBody>
      </p:sp>
      <p:sp>
        <p:nvSpPr>
          <p:cNvPr id="443" name="Rectangle 442">
            <a:extLst>
              <a:ext uri="{FF2B5EF4-FFF2-40B4-BE49-F238E27FC236}">
                <a16:creationId xmlns:a16="http://schemas.microsoft.com/office/drawing/2014/main" id="{008E4783-7B9A-4193-8082-48207B3ECAD2}"/>
              </a:ext>
            </a:extLst>
          </p:cNvPr>
          <p:cNvSpPr>
            <a:spLocks noGrp="1"/>
          </p:cNvSpPr>
          <p:nvPr/>
        </p:nvSpPr>
        <p:spPr>
          <a:xfrm>
            <a:off x="10744199" y="6032785"/>
            <a:ext cx="571500" cy="310418"/>
          </a:xfrm>
          <a:prstGeom prst="rect">
            <a:avLst/>
          </a:prstGeom>
          <a:solidFill>
            <a:srgbClr val="EAE6DD"/>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4" name="TextBox 443">
            <a:extLst>
              <a:ext uri="{FF2B5EF4-FFF2-40B4-BE49-F238E27FC236}">
                <a16:creationId xmlns:a16="http://schemas.microsoft.com/office/drawing/2014/main" id="{098798A9-2705-4916-A5E9-EF318B96718D}"/>
              </a:ext>
            </a:extLst>
          </p:cNvPr>
          <p:cNvSpPr>
            <a:spLocks noGrp="1"/>
          </p:cNvSpPr>
          <p:nvPr/>
        </p:nvSpPr>
        <p:spPr>
          <a:xfrm>
            <a:off x="10983975" y="6104377"/>
            <a:ext cx="91948" cy="173416"/>
          </a:xfrm>
          <a:prstGeom prst="rect">
            <a:avLst/>
          </a:prstGeom>
          <a:noFill/>
        </p:spPr>
        <p:txBody>
          <a:bodyPr wrap="none" lIns="22860" tIns="0" rIns="22860" bIns="0" anchor="ctr">
            <a:spAutoFit/>
          </a:bodyPr>
          <a:lstStyle/>
          <a:p>
            <a:pPr algn="ctr">
              <a:buNone/>
            </a:pPr>
            <a:r>
              <a:rPr sz="1100" b="0">
                <a:solidFill>
                  <a:srgbClr val="5D6B70"/>
                </a:solidFill>
                <a:latin typeface="Aptos"/>
                <a:ea typeface="Aptos"/>
                <a:cs typeface="Aptos"/>
              </a:rPr>
              <a:t>-</a:t>
            </a:r>
          </a:p>
        </p:txBody>
      </p:sp>
      <p:sp>
        <p:nvSpPr>
          <p:cNvPr id="445" name="Rectangle 444">
            <a:extLst>
              <a:ext uri="{FF2B5EF4-FFF2-40B4-BE49-F238E27FC236}">
                <a16:creationId xmlns:a16="http://schemas.microsoft.com/office/drawing/2014/main" id="{46B63645-B6FF-4D4F-AAAF-B3B6C59CC7DA}"/>
              </a:ext>
            </a:extLst>
          </p:cNvPr>
          <p:cNvSpPr>
            <a:spLocks noGrp="1"/>
          </p:cNvSpPr>
          <p:nvPr/>
        </p:nvSpPr>
        <p:spPr>
          <a:xfrm>
            <a:off x="11315699" y="6032785"/>
            <a:ext cx="571500" cy="310418"/>
          </a:xfrm>
          <a:prstGeom prst="rect">
            <a:avLst/>
          </a:prstGeom>
          <a:solidFill>
            <a:srgbClr val="F3DFD3"/>
          </a:solidFill>
          <a:ln w="5080">
            <a:solidFill>
              <a:srgbClr val="CED6D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6" name="TextBox 445">
            <a:extLst>
              <a:ext uri="{FF2B5EF4-FFF2-40B4-BE49-F238E27FC236}">
                <a16:creationId xmlns:a16="http://schemas.microsoft.com/office/drawing/2014/main" id="{93C3687D-FA72-4618-9045-02F411ECCBCA}"/>
              </a:ext>
            </a:extLst>
          </p:cNvPr>
          <p:cNvSpPr>
            <a:spLocks noGrp="1"/>
          </p:cNvSpPr>
          <p:nvPr/>
        </p:nvSpPr>
        <p:spPr>
          <a:xfrm>
            <a:off x="11417057" y="6104377"/>
            <a:ext cx="368783" cy="173416"/>
          </a:xfrm>
          <a:prstGeom prst="rect">
            <a:avLst/>
          </a:prstGeom>
          <a:noFill/>
        </p:spPr>
        <p:txBody>
          <a:bodyPr wrap="none" lIns="22860" tIns="0" rIns="22860" bIns="0" anchor="ctr">
            <a:spAutoFit/>
          </a:bodyPr>
          <a:lstStyle/>
          <a:p>
            <a:pPr algn="ctr">
              <a:buNone/>
            </a:pPr>
            <a:r>
              <a:rPr sz="1100" b="0">
                <a:solidFill>
                  <a:srgbClr val="1E4954"/>
                </a:solidFill>
                <a:latin typeface="Aptos"/>
                <a:ea typeface="Aptos"/>
                <a:cs typeface="Aptos"/>
              </a:rPr>
              <a:t>0.073</a:t>
            </a:r>
          </a:p>
        </p:txBody>
      </p:sp>
      <p:sp>
        <p:nvSpPr>
          <p:cNvPr id="447" name="slide9-standard-header-bar">
            <a:extLst>
              <a:ext uri="{FF2B5EF4-FFF2-40B4-BE49-F238E27FC236}">
                <a16:creationId xmlns:a16="http://schemas.microsoft.com/office/drawing/2014/main" id="{4F7C90D0-D743-4670-8258-8C6CF7459E87}"/>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448" name="slide9-standard-kicker-marker">
            <a:extLst>
              <a:ext uri="{FF2B5EF4-FFF2-40B4-BE49-F238E27FC236}">
                <a16:creationId xmlns:a16="http://schemas.microsoft.com/office/drawing/2014/main" id="{5A8201AF-F633-45CA-9CE1-139F796FD0EE}"/>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449" name="slide9-standard-kicker-label">
            <a:extLst>
              <a:ext uri="{FF2B5EF4-FFF2-40B4-BE49-F238E27FC236}">
                <a16:creationId xmlns:a16="http://schemas.microsoft.com/office/drawing/2014/main" id="{B15A094C-B843-47A4-AECB-E9157E1E634D}"/>
              </a:ext>
            </a:extLst>
          </p:cNvPr>
          <p:cNvSpPr>
            <a:spLocks noGrp="1"/>
          </p:cNvSpPr>
          <p:nvPr/>
        </p:nvSpPr>
        <p:spPr>
          <a:xfrm>
            <a:off x="457200" y="16192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00" b="1">
                <a:solidFill>
                  <a:srgbClr val="D7EDE9"/>
                </a:solidFill>
                <a:latin typeface="Aptos"/>
                <a:ea typeface="Aptos"/>
                <a:cs typeface="Aptos"/>
              </a:defRPr>
            </a:pPr>
            <a:r>
              <a:rPr sz="800" b="1">
                <a:solidFill>
                  <a:srgbClr val="D7EDE9"/>
                </a:solidFill>
                <a:latin typeface="Aptos"/>
                <a:ea typeface="Aptos"/>
                <a:cs typeface="Aptos"/>
              </a:rPr>
              <a:t>RQ1</a:t>
            </a:r>
          </a:p>
        </p:txBody>
      </p:sp>
      <p:sp>
        <p:nvSpPr>
          <p:cNvPr id="450" name="slide9-standard-title">
            <a:extLst>
              <a:ext uri="{FF2B5EF4-FFF2-40B4-BE49-F238E27FC236}">
                <a16:creationId xmlns:a16="http://schemas.microsoft.com/office/drawing/2014/main" id="{628DF5B8-4038-4539-BBC5-8B879A2D2A87}"/>
              </a:ext>
            </a:extLst>
          </p:cNvPr>
          <p:cNvSpPr>
            <a:spLocks noGrp="1"/>
          </p:cNvSpPr>
          <p:nvPr/>
        </p:nvSpPr>
        <p:spPr>
          <a:xfrm>
            <a:off x="1809750" y="114300"/>
            <a:ext cx="87630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Results Per Model And Dataset</a:t>
            </a:r>
          </a:p>
        </p:txBody>
      </p:sp>
      <p:sp>
        <p:nvSpPr>
          <p:cNvPr id="451" name="slide9-standard-footer-author">
            <a:extLst>
              <a:ext uri="{FF2B5EF4-FFF2-40B4-BE49-F238E27FC236}">
                <a16:creationId xmlns:a16="http://schemas.microsoft.com/office/drawing/2014/main" id="{43191E19-84ED-4788-9F3E-143C5CDE523A}"/>
              </a:ext>
            </a:extLst>
          </p:cNvPr>
          <p:cNvSpPr>
            <a:spLocks noGrp="1"/>
          </p:cNvSpPr>
          <p:nvPr/>
        </p:nvSpPr>
        <p:spPr>
          <a:xfrm>
            <a:off x="342900" y="65722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570" b="0">
                <a:solidFill>
                  <a:srgbClr val="5D6B70"/>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452" name="slide9-standard-footer-page">
            <a:extLst>
              <a:ext uri="{FF2B5EF4-FFF2-40B4-BE49-F238E27FC236}">
                <a16:creationId xmlns:a16="http://schemas.microsoft.com/office/drawing/2014/main" id="{8FD49B8D-38D7-4F8D-A599-1982B7486921}"/>
              </a:ext>
            </a:extLst>
          </p:cNvPr>
          <p:cNvSpPr>
            <a:spLocks noGrp="1"/>
          </p:cNvSpPr>
          <p:nvPr/>
        </p:nvSpPr>
        <p:spPr>
          <a:xfrm>
            <a:off x="11391900" y="6572250"/>
            <a:ext cx="476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570" b="0">
                <a:solidFill>
                  <a:srgbClr val="5D6B70"/>
                </a:solidFill>
                <a:latin typeface="Aptos"/>
                <a:ea typeface="Aptos"/>
                <a:cs typeface="Aptos"/>
              </a:defRPr>
            </a:pPr>
            <a:r>
              <a:rPr sz="570" b="0" dirty="0">
                <a:solidFill>
                  <a:srgbClr val="5D6B70"/>
                </a:solidFill>
                <a:latin typeface="Aptos"/>
                <a:ea typeface="Aptos"/>
                <a:cs typeface="Aptos"/>
              </a:rPr>
              <a:t>09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Tree>
    <p:extLst>
      <p:ext uri="{BB962C8B-B14F-4D97-AF65-F5344CB8AC3E}">
        <p14:creationId xmlns:p14="http://schemas.microsoft.com/office/powerpoint/2010/main" val="182000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279B205-4F29-4EFC-9D55-1537AFCAB129}"/>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B227FE61-DC93-4CDB-9076-6C8F32D76BD0}"/>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5FFDAFBE-6034-4CD9-9B33-A3B4E392AF03}"/>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RQ2</a:t>
            </a:r>
          </a:p>
        </p:txBody>
      </p:sp>
      <p:sp>
        <p:nvSpPr>
          <p:cNvPr id="4" name="Rectangle 3">
            <a:extLst>
              <a:ext uri="{FF2B5EF4-FFF2-40B4-BE49-F238E27FC236}">
                <a16:creationId xmlns:a16="http://schemas.microsoft.com/office/drawing/2014/main" id="{1A167490-0605-487E-81BF-3F388051FBA4}"/>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Fixed-Transcription Preservation</a:t>
            </a:r>
          </a:p>
        </p:txBody>
      </p:sp>
      <p:sp>
        <p:nvSpPr>
          <p:cNvPr id="5" name="Rectangle 4">
            <a:extLst>
              <a:ext uri="{FF2B5EF4-FFF2-40B4-BE49-F238E27FC236}">
                <a16:creationId xmlns:a16="http://schemas.microsoft.com/office/drawing/2014/main" id="{3CEA0354-4EBB-475B-BCC7-FFC50A5FDD4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0D3AE83A-B49A-4912-B168-6E8EA13CEA0A}"/>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10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B4293B1B-2286-44CB-9A3C-79D228E5B537}"/>
              </a:ext>
            </a:extLst>
          </p:cNvPr>
          <p:cNvSpPr>
            <a:spLocks noGrp="1"/>
          </p:cNvSpPr>
          <p:nvPr/>
        </p:nvSpPr>
        <p:spPr>
          <a:xfrm>
            <a:off x="552450" y="1410151"/>
            <a:ext cx="6096000" cy="3943350"/>
          </a:xfrm>
          <a:prstGeom prst="roundRect">
            <a:avLst>
              <a:gd name="adj" fmla="val 1449"/>
            </a:avLst>
          </a:prstGeom>
          <a:solidFill>
            <a:srgbClr val="FFFDF7"/>
          </a:solidFill>
          <a:ln w="9525">
            <a:solidFill>
              <a:srgbClr val="CFC7B8"/>
            </a:solidFill>
            <a:prstDash val="solid"/>
          </a:ln>
        </p:spPr>
        <p:txBody>
          <a:bodyPr/>
          <a:lstStyle/>
          <a:p>
            <a:endParaRPr/>
          </a:p>
        </p:txBody>
      </p:sp>
      <p:sp>
        <p:nvSpPr>
          <p:cNvPr id="8" name="Rectangle 7">
            <a:extLst>
              <a:ext uri="{FF2B5EF4-FFF2-40B4-BE49-F238E27FC236}">
                <a16:creationId xmlns:a16="http://schemas.microsoft.com/office/drawing/2014/main" id="{9F34BDF4-E01F-44A6-82A8-032B4879EED2}"/>
              </a:ext>
            </a:extLst>
          </p:cNvPr>
          <p:cNvSpPr>
            <a:spLocks noGrp="1"/>
          </p:cNvSpPr>
          <p:nvPr/>
        </p:nvSpPr>
        <p:spPr>
          <a:xfrm>
            <a:off x="876300" y="1657801"/>
            <a:ext cx="53340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500" b="1">
                <a:solidFill>
                  <a:srgbClr val="264653"/>
                </a:solidFill>
                <a:latin typeface="Aptos Display"/>
                <a:ea typeface="Aptos Display"/>
                <a:cs typeface="Aptos Display"/>
              </a:defRPr>
            </a:pPr>
            <a:r>
              <a:rPr sz="1600" b="1">
                <a:solidFill>
                  <a:srgbClr val="264653"/>
                </a:solidFill>
                <a:latin typeface="Aptos Display"/>
                <a:ea typeface="Aptos Display"/>
                <a:cs typeface="Aptos Display"/>
              </a:rPr>
              <a:t>Projection Mechanism</a:t>
            </a:r>
          </a:p>
        </p:txBody>
      </p:sp>
      <p:sp>
        <p:nvSpPr>
          <p:cNvPr id="9" name="Rounded Rectangle 8">
            <a:extLst>
              <a:ext uri="{FF2B5EF4-FFF2-40B4-BE49-F238E27FC236}">
                <a16:creationId xmlns:a16="http://schemas.microsoft.com/office/drawing/2014/main" id="{218A9328-D17C-4952-AD3D-A270356CC4E6}"/>
              </a:ext>
            </a:extLst>
          </p:cNvPr>
          <p:cNvSpPr>
            <a:spLocks noGrp="1"/>
          </p:cNvSpPr>
          <p:nvPr/>
        </p:nvSpPr>
        <p:spPr>
          <a:xfrm>
            <a:off x="933450" y="2134051"/>
            <a:ext cx="5334000" cy="704850"/>
          </a:xfrm>
          <a:prstGeom prst="roundRect">
            <a:avLst>
              <a:gd name="adj" fmla="val 8108"/>
            </a:avLst>
          </a:prstGeom>
          <a:solidFill>
            <a:srgbClr val="FFF7F0"/>
          </a:solidFill>
          <a:ln w="9525">
            <a:solidFill>
              <a:srgbClr val="E76F51"/>
            </a:solidFill>
            <a:prstDash val="solid"/>
          </a:ln>
        </p:spPr>
        <p:txBody>
          <a:bodyPr/>
          <a:lstStyle/>
          <a:p>
            <a:endParaRPr/>
          </a:p>
        </p:txBody>
      </p:sp>
      <p:sp>
        <p:nvSpPr>
          <p:cNvPr id="10" name="Rectangle 9">
            <a:extLst>
              <a:ext uri="{FF2B5EF4-FFF2-40B4-BE49-F238E27FC236}">
                <a16:creationId xmlns:a16="http://schemas.microsoft.com/office/drawing/2014/main" id="{82D03D7C-A431-4CC2-BBC8-451F694C8FC4}"/>
              </a:ext>
            </a:extLst>
          </p:cNvPr>
          <p:cNvSpPr>
            <a:spLocks noGrp="1"/>
          </p:cNvSpPr>
          <p:nvPr/>
        </p:nvSpPr>
        <p:spPr>
          <a:xfrm>
            <a:off x="1143000" y="2286451"/>
            <a:ext cx="16764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945" b="1">
                <a:solidFill>
                  <a:srgbClr val="E76F51"/>
                </a:solidFill>
                <a:latin typeface="Aptos"/>
                <a:ea typeface="Aptos"/>
                <a:cs typeface="Aptos"/>
              </a:defRPr>
            </a:pPr>
            <a:r>
              <a:rPr sz="1050" b="1">
                <a:solidFill>
                  <a:srgbClr val="E76F51"/>
                </a:solidFill>
                <a:latin typeface="Aptos"/>
                <a:ea typeface="Aptos"/>
                <a:cs typeface="Aptos"/>
              </a:rPr>
              <a:t>Model / JSON Line Hint</a:t>
            </a:r>
          </a:p>
        </p:txBody>
      </p:sp>
      <p:sp>
        <p:nvSpPr>
          <p:cNvPr id="11" name="Rectangle 10">
            <a:extLst>
              <a:ext uri="{FF2B5EF4-FFF2-40B4-BE49-F238E27FC236}">
                <a16:creationId xmlns:a16="http://schemas.microsoft.com/office/drawing/2014/main" id="{E0A0044D-1D5F-4536-8DDF-5A64063B2A30}"/>
              </a:ext>
            </a:extLst>
          </p:cNvPr>
          <p:cNvSpPr>
            <a:spLocks noGrp="1"/>
          </p:cNvSpPr>
          <p:nvPr/>
        </p:nvSpPr>
        <p:spPr>
          <a:xfrm>
            <a:off x="3048000" y="2267401"/>
            <a:ext cx="2952750" cy="4000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lnSpc>
                <a:spcPct val="108000"/>
              </a:lnSpc>
              <a:buNone/>
              <a:defRPr sz="1185" b="0">
                <a:solidFill>
                  <a:srgbClr val="142026"/>
                </a:solidFill>
                <a:latin typeface="Aptos Mono"/>
                <a:ea typeface="Aptos Mono"/>
                <a:cs typeface="Aptos Mono"/>
              </a:defRPr>
            </a:pPr>
            <a:r>
              <a:rPr sz="1400" b="0">
                <a:solidFill>
                  <a:srgbClr val="142026"/>
                </a:solidFill>
                <a:latin typeface="Aptos Mono"/>
                <a:ea typeface="Aptos Mono"/>
                <a:cs typeface="Aptos Mono"/>
              </a:rPr>
              <a:t>"The Bearer, Caplain"</a:t>
            </a:r>
          </a:p>
          <a:p>
            <a:pPr algn="ctr">
              <a:lnSpc>
                <a:spcPct val="108000"/>
              </a:lnSpc>
              <a:buNone/>
              <a:defRPr sz="1185" b="0">
                <a:solidFill>
                  <a:srgbClr val="142026"/>
                </a:solidFill>
                <a:latin typeface="Aptos Mono"/>
                <a:ea typeface="Aptos Mono"/>
                <a:cs typeface="Aptos Mono"/>
              </a:defRPr>
            </a:pPr>
            <a:r>
              <a:rPr sz="1400" b="0">
                <a:solidFill>
                  <a:srgbClr val="142026"/>
                </a:solidFill>
                <a:latin typeface="Aptos Mono"/>
                <a:ea typeface="Aptos Mono"/>
                <a:cs typeface="Aptos Mono"/>
              </a:rPr>
              <a:t>"John Mercer"</a:t>
            </a:r>
          </a:p>
        </p:txBody>
      </p:sp>
      <p:sp>
        <p:nvSpPr>
          <p:cNvPr id="12" name="Rectangle 11">
            <a:extLst>
              <a:ext uri="{FF2B5EF4-FFF2-40B4-BE49-F238E27FC236}">
                <a16:creationId xmlns:a16="http://schemas.microsoft.com/office/drawing/2014/main" id="{77EC7429-12E1-4F5D-B516-9A169DFFB173}"/>
              </a:ext>
            </a:extLst>
          </p:cNvPr>
          <p:cNvSpPr>
            <a:spLocks noGrp="1"/>
          </p:cNvSpPr>
          <p:nvPr/>
        </p:nvSpPr>
        <p:spPr>
          <a:xfrm>
            <a:off x="3400425" y="2842263"/>
            <a:ext cx="40005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800" b="1">
                <a:solidFill>
                  <a:srgbClr val="2A9D8F"/>
                </a:solidFill>
                <a:latin typeface="Aptos"/>
                <a:ea typeface="Aptos"/>
                <a:cs typeface="Aptos"/>
              </a:defRPr>
            </a:pPr>
            <a:r>
              <a:rPr sz="2400" b="1">
                <a:solidFill>
                  <a:srgbClr val="2A9D8F"/>
                </a:solidFill>
                <a:latin typeface="Aptos"/>
                <a:ea typeface="Aptos"/>
                <a:cs typeface="Aptos"/>
              </a:rPr>
              <a:t>↓</a:t>
            </a:r>
          </a:p>
        </p:txBody>
      </p:sp>
      <p:sp>
        <p:nvSpPr>
          <p:cNvPr id="13" name="Rounded Rectangle 12">
            <a:extLst>
              <a:ext uri="{FF2B5EF4-FFF2-40B4-BE49-F238E27FC236}">
                <a16:creationId xmlns:a16="http://schemas.microsoft.com/office/drawing/2014/main" id="{7F82D522-AF0F-43DD-8EDE-CB10DC845104}"/>
              </a:ext>
            </a:extLst>
          </p:cNvPr>
          <p:cNvSpPr>
            <a:spLocks noGrp="1"/>
          </p:cNvSpPr>
          <p:nvPr/>
        </p:nvSpPr>
        <p:spPr>
          <a:xfrm>
            <a:off x="933450" y="3105601"/>
            <a:ext cx="5334000" cy="704850"/>
          </a:xfrm>
          <a:prstGeom prst="roundRect">
            <a:avLst>
              <a:gd name="adj" fmla="val 8108"/>
            </a:avLst>
          </a:prstGeom>
          <a:solidFill>
            <a:srgbClr val="F8F5EA"/>
          </a:solidFill>
          <a:ln w="9525">
            <a:solidFill>
              <a:srgbClr val="264653"/>
            </a:solidFill>
            <a:prstDash val="solid"/>
          </a:ln>
        </p:spPr>
        <p:txBody>
          <a:bodyPr/>
          <a:lstStyle/>
          <a:p>
            <a:endParaRPr/>
          </a:p>
        </p:txBody>
      </p:sp>
      <p:sp>
        <p:nvSpPr>
          <p:cNvPr id="14" name="Rectangle 13">
            <a:extLst>
              <a:ext uri="{FF2B5EF4-FFF2-40B4-BE49-F238E27FC236}">
                <a16:creationId xmlns:a16="http://schemas.microsoft.com/office/drawing/2014/main" id="{229796CF-6380-4083-8F55-C49C31734CD5}"/>
              </a:ext>
            </a:extLst>
          </p:cNvPr>
          <p:cNvSpPr>
            <a:spLocks noGrp="1"/>
          </p:cNvSpPr>
          <p:nvPr/>
        </p:nvSpPr>
        <p:spPr>
          <a:xfrm>
            <a:off x="1143000" y="3258001"/>
            <a:ext cx="16764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945" b="1">
                <a:solidFill>
                  <a:srgbClr val="264653"/>
                </a:solidFill>
                <a:latin typeface="Aptos"/>
                <a:ea typeface="Aptos"/>
                <a:cs typeface="Aptos"/>
              </a:defRPr>
            </a:pPr>
            <a:r>
              <a:rPr sz="1050" b="1">
                <a:solidFill>
                  <a:srgbClr val="264653"/>
                </a:solidFill>
                <a:latin typeface="Aptos"/>
                <a:ea typeface="Aptos"/>
                <a:cs typeface="Aptos"/>
              </a:rPr>
              <a:t>Fixed Transcription</a:t>
            </a:r>
          </a:p>
        </p:txBody>
      </p:sp>
      <p:sp>
        <p:nvSpPr>
          <p:cNvPr id="15" name="Rectangle 14">
            <a:extLst>
              <a:ext uri="{FF2B5EF4-FFF2-40B4-BE49-F238E27FC236}">
                <a16:creationId xmlns:a16="http://schemas.microsoft.com/office/drawing/2014/main" id="{892299BF-5132-4272-A215-976419C97696}"/>
              </a:ext>
            </a:extLst>
          </p:cNvPr>
          <p:cNvSpPr>
            <a:spLocks noGrp="1"/>
          </p:cNvSpPr>
          <p:nvPr/>
        </p:nvSpPr>
        <p:spPr>
          <a:xfrm>
            <a:off x="2857500" y="3238951"/>
            <a:ext cx="3429000" cy="4000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lnSpc>
                <a:spcPct val="108000"/>
              </a:lnSpc>
              <a:buNone/>
              <a:defRPr sz="1140" b="0">
                <a:solidFill>
                  <a:srgbClr val="142026"/>
                </a:solidFill>
                <a:latin typeface="Aptos Mono"/>
                <a:ea typeface="Aptos Mono"/>
                <a:cs typeface="Aptos Mono"/>
              </a:defRPr>
            </a:pPr>
            <a:r>
              <a:rPr sz="1200" b="0">
                <a:solidFill>
                  <a:srgbClr val="142026"/>
                </a:solidFill>
                <a:latin typeface="Aptos Mono"/>
                <a:ea typeface="Aptos Mono"/>
                <a:cs typeface="Aptos Mono"/>
              </a:rPr>
              <a:t>"The Bearer, Captain John Mercer"</a:t>
            </a:r>
          </a:p>
        </p:txBody>
      </p:sp>
      <p:sp>
        <p:nvSpPr>
          <p:cNvPr id="16" name="Rectangle 15">
            <a:extLst>
              <a:ext uri="{FF2B5EF4-FFF2-40B4-BE49-F238E27FC236}">
                <a16:creationId xmlns:a16="http://schemas.microsoft.com/office/drawing/2014/main" id="{5AAD4277-54DD-465B-B00F-3023C42FEE06}"/>
              </a:ext>
            </a:extLst>
          </p:cNvPr>
          <p:cNvSpPr>
            <a:spLocks noGrp="1"/>
          </p:cNvSpPr>
          <p:nvPr/>
        </p:nvSpPr>
        <p:spPr>
          <a:xfrm>
            <a:off x="3400425" y="3819976"/>
            <a:ext cx="400050" cy="3048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800" b="1">
                <a:solidFill>
                  <a:srgbClr val="2A9D8F"/>
                </a:solidFill>
                <a:latin typeface="Aptos"/>
                <a:ea typeface="Aptos"/>
                <a:cs typeface="Aptos"/>
              </a:defRPr>
            </a:pPr>
            <a:r>
              <a:rPr sz="2400" b="1">
                <a:solidFill>
                  <a:srgbClr val="2A9D8F"/>
                </a:solidFill>
                <a:latin typeface="Aptos"/>
                <a:ea typeface="Aptos"/>
                <a:cs typeface="Aptos"/>
              </a:rPr>
              <a:t>↓</a:t>
            </a:r>
          </a:p>
        </p:txBody>
      </p:sp>
      <p:sp>
        <p:nvSpPr>
          <p:cNvPr id="17" name="Rounded Rectangle 16">
            <a:extLst>
              <a:ext uri="{FF2B5EF4-FFF2-40B4-BE49-F238E27FC236}">
                <a16:creationId xmlns:a16="http://schemas.microsoft.com/office/drawing/2014/main" id="{65E4FE9E-E4E4-4FED-B259-7D62338DC26E}"/>
              </a:ext>
            </a:extLst>
          </p:cNvPr>
          <p:cNvSpPr>
            <a:spLocks noGrp="1"/>
          </p:cNvSpPr>
          <p:nvPr/>
        </p:nvSpPr>
        <p:spPr>
          <a:xfrm>
            <a:off x="933450" y="4077151"/>
            <a:ext cx="5334000" cy="704850"/>
          </a:xfrm>
          <a:prstGeom prst="roundRect">
            <a:avLst>
              <a:gd name="adj" fmla="val 8108"/>
            </a:avLst>
          </a:prstGeom>
          <a:solidFill>
            <a:srgbClr val="DDEDE9"/>
          </a:solidFill>
          <a:ln w="9525">
            <a:solidFill>
              <a:srgbClr val="2A9D8F"/>
            </a:solidFill>
            <a:prstDash val="solid"/>
          </a:ln>
        </p:spPr>
        <p:txBody>
          <a:bodyPr/>
          <a:lstStyle/>
          <a:p>
            <a:endParaRPr/>
          </a:p>
        </p:txBody>
      </p:sp>
      <p:sp>
        <p:nvSpPr>
          <p:cNvPr id="18" name="Rectangle 17">
            <a:extLst>
              <a:ext uri="{FF2B5EF4-FFF2-40B4-BE49-F238E27FC236}">
                <a16:creationId xmlns:a16="http://schemas.microsoft.com/office/drawing/2014/main" id="{30787A7E-D096-4891-B762-ABC88C3C56BC}"/>
              </a:ext>
            </a:extLst>
          </p:cNvPr>
          <p:cNvSpPr>
            <a:spLocks noGrp="1"/>
          </p:cNvSpPr>
          <p:nvPr/>
        </p:nvSpPr>
        <p:spPr>
          <a:xfrm>
            <a:off x="1143000" y="4229551"/>
            <a:ext cx="16764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945" b="1">
                <a:solidFill>
                  <a:srgbClr val="2A9D8F"/>
                </a:solidFill>
                <a:latin typeface="Aptos"/>
                <a:ea typeface="Aptos"/>
                <a:cs typeface="Aptos"/>
              </a:defRPr>
            </a:pPr>
            <a:r>
              <a:rPr sz="1050" b="1">
                <a:solidFill>
                  <a:srgbClr val="2A9D8F"/>
                </a:solidFill>
                <a:latin typeface="Aptos"/>
                <a:ea typeface="Aptos"/>
                <a:cs typeface="Aptos"/>
              </a:rPr>
              <a:t>Projected Output</a:t>
            </a:r>
          </a:p>
        </p:txBody>
      </p:sp>
      <p:sp>
        <p:nvSpPr>
          <p:cNvPr id="19" name="Rectangle 18">
            <a:extLst>
              <a:ext uri="{FF2B5EF4-FFF2-40B4-BE49-F238E27FC236}">
                <a16:creationId xmlns:a16="http://schemas.microsoft.com/office/drawing/2014/main" id="{206A0F8F-B567-452C-9778-1F7230C16F9F}"/>
              </a:ext>
            </a:extLst>
          </p:cNvPr>
          <p:cNvSpPr>
            <a:spLocks noGrp="1"/>
          </p:cNvSpPr>
          <p:nvPr/>
        </p:nvSpPr>
        <p:spPr>
          <a:xfrm>
            <a:off x="3048000" y="4210501"/>
            <a:ext cx="2952750" cy="4000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lnSpc>
                <a:spcPct val="108000"/>
              </a:lnSpc>
              <a:buNone/>
              <a:defRPr sz="1185" b="0">
                <a:solidFill>
                  <a:srgbClr val="142026"/>
                </a:solidFill>
                <a:latin typeface="Aptos Mono"/>
                <a:ea typeface="Aptos Mono"/>
                <a:cs typeface="Aptos Mono"/>
              </a:defRPr>
            </a:pPr>
            <a:r>
              <a:rPr sz="1400" b="0">
                <a:solidFill>
                  <a:srgbClr val="142026"/>
                </a:solidFill>
                <a:latin typeface="Aptos Mono"/>
                <a:ea typeface="Aptos Mono"/>
                <a:cs typeface="Aptos Mono"/>
              </a:rPr>
              <a:t>"The Bearer, Captain</a:t>
            </a:r>
          </a:p>
          <a:p>
            <a:pPr algn="ctr">
              <a:lnSpc>
                <a:spcPct val="108000"/>
              </a:lnSpc>
              <a:buNone/>
              <a:defRPr sz="1185" b="0">
                <a:solidFill>
                  <a:srgbClr val="142026"/>
                </a:solidFill>
                <a:latin typeface="Aptos Mono"/>
                <a:ea typeface="Aptos Mono"/>
                <a:cs typeface="Aptos Mono"/>
              </a:defRPr>
            </a:pPr>
            <a:r>
              <a:rPr sz="1400" b="0">
                <a:solidFill>
                  <a:srgbClr val="142026"/>
                </a:solidFill>
                <a:latin typeface="Aptos Mono"/>
                <a:ea typeface="Aptos Mono"/>
                <a:cs typeface="Aptos Mono"/>
              </a:rPr>
              <a:t>John Mercer"</a:t>
            </a:r>
          </a:p>
        </p:txBody>
      </p:sp>
      <p:sp>
        <p:nvSpPr>
          <p:cNvPr id="20" name="Rectangle 19">
            <a:extLst>
              <a:ext uri="{FF2B5EF4-FFF2-40B4-BE49-F238E27FC236}">
                <a16:creationId xmlns:a16="http://schemas.microsoft.com/office/drawing/2014/main" id="{7AAFB7B4-A836-472C-8E0E-4FE01D95F8CC}"/>
              </a:ext>
            </a:extLst>
          </p:cNvPr>
          <p:cNvSpPr>
            <a:spLocks noGrp="1"/>
          </p:cNvSpPr>
          <p:nvPr/>
        </p:nvSpPr>
        <p:spPr>
          <a:xfrm>
            <a:off x="1066800" y="4953451"/>
            <a:ext cx="50673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65" b="1">
                <a:solidFill>
                  <a:srgbClr val="264653"/>
                </a:solidFill>
                <a:latin typeface="Aptos"/>
                <a:ea typeface="Aptos"/>
                <a:cs typeface="Aptos"/>
              </a:defRPr>
            </a:pPr>
            <a:r>
              <a:rPr sz="1200" b="1">
                <a:solidFill>
                  <a:srgbClr val="264653"/>
                </a:solidFill>
                <a:latin typeface="Aptos"/>
                <a:ea typeface="Aptos"/>
                <a:cs typeface="Aptos"/>
              </a:rPr>
              <a:t>Boundary From Hint; Characters From Fixed Text.</a:t>
            </a:r>
          </a:p>
        </p:txBody>
      </p:sp>
      <p:sp>
        <p:nvSpPr>
          <p:cNvPr id="21" name="Rounded Rectangle 20">
            <a:extLst>
              <a:ext uri="{FF2B5EF4-FFF2-40B4-BE49-F238E27FC236}">
                <a16:creationId xmlns:a16="http://schemas.microsoft.com/office/drawing/2014/main" id="{63909F66-A1C5-4D1E-AEC6-2064F43D407F}"/>
              </a:ext>
            </a:extLst>
          </p:cNvPr>
          <p:cNvSpPr>
            <a:spLocks noGrp="1"/>
          </p:cNvSpPr>
          <p:nvPr/>
        </p:nvSpPr>
        <p:spPr>
          <a:xfrm>
            <a:off x="7124700" y="1410151"/>
            <a:ext cx="4438650" cy="3943350"/>
          </a:xfrm>
          <a:prstGeom prst="roundRect">
            <a:avLst>
              <a:gd name="adj" fmla="val 1449"/>
            </a:avLst>
          </a:prstGeom>
          <a:solidFill>
            <a:srgbClr val="FFFDF7"/>
          </a:solidFill>
          <a:ln w="9525">
            <a:solidFill>
              <a:srgbClr val="CFC7B8"/>
            </a:solidFill>
            <a:prstDash val="solid"/>
          </a:ln>
        </p:spPr>
        <p:txBody>
          <a:bodyPr/>
          <a:lstStyle/>
          <a:p>
            <a:endParaRPr/>
          </a:p>
        </p:txBody>
      </p:sp>
      <p:sp>
        <p:nvSpPr>
          <p:cNvPr id="22" name="Rectangle 21">
            <a:extLst>
              <a:ext uri="{FF2B5EF4-FFF2-40B4-BE49-F238E27FC236}">
                <a16:creationId xmlns:a16="http://schemas.microsoft.com/office/drawing/2014/main" id="{E27FE216-7F5B-4970-853B-6F6698775430}"/>
              </a:ext>
            </a:extLst>
          </p:cNvPr>
          <p:cNvSpPr>
            <a:spLocks noGrp="1"/>
          </p:cNvSpPr>
          <p:nvPr/>
        </p:nvSpPr>
        <p:spPr>
          <a:xfrm>
            <a:off x="7410450" y="1657801"/>
            <a:ext cx="386715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500" b="1">
                <a:solidFill>
                  <a:srgbClr val="264653"/>
                </a:solidFill>
                <a:latin typeface="Aptos Display"/>
                <a:ea typeface="Aptos Display"/>
                <a:cs typeface="Aptos Display"/>
              </a:defRPr>
            </a:pPr>
            <a:r>
              <a:rPr sz="1600" b="1" dirty="0">
                <a:solidFill>
                  <a:srgbClr val="264653"/>
                </a:solidFill>
                <a:latin typeface="Aptos Display"/>
                <a:ea typeface="Aptos Display"/>
                <a:cs typeface="Aptos Display"/>
              </a:rPr>
              <a:t>Validity Evidence</a:t>
            </a:r>
          </a:p>
        </p:txBody>
      </p:sp>
      <p:sp>
        <p:nvSpPr>
          <p:cNvPr id="23" name="Rounded Rectangle 22">
            <a:extLst>
              <a:ext uri="{FF2B5EF4-FFF2-40B4-BE49-F238E27FC236}">
                <a16:creationId xmlns:a16="http://schemas.microsoft.com/office/drawing/2014/main" id="{DD7902CC-8C15-4E14-B39C-87486C589A7A}"/>
              </a:ext>
            </a:extLst>
          </p:cNvPr>
          <p:cNvSpPr>
            <a:spLocks noGrp="1"/>
          </p:cNvSpPr>
          <p:nvPr/>
        </p:nvSpPr>
        <p:spPr>
          <a:xfrm>
            <a:off x="7620000" y="2210251"/>
            <a:ext cx="3448050" cy="685800"/>
          </a:xfrm>
          <a:prstGeom prst="roundRect">
            <a:avLst>
              <a:gd name="adj" fmla="val 8333"/>
            </a:avLst>
          </a:prstGeom>
          <a:solidFill>
            <a:srgbClr val="DDEDE9"/>
          </a:solidFill>
          <a:ln w="9525">
            <a:solidFill>
              <a:srgbClr val="2A9D8F"/>
            </a:solidFill>
            <a:prstDash val="solid"/>
          </a:ln>
        </p:spPr>
        <p:txBody>
          <a:bodyPr/>
          <a:lstStyle/>
          <a:p>
            <a:endParaRPr/>
          </a:p>
        </p:txBody>
      </p:sp>
      <p:sp>
        <p:nvSpPr>
          <p:cNvPr id="24" name="Rectangle 23">
            <a:extLst>
              <a:ext uri="{FF2B5EF4-FFF2-40B4-BE49-F238E27FC236}">
                <a16:creationId xmlns:a16="http://schemas.microsoft.com/office/drawing/2014/main" id="{6EF4BD4F-F7F7-438B-8950-182D4F5C57AE}"/>
              </a:ext>
            </a:extLst>
          </p:cNvPr>
          <p:cNvSpPr>
            <a:spLocks noGrp="1"/>
          </p:cNvSpPr>
          <p:nvPr/>
        </p:nvSpPr>
        <p:spPr>
          <a:xfrm>
            <a:off x="7772400" y="2362651"/>
            <a:ext cx="337185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800" b="1">
                <a:solidFill>
                  <a:srgbClr val="2A9D8F"/>
                </a:solidFill>
                <a:latin typeface="Aptos"/>
                <a:ea typeface="Aptos"/>
                <a:cs typeface="Aptos"/>
              </a:defRPr>
            </a:pPr>
            <a:r>
              <a:rPr sz="1800" b="1" dirty="0">
                <a:solidFill>
                  <a:srgbClr val="2A9D8F"/>
                </a:solidFill>
                <a:latin typeface="Aptos"/>
                <a:ea typeface="Aptos"/>
                <a:cs typeface="Aptos"/>
              </a:rPr>
              <a:t>0 / 162 M5</a:t>
            </a:r>
            <a:r>
              <a:rPr sz="1200" b="1" dirty="0">
                <a:solidFill>
                  <a:srgbClr val="264653"/>
                </a:solidFill>
                <a:latin typeface="Aptos"/>
                <a:ea typeface="Aptos"/>
                <a:cs typeface="Aptos"/>
              </a:rPr>
              <a:t> </a:t>
            </a:r>
            <a:r>
              <a:rPr lang="de-CH" sz="1200" b="1" dirty="0" err="1">
                <a:solidFill>
                  <a:srgbClr val="264653"/>
                </a:solidFill>
                <a:latin typeface="Aptos"/>
                <a:ea typeface="Aptos"/>
                <a:cs typeface="Aptos"/>
              </a:rPr>
              <a:t>preservation</a:t>
            </a:r>
            <a:r>
              <a:rPr lang="de-CH" sz="1200" b="1" dirty="0">
                <a:solidFill>
                  <a:srgbClr val="264653"/>
                </a:solidFill>
                <a:latin typeface="Aptos"/>
                <a:ea typeface="Aptos"/>
                <a:cs typeface="Aptos"/>
              </a:rPr>
              <a:t> </a:t>
            </a:r>
            <a:r>
              <a:rPr lang="de-CH" sz="1200" b="1" dirty="0" err="1">
                <a:solidFill>
                  <a:srgbClr val="264653"/>
                </a:solidFill>
                <a:latin typeface="Aptos"/>
                <a:ea typeface="Aptos"/>
                <a:cs typeface="Aptos"/>
              </a:rPr>
              <a:t>failures</a:t>
            </a:r>
            <a:r>
              <a:rPr sz="1200" b="1" dirty="0">
                <a:solidFill>
                  <a:srgbClr val="264653"/>
                </a:solidFill>
                <a:latin typeface="Aptos"/>
                <a:ea typeface="Aptos"/>
                <a:cs typeface="Aptos"/>
              </a:rPr>
              <a:t>.</a:t>
            </a:r>
          </a:p>
        </p:txBody>
      </p:sp>
      <p:sp>
        <p:nvSpPr>
          <p:cNvPr id="25" name="Rectangle 24">
            <a:extLst>
              <a:ext uri="{FF2B5EF4-FFF2-40B4-BE49-F238E27FC236}">
                <a16:creationId xmlns:a16="http://schemas.microsoft.com/office/drawing/2014/main" id="{C2399C10-D0D7-4342-8043-521DDEBE7356}"/>
              </a:ext>
            </a:extLst>
          </p:cNvPr>
          <p:cNvSpPr>
            <a:spLocks noGrp="1"/>
          </p:cNvSpPr>
          <p:nvPr/>
        </p:nvSpPr>
        <p:spPr>
          <a:xfrm>
            <a:off x="9496425" y="2734126"/>
            <a:ext cx="1700000" cy="171450"/>
          </a:xfrm>
          <a:prstGeom prst="rect">
            <a:avLst/>
          </a:prstGeom>
          <a:solidFill>
            <a:srgbClr val="000000">
              <a:alpha val="0"/>
            </a:srgbClr>
          </a:solidFill>
          <a:ln w="9525">
            <a:solidFill>
              <a:srgbClr val="000000">
                <a:alpha val="0"/>
              </a:srgbClr>
            </a:solidFill>
            <a:prstDash val="solid"/>
          </a:ln>
        </p:spPr>
        <p:txBody>
          <a:bodyPr/>
          <a:lstStyle/>
          <a:p>
            <a:endParaRPr dirty="0"/>
          </a:p>
        </p:txBody>
      </p:sp>
      <p:sp>
        <p:nvSpPr>
          <p:cNvPr id="26" name="Rounded Rectangle 25">
            <a:extLst>
              <a:ext uri="{FF2B5EF4-FFF2-40B4-BE49-F238E27FC236}">
                <a16:creationId xmlns:a16="http://schemas.microsoft.com/office/drawing/2014/main" id="{9FED6E7C-EC05-42CE-9CE0-525BD7448554}"/>
              </a:ext>
            </a:extLst>
          </p:cNvPr>
          <p:cNvSpPr>
            <a:spLocks noGrp="1"/>
          </p:cNvSpPr>
          <p:nvPr/>
        </p:nvSpPr>
        <p:spPr>
          <a:xfrm>
            <a:off x="7620000" y="3258001"/>
            <a:ext cx="3448050" cy="685800"/>
          </a:xfrm>
          <a:prstGeom prst="roundRect">
            <a:avLst>
              <a:gd name="adj" fmla="val 8333"/>
            </a:avLst>
          </a:prstGeom>
          <a:solidFill>
            <a:srgbClr val="FFF5F0"/>
          </a:solidFill>
          <a:ln w="9525">
            <a:solidFill>
              <a:srgbClr val="E76F51"/>
            </a:solidFill>
            <a:prstDash val="solid"/>
          </a:ln>
        </p:spPr>
        <p:txBody>
          <a:bodyPr/>
          <a:lstStyle/>
          <a:p>
            <a:endParaRPr/>
          </a:p>
        </p:txBody>
      </p:sp>
      <p:sp>
        <p:nvSpPr>
          <p:cNvPr id="27" name="Rectangle 26">
            <a:extLst>
              <a:ext uri="{FF2B5EF4-FFF2-40B4-BE49-F238E27FC236}">
                <a16:creationId xmlns:a16="http://schemas.microsoft.com/office/drawing/2014/main" id="{6988FFEC-B782-482E-AE63-C06AFCFAD23C}"/>
              </a:ext>
            </a:extLst>
          </p:cNvPr>
          <p:cNvSpPr>
            <a:spLocks noGrp="1"/>
          </p:cNvSpPr>
          <p:nvPr/>
        </p:nvSpPr>
        <p:spPr>
          <a:xfrm>
            <a:off x="7734300" y="3391351"/>
            <a:ext cx="325755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E76F51"/>
                </a:solidFill>
                <a:latin typeface="Aptos"/>
                <a:ea typeface="Aptos"/>
                <a:cs typeface="Aptos"/>
              </a:defRPr>
            </a:pPr>
            <a:r>
              <a:rPr lang="de-CH" sz="1200" b="1" dirty="0">
                <a:solidFill>
                  <a:srgbClr val="E76F51"/>
                </a:solidFill>
                <a:latin typeface="Aptos"/>
                <a:ea typeface="Aptos"/>
                <a:cs typeface="Aptos"/>
              </a:rPr>
              <a:t>M1-M3 Average </a:t>
            </a:r>
            <a:r>
              <a:rPr lang="de-CH" sz="1200" b="1" dirty="0" err="1">
                <a:solidFill>
                  <a:srgbClr val="E76F51"/>
                </a:solidFill>
                <a:latin typeface="Aptos"/>
                <a:ea typeface="Aptos"/>
                <a:cs typeface="Aptos"/>
              </a:rPr>
              <a:t>line</a:t>
            </a:r>
            <a:r>
              <a:rPr lang="de-CH" sz="1200" b="1" dirty="0">
                <a:solidFill>
                  <a:srgbClr val="E76F51"/>
                </a:solidFill>
                <a:latin typeface="Aptos"/>
                <a:ea typeface="Aptos"/>
                <a:cs typeface="Aptos"/>
              </a:rPr>
              <a:t>-count </a:t>
            </a:r>
            <a:r>
              <a:rPr lang="de-CH" sz="1200" b="1" dirty="0" err="1">
                <a:solidFill>
                  <a:srgbClr val="E76F51"/>
                </a:solidFill>
                <a:latin typeface="Aptos"/>
                <a:ea typeface="Aptos"/>
                <a:cs typeface="Aptos"/>
              </a:rPr>
              <a:t>drift</a:t>
            </a:r>
            <a:r>
              <a:rPr lang="de-CH" sz="1200" b="1" dirty="0">
                <a:solidFill>
                  <a:srgbClr val="E76F51"/>
                </a:solidFill>
                <a:latin typeface="Aptos"/>
                <a:ea typeface="Aptos"/>
                <a:cs typeface="Aptos"/>
              </a:rPr>
              <a:t>:</a:t>
            </a:r>
            <a:r>
              <a:rPr sz="1200" b="1" dirty="0">
                <a:solidFill>
                  <a:srgbClr val="E76F51"/>
                </a:solidFill>
                <a:latin typeface="Aptos"/>
                <a:ea typeface="Aptos"/>
                <a:cs typeface="Aptos"/>
              </a:rPr>
              <a:t> 8.195</a:t>
            </a:r>
          </a:p>
        </p:txBody>
      </p:sp>
      <p:sp>
        <p:nvSpPr>
          <p:cNvPr id="28" name="Rectangle 27">
            <a:extLst>
              <a:ext uri="{FF2B5EF4-FFF2-40B4-BE49-F238E27FC236}">
                <a16:creationId xmlns:a16="http://schemas.microsoft.com/office/drawing/2014/main" id="{38BE570C-1AD6-4954-9C0B-E03F8477FBE9}"/>
              </a:ext>
            </a:extLst>
          </p:cNvPr>
          <p:cNvSpPr>
            <a:spLocks noGrp="1"/>
          </p:cNvSpPr>
          <p:nvPr/>
        </p:nvSpPr>
        <p:spPr>
          <a:xfrm>
            <a:off x="7734300" y="3696151"/>
            <a:ext cx="325755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30" b="0">
                <a:solidFill>
                  <a:srgbClr val="5C686B"/>
                </a:solidFill>
                <a:latin typeface="Aptos"/>
                <a:ea typeface="Aptos"/>
                <a:cs typeface="Aptos"/>
              </a:defRPr>
            </a:pPr>
            <a:r>
              <a:rPr lang="en-CH" sz="800" dirty="0"/>
              <a:t>Raw generations often returned too many or too few lines.</a:t>
            </a:r>
            <a:endParaRPr sz="900" b="0" dirty="0">
              <a:solidFill>
                <a:srgbClr val="5C686B"/>
              </a:solidFill>
              <a:latin typeface="Aptos"/>
              <a:ea typeface="Aptos"/>
              <a:cs typeface="Aptos"/>
            </a:endParaRPr>
          </a:p>
        </p:txBody>
      </p:sp>
      <p:sp>
        <p:nvSpPr>
          <p:cNvPr id="29" name="Rounded Rectangle 28">
            <a:extLst>
              <a:ext uri="{FF2B5EF4-FFF2-40B4-BE49-F238E27FC236}">
                <a16:creationId xmlns:a16="http://schemas.microsoft.com/office/drawing/2014/main" id="{3097B099-00FD-4D35-8C69-3DE8E8F7B689}"/>
              </a:ext>
            </a:extLst>
          </p:cNvPr>
          <p:cNvSpPr>
            <a:spLocks noGrp="1"/>
          </p:cNvSpPr>
          <p:nvPr/>
        </p:nvSpPr>
        <p:spPr>
          <a:xfrm>
            <a:off x="7620000" y="4286701"/>
            <a:ext cx="3448050" cy="685800"/>
          </a:xfrm>
          <a:prstGeom prst="roundRect">
            <a:avLst>
              <a:gd name="adj" fmla="val 8333"/>
            </a:avLst>
          </a:prstGeom>
          <a:solidFill>
            <a:srgbClr val="DDEDE9"/>
          </a:solidFill>
          <a:ln w="9525">
            <a:solidFill>
              <a:srgbClr val="2A9D8F"/>
            </a:solidFill>
            <a:prstDash val="solid"/>
          </a:ln>
        </p:spPr>
        <p:txBody>
          <a:bodyPr/>
          <a:lstStyle/>
          <a:p>
            <a:endParaRPr/>
          </a:p>
        </p:txBody>
      </p:sp>
      <p:sp>
        <p:nvSpPr>
          <p:cNvPr id="30" name="Rectangle 29">
            <a:extLst>
              <a:ext uri="{FF2B5EF4-FFF2-40B4-BE49-F238E27FC236}">
                <a16:creationId xmlns:a16="http://schemas.microsoft.com/office/drawing/2014/main" id="{38CD63A7-5625-4FF6-87E9-A33388D308FE}"/>
              </a:ext>
            </a:extLst>
          </p:cNvPr>
          <p:cNvSpPr>
            <a:spLocks noGrp="1"/>
          </p:cNvSpPr>
          <p:nvPr/>
        </p:nvSpPr>
        <p:spPr>
          <a:xfrm>
            <a:off x="7734300" y="4420051"/>
            <a:ext cx="325755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defRPr sz="1125" b="1">
                <a:solidFill>
                  <a:srgbClr val="264653"/>
                </a:solidFill>
                <a:latin typeface="Aptos"/>
                <a:ea typeface="Aptos"/>
                <a:cs typeface="Aptos"/>
              </a:defRPr>
            </a:pPr>
            <a:r>
              <a:rPr lang="en-GB" sz="1200" b="1" dirty="0">
                <a:solidFill>
                  <a:srgbClr val="264653"/>
                </a:solidFill>
                <a:latin typeface="Aptos"/>
                <a:ea typeface="Aptos"/>
                <a:cs typeface="Aptos"/>
              </a:rPr>
              <a:t>M4-M5 Average line-count drift: </a:t>
            </a:r>
            <a:r>
              <a:rPr sz="1200" b="1" dirty="0">
                <a:solidFill>
                  <a:srgbClr val="264653"/>
                </a:solidFill>
                <a:latin typeface="Aptos"/>
                <a:ea typeface="Aptos"/>
                <a:cs typeface="Aptos"/>
              </a:rPr>
              <a:t>0.059</a:t>
            </a:r>
          </a:p>
        </p:txBody>
      </p:sp>
      <p:sp>
        <p:nvSpPr>
          <p:cNvPr id="31" name="Rectangle 30">
            <a:extLst>
              <a:ext uri="{FF2B5EF4-FFF2-40B4-BE49-F238E27FC236}">
                <a16:creationId xmlns:a16="http://schemas.microsoft.com/office/drawing/2014/main" id="{6781780A-FD77-4656-B997-BC375329B188}"/>
              </a:ext>
            </a:extLst>
          </p:cNvPr>
          <p:cNvSpPr>
            <a:spLocks noGrp="1"/>
          </p:cNvSpPr>
          <p:nvPr/>
        </p:nvSpPr>
        <p:spPr>
          <a:xfrm>
            <a:off x="7734300" y="4724851"/>
            <a:ext cx="325755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30" b="0">
                <a:solidFill>
                  <a:srgbClr val="5C686B"/>
                </a:solidFill>
                <a:latin typeface="Aptos"/>
                <a:ea typeface="Aptos"/>
                <a:cs typeface="Aptos"/>
              </a:defRPr>
            </a:pPr>
            <a:r>
              <a:rPr lang="en-GB" sz="800" b="0" dirty="0">
                <a:solidFill>
                  <a:srgbClr val="5C686B"/>
                </a:solidFill>
                <a:latin typeface="Aptos"/>
                <a:ea typeface="Aptos"/>
                <a:cs typeface="Aptos"/>
              </a:rPr>
              <a:t>Structured validation/projection almost eliminates line-count drift.</a:t>
            </a:r>
          </a:p>
        </p:txBody>
      </p:sp>
      <p:sp>
        <p:nvSpPr>
          <p:cNvPr id="32" name="Rounded Rectangle 31">
            <a:extLst>
              <a:ext uri="{FF2B5EF4-FFF2-40B4-BE49-F238E27FC236}">
                <a16:creationId xmlns:a16="http://schemas.microsoft.com/office/drawing/2014/main" id="{D915098B-66DF-447C-87A9-77DF1619EB58}"/>
              </a:ext>
            </a:extLst>
          </p:cNvPr>
          <p:cNvSpPr>
            <a:spLocks noGrp="1"/>
          </p:cNvSpPr>
          <p:nvPr/>
        </p:nvSpPr>
        <p:spPr>
          <a:xfrm>
            <a:off x="3400425" y="5695950"/>
            <a:ext cx="5553524" cy="438150"/>
          </a:xfrm>
          <a:prstGeom prst="roundRect">
            <a:avLst>
              <a:gd name="adj" fmla="val 13043"/>
            </a:avLst>
          </a:prstGeom>
          <a:solidFill>
            <a:srgbClr val="FFF7EF"/>
          </a:solidFill>
          <a:ln w="9525">
            <a:solidFill>
              <a:srgbClr val="E76F51"/>
            </a:solidFill>
            <a:prstDash val="solid"/>
          </a:ln>
        </p:spPr>
        <p:txBody>
          <a:bodyPr/>
          <a:lstStyle/>
          <a:p>
            <a:endParaRPr/>
          </a:p>
        </p:txBody>
      </p:sp>
      <p:sp>
        <p:nvSpPr>
          <p:cNvPr id="33" name="Rectangle 32">
            <a:extLst>
              <a:ext uri="{FF2B5EF4-FFF2-40B4-BE49-F238E27FC236}">
                <a16:creationId xmlns:a16="http://schemas.microsoft.com/office/drawing/2014/main" id="{25D5E0A8-E7AF-4311-B7C6-EC89CCEC1BD0}"/>
              </a:ext>
            </a:extLst>
          </p:cNvPr>
          <p:cNvSpPr>
            <a:spLocks noGrp="1"/>
          </p:cNvSpPr>
          <p:nvPr/>
        </p:nvSpPr>
        <p:spPr>
          <a:xfrm>
            <a:off x="1733550" y="5829300"/>
            <a:ext cx="872490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15" b="0">
                <a:solidFill>
                  <a:srgbClr val="E76F51"/>
                </a:solidFill>
                <a:latin typeface="Aptos"/>
                <a:ea typeface="Aptos"/>
                <a:cs typeface="Aptos"/>
              </a:defRPr>
            </a:pPr>
            <a:r>
              <a:rPr sz="1200" b="0">
                <a:solidFill>
                  <a:srgbClr val="F06449"/>
                </a:solidFill>
                <a:latin typeface="Aptos"/>
                <a:ea typeface="Aptos"/>
                <a:cs typeface="Aptos"/>
              </a:rPr>
              <a:t>Known-count staging: M4/M5 validate against stored line counts.</a:t>
            </a:r>
          </a:p>
        </p:txBody>
      </p:sp>
      <p:sp>
        <p:nvSpPr>
          <p:cNvPr id="35" name="workflow-step-1">
            <a:extLst>
              <a:ext uri="{FF2B5EF4-FFF2-40B4-BE49-F238E27FC236}">
                <a16:creationId xmlns:a16="http://schemas.microsoft.com/office/drawing/2014/main" id="{828094E5-4951-48B6-A025-DE4C7D67CB7D}"/>
              </a:ext>
            </a:extLst>
          </p:cNvPr>
          <p:cNvSpPr>
            <a:spLocks noGrp="1"/>
          </p:cNvSpPr>
          <p:nvPr/>
        </p:nvSpPr>
        <p:spPr>
          <a:xfrm>
            <a:off x="686248" y="685800"/>
            <a:ext cx="1200150" cy="495301"/>
          </a:xfrm>
          <a:prstGeom prst="roundRect">
            <a:avLst>
              <a:gd name="adj" fmla="val 33333"/>
            </a:avLst>
          </a:prstGeom>
          <a:solidFill>
            <a:srgbClr val="FFFDF7"/>
          </a:solidFill>
          <a:ln w="9525">
            <a:solidFill>
              <a:srgbClr val="C6D2CE"/>
            </a:solidFill>
          </a:ln>
        </p:spPr>
        <p:txBody>
          <a:bodyPr lIns="57150" tIns="28575" rIns="57150" bIns="28575" anchor="ctr"/>
          <a:lstStyle/>
          <a:p>
            <a:pPr algn="ctr">
              <a:buNone/>
              <a:defRPr sz="840" b="1">
                <a:solidFill>
                  <a:srgbClr val="264653"/>
                </a:solidFill>
              </a:defRPr>
            </a:pPr>
            <a:r>
              <a:rPr sz="1200" b="1">
                <a:solidFill>
                  <a:srgbClr val="264653"/>
                </a:solidFill>
                <a:latin typeface="Aptos"/>
                <a:ea typeface="Aptos"/>
                <a:cs typeface="Aptos"/>
              </a:rPr>
              <a:t>Strict JSON</a:t>
            </a:r>
          </a:p>
        </p:txBody>
      </p:sp>
      <p:sp>
        <p:nvSpPr>
          <p:cNvPr id="36" name="workflow-arrow-1">
            <a:extLst>
              <a:ext uri="{FF2B5EF4-FFF2-40B4-BE49-F238E27FC236}">
                <a16:creationId xmlns:a16="http://schemas.microsoft.com/office/drawing/2014/main" id="{7E933000-5E38-4662-A691-D93E4D703A8A}"/>
              </a:ext>
            </a:extLst>
          </p:cNvPr>
          <p:cNvSpPr>
            <a:spLocks noGrp="1"/>
          </p:cNvSpPr>
          <p:nvPr/>
        </p:nvSpPr>
        <p:spPr>
          <a:xfrm>
            <a:off x="1924498" y="857702"/>
            <a:ext cx="228600" cy="152400"/>
          </a:xfrm>
          <a:prstGeom prst="rightArrow">
            <a:avLst/>
          </a:prstGeom>
          <a:solidFill>
            <a:srgbClr val="139E91"/>
          </a:solidFill>
          <a:ln w="0">
            <a:solidFill>
              <a:srgbClr val="139E91"/>
            </a:solidFill>
          </a:ln>
        </p:spPr>
        <p:txBody>
          <a:bodyPr/>
          <a:lstStyle/>
          <a:p>
            <a:endParaRPr/>
          </a:p>
        </p:txBody>
      </p:sp>
      <p:sp>
        <p:nvSpPr>
          <p:cNvPr id="37" name="workflow-step-2">
            <a:extLst>
              <a:ext uri="{FF2B5EF4-FFF2-40B4-BE49-F238E27FC236}">
                <a16:creationId xmlns:a16="http://schemas.microsoft.com/office/drawing/2014/main" id="{E5B4C315-01E9-4C0D-9DE2-A0F5D2E2A561}"/>
              </a:ext>
            </a:extLst>
          </p:cNvPr>
          <p:cNvSpPr>
            <a:spLocks noGrp="1"/>
          </p:cNvSpPr>
          <p:nvPr/>
        </p:nvSpPr>
        <p:spPr>
          <a:xfrm>
            <a:off x="2191198" y="685801"/>
            <a:ext cx="2152650" cy="476250"/>
          </a:xfrm>
          <a:prstGeom prst="roundRect">
            <a:avLst>
              <a:gd name="adj" fmla="val 33333"/>
            </a:avLst>
          </a:prstGeom>
          <a:solidFill>
            <a:srgbClr val="FFFDF7"/>
          </a:solidFill>
          <a:ln w="9525">
            <a:solidFill>
              <a:srgbClr val="C6D2CE"/>
            </a:solidFill>
          </a:ln>
        </p:spPr>
        <p:txBody>
          <a:bodyPr lIns="57150" tIns="28575" rIns="57150" bIns="28575" anchor="ctr"/>
          <a:lstStyle/>
          <a:p>
            <a:pPr algn="ctr">
              <a:buNone/>
              <a:defRPr sz="840" b="1">
                <a:solidFill>
                  <a:srgbClr val="264653"/>
                </a:solidFill>
              </a:defRPr>
            </a:pPr>
            <a:r>
              <a:rPr sz="1200" b="1">
                <a:solidFill>
                  <a:srgbClr val="264653"/>
                </a:solidFill>
                <a:latin typeface="Aptos"/>
                <a:ea typeface="Aptos"/>
                <a:cs typeface="Aptos"/>
              </a:rPr>
              <a:t>Repair If Parse/Count Fails</a:t>
            </a:r>
          </a:p>
        </p:txBody>
      </p:sp>
      <p:sp>
        <p:nvSpPr>
          <p:cNvPr id="38" name="workflow-arrow-2">
            <a:extLst>
              <a:ext uri="{FF2B5EF4-FFF2-40B4-BE49-F238E27FC236}">
                <a16:creationId xmlns:a16="http://schemas.microsoft.com/office/drawing/2014/main" id="{F3EB58A4-7B20-4323-8AE1-1986E09EF728}"/>
              </a:ext>
            </a:extLst>
          </p:cNvPr>
          <p:cNvSpPr>
            <a:spLocks noGrp="1"/>
          </p:cNvSpPr>
          <p:nvPr/>
        </p:nvSpPr>
        <p:spPr>
          <a:xfrm>
            <a:off x="4381948" y="852767"/>
            <a:ext cx="228600" cy="152400"/>
          </a:xfrm>
          <a:prstGeom prst="rightArrow">
            <a:avLst/>
          </a:prstGeom>
          <a:solidFill>
            <a:srgbClr val="139E91"/>
          </a:solidFill>
          <a:ln w="0">
            <a:solidFill>
              <a:srgbClr val="139E91"/>
            </a:solidFill>
          </a:ln>
        </p:spPr>
        <p:txBody>
          <a:bodyPr/>
          <a:lstStyle/>
          <a:p>
            <a:endParaRPr/>
          </a:p>
        </p:txBody>
      </p:sp>
      <p:sp>
        <p:nvSpPr>
          <p:cNvPr id="39" name="workflow-step-3">
            <a:extLst>
              <a:ext uri="{FF2B5EF4-FFF2-40B4-BE49-F238E27FC236}">
                <a16:creationId xmlns:a16="http://schemas.microsoft.com/office/drawing/2014/main" id="{8D470E60-4FC3-48FA-A854-BFA5A308FBF5}"/>
              </a:ext>
            </a:extLst>
          </p:cNvPr>
          <p:cNvSpPr>
            <a:spLocks noGrp="1"/>
          </p:cNvSpPr>
          <p:nvPr/>
        </p:nvSpPr>
        <p:spPr>
          <a:xfrm>
            <a:off x="4648648" y="685800"/>
            <a:ext cx="2286000" cy="476701"/>
          </a:xfrm>
          <a:prstGeom prst="roundRect">
            <a:avLst>
              <a:gd name="adj" fmla="val 33333"/>
            </a:avLst>
          </a:prstGeom>
          <a:solidFill>
            <a:srgbClr val="FFFDF7"/>
          </a:solidFill>
          <a:ln w="9525">
            <a:solidFill>
              <a:srgbClr val="C6D2CE"/>
            </a:solidFill>
          </a:ln>
        </p:spPr>
        <p:txBody>
          <a:bodyPr lIns="57150" tIns="28575" rIns="57150" bIns="28575" anchor="ctr"/>
          <a:lstStyle/>
          <a:p>
            <a:pPr algn="ctr">
              <a:buNone/>
              <a:defRPr sz="840" b="1">
                <a:solidFill>
                  <a:srgbClr val="264653"/>
                </a:solidFill>
              </a:defRPr>
            </a:pPr>
            <a:r>
              <a:rPr sz="1200" b="1">
                <a:solidFill>
                  <a:srgbClr val="264653"/>
                </a:solidFill>
                <a:latin typeface="Aptos"/>
                <a:ea typeface="Aptos"/>
                <a:cs typeface="Aptos"/>
              </a:rPr>
              <a:t>Recover Or Fallback If No Plan</a:t>
            </a:r>
          </a:p>
        </p:txBody>
      </p:sp>
      <p:sp>
        <p:nvSpPr>
          <p:cNvPr id="40" name="workflow-arrow-3">
            <a:extLst>
              <a:ext uri="{FF2B5EF4-FFF2-40B4-BE49-F238E27FC236}">
                <a16:creationId xmlns:a16="http://schemas.microsoft.com/office/drawing/2014/main" id="{B77118E3-7BF8-401E-8CCC-7B1ECA310FB4}"/>
              </a:ext>
            </a:extLst>
          </p:cNvPr>
          <p:cNvSpPr>
            <a:spLocks noGrp="1"/>
          </p:cNvSpPr>
          <p:nvPr/>
        </p:nvSpPr>
        <p:spPr>
          <a:xfrm>
            <a:off x="6981040" y="857250"/>
            <a:ext cx="228600" cy="152400"/>
          </a:xfrm>
          <a:prstGeom prst="rightArrow">
            <a:avLst/>
          </a:prstGeom>
          <a:solidFill>
            <a:srgbClr val="F06449"/>
          </a:solidFill>
          <a:ln w="0">
            <a:solidFill>
              <a:srgbClr val="F06449"/>
            </a:solidFill>
          </a:ln>
        </p:spPr>
        <p:txBody>
          <a:bodyPr/>
          <a:lstStyle/>
          <a:p>
            <a:endParaRPr/>
          </a:p>
        </p:txBody>
      </p:sp>
      <p:sp>
        <p:nvSpPr>
          <p:cNvPr id="41" name="workflow-step-4">
            <a:extLst>
              <a:ext uri="{FF2B5EF4-FFF2-40B4-BE49-F238E27FC236}">
                <a16:creationId xmlns:a16="http://schemas.microsoft.com/office/drawing/2014/main" id="{30050FD9-E5BE-454A-A18D-EA6230DD2FFD}"/>
              </a:ext>
            </a:extLst>
          </p:cNvPr>
          <p:cNvSpPr>
            <a:spLocks noGrp="1"/>
          </p:cNvSpPr>
          <p:nvPr/>
        </p:nvSpPr>
        <p:spPr>
          <a:xfrm>
            <a:off x="7239448" y="685801"/>
            <a:ext cx="1714500" cy="476700"/>
          </a:xfrm>
          <a:prstGeom prst="roundRect">
            <a:avLst>
              <a:gd name="adj" fmla="val 33333"/>
            </a:avLst>
          </a:prstGeom>
          <a:solidFill>
            <a:srgbClr val="FFF5F0"/>
          </a:solidFill>
          <a:ln w="9525">
            <a:solidFill>
              <a:srgbClr val="F06449"/>
            </a:solidFill>
          </a:ln>
        </p:spPr>
        <p:txBody>
          <a:bodyPr lIns="57150" tIns="28575" rIns="57150" bIns="28575" anchor="ctr"/>
          <a:lstStyle/>
          <a:p>
            <a:pPr algn="ctr">
              <a:buNone/>
              <a:defRPr sz="840" b="1">
                <a:solidFill>
                  <a:srgbClr val="264653"/>
                </a:solidFill>
              </a:defRPr>
            </a:pPr>
            <a:r>
              <a:rPr sz="1200" b="1">
                <a:solidFill>
                  <a:srgbClr val="264653"/>
                </a:solidFill>
                <a:latin typeface="Aptos"/>
                <a:ea typeface="Aptos"/>
                <a:cs typeface="Aptos"/>
              </a:rPr>
              <a:t>Project Boundaries</a:t>
            </a:r>
          </a:p>
        </p:txBody>
      </p:sp>
      <p:sp>
        <p:nvSpPr>
          <p:cNvPr id="42" name="workflow-arrow-4">
            <a:extLst>
              <a:ext uri="{FF2B5EF4-FFF2-40B4-BE49-F238E27FC236}">
                <a16:creationId xmlns:a16="http://schemas.microsoft.com/office/drawing/2014/main" id="{28F18638-D937-45E4-A955-9A5F05222F2F}"/>
              </a:ext>
            </a:extLst>
          </p:cNvPr>
          <p:cNvSpPr>
            <a:spLocks noGrp="1"/>
          </p:cNvSpPr>
          <p:nvPr/>
        </p:nvSpPr>
        <p:spPr>
          <a:xfrm>
            <a:off x="8992048" y="857250"/>
            <a:ext cx="228600" cy="152400"/>
          </a:xfrm>
          <a:prstGeom prst="rightArrow">
            <a:avLst/>
          </a:prstGeom>
          <a:solidFill>
            <a:srgbClr val="139E91"/>
          </a:solidFill>
          <a:ln w="0">
            <a:solidFill>
              <a:srgbClr val="139E91"/>
            </a:solidFill>
          </a:ln>
        </p:spPr>
        <p:txBody>
          <a:bodyPr/>
          <a:lstStyle/>
          <a:p>
            <a:endParaRPr/>
          </a:p>
        </p:txBody>
      </p:sp>
      <p:sp>
        <p:nvSpPr>
          <p:cNvPr id="43" name="workflow-step-5">
            <a:extLst>
              <a:ext uri="{FF2B5EF4-FFF2-40B4-BE49-F238E27FC236}">
                <a16:creationId xmlns:a16="http://schemas.microsoft.com/office/drawing/2014/main" id="{4D825DA9-3437-494A-95A7-CA5C8CE6C2E9}"/>
              </a:ext>
            </a:extLst>
          </p:cNvPr>
          <p:cNvSpPr>
            <a:spLocks noGrp="1"/>
          </p:cNvSpPr>
          <p:nvPr/>
        </p:nvSpPr>
        <p:spPr>
          <a:xfrm>
            <a:off x="9258748" y="685801"/>
            <a:ext cx="2095052" cy="476250"/>
          </a:xfrm>
          <a:prstGeom prst="roundRect">
            <a:avLst>
              <a:gd name="adj" fmla="val 33333"/>
            </a:avLst>
          </a:prstGeom>
          <a:solidFill>
            <a:srgbClr val="DDEFEA"/>
          </a:solidFill>
          <a:ln w="9525">
            <a:solidFill>
              <a:srgbClr val="2A9D8F"/>
            </a:solidFill>
          </a:ln>
        </p:spPr>
        <p:txBody>
          <a:bodyPr lIns="57150" tIns="28575" rIns="57150" bIns="28575" anchor="ctr"/>
          <a:lstStyle/>
          <a:p>
            <a:pPr algn="ctr">
              <a:buNone/>
              <a:defRPr sz="840" b="1">
                <a:solidFill>
                  <a:srgbClr val="264653"/>
                </a:solidFill>
              </a:defRPr>
            </a:pPr>
            <a:r>
              <a:rPr sz="1200" b="1">
                <a:solidFill>
                  <a:srgbClr val="264653"/>
                </a:solidFill>
                <a:latin typeface="Aptos"/>
                <a:ea typeface="Aptos"/>
                <a:cs typeface="Aptos"/>
              </a:rPr>
              <a:t>Score Re-Sliced Fixed Text</a:t>
            </a:r>
          </a:p>
        </p:txBody>
      </p:sp>
    </p:spTree>
    <p:extLst>
      <p:ext uri="{BB962C8B-B14F-4D97-AF65-F5344CB8AC3E}">
        <p14:creationId xmlns:p14="http://schemas.microsoft.com/office/powerpoint/2010/main" val="901677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7DC25E9F-B481-4B4A-9563-BD4DC461C8B3}"/>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C772DA74-D3C3-494B-90C6-574BB0452E7B}"/>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1BDEEBC2-60C1-4EEC-9E35-99156785F7F8}"/>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RQ3</a:t>
            </a:r>
          </a:p>
        </p:txBody>
      </p:sp>
      <p:sp>
        <p:nvSpPr>
          <p:cNvPr id="4" name="Rectangle 3">
            <a:extLst>
              <a:ext uri="{FF2B5EF4-FFF2-40B4-BE49-F238E27FC236}">
                <a16:creationId xmlns:a16="http://schemas.microsoft.com/office/drawing/2014/main" id="{68B2D823-12DF-4E4A-8AC8-A9A7E1B0551D}"/>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Comparison</a:t>
            </a:r>
          </a:p>
        </p:txBody>
      </p:sp>
      <p:sp>
        <p:nvSpPr>
          <p:cNvPr id="5" name="Rectangle 4">
            <a:extLst>
              <a:ext uri="{FF2B5EF4-FFF2-40B4-BE49-F238E27FC236}">
                <a16:creationId xmlns:a16="http://schemas.microsoft.com/office/drawing/2014/main" id="{05637E92-F82A-4395-BCD8-07401293FBF1}"/>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FC906B85-35C3-49CC-B36A-7DE355E861E0}"/>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11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9EDBDCCE-0B39-491B-AFD4-E0976CEED0EF}"/>
              </a:ext>
            </a:extLst>
          </p:cNvPr>
          <p:cNvSpPr>
            <a:spLocks noGrp="1"/>
          </p:cNvSpPr>
          <p:nvPr/>
        </p:nvSpPr>
        <p:spPr>
          <a:xfrm>
            <a:off x="533400" y="933450"/>
            <a:ext cx="11125200" cy="4400550"/>
          </a:xfrm>
          <a:prstGeom prst="roundRect">
            <a:avLst>
              <a:gd name="adj" fmla="val 1299"/>
            </a:avLst>
          </a:prstGeom>
          <a:solidFill>
            <a:srgbClr val="FFFDF7"/>
          </a:solidFill>
          <a:ln w="9525">
            <a:solidFill>
              <a:srgbClr val="CFC7B8"/>
            </a:solidFill>
            <a:prstDash val="solid"/>
          </a:ln>
        </p:spPr>
        <p:txBody>
          <a:bodyPr/>
          <a:lstStyle/>
          <a:p>
            <a:endParaRPr/>
          </a:p>
        </p:txBody>
      </p:sp>
      <p:sp>
        <p:nvSpPr>
          <p:cNvPr id="8" name="Rectangle 7">
            <a:extLst>
              <a:ext uri="{FF2B5EF4-FFF2-40B4-BE49-F238E27FC236}">
                <a16:creationId xmlns:a16="http://schemas.microsoft.com/office/drawing/2014/main" id="{3D67E059-EE3A-41FD-B19E-8AFE68FFE539}"/>
              </a:ext>
            </a:extLst>
          </p:cNvPr>
          <p:cNvSpPr>
            <a:spLocks noGrp="1"/>
          </p:cNvSpPr>
          <p:nvPr/>
        </p:nvSpPr>
        <p:spPr>
          <a:xfrm>
            <a:off x="2781300" y="1104900"/>
            <a:ext cx="762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70" b="1">
                <a:solidFill>
                  <a:srgbClr val="2A9D8F"/>
                </a:solidFill>
                <a:latin typeface="Aptos"/>
                <a:ea typeface="Aptos"/>
                <a:cs typeface="Aptos"/>
              </a:defRPr>
            </a:pPr>
            <a:r>
              <a:rPr sz="1000" b="1">
                <a:solidFill>
                  <a:srgbClr val="2A9D8F"/>
                </a:solidFill>
                <a:latin typeface="Aptos"/>
                <a:ea typeface="Aptos"/>
                <a:cs typeface="Aptos"/>
              </a:rPr>
              <a:t>M5</a:t>
            </a:r>
          </a:p>
        </p:txBody>
      </p:sp>
      <p:sp>
        <p:nvSpPr>
          <p:cNvPr id="9" name="Rectangle 8">
            <a:extLst>
              <a:ext uri="{FF2B5EF4-FFF2-40B4-BE49-F238E27FC236}">
                <a16:creationId xmlns:a16="http://schemas.microsoft.com/office/drawing/2014/main" id="{1EFFC117-BD4F-4D2B-8CE6-17565F4494E4}"/>
              </a:ext>
            </a:extLst>
          </p:cNvPr>
          <p:cNvSpPr>
            <a:spLocks noGrp="1"/>
          </p:cNvSpPr>
          <p:nvPr/>
        </p:nvSpPr>
        <p:spPr>
          <a:xfrm>
            <a:off x="2781300" y="1314450"/>
            <a:ext cx="17145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70" b="1">
                <a:solidFill>
                  <a:srgbClr val="D4A373"/>
                </a:solidFill>
                <a:latin typeface="Aptos"/>
                <a:ea typeface="Aptos"/>
                <a:cs typeface="Aptos"/>
              </a:defRPr>
            </a:pPr>
            <a:r>
              <a:rPr sz="1000" b="1">
                <a:solidFill>
                  <a:srgbClr val="D4A373"/>
                </a:solidFill>
                <a:latin typeface="Aptos"/>
                <a:ea typeface="Aptos"/>
                <a:cs typeface="Aptos"/>
              </a:rPr>
              <a:t>NNTP</a:t>
            </a:r>
          </a:p>
        </p:txBody>
      </p:sp>
      <p:sp>
        <p:nvSpPr>
          <p:cNvPr id="10" name="Rectangle 9">
            <a:extLst>
              <a:ext uri="{FF2B5EF4-FFF2-40B4-BE49-F238E27FC236}">
                <a16:creationId xmlns:a16="http://schemas.microsoft.com/office/drawing/2014/main" id="{583E8FD3-7981-46C0-A1A9-C1AB2B768C5F}"/>
              </a:ext>
            </a:extLst>
          </p:cNvPr>
          <p:cNvSpPr>
            <a:spLocks noGrp="1"/>
          </p:cNvSpPr>
          <p:nvPr/>
        </p:nvSpPr>
        <p:spPr>
          <a:xfrm>
            <a:off x="723900" y="1657350"/>
            <a:ext cx="194310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85" b="1">
                <a:solidFill>
                  <a:srgbClr val="264653"/>
                </a:solidFill>
                <a:latin typeface="Aptos Display"/>
                <a:ea typeface="Aptos Display"/>
                <a:cs typeface="Aptos Display"/>
              </a:defRPr>
            </a:pPr>
            <a:r>
              <a:rPr sz="1400" b="1">
                <a:solidFill>
                  <a:srgbClr val="264653"/>
                </a:solidFill>
                <a:latin typeface="Aptos Display"/>
                <a:ea typeface="Aptos Display"/>
                <a:cs typeface="Aptos Display"/>
              </a:rPr>
              <a:t>Children</a:t>
            </a:r>
          </a:p>
        </p:txBody>
      </p:sp>
      <p:sp>
        <p:nvSpPr>
          <p:cNvPr id="11" name="Rectangle 10">
            <a:extLst>
              <a:ext uri="{FF2B5EF4-FFF2-40B4-BE49-F238E27FC236}">
                <a16:creationId xmlns:a16="http://schemas.microsoft.com/office/drawing/2014/main" id="{4EFC5D65-298C-4165-9DD4-4E1273F7C0B8}"/>
              </a:ext>
            </a:extLst>
          </p:cNvPr>
          <p:cNvSpPr>
            <a:spLocks noGrp="1"/>
          </p:cNvSpPr>
          <p:nvPr/>
        </p:nvSpPr>
        <p:spPr>
          <a:xfrm>
            <a:off x="723900" y="1943100"/>
            <a:ext cx="200025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80" b="0">
                <a:solidFill>
                  <a:srgbClr val="5C686B"/>
                </a:solidFill>
                <a:latin typeface="Aptos"/>
                <a:ea typeface="Aptos"/>
                <a:cs typeface="Aptos"/>
              </a:defRPr>
            </a:pPr>
            <a:r>
              <a:rPr sz="900" b="0">
                <a:solidFill>
                  <a:srgbClr val="5C686B"/>
                </a:solidFill>
                <a:latin typeface="Aptos"/>
                <a:ea typeface="Aptos"/>
                <a:cs typeface="Aptos"/>
              </a:rPr>
              <a:t>paired counts 4 / 2 / 57</a:t>
            </a:r>
          </a:p>
        </p:txBody>
      </p:sp>
      <p:sp>
        <p:nvSpPr>
          <p:cNvPr id="12" name="Rectangle 11">
            <a:extLst>
              <a:ext uri="{FF2B5EF4-FFF2-40B4-BE49-F238E27FC236}">
                <a16:creationId xmlns:a16="http://schemas.microsoft.com/office/drawing/2014/main" id="{B2D38ED4-640D-4A88-9F51-34B653747F88}"/>
              </a:ext>
            </a:extLst>
          </p:cNvPr>
          <p:cNvSpPr>
            <a:spLocks noGrp="1"/>
          </p:cNvSpPr>
          <p:nvPr/>
        </p:nvSpPr>
        <p:spPr>
          <a:xfrm>
            <a:off x="9715500" y="1800225"/>
            <a:ext cx="102870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defRPr sz="1020" b="1">
                <a:solidFill>
                  <a:srgbClr val="2A9D8F"/>
                </a:solidFill>
                <a:latin typeface="Aptos"/>
                <a:ea typeface="Aptos"/>
                <a:cs typeface="Aptos"/>
              </a:defRPr>
            </a:pPr>
            <a:r>
              <a:rPr sz="1100" b="1">
                <a:solidFill>
                  <a:srgbClr val="2A9D8F"/>
                </a:solidFill>
                <a:latin typeface="Aptos"/>
                <a:ea typeface="Aptos"/>
                <a:cs typeface="Aptos"/>
              </a:rPr>
              <a:t>Δ +0.009</a:t>
            </a:r>
          </a:p>
        </p:txBody>
      </p:sp>
      <p:sp>
        <p:nvSpPr>
          <p:cNvPr id="13" name="Rounded Rectangle 12">
            <a:extLst>
              <a:ext uri="{FF2B5EF4-FFF2-40B4-BE49-F238E27FC236}">
                <a16:creationId xmlns:a16="http://schemas.microsoft.com/office/drawing/2014/main" id="{E1C7A0F3-EB9A-446C-B0C9-63C06BA4E885}"/>
              </a:ext>
            </a:extLst>
          </p:cNvPr>
          <p:cNvSpPr>
            <a:spLocks noGrp="1"/>
          </p:cNvSpPr>
          <p:nvPr/>
        </p:nvSpPr>
        <p:spPr>
          <a:xfrm>
            <a:off x="2781300" y="16859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14" name="Rounded Rectangle 13">
            <a:extLst>
              <a:ext uri="{FF2B5EF4-FFF2-40B4-BE49-F238E27FC236}">
                <a16:creationId xmlns:a16="http://schemas.microsoft.com/office/drawing/2014/main" id="{42582420-AFA7-47F4-9A54-C4890B3A58C9}"/>
              </a:ext>
            </a:extLst>
          </p:cNvPr>
          <p:cNvSpPr>
            <a:spLocks noGrp="1"/>
          </p:cNvSpPr>
          <p:nvPr/>
        </p:nvSpPr>
        <p:spPr>
          <a:xfrm>
            <a:off x="2781300" y="1685925"/>
            <a:ext cx="3792474" cy="133350"/>
          </a:xfrm>
          <a:prstGeom prst="roundRect">
            <a:avLst>
              <a:gd name="adj" fmla="val 21429"/>
            </a:avLst>
          </a:prstGeom>
          <a:solidFill>
            <a:srgbClr val="2A9D8F"/>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0C992E82-1870-49BE-984A-AC1FB98E5EE3}"/>
              </a:ext>
            </a:extLst>
          </p:cNvPr>
          <p:cNvSpPr>
            <a:spLocks noGrp="1"/>
          </p:cNvSpPr>
          <p:nvPr/>
        </p:nvSpPr>
        <p:spPr>
          <a:xfrm>
            <a:off x="6953250" y="1638300"/>
            <a:ext cx="10668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M5 0.948</a:t>
            </a:r>
          </a:p>
        </p:txBody>
      </p:sp>
      <p:sp>
        <p:nvSpPr>
          <p:cNvPr id="16" name="Rounded Rectangle 15">
            <a:extLst>
              <a:ext uri="{FF2B5EF4-FFF2-40B4-BE49-F238E27FC236}">
                <a16:creationId xmlns:a16="http://schemas.microsoft.com/office/drawing/2014/main" id="{1CB53DE1-BC3D-458A-9B74-8C0FB30F5537}"/>
              </a:ext>
            </a:extLst>
          </p:cNvPr>
          <p:cNvSpPr>
            <a:spLocks noGrp="1"/>
          </p:cNvSpPr>
          <p:nvPr/>
        </p:nvSpPr>
        <p:spPr>
          <a:xfrm>
            <a:off x="2781300" y="19526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17" name="Rounded Rectangle 16">
            <a:extLst>
              <a:ext uri="{FF2B5EF4-FFF2-40B4-BE49-F238E27FC236}">
                <a16:creationId xmlns:a16="http://schemas.microsoft.com/office/drawing/2014/main" id="{868E6833-B2EF-40A3-87DD-3D3EB3B102EA}"/>
              </a:ext>
            </a:extLst>
          </p:cNvPr>
          <p:cNvSpPr>
            <a:spLocks noGrp="1"/>
          </p:cNvSpPr>
          <p:nvPr/>
        </p:nvSpPr>
        <p:spPr>
          <a:xfrm>
            <a:off x="2781300" y="1952625"/>
            <a:ext cx="3756470" cy="133350"/>
          </a:xfrm>
          <a:prstGeom prst="roundRect">
            <a:avLst>
              <a:gd name="adj" fmla="val 21429"/>
            </a:avLst>
          </a:prstGeom>
          <a:solidFill>
            <a:srgbClr val="D4A373"/>
          </a:solidFill>
          <a:ln w="0">
            <a:solidFill>
              <a:srgbClr val="000000">
                <a:alpha val="0"/>
              </a:srgbClr>
            </a:solidFill>
            <a:prstDash val="solid"/>
          </a:ln>
        </p:spPr>
        <p:txBody>
          <a:bodyPr/>
          <a:lstStyle/>
          <a:p>
            <a:endParaRPr/>
          </a:p>
        </p:txBody>
      </p:sp>
      <p:sp>
        <p:nvSpPr>
          <p:cNvPr id="18" name="Rectangle 17">
            <a:extLst>
              <a:ext uri="{FF2B5EF4-FFF2-40B4-BE49-F238E27FC236}">
                <a16:creationId xmlns:a16="http://schemas.microsoft.com/office/drawing/2014/main" id="{22E9E9FB-72CB-4E89-B6D6-1A9AC4027522}"/>
              </a:ext>
            </a:extLst>
          </p:cNvPr>
          <p:cNvSpPr>
            <a:spLocks noGrp="1"/>
          </p:cNvSpPr>
          <p:nvPr/>
        </p:nvSpPr>
        <p:spPr>
          <a:xfrm>
            <a:off x="6953250" y="1905000"/>
            <a:ext cx="1238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NNTP 0.939</a:t>
            </a:r>
          </a:p>
        </p:txBody>
      </p:sp>
      <p:sp>
        <p:nvSpPr>
          <p:cNvPr id="19" name="Rectangle 18">
            <a:extLst>
              <a:ext uri="{FF2B5EF4-FFF2-40B4-BE49-F238E27FC236}">
                <a16:creationId xmlns:a16="http://schemas.microsoft.com/office/drawing/2014/main" id="{2E1A5BC5-B4BB-4FD6-BBC9-EE6986AEFB56}"/>
              </a:ext>
            </a:extLst>
          </p:cNvPr>
          <p:cNvSpPr>
            <a:spLocks noGrp="1"/>
          </p:cNvSpPr>
          <p:nvPr/>
        </p:nvSpPr>
        <p:spPr>
          <a:xfrm>
            <a:off x="723900" y="2381250"/>
            <a:ext cx="194310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85" b="1">
                <a:solidFill>
                  <a:srgbClr val="264653"/>
                </a:solidFill>
                <a:latin typeface="Aptos Display"/>
                <a:ea typeface="Aptos Display"/>
                <a:cs typeface="Aptos Display"/>
              </a:defRPr>
            </a:pPr>
            <a:r>
              <a:rPr sz="1400" b="1">
                <a:solidFill>
                  <a:srgbClr val="264653"/>
                </a:solidFill>
                <a:latin typeface="Aptos Display"/>
                <a:ea typeface="Aptos Display"/>
                <a:cs typeface="Aptos Display"/>
              </a:rPr>
              <a:t>IAM</a:t>
            </a:r>
          </a:p>
        </p:txBody>
      </p:sp>
      <p:sp>
        <p:nvSpPr>
          <p:cNvPr id="20" name="Rectangle 19">
            <a:extLst>
              <a:ext uri="{FF2B5EF4-FFF2-40B4-BE49-F238E27FC236}">
                <a16:creationId xmlns:a16="http://schemas.microsoft.com/office/drawing/2014/main" id="{5132BE6A-6CEC-4E81-AB8A-09D8C00F9307}"/>
              </a:ext>
            </a:extLst>
          </p:cNvPr>
          <p:cNvSpPr>
            <a:spLocks noGrp="1"/>
          </p:cNvSpPr>
          <p:nvPr/>
        </p:nvSpPr>
        <p:spPr>
          <a:xfrm>
            <a:off x="723900" y="2667000"/>
            <a:ext cx="200025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80" b="0">
                <a:solidFill>
                  <a:srgbClr val="5C686B"/>
                </a:solidFill>
                <a:latin typeface="Aptos"/>
                <a:ea typeface="Aptos"/>
                <a:cs typeface="Aptos"/>
              </a:defRPr>
            </a:pPr>
            <a:r>
              <a:rPr sz="900" b="0">
                <a:solidFill>
                  <a:srgbClr val="5C686B"/>
                </a:solidFill>
                <a:latin typeface="Aptos"/>
                <a:ea typeface="Aptos"/>
                <a:cs typeface="Aptos"/>
              </a:rPr>
              <a:t>paired counts 0 / 0 / 20</a:t>
            </a:r>
          </a:p>
        </p:txBody>
      </p:sp>
      <p:sp>
        <p:nvSpPr>
          <p:cNvPr id="21" name="Rectangle 20">
            <a:extLst>
              <a:ext uri="{FF2B5EF4-FFF2-40B4-BE49-F238E27FC236}">
                <a16:creationId xmlns:a16="http://schemas.microsoft.com/office/drawing/2014/main" id="{D4D325A7-66E2-4D60-9BFC-2BBDA2F6E568}"/>
              </a:ext>
            </a:extLst>
          </p:cNvPr>
          <p:cNvSpPr>
            <a:spLocks noGrp="1"/>
          </p:cNvSpPr>
          <p:nvPr/>
        </p:nvSpPr>
        <p:spPr>
          <a:xfrm>
            <a:off x="9715500" y="2524125"/>
            <a:ext cx="102870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defRPr sz="1020" b="1">
                <a:solidFill>
                  <a:srgbClr val="2A9D8F"/>
                </a:solidFill>
                <a:latin typeface="Aptos"/>
                <a:ea typeface="Aptos"/>
                <a:cs typeface="Aptos"/>
              </a:defRPr>
            </a:pPr>
            <a:r>
              <a:rPr sz="1100" b="1">
                <a:solidFill>
                  <a:srgbClr val="2A9D8F"/>
                </a:solidFill>
                <a:latin typeface="Aptos"/>
                <a:ea typeface="Aptos"/>
                <a:cs typeface="Aptos"/>
              </a:rPr>
              <a:t>Δ 0.000</a:t>
            </a:r>
          </a:p>
        </p:txBody>
      </p:sp>
      <p:sp>
        <p:nvSpPr>
          <p:cNvPr id="22" name="Rounded Rectangle 21">
            <a:extLst>
              <a:ext uri="{FF2B5EF4-FFF2-40B4-BE49-F238E27FC236}">
                <a16:creationId xmlns:a16="http://schemas.microsoft.com/office/drawing/2014/main" id="{C607CA3C-3401-4BA3-8BDD-28232F37B5F6}"/>
              </a:ext>
            </a:extLst>
          </p:cNvPr>
          <p:cNvSpPr>
            <a:spLocks noGrp="1"/>
          </p:cNvSpPr>
          <p:nvPr/>
        </p:nvSpPr>
        <p:spPr>
          <a:xfrm>
            <a:off x="2781300" y="24098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23" name="Rounded Rectangle 22">
            <a:extLst>
              <a:ext uri="{FF2B5EF4-FFF2-40B4-BE49-F238E27FC236}">
                <a16:creationId xmlns:a16="http://schemas.microsoft.com/office/drawing/2014/main" id="{58DD07F6-B6B0-4FB2-80E9-9036D8F29BDA}"/>
              </a:ext>
            </a:extLst>
          </p:cNvPr>
          <p:cNvSpPr>
            <a:spLocks noGrp="1"/>
          </p:cNvSpPr>
          <p:nvPr/>
        </p:nvSpPr>
        <p:spPr>
          <a:xfrm>
            <a:off x="2781300" y="2409825"/>
            <a:ext cx="4000500" cy="133350"/>
          </a:xfrm>
          <a:prstGeom prst="roundRect">
            <a:avLst>
              <a:gd name="adj" fmla="val 21429"/>
            </a:avLst>
          </a:prstGeom>
          <a:solidFill>
            <a:srgbClr val="2A9D8F"/>
          </a:solidFill>
          <a:ln w="0">
            <a:solidFill>
              <a:srgbClr val="000000">
                <a:alpha val="0"/>
              </a:srgbClr>
            </a:solidFill>
            <a:prstDash val="solid"/>
          </a:ln>
        </p:spPr>
        <p:txBody>
          <a:bodyPr/>
          <a:lstStyle/>
          <a:p>
            <a:endParaRPr/>
          </a:p>
        </p:txBody>
      </p:sp>
      <p:sp>
        <p:nvSpPr>
          <p:cNvPr id="24" name="Rectangle 23">
            <a:extLst>
              <a:ext uri="{FF2B5EF4-FFF2-40B4-BE49-F238E27FC236}">
                <a16:creationId xmlns:a16="http://schemas.microsoft.com/office/drawing/2014/main" id="{23A7F12E-3762-44C3-9410-0E22A9F6BE2E}"/>
              </a:ext>
            </a:extLst>
          </p:cNvPr>
          <p:cNvSpPr>
            <a:spLocks noGrp="1"/>
          </p:cNvSpPr>
          <p:nvPr/>
        </p:nvSpPr>
        <p:spPr>
          <a:xfrm>
            <a:off x="6953250" y="2362200"/>
            <a:ext cx="10668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M5 1.000</a:t>
            </a:r>
          </a:p>
        </p:txBody>
      </p:sp>
      <p:sp>
        <p:nvSpPr>
          <p:cNvPr id="25" name="Rounded Rectangle 24">
            <a:extLst>
              <a:ext uri="{FF2B5EF4-FFF2-40B4-BE49-F238E27FC236}">
                <a16:creationId xmlns:a16="http://schemas.microsoft.com/office/drawing/2014/main" id="{B7F0855E-AC96-425C-AE55-1B322F59BABE}"/>
              </a:ext>
            </a:extLst>
          </p:cNvPr>
          <p:cNvSpPr>
            <a:spLocks noGrp="1"/>
          </p:cNvSpPr>
          <p:nvPr/>
        </p:nvSpPr>
        <p:spPr>
          <a:xfrm>
            <a:off x="2781300" y="26765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26" name="Rounded Rectangle 25">
            <a:extLst>
              <a:ext uri="{FF2B5EF4-FFF2-40B4-BE49-F238E27FC236}">
                <a16:creationId xmlns:a16="http://schemas.microsoft.com/office/drawing/2014/main" id="{591EC7A9-B474-4045-BDA7-7B79FCC23674}"/>
              </a:ext>
            </a:extLst>
          </p:cNvPr>
          <p:cNvSpPr>
            <a:spLocks noGrp="1"/>
          </p:cNvSpPr>
          <p:nvPr/>
        </p:nvSpPr>
        <p:spPr>
          <a:xfrm>
            <a:off x="2781300" y="2676525"/>
            <a:ext cx="4000500" cy="133350"/>
          </a:xfrm>
          <a:prstGeom prst="roundRect">
            <a:avLst>
              <a:gd name="adj" fmla="val 21429"/>
            </a:avLst>
          </a:prstGeom>
          <a:solidFill>
            <a:srgbClr val="D4A373"/>
          </a:solidFill>
          <a:ln w="0">
            <a:solidFill>
              <a:srgbClr val="000000">
                <a:alpha val="0"/>
              </a:srgbClr>
            </a:solidFill>
            <a:prstDash val="solid"/>
          </a:ln>
        </p:spPr>
        <p:txBody>
          <a:bodyPr/>
          <a:lstStyle/>
          <a:p>
            <a:endParaRPr/>
          </a:p>
        </p:txBody>
      </p:sp>
      <p:sp>
        <p:nvSpPr>
          <p:cNvPr id="27" name="Rectangle 26">
            <a:extLst>
              <a:ext uri="{FF2B5EF4-FFF2-40B4-BE49-F238E27FC236}">
                <a16:creationId xmlns:a16="http://schemas.microsoft.com/office/drawing/2014/main" id="{56312CFE-FC0C-4642-B094-0234C570FAA5}"/>
              </a:ext>
            </a:extLst>
          </p:cNvPr>
          <p:cNvSpPr>
            <a:spLocks noGrp="1"/>
          </p:cNvSpPr>
          <p:nvPr/>
        </p:nvSpPr>
        <p:spPr>
          <a:xfrm>
            <a:off x="6953250" y="2628900"/>
            <a:ext cx="1238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NNTP 1.000</a:t>
            </a:r>
          </a:p>
        </p:txBody>
      </p:sp>
      <p:sp>
        <p:nvSpPr>
          <p:cNvPr id="28" name="Rectangle 27">
            <a:extLst>
              <a:ext uri="{FF2B5EF4-FFF2-40B4-BE49-F238E27FC236}">
                <a16:creationId xmlns:a16="http://schemas.microsoft.com/office/drawing/2014/main" id="{C03CA6CD-F659-4D3D-AAE3-63D561E56AA8}"/>
              </a:ext>
            </a:extLst>
          </p:cNvPr>
          <p:cNvSpPr>
            <a:spLocks noGrp="1"/>
          </p:cNvSpPr>
          <p:nvPr/>
        </p:nvSpPr>
        <p:spPr>
          <a:xfrm>
            <a:off x="723900" y="3105150"/>
            <a:ext cx="194310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85" b="1">
                <a:solidFill>
                  <a:srgbClr val="264653"/>
                </a:solidFill>
                <a:latin typeface="Aptos Display"/>
                <a:ea typeface="Aptos Display"/>
                <a:cs typeface="Aptos Display"/>
              </a:defRPr>
            </a:pPr>
            <a:r>
              <a:rPr sz="1400" b="1">
                <a:solidFill>
                  <a:srgbClr val="264653"/>
                </a:solidFill>
                <a:latin typeface="Aptos Display"/>
                <a:ea typeface="Aptos Display"/>
                <a:cs typeface="Aptos Display"/>
              </a:rPr>
              <a:t>Washington</a:t>
            </a:r>
          </a:p>
        </p:txBody>
      </p:sp>
      <p:sp>
        <p:nvSpPr>
          <p:cNvPr id="29" name="Rectangle 28">
            <a:extLst>
              <a:ext uri="{FF2B5EF4-FFF2-40B4-BE49-F238E27FC236}">
                <a16:creationId xmlns:a16="http://schemas.microsoft.com/office/drawing/2014/main" id="{BCF5DF4D-36B2-4241-98F6-3A1AD1621209}"/>
              </a:ext>
            </a:extLst>
          </p:cNvPr>
          <p:cNvSpPr>
            <a:spLocks noGrp="1"/>
          </p:cNvSpPr>
          <p:nvPr/>
        </p:nvSpPr>
        <p:spPr>
          <a:xfrm>
            <a:off x="723900" y="3390900"/>
            <a:ext cx="200025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80" b="0">
                <a:solidFill>
                  <a:srgbClr val="5C686B"/>
                </a:solidFill>
                <a:latin typeface="Aptos"/>
                <a:ea typeface="Aptos"/>
                <a:cs typeface="Aptos"/>
              </a:defRPr>
            </a:pPr>
            <a:r>
              <a:rPr sz="900" b="0">
                <a:solidFill>
                  <a:srgbClr val="5C686B"/>
                </a:solidFill>
                <a:latin typeface="Aptos"/>
                <a:ea typeface="Aptos"/>
                <a:cs typeface="Aptos"/>
              </a:rPr>
              <a:t>paired counts 2 / 4 / 14</a:t>
            </a:r>
          </a:p>
        </p:txBody>
      </p:sp>
      <p:sp>
        <p:nvSpPr>
          <p:cNvPr id="30" name="Rectangle 29">
            <a:extLst>
              <a:ext uri="{FF2B5EF4-FFF2-40B4-BE49-F238E27FC236}">
                <a16:creationId xmlns:a16="http://schemas.microsoft.com/office/drawing/2014/main" id="{78BD659F-15C0-4C51-A658-06D83B7D6B5B}"/>
              </a:ext>
            </a:extLst>
          </p:cNvPr>
          <p:cNvSpPr>
            <a:spLocks noGrp="1"/>
          </p:cNvSpPr>
          <p:nvPr/>
        </p:nvSpPr>
        <p:spPr>
          <a:xfrm>
            <a:off x="9715500" y="3248025"/>
            <a:ext cx="102870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defRPr sz="1020" b="1">
                <a:solidFill>
                  <a:srgbClr val="E76F51"/>
                </a:solidFill>
                <a:latin typeface="Aptos"/>
                <a:ea typeface="Aptos"/>
                <a:cs typeface="Aptos"/>
              </a:defRPr>
            </a:pPr>
            <a:r>
              <a:rPr sz="1100" b="1">
                <a:solidFill>
                  <a:srgbClr val="E76F51"/>
                </a:solidFill>
                <a:latin typeface="Aptos"/>
                <a:ea typeface="Aptos"/>
                <a:cs typeface="Aptos"/>
              </a:rPr>
              <a:t>Δ -0.009</a:t>
            </a:r>
          </a:p>
        </p:txBody>
      </p:sp>
      <p:sp>
        <p:nvSpPr>
          <p:cNvPr id="31" name="Rounded Rectangle 30">
            <a:extLst>
              <a:ext uri="{FF2B5EF4-FFF2-40B4-BE49-F238E27FC236}">
                <a16:creationId xmlns:a16="http://schemas.microsoft.com/office/drawing/2014/main" id="{1C2D16C8-EF3C-4A75-BC4F-36F4BE3B94AD}"/>
              </a:ext>
            </a:extLst>
          </p:cNvPr>
          <p:cNvSpPr>
            <a:spLocks noGrp="1"/>
          </p:cNvSpPr>
          <p:nvPr/>
        </p:nvSpPr>
        <p:spPr>
          <a:xfrm>
            <a:off x="2781300" y="31337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32" name="Rounded Rectangle 31">
            <a:extLst>
              <a:ext uri="{FF2B5EF4-FFF2-40B4-BE49-F238E27FC236}">
                <a16:creationId xmlns:a16="http://schemas.microsoft.com/office/drawing/2014/main" id="{21C168AB-6ECF-4B1A-9C7A-0C8FD3D5F655}"/>
              </a:ext>
            </a:extLst>
          </p:cNvPr>
          <p:cNvSpPr>
            <a:spLocks noGrp="1"/>
          </p:cNvSpPr>
          <p:nvPr/>
        </p:nvSpPr>
        <p:spPr>
          <a:xfrm>
            <a:off x="2781300" y="3133725"/>
            <a:ext cx="3920490" cy="133350"/>
          </a:xfrm>
          <a:prstGeom prst="roundRect">
            <a:avLst>
              <a:gd name="adj" fmla="val 21429"/>
            </a:avLst>
          </a:prstGeom>
          <a:solidFill>
            <a:srgbClr val="2A9D8F"/>
          </a:solidFill>
          <a:ln w="0">
            <a:solidFill>
              <a:srgbClr val="000000">
                <a:alpha val="0"/>
              </a:srgbClr>
            </a:solidFill>
            <a:prstDash val="solid"/>
          </a:ln>
        </p:spPr>
        <p:txBody>
          <a:bodyPr/>
          <a:lstStyle/>
          <a:p>
            <a:endParaRPr/>
          </a:p>
        </p:txBody>
      </p:sp>
      <p:sp>
        <p:nvSpPr>
          <p:cNvPr id="33" name="Rectangle 32">
            <a:extLst>
              <a:ext uri="{FF2B5EF4-FFF2-40B4-BE49-F238E27FC236}">
                <a16:creationId xmlns:a16="http://schemas.microsoft.com/office/drawing/2014/main" id="{A7BDF496-9405-4426-86E2-655AD20089D5}"/>
              </a:ext>
            </a:extLst>
          </p:cNvPr>
          <p:cNvSpPr>
            <a:spLocks noGrp="1"/>
          </p:cNvSpPr>
          <p:nvPr/>
        </p:nvSpPr>
        <p:spPr>
          <a:xfrm>
            <a:off x="6953250" y="3086100"/>
            <a:ext cx="10668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M5 0.980</a:t>
            </a:r>
          </a:p>
        </p:txBody>
      </p:sp>
      <p:sp>
        <p:nvSpPr>
          <p:cNvPr id="34" name="Rounded Rectangle 33">
            <a:extLst>
              <a:ext uri="{FF2B5EF4-FFF2-40B4-BE49-F238E27FC236}">
                <a16:creationId xmlns:a16="http://schemas.microsoft.com/office/drawing/2014/main" id="{9149A507-FA55-43CD-9954-FF66640137AA}"/>
              </a:ext>
            </a:extLst>
          </p:cNvPr>
          <p:cNvSpPr>
            <a:spLocks noGrp="1"/>
          </p:cNvSpPr>
          <p:nvPr/>
        </p:nvSpPr>
        <p:spPr>
          <a:xfrm>
            <a:off x="2781300" y="34004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35" name="Rounded Rectangle 34">
            <a:extLst>
              <a:ext uri="{FF2B5EF4-FFF2-40B4-BE49-F238E27FC236}">
                <a16:creationId xmlns:a16="http://schemas.microsoft.com/office/drawing/2014/main" id="{68F94798-D35D-4F1C-8015-7C2FF532E000}"/>
              </a:ext>
            </a:extLst>
          </p:cNvPr>
          <p:cNvSpPr>
            <a:spLocks noGrp="1"/>
          </p:cNvSpPr>
          <p:nvPr/>
        </p:nvSpPr>
        <p:spPr>
          <a:xfrm>
            <a:off x="2781300" y="3400425"/>
            <a:ext cx="3960495" cy="133350"/>
          </a:xfrm>
          <a:prstGeom prst="roundRect">
            <a:avLst>
              <a:gd name="adj" fmla="val 21429"/>
            </a:avLst>
          </a:prstGeom>
          <a:solidFill>
            <a:srgbClr val="D4A373"/>
          </a:solidFill>
          <a:ln w="0">
            <a:solidFill>
              <a:srgbClr val="000000">
                <a:alpha val="0"/>
              </a:srgbClr>
            </a:solidFill>
            <a:prstDash val="solid"/>
          </a:ln>
        </p:spPr>
        <p:txBody>
          <a:bodyPr/>
          <a:lstStyle/>
          <a:p>
            <a:endParaRPr/>
          </a:p>
        </p:txBody>
      </p:sp>
      <p:sp>
        <p:nvSpPr>
          <p:cNvPr id="36" name="Rectangle 35">
            <a:extLst>
              <a:ext uri="{FF2B5EF4-FFF2-40B4-BE49-F238E27FC236}">
                <a16:creationId xmlns:a16="http://schemas.microsoft.com/office/drawing/2014/main" id="{A2B60D8D-4794-4D61-BF5C-A5886BF0ECAC}"/>
              </a:ext>
            </a:extLst>
          </p:cNvPr>
          <p:cNvSpPr>
            <a:spLocks noGrp="1"/>
          </p:cNvSpPr>
          <p:nvPr/>
        </p:nvSpPr>
        <p:spPr>
          <a:xfrm>
            <a:off x="6953250" y="3352800"/>
            <a:ext cx="1238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NNTP 0.990</a:t>
            </a:r>
          </a:p>
        </p:txBody>
      </p:sp>
      <p:sp>
        <p:nvSpPr>
          <p:cNvPr id="37" name="Rectangle 36">
            <a:extLst>
              <a:ext uri="{FF2B5EF4-FFF2-40B4-BE49-F238E27FC236}">
                <a16:creationId xmlns:a16="http://schemas.microsoft.com/office/drawing/2014/main" id="{8F19BE40-75EE-455F-B9D0-6286ABC3C509}"/>
              </a:ext>
            </a:extLst>
          </p:cNvPr>
          <p:cNvSpPr>
            <a:spLocks noGrp="1"/>
          </p:cNvSpPr>
          <p:nvPr/>
        </p:nvSpPr>
        <p:spPr>
          <a:xfrm>
            <a:off x="723900" y="3752850"/>
            <a:ext cx="1943100" cy="3238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85" b="1">
                <a:solidFill>
                  <a:srgbClr val="264653"/>
                </a:solidFill>
                <a:latin typeface="Aptos Display"/>
                <a:ea typeface="Aptos Display"/>
                <a:cs typeface="Aptos Display"/>
              </a:defRPr>
            </a:pPr>
            <a:r>
              <a:rPr sz="1400" b="1">
                <a:solidFill>
                  <a:srgbClr val="264653"/>
                </a:solidFill>
                <a:latin typeface="Aptos"/>
                <a:ea typeface="Aptos"/>
                <a:cs typeface="Aptos"/>
              </a:rPr>
              <a:t>Bullinger</a:t>
            </a:r>
            <a:r>
              <a:rPr sz="900" b="1">
                <a:solidFill>
                  <a:srgbClr val="264653"/>
                </a:solidFill>
                <a:latin typeface="Aptos"/>
                <a:ea typeface="Aptos"/>
                <a:cs typeface="Aptos"/>
              </a:rPr>
              <a:t> </a:t>
            </a:r>
            <a:br/>
            <a:r>
              <a:rPr sz="900" b="1">
                <a:solidFill>
                  <a:srgbClr val="264653"/>
                </a:solidFill>
                <a:latin typeface="Aptos"/>
                <a:ea typeface="Aptos"/>
                <a:cs typeface="Aptos"/>
              </a:rPr>
              <a:t>Subset 1 (Published, Direct)</a:t>
            </a:r>
          </a:p>
        </p:txBody>
      </p:sp>
      <p:sp>
        <p:nvSpPr>
          <p:cNvPr id="38" name="Rectangle 37">
            <a:extLst>
              <a:ext uri="{FF2B5EF4-FFF2-40B4-BE49-F238E27FC236}">
                <a16:creationId xmlns:a16="http://schemas.microsoft.com/office/drawing/2014/main" id="{F90BA462-C8B7-427C-8D62-C8BAB46EA22C}"/>
              </a:ext>
            </a:extLst>
          </p:cNvPr>
          <p:cNvSpPr>
            <a:spLocks noGrp="1"/>
          </p:cNvSpPr>
          <p:nvPr/>
        </p:nvSpPr>
        <p:spPr>
          <a:xfrm>
            <a:off x="723900" y="4114800"/>
            <a:ext cx="200025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80" b="0">
                <a:solidFill>
                  <a:srgbClr val="5C686B"/>
                </a:solidFill>
                <a:latin typeface="Aptos"/>
                <a:ea typeface="Aptos"/>
                <a:cs typeface="Aptos"/>
              </a:defRPr>
            </a:pPr>
            <a:r>
              <a:rPr sz="900" b="0">
                <a:solidFill>
                  <a:srgbClr val="5C686B"/>
                </a:solidFill>
                <a:latin typeface="Aptos"/>
                <a:ea typeface="Aptos"/>
                <a:cs typeface="Aptos"/>
              </a:rPr>
              <a:t>raw LA→, direct</a:t>
            </a:r>
          </a:p>
        </p:txBody>
      </p:sp>
      <p:sp>
        <p:nvSpPr>
          <p:cNvPr id="39" name="Rectangle 38">
            <a:extLst>
              <a:ext uri="{FF2B5EF4-FFF2-40B4-BE49-F238E27FC236}">
                <a16:creationId xmlns:a16="http://schemas.microsoft.com/office/drawing/2014/main" id="{C424F1D6-D65D-43C2-97A6-84FDF58C71B0}"/>
              </a:ext>
            </a:extLst>
          </p:cNvPr>
          <p:cNvSpPr>
            <a:spLocks noGrp="1"/>
          </p:cNvSpPr>
          <p:nvPr/>
        </p:nvSpPr>
        <p:spPr>
          <a:xfrm>
            <a:off x="9715500" y="3971925"/>
            <a:ext cx="102870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defRPr sz="1020" b="1">
                <a:solidFill>
                  <a:srgbClr val="E76F51"/>
                </a:solidFill>
                <a:latin typeface="Aptos"/>
                <a:ea typeface="Aptos"/>
                <a:cs typeface="Aptos"/>
              </a:defRPr>
            </a:pPr>
            <a:r>
              <a:rPr sz="1100" b="1">
                <a:solidFill>
                  <a:srgbClr val="E76F51"/>
                </a:solidFill>
                <a:latin typeface="Aptos"/>
                <a:ea typeface="Aptos"/>
                <a:cs typeface="Aptos"/>
              </a:rPr>
              <a:t>Δ -0.040</a:t>
            </a:r>
          </a:p>
        </p:txBody>
      </p:sp>
      <p:sp>
        <p:nvSpPr>
          <p:cNvPr id="40" name="Rounded Rectangle 39">
            <a:extLst>
              <a:ext uri="{FF2B5EF4-FFF2-40B4-BE49-F238E27FC236}">
                <a16:creationId xmlns:a16="http://schemas.microsoft.com/office/drawing/2014/main" id="{8104F452-784E-4E91-AD6C-6B32E83CB077}"/>
              </a:ext>
            </a:extLst>
          </p:cNvPr>
          <p:cNvSpPr>
            <a:spLocks noGrp="1"/>
          </p:cNvSpPr>
          <p:nvPr/>
        </p:nvSpPr>
        <p:spPr>
          <a:xfrm>
            <a:off x="2781300" y="38576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41" name="Rounded Rectangle 40">
            <a:extLst>
              <a:ext uri="{FF2B5EF4-FFF2-40B4-BE49-F238E27FC236}">
                <a16:creationId xmlns:a16="http://schemas.microsoft.com/office/drawing/2014/main" id="{DD4ECFEB-7314-46C1-9428-616D5306CC13}"/>
              </a:ext>
            </a:extLst>
          </p:cNvPr>
          <p:cNvSpPr>
            <a:spLocks noGrp="1"/>
          </p:cNvSpPr>
          <p:nvPr/>
        </p:nvSpPr>
        <p:spPr>
          <a:xfrm>
            <a:off x="2781300" y="3857625"/>
            <a:ext cx="3284411" cy="133350"/>
          </a:xfrm>
          <a:prstGeom prst="roundRect">
            <a:avLst>
              <a:gd name="adj" fmla="val 21429"/>
            </a:avLst>
          </a:prstGeom>
          <a:solidFill>
            <a:srgbClr val="2A9D8F"/>
          </a:solidFill>
          <a:ln w="0">
            <a:solidFill>
              <a:srgbClr val="000000">
                <a:alpha val="0"/>
              </a:srgbClr>
            </a:solidFill>
            <a:prstDash val="solid"/>
          </a:ln>
        </p:spPr>
        <p:txBody>
          <a:bodyPr/>
          <a:lstStyle/>
          <a:p>
            <a:endParaRPr/>
          </a:p>
        </p:txBody>
      </p:sp>
      <p:sp>
        <p:nvSpPr>
          <p:cNvPr id="42" name="Rectangle 41">
            <a:extLst>
              <a:ext uri="{FF2B5EF4-FFF2-40B4-BE49-F238E27FC236}">
                <a16:creationId xmlns:a16="http://schemas.microsoft.com/office/drawing/2014/main" id="{78ECCCAE-9F40-463F-BB22-F9C724DA26E5}"/>
              </a:ext>
            </a:extLst>
          </p:cNvPr>
          <p:cNvSpPr>
            <a:spLocks noGrp="1"/>
          </p:cNvSpPr>
          <p:nvPr/>
        </p:nvSpPr>
        <p:spPr>
          <a:xfrm>
            <a:off x="6953250" y="3810000"/>
            <a:ext cx="10668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M5 0.821</a:t>
            </a:r>
          </a:p>
        </p:txBody>
      </p:sp>
      <p:sp>
        <p:nvSpPr>
          <p:cNvPr id="43" name="Rounded Rectangle 42">
            <a:extLst>
              <a:ext uri="{FF2B5EF4-FFF2-40B4-BE49-F238E27FC236}">
                <a16:creationId xmlns:a16="http://schemas.microsoft.com/office/drawing/2014/main" id="{24790E0C-D20D-44C8-AE49-3633DE51FF8A}"/>
              </a:ext>
            </a:extLst>
          </p:cNvPr>
          <p:cNvSpPr>
            <a:spLocks noGrp="1"/>
          </p:cNvSpPr>
          <p:nvPr/>
        </p:nvSpPr>
        <p:spPr>
          <a:xfrm>
            <a:off x="2781300" y="41243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44" name="Rounded Rectangle 43">
            <a:extLst>
              <a:ext uri="{FF2B5EF4-FFF2-40B4-BE49-F238E27FC236}">
                <a16:creationId xmlns:a16="http://schemas.microsoft.com/office/drawing/2014/main" id="{1B84477C-A095-4A18-8648-C5633900F672}"/>
              </a:ext>
            </a:extLst>
          </p:cNvPr>
          <p:cNvSpPr>
            <a:spLocks noGrp="1"/>
          </p:cNvSpPr>
          <p:nvPr/>
        </p:nvSpPr>
        <p:spPr>
          <a:xfrm>
            <a:off x="2781300" y="4124325"/>
            <a:ext cx="3444431" cy="133350"/>
          </a:xfrm>
          <a:prstGeom prst="roundRect">
            <a:avLst>
              <a:gd name="adj" fmla="val 21429"/>
            </a:avLst>
          </a:prstGeom>
          <a:solidFill>
            <a:srgbClr val="D4A373"/>
          </a:solidFill>
          <a:ln w="0">
            <a:solidFill>
              <a:srgbClr val="000000">
                <a:alpha val="0"/>
              </a:srgbClr>
            </a:solidFill>
            <a:prstDash val="solid"/>
          </a:ln>
        </p:spPr>
        <p:txBody>
          <a:bodyPr/>
          <a:lstStyle/>
          <a:p>
            <a:endParaRPr/>
          </a:p>
        </p:txBody>
      </p:sp>
      <p:sp>
        <p:nvSpPr>
          <p:cNvPr id="45" name="Rectangle 44">
            <a:extLst>
              <a:ext uri="{FF2B5EF4-FFF2-40B4-BE49-F238E27FC236}">
                <a16:creationId xmlns:a16="http://schemas.microsoft.com/office/drawing/2014/main" id="{34DEBF08-4C94-40F8-BF95-CD74B290D9E5}"/>
              </a:ext>
            </a:extLst>
          </p:cNvPr>
          <p:cNvSpPr>
            <a:spLocks noGrp="1"/>
          </p:cNvSpPr>
          <p:nvPr/>
        </p:nvSpPr>
        <p:spPr>
          <a:xfrm>
            <a:off x="6953250" y="4076700"/>
            <a:ext cx="1238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NNTP 0.861</a:t>
            </a:r>
          </a:p>
        </p:txBody>
      </p:sp>
      <p:sp>
        <p:nvSpPr>
          <p:cNvPr id="46" name="Rectangle 45">
            <a:extLst>
              <a:ext uri="{FF2B5EF4-FFF2-40B4-BE49-F238E27FC236}">
                <a16:creationId xmlns:a16="http://schemas.microsoft.com/office/drawing/2014/main" id="{BFAE4829-6358-4D09-B1ED-6DD47E428141}"/>
              </a:ext>
            </a:extLst>
          </p:cNvPr>
          <p:cNvSpPr>
            <a:spLocks noGrp="1"/>
          </p:cNvSpPr>
          <p:nvPr/>
        </p:nvSpPr>
        <p:spPr>
          <a:xfrm>
            <a:off x="723900" y="4476750"/>
            <a:ext cx="1943100" cy="3238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85" b="1">
                <a:solidFill>
                  <a:srgbClr val="264653"/>
                </a:solidFill>
                <a:latin typeface="Aptos Display"/>
                <a:ea typeface="Aptos Display"/>
                <a:cs typeface="Aptos Display"/>
              </a:defRPr>
            </a:pPr>
            <a:r>
              <a:rPr sz="1400" b="1">
                <a:solidFill>
                  <a:srgbClr val="264653"/>
                </a:solidFill>
                <a:latin typeface="Aptos"/>
                <a:ea typeface="Aptos"/>
                <a:cs typeface="Aptos"/>
              </a:rPr>
              <a:t>Bullinger</a:t>
            </a:r>
            <a:br/>
            <a:r>
              <a:rPr sz="900" b="1">
                <a:solidFill>
                  <a:srgbClr val="264653"/>
                </a:solidFill>
                <a:latin typeface="Aptos"/>
                <a:ea typeface="Aptos"/>
                <a:cs typeface="Aptos"/>
              </a:rPr>
              <a:t>Subset 2 (Published, Contextual)</a:t>
            </a:r>
          </a:p>
        </p:txBody>
      </p:sp>
      <p:sp>
        <p:nvSpPr>
          <p:cNvPr id="47" name="Rectangle 46">
            <a:extLst>
              <a:ext uri="{FF2B5EF4-FFF2-40B4-BE49-F238E27FC236}">
                <a16:creationId xmlns:a16="http://schemas.microsoft.com/office/drawing/2014/main" id="{69FF7F20-5408-4C65-9869-DC8C5B3F700A}"/>
              </a:ext>
            </a:extLst>
          </p:cNvPr>
          <p:cNvSpPr>
            <a:spLocks noGrp="1"/>
          </p:cNvSpPr>
          <p:nvPr/>
        </p:nvSpPr>
        <p:spPr>
          <a:xfrm>
            <a:off x="723900" y="4838700"/>
            <a:ext cx="200025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80" b="0">
                <a:solidFill>
                  <a:srgbClr val="5C686B"/>
                </a:solidFill>
                <a:latin typeface="Aptos"/>
                <a:ea typeface="Aptos"/>
                <a:cs typeface="Aptos"/>
              </a:defRPr>
            </a:pPr>
            <a:r>
              <a:rPr sz="900" b="0">
                <a:solidFill>
                  <a:srgbClr val="5C686B"/>
                </a:solidFill>
                <a:latin typeface="Aptos"/>
                <a:ea typeface="Aptos"/>
                <a:cs typeface="Aptos"/>
              </a:rPr>
              <a:t>raw LA→, contextual</a:t>
            </a:r>
          </a:p>
        </p:txBody>
      </p:sp>
      <p:sp>
        <p:nvSpPr>
          <p:cNvPr id="48" name="Rectangle 47">
            <a:extLst>
              <a:ext uri="{FF2B5EF4-FFF2-40B4-BE49-F238E27FC236}">
                <a16:creationId xmlns:a16="http://schemas.microsoft.com/office/drawing/2014/main" id="{E5D8D923-36F4-456B-AAA8-1DFF8AD2ACE0}"/>
              </a:ext>
            </a:extLst>
          </p:cNvPr>
          <p:cNvSpPr>
            <a:spLocks noGrp="1"/>
          </p:cNvSpPr>
          <p:nvPr/>
        </p:nvSpPr>
        <p:spPr>
          <a:xfrm>
            <a:off x="9715500" y="4695825"/>
            <a:ext cx="102870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defRPr sz="1020" b="1">
                <a:solidFill>
                  <a:srgbClr val="2A9D8F"/>
                </a:solidFill>
                <a:latin typeface="Aptos"/>
                <a:ea typeface="Aptos"/>
                <a:cs typeface="Aptos"/>
              </a:defRPr>
            </a:pPr>
            <a:r>
              <a:rPr sz="1100" b="1">
                <a:solidFill>
                  <a:srgbClr val="2A9D8F"/>
                </a:solidFill>
                <a:latin typeface="Aptos"/>
                <a:ea typeface="Aptos"/>
                <a:cs typeface="Aptos"/>
              </a:rPr>
              <a:t>Δ +0.092</a:t>
            </a:r>
          </a:p>
        </p:txBody>
      </p:sp>
      <p:sp>
        <p:nvSpPr>
          <p:cNvPr id="49" name="Rounded Rectangle 48">
            <a:extLst>
              <a:ext uri="{FF2B5EF4-FFF2-40B4-BE49-F238E27FC236}">
                <a16:creationId xmlns:a16="http://schemas.microsoft.com/office/drawing/2014/main" id="{6AF66189-5086-42F2-BAC7-B6770DCAFFDD}"/>
              </a:ext>
            </a:extLst>
          </p:cNvPr>
          <p:cNvSpPr>
            <a:spLocks noGrp="1"/>
          </p:cNvSpPr>
          <p:nvPr/>
        </p:nvSpPr>
        <p:spPr>
          <a:xfrm>
            <a:off x="2781300" y="45815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50" name="Rounded Rectangle 49">
            <a:extLst>
              <a:ext uri="{FF2B5EF4-FFF2-40B4-BE49-F238E27FC236}">
                <a16:creationId xmlns:a16="http://schemas.microsoft.com/office/drawing/2014/main" id="{B162A86F-FC95-4DC5-AF44-E730B04CC0AB}"/>
              </a:ext>
            </a:extLst>
          </p:cNvPr>
          <p:cNvSpPr>
            <a:spLocks noGrp="1"/>
          </p:cNvSpPr>
          <p:nvPr/>
        </p:nvSpPr>
        <p:spPr>
          <a:xfrm>
            <a:off x="2781300" y="4581525"/>
            <a:ext cx="3460433" cy="133350"/>
          </a:xfrm>
          <a:prstGeom prst="roundRect">
            <a:avLst>
              <a:gd name="adj" fmla="val 21429"/>
            </a:avLst>
          </a:prstGeom>
          <a:solidFill>
            <a:srgbClr val="2A9D8F"/>
          </a:solidFill>
          <a:ln w="0">
            <a:solidFill>
              <a:srgbClr val="000000">
                <a:alpha val="0"/>
              </a:srgbClr>
            </a:solidFill>
            <a:prstDash val="solid"/>
          </a:ln>
        </p:spPr>
        <p:txBody>
          <a:bodyPr/>
          <a:lstStyle/>
          <a:p>
            <a:endParaRPr/>
          </a:p>
        </p:txBody>
      </p:sp>
      <p:sp>
        <p:nvSpPr>
          <p:cNvPr id="51" name="Rectangle 50">
            <a:extLst>
              <a:ext uri="{FF2B5EF4-FFF2-40B4-BE49-F238E27FC236}">
                <a16:creationId xmlns:a16="http://schemas.microsoft.com/office/drawing/2014/main" id="{4496C261-98AE-48C8-91D8-0CFBC072ECB2}"/>
              </a:ext>
            </a:extLst>
          </p:cNvPr>
          <p:cNvSpPr>
            <a:spLocks noGrp="1"/>
          </p:cNvSpPr>
          <p:nvPr/>
        </p:nvSpPr>
        <p:spPr>
          <a:xfrm>
            <a:off x="6953250" y="4533900"/>
            <a:ext cx="10668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M5 0.865</a:t>
            </a:r>
          </a:p>
        </p:txBody>
      </p:sp>
      <p:sp>
        <p:nvSpPr>
          <p:cNvPr id="52" name="Rounded Rectangle 51">
            <a:extLst>
              <a:ext uri="{FF2B5EF4-FFF2-40B4-BE49-F238E27FC236}">
                <a16:creationId xmlns:a16="http://schemas.microsoft.com/office/drawing/2014/main" id="{B4B522B3-FA4F-4846-BA45-41503AB3F6AA}"/>
              </a:ext>
            </a:extLst>
          </p:cNvPr>
          <p:cNvSpPr>
            <a:spLocks noGrp="1"/>
          </p:cNvSpPr>
          <p:nvPr/>
        </p:nvSpPr>
        <p:spPr>
          <a:xfrm>
            <a:off x="2781300" y="4848225"/>
            <a:ext cx="4000500" cy="133350"/>
          </a:xfrm>
          <a:prstGeom prst="roundRect">
            <a:avLst>
              <a:gd name="adj" fmla="val 21429"/>
            </a:avLst>
          </a:prstGeom>
          <a:solidFill>
            <a:srgbClr val="E7E1D5"/>
          </a:solidFill>
          <a:ln w="0">
            <a:solidFill>
              <a:srgbClr val="000000">
                <a:alpha val="0"/>
              </a:srgbClr>
            </a:solidFill>
            <a:prstDash val="solid"/>
          </a:ln>
        </p:spPr>
        <p:txBody>
          <a:bodyPr/>
          <a:lstStyle/>
          <a:p>
            <a:endParaRPr/>
          </a:p>
        </p:txBody>
      </p:sp>
      <p:sp>
        <p:nvSpPr>
          <p:cNvPr id="53" name="Rounded Rectangle 52">
            <a:extLst>
              <a:ext uri="{FF2B5EF4-FFF2-40B4-BE49-F238E27FC236}">
                <a16:creationId xmlns:a16="http://schemas.microsoft.com/office/drawing/2014/main" id="{3DB36F19-44C4-4971-8E23-A87C75E351D9}"/>
              </a:ext>
            </a:extLst>
          </p:cNvPr>
          <p:cNvSpPr>
            <a:spLocks noGrp="1"/>
          </p:cNvSpPr>
          <p:nvPr/>
        </p:nvSpPr>
        <p:spPr>
          <a:xfrm>
            <a:off x="2781300" y="4848225"/>
            <a:ext cx="3092387" cy="133350"/>
          </a:xfrm>
          <a:prstGeom prst="roundRect">
            <a:avLst>
              <a:gd name="adj" fmla="val 21429"/>
            </a:avLst>
          </a:prstGeom>
          <a:solidFill>
            <a:srgbClr val="D4A373"/>
          </a:solidFill>
          <a:ln w="0">
            <a:solidFill>
              <a:srgbClr val="000000">
                <a:alpha val="0"/>
              </a:srgbClr>
            </a:solidFill>
            <a:prstDash val="solid"/>
          </a:ln>
        </p:spPr>
        <p:txBody>
          <a:bodyPr/>
          <a:lstStyle/>
          <a:p>
            <a:endParaRPr/>
          </a:p>
        </p:txBody>
      </p:sp>
      <p:sp>
        <p:nvSpPr>
          <p:cNvPr id="54" name="Rectangle 53">
            <a:extLst>
              <a:ext uri="{FF2B5EF4-FFF2-40B4-BE49-F238E27FC236}">
                <a16:creationId xmlns:a16="http://schemas.microsoft.com/office/drawing/2014/main" id="{9E32B02A-38BE-4483-B23E-436951E1DCD9}"/>
              </a:ext>
            </a:extLst>
          </p:cNvPr>
          <p:cNvSpPr>
            <a:spLocks noGrp="1"/>
          </p:cNvSpPr>
          <p:nvPr/>
        </p:nvSpPr>
        <p:spPr>
          <a:xfrm>
            <a:off x="6953250" y="4800600"/>
            <a:ext cx="1238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40" b="0">
                <a:solidFill>
                  <a:srgbClr val="142026"/>
                </a:solidFill>
                <a:latin typeface="Aptos"/>
                <a:ea typeface="Aptos"/>
                <a:cs typeface="Aptos"/>
              </a:defRPr>
            </a:pPr>
            <a:r>
              <a:rPr sz="1000" b="0">
                <a:solidFill>
                  <a:srgbClr val="142026"/>
                </a:solidFill>
                <a:latin typeface="Aptos"/>
                <a:ea typeface="Aptos"/>
                <a:cs typeface="Aptos"/>
              </a:rPr>
              <a:t>NNTP 0.773</a:t>
            </a:r>
          </a:p>
        </p:txBody>
      </p:sp>
      <p:sp>
        <p:nvSpPr>
          <p:cNvPr id="55" name="Rounded Rectangle 54">
            <a:extLst>
              <a:ext uri="{FF2B5EF4-FFF2-40B4-BE49-F238E27FC236}">
                <a16:creationId xmlns:a16="http://schemas.microsoft.com/office/drawing/2014/main" id="{DB1B11AE-9F4F-454C-8993-B4D8A7D007FF}"/>
              </a:ext>
            </a:extLst>
          </p:cNvPr>
          <p:cNvSpPr>
            <a:spLocks noGrp="1"/>
          </p:cNvSpPr>
          <p:nvPr/>
        </p:nvSpPr>
        <p:spPr>
          <a:xfrm>
            <a:off x="723900" y="5562600"/>
            <a:ext cx="5905500" cy="400050"/>
          </a:xfrm>
          <a:prstGeom prst="roundRect">
            <a:avLst>
              <a:gd name="adj" fmla="val 14286"/>
            </a:avLst>
          </a:prstGeom>
          <a:solidFill>
            <a:srgbClr val="F8F5EA"/>
          </a:solidFill>
          <a:ln w="9525">
            <a:solidFill>
              <a:srgbClr val="CFC7B8"/>
            </a:solidFill>
            <a:prstDash val="solid"/>
          </a:ln>
        </p:spPr>
        <p:txBody>
          <a:bodyPr/>
          <a:lstStyle/>
          <a:p>
            <a:endParaRPr/>
          </a:p>
        </p:txBody>
      </p:sp>
      <p:sp>
        <p:nvSpPr>
          <p:cNvPr id="56" name="Rectangle 55">
            <a:extLst>
              <a:ext uri="{FF2B5EF4-FFF2-40B4-BE49-F238E27FC236}">
                <a16:creationId xmlns:a16="http://schemas.microsoft.com/office/drawing/2014/main" id="{76904261-A05E-43D7-B9E4-DDDE283F2D55}"/>
              </a:ext>
            </a:extLst>
          </p:cNvPr>
          <p:cNvSpPr>
            <a:spLocks noGrp="1"/>
          </p:cNvSpPr>
          <p:nvPr/>
        </p:nvSpPr>
        <p:spPr>
          <a:xfrm>
            <a:off x="933450" y="5686425"/>
            <a:ext cx="5486400" cy="1333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810" b="0">
                <a:solidFill>
                  <a:srgbClr val="5C686B"/>
                </a:solidFill>
                <a:latin typeface="Aptos"/>
                <a:ea typeface="Aptos"/>
                <a:cs typeface="Aptos"/>
              </a:defRPr>
            </a:pPr>
            <a:r>
              <a:rPr sz="1000" b="0">
                <a:solidFill>
                  <a:srgbClr val="5C686B"/>
                </a:solidFill>
                <a:latin typeface="Aptos"/>
                <a:ea typeface="Aptos"/>
                <a:cs typeface="Aptos"/>
              </a:rPr>
              <a:t>Children/IAM/Washington use LAnorm±. Bullinger subset rows use raw LA→ against the published NNTP reference.</a:t>
            </a:r>
          </a:p>
        </p:txBody>
      </p:sp>
      <p:sp>
        <p:nvSpPr>
          <p:cNvPr id="57" name="Rounded Rectangle 56">
            <a:extLst>
              <a:ext uri="{FF2B5EF4-FFF2-40B4-BE49-F238E27FC236}">
                <a16:creationId xmlns:a16="http://schemas.microsoft.com/office/drawing/2014/main" id="{1025468A-E650-442E-8D3C-7258E0849C60}"/>
              </a:ext>
            </a:extLst>
          </p:cNvPr>
          <p:cNvSpPr>
            <a:spLocks noGrp="1"/>
          </p:cNvSpPr>
          <p:nvPr/>
        </p:nvSpPr>
        <p:spPr>
          <a:xfrm>
            <a:off x="7239000" y="5562600"/>
            <a:ext cx="4000500" cy="400050"/>
          </a:xfrm>
          <a:prstGeom prst="roundRect">
            <a:avLst>
              <a:gd name="adj" fmla="val 14286"/>
            </a:avLst>
          </a:prstGeom>
          <a:solidFill>
            <a:srgbClr val="DDEDE9"/>
          </a:solidFill>
          <a:ln w="9525">
            <a:solidFill>
              <a:srgbClr val="2A9D8F"/>
            </a:solidFill>
            <a:prstDash val="solid"/>
          </a:ln>
        </p:spPr>
        <p:txBody>
          <a:bodyPr/>
          <a:lstStyle/>
          <a:p>
            <a:endParaRPr/>
          </a:p>
        </p:txBody>
      </p:sp>
      <p:sp>
        <p:nvSpPr>
          <p:cNvPr id="58" name="Rectangle 57">
            <a:extLst>
              <a:ext uri="{FF2B5EF4-FFF2-40B4-BE49-F238E27FC236}">
                <a16:creationId xmlns:a16="http://schemas.microsoft.com/office/drawing/2014/main" id="{570F6B45-858C-4584-9555-4F8CBFFFA361}"/>
              </a:ext>
            </a:extLst>
          </p:cNvPr>
          <p:cNvSpPr>
            <a:spLocks noGrp="1"/>
          </p:cNvSpPr>
          <p:nvPr/>
        </p:nvSpPr>
        <p:spPr>
          <a:xfrm>
            <a:off x="6953250" y="5676900"/>
            <a:ext cx="4572000" cy="2857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98" b="1">
                <a:solidFill>
                  <a:srgbClr val="264653"/>
                </a:solidFill>
                <a:latin typeface="Aptos"/>
                <a:ea typeface="Aptos"/>
                <a:cs typeface="Aptos"/>
              </a:defRPr>
            </a:pPr>
            <a:r>
              <a:rPr sz="975" b="1">
                <a:solidFill>
                  <a:srgbClr val="264653"/>
                </a:solidFill>
                <a:latin typeface="Aptos"/>
                <a:ea typeface="Aptos"/>
                <a:cs typeface="Aptos"/>
              </a:rPr>
              <a:t>M5 is close to an established deterministic reference.</a:t>
            </a:r>
          </a:p>
        </p:txBody>
      </p:sp>
    </p:spTree>
    <p:extLst>
      <p:ext uri="{BB962C8B-B14F-4D97-AF65-F5344CB8AC3E}">
        <p14:creationId xmlns:p14="http://schemas.microsoft.com/office/powerpoint/2010/main" val="887844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F5336B5-BF0B-4DA1-9244-D0F6CAF44308}"/>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A6E6666C-80A6-458F-982E-B71589F2892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1B860170-EC87-4125-8202-A135780F1397}"/>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Example</a:t>
            </a:r>
          </a:p>
        </p:txBody>
      </p:sp>
      <p:sp>
        <p:nvSpPr>
          <p:cNvPr id="4" name="Rectangle 3">
            <a:extLst>
              <a:ext uri="{FF2B5EF4-FFF2-40B4-BE49-F238E27FC236}">
                <a16:creationId xmlns:a16="http://schemas.microsoft.com/office/drawing/2014/main" id="{AC351A1E-0F53-4A29-A3F6-9C7F3AABA228}"/>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Qualitative Example</a:t>
            </a:r>
          </a:p>
        </p:txBody>
      </p:sp>
      <p:sp>
        <p:nvSpPr>
          <p:cNvPr id="5" name="Rectangle 4">
            <a:extLst>
              <a:ext uri="{FF2B5EF4-FFF2-40B4-BE49-F238E27FC236}">
                <a16:creationId xmlns:a16="http://schemas.microsoft.com/office/drawing/2014/main" id="{ED2862EB-67F9-44AC-820F-9AFE9BFE469B}"/>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F84C601E-96A6-4180-AC7F-90EAE0AE1FCE}"/>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12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70939FC5-D22D-4225-A82B-9C14ADB4778E}"/>
              </a:ext>
            </a:extLst>
          </p:cNvPr>
          <p:cNvSpPr>
            <a:spLocks noGrp="1"/>
          </p:cNvSpPr>
          <p:nvPr/>
        </p:nvSpPr>
        <p:spPr>
          <a:xfrm>
            <a:off x="666750" y="1060790"/>
            <a:ext cx="20955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825" b="1">
                <a:solidFill>
                  <a:srgbClr val="5C686B"/>
                </a:solidFill>
                <a:latin typeface="Aptos"/>
                <a:ea typeface="Aptos"/>
                <a:cs typeface="Aptos"/>
              </a:defRPr>
            </a:pPr>
            <a:r>
              <a:rPr sz="825" b="1">
                <a:solidFill>
                  <a:srgbClr val="5C686B"/>
                </a:solidFill>
                <a:latin typeface="Aptos"/>
                <a:ea typeface="Aptos"/>
                <a:cs typeface="Aptos"/>
              </a:rPr>
              <a:t>Washington 304</a:t>
            </a:r>
          </a:p>
        </p:txBody>
      </p:sp>
      <p:sp>
        <p:nvSpPr>
          <p:cNvPr id="8" name="Rounded Rectangle 7">
            <a:extLst>
              <a:ext uri="{FF2B5EF4-FFF2-40B4-BE49-F238E27FC236}">
                <a16:creationId xmlns:a16="http://schemas.microsoft.com/office/drawing/2014/main" id="{59A738B7-4E62-483A-B49C-0C7CA188AF0F}"/>
              </a:ext>
            </a:extLst>
          </p:cNvPr>
          <p:cNvSpPr>
            <a:spLocks noGrp="1"/>
          </p:cNvSpPr>
          <p:nvPr/>
        </p:nvSpPr>
        <p:spPr>
          <a:xfrm>
            <a:off x="666750" y="1308440"/>
            <a:ext cx="10858500" cy="1238250"/>
          </a:xfrm>
          <a:prstGeom prst="roundRect">
            <a:avLst>
              <a:gd name="adj" fmla="val 4615"/>
            </a:avLst>
          </a:prstGeom>
          <a:solidFill>
            <a:srgbClr val="FFFDF7"/>
          </a:solidFill>
          <a:ln w="9525">
            <a:solidFill>
              <a:srgbClr val="264653"/>
            </a:solidFill>
            <a:prstDash val="solid"/>
          </a:ln>
        </p:spPr>
        <p:txBody>
          <a:bodyPr/>
          <a:lstStyle/>
          <a:p>
            <a:endParaRPr/>
          </a:p>
        </p:txBody>
      </p:sp>
      <p:sp>
        <p:nvSpPr>
          <p:cNvPr id="9" name="Rectangle 8">
            <a:extLst>
              <a:ext uri="{FF2B5EF4-FFF2-40B4-BE49-F238E27FC236}">
                <a16:creationId xmlns:a16="http://schemas.microsoft.com/office/drawing/2014/main" id="{A16949EF-1BCB-485A-92A7-DD69173C760B}"/>
              </a:ext>
            </a:extLst>
          </p:cNvPr>
          <p:cNvSpPr>
            <a:spLocks noGrp="1"/>
          </p:cNvSpPr>
          <p:nvPr/>
        </p:nvSpPr>
        <p:spPr>
          <a:xfrm>
            <a:off x="914400" y="1479890"/>
            <a:ext cx="180975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350" b="1">
                <a:solidFill>
                  <a:srgbClr val="264653"/>
                </a:solidFill>
                <a:latin typeface="Aptos Display"/>
                <a:ea typeface="Aptos Display"/>
                <a:cs typeface="Aptos Display"/>
              </a:defRPr>
            </a:pPr>
            <a:r>
              <a:rPr sz="1350" b="1">
                <a:solidFill>
                  <a:srgbClr val="264653"/>
                </a:solidFill>
                <a:latin typeface="Aptos Display"/>
                <a:ea typeface="Aptos Display"/>
                <a:cs typeface="Aptos Display"/>
              </a:rPr>
              <a:t>Ground truth</a:t>
            </a:r>
          </a:p>
        </p:txBody>
      </p:sp>
      <p:sp>
        <p:nvSpPr>
          <p:cNvPr id="10" name="Rectangle 9">
            <a:extLst>
              <a:ext uri="{FF2B5EF4-FFF2-40B4-BE49-F238E27FC236}">
                <a16:creationId xmlns:a16="http://schemas.microsoft.com/office/drawing/2014/main" id="{C4F8BAC1-E03B-4958-8251-7AD2EDE69CFB}"/>
              </a:ext>
            </a:extLst>
          </p:cNvPr>
          <p:cNvSpPr>
            <a:spLocks noGrp="1"/>
          </p:cNvSpPr>
          <p:nvPr/>
        </p:nvSpPr>
        <p:spPr>
          <a:xfrm>
            <a:off x="2895600" y="1498940"/>
            <a:ext cx="6096000" cy="8382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1 | 304. Letters Orders and Instructions. December 1755.</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2 | be sure of idemnity. If your Honor would</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3 | be kind enough to intimate this to General</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4 | Shirley, or the Colonels of those Regiments,- it</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5 | would be of service to us: without leave we</a:t>
            </a:r>
          </a:p>
        </p:txBody>
      </p:sp>
      <p:sp>
        <p:nvSpPr>
          <p:cNvPr id="11" name="Rounded Rectangle 10">
            <a:extLst>
              <a:ext uri="{FF2B5EF4-FFF2-40B4-BE49-F238E27FC236}">
                <a16:creationId xmlns:a16="http://schemas.microsoft.com/office/drawing/2014/main" id="{32117109-FA71-4212-AF7A-91E451F0C318}"/>
              </a:ext>
            </a:extLst>
          </p:cNvPr>
          <p:cNvSpPr>
            <a:spLocks noGrp="1"/>
          </p:cNvSpPr>
          <p:nvPr/>
        </p:nvSpPr>
        <p:spPr>
          <a:xfrm>
            <a:off x="666750" y="2737190"/>
            <a:ext cx="10858500" cy="1428750"/>
          </a:xfrm>
          <a:prstGeom prst="roundRect">
            <a:avLst>
              <a:gd name="adj" fmla="val 4000"/>
            </a:avLst>
          </a:prstGeom>
          <a:solidFill>
            <a:srgbClr val="FFFDF7"/>
          </a:solidFill>
          <a:ln w="9525">
            <a:solidFill>
              <a:srgbClr val="E76F51"/>
            </a:solidFill>
            <a:prstDash val="solid"/>
          </a:ln>
        </p:spPr>
        <p:txBody>
          <a:bodyPr/>
          <a:lstStyle/>
          <a:p>
            <a:endParaRPr/>
          </a:p>
        </p:txBody>
      </p:sp>
      <p:sp>
        <p:nvSpPr>
          <p:cNvPr id="12" name="Rectangle 11">
            <a:extLst>
              <a:ext uri="{FF2B5EF4-FFF2-40B4-BE49-F238E27FC236}">
                <a16:creationId xmlns:a16="http://schemas.microsoft.com/office/drawing/2014/main" id="{894B8DFB-0F8F-4DB6-8A83-E40BE2B3DB83}"/>
              </a:ext>
            </a:extLst>
          </p:cNvPr>
          <p:cNvSpPr>
            <a:spLocks noGrp="1"/>
          </p:cNvSpPr>
          <p:nvPr/>
        </p:nvSpPr>
        <p:spPr>
          <a:xfrm>
            <a:off x="914400" y="2908640"/>
            <a:ext cx="180975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350" b="1">
                <a:solidFill>
                  <a:srgbClr val="E76F51"/>
                </a:solidFill>
                <a:latin typeface="Aptos Display"/>
                <a:ea typeface="Aptos Display"/>
                <a:cs typeface="Aptos Display"/>
              </a:defRPr>
            </a:pPr>
            <a:r>
              <a:rPr sz="1350" b="1">
                <a:solidFill>
                  <a:srgbClr val="E76F51"/>
                </a:solidFill>
                <a:latin typeface="Aptos Display"/>
                <a:ea typeface="Aptos Display"/>
                <a:cs typeface="Aptos Display"/>
              </a:rPr>
              <a:t>M3 prediction</a:t>
            </a:r>
          </a:p>
        </p:txBody>
      </p:sp>
      <p:sp>
        <p:nvSpPr>
          <p:cNvPr id="13" name="Rounded Rectangle 12">
            <a:extLst>
              <a:ext uri="{FF2B5EF4-FFF2-40B4-BE49-F238E27FC236}">
                <a16:creationId xmlns:a16="http://schemas.microsoft.com/office/drawing/2014/main" id="{B38C7C20-F51B-4A42-B0B3-FD17438663F5}"/>
              </a:ext>
            </a:extLst>
          </p:cNvPr>
          <p:cNvSpPr>
            <a:spLocks noGrp="1"/>
          </p:cNvSpPr>
          <p:nvPr/>
        </p:nvSpPr>
        <p:spPr>
          <a:xfrm>
            <a:off x="933450" y="3327740"/>
            <a:ext cx="1485900" cy="419100"/>
          </a:xfrm>
          <a:prstGeom prst="roundRect">
            <a:avLst>
              <a:gd name="adj" fmla="val 13636"/>
            </a:avLst>
          </a:prstGeom>
          <a:solidFill>
            <a:srgbClr val="FFF5F0"/>
          </a:solidFill>
          <a:ln w="9525">
            <a:solidFill>
              <a:srgbClr val="E76F51"/>
            </a:solidFill>
            <a:prstDash val="solid"/>
          </a:ln>
        </p:spPr>
        <p:txBody>
          <a:bodyPr/>
          <a:lstStyle/>
          <a:p>
            <a:endParaRPr/>
          </a:p>
        </p:txBody>
      </p:sp>
      <p:sp>
        <p:nvSpPr>
          <p:cNvPr id="14" name="Rectangle 13">
            <a:extLst>
              <a:ext uri="{FF2B5EF4-FFF2-40B4-BE49-F238E27FC236}">
                <a16:creationId xmlns:a16="http://schemas.microsoft.com/office/drawing/2014/main" id="{5F01024F-55A6-4C69-8DCE-F4C29596037B}"/>
              </a:ext>
            </a:extLst>
          </p:cNvPr>
          <p:cNvSpPr>
            <a:spLocks noGrp="1"/>
          </p:cNvSpPr>
          <p:nvPr/>
        </p:nvSpPr>
        <p:spPr>
          <a:xfrm>
            <a:off x="1009650" y="3403940"/>
            <a:ext cx="1333500" cy="2476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lnSpc>
                <a:spcPct val="105000"/>
              </a:lnSpc>
              <a:buNone/>
              <a:defRPr sz="900" b="1">
                <a:solidFill>
                  <a:srgbClr val="E76F51"/>
                </a:solidFill>
                <a:latin typeface="Aptos"/>
                <a:ea typeface="Aptos"/>
                <a:cs typeface="Aptos"/>
              </a:defRPr>
            </a:pPr>
            <a:r>
              <a:rPr sz="900" b="1">
                <a:solidFill>
                  <a:srgbClr val="E76F51"/>
                </a:solidFill>
                <a:latin typeface="Aptos"/>
                <a:ea typeface="Aptos"/>
                <a:cs typeface="Aptos"/>
              </a:rPr>
              <a:t>CERnorm 0.000</a:t>
            </a:r>
          </a:p>
          <a:p>
            <a:pPr algn="ctr">
              <a:lnSpc>
                <a:spcPct val="105000"/>
              </a:lnSpc>
              <a:buNone/>
              <a:defRPr sz="900" b="1">
                <a:solidFill>
                  <a:srgbClr val="E76F51"/>
                </a:solidFill>
                <a:latin typeface="Aptos"/>
                <a:ea typeface="Aptos"/>
                <a:cs typeface="Aptos"/>
              </a:defRPr>
            </a:pPr>
            <a:r>
              <a:rPr sz="900" b="1">
                <a:solidFill>
                  <a:srgbClr val="E76F51"/>
                </a:solidFill>
                <a:latin typeface="Aptos"/>
                <a:ea typeface="Aptos"/>
                <a:cs typeface="Aptos"/>
              </a:rPr>
              <a:t>LAnorm+/- 0.338</a:t>
            </a:r>
          </a:p>
        </p:txBody>
      </p:sp>
      <p:sp>
        <p:nvSpPr>
          <p:cNvPr id="15" name="Rectangle 14">
            <a:extLst>
              <a:ext uri="{FF2B5EF4-FFF2-40B4-BE49-F238E27FC236}">
                <a16:creationId xmlns:a16="http://schemas.microsoft.com/office/drawing/2014/main" id="{EE27FA8F-2EA0-4EE5-8E36-F0BE4866A820}"/>
              </a:ext>
            </a:extLst>
          </p:cNvPr>
          <p:cNvSpPr>
            <a:spLocks noGrp="1"/>
          </p:cNvSpPr>
          <p:nvPr/>
        </p:nvSpPr>
        <p:spPr>
          <a:xfrm>
            <a:off x="2895600" y="2927690"/>
            <a:ext cx="6096000" cy="8382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1 | 304. Letters Orders and Instructions. December 1755. be</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2 | sure of idemnity. If your Honor would be kind enough</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3 | to intimate this to General Shirley, or the Colonels</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4 | of those Regiments,- it would be of service to us:</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5 | without leave we dare not receive them. c. GW</a:t>
            </a:r>
          </a:p>
        </p:txBody>
      </p:sp>
      <p:sp>
        <p:nvSpPr>
          <p:cNvPr id="16" name="Rounded Rectangle 15">
            <a:extLst>
              <a:ext uri="{FF2B5EF4-FFF2-40B4-BE49-F238E27FC236}">
                <a16:creationId xmlns:a16="http://schemas.microsoft.com/office/drawing/2014/main" id="{FA2AA997-1453-4071-B74D-969D6FC58CC0}"/>
              </a:ext>
            </a:extLst>
          </p:cNvPr>
          <p:cNvSpPr>
            <a:spLocks noGrp="1"/>
          </p:cNvSpPr>
          <p:nvPr/>
        </p:nvSpPr>
        <p:spPr>
          <a:xfrm>
            <a:off x="666750" y="4375490"/>
            <a:ext cx="10858500" cy="1238250"/>
          </a:xfrm>
          <a:prstGeom prst="roundRect">
            <a:avLst>
              <a:gd name="adj" fmla="val 4615"/>
            </a:avLst>
          </a:prstGeom>
          <a:solidFill>
            <a:srgbClr val="FFFDF7"/>
          </a:solidFill>
          <a:ln w="9525">
            <a:solidFill>
              <a:srgbClr val="2A9D8F"/>
            </a:solidFill>
            <a:prstDash val="solid"/>
          </a:ln>
        </p:spPr>
        <p:txBody>
          <a:bodyPr/>
          <a:lstStyle/>
          <a:p>
            <a:endParaRPr/>
          </a:p>
        </p:txBody>
      </p:sp>
      <p:sp>
        <p:nvSpPr>
          <p:cNvPr id="17" name="Rectangle 16">
            <a:extLst>
              <a:ext uri="{FF2B5EF4-FFF2-40B4-BE49-F238E27FC236}">
                <a16:creationId xmlns:a16="http://schemas.microsoft.com/office/drawing/2014/main" id="{58A8AD22-F4EF-48E3-A7D2-33844B917F16}"/>
              </a:ext>
            </a:extLst>
          </p:cNvPr>
          <p:cNvSpPr>
            <a:spLocks noGrp="1"/>
          </p:cNvSpPr>
          <p:nvPr/>
        </p:nvSpPr>
        <p:spPr>
          <a:xfrm>
            <a:off x="914400" y="4546940"/>
            <a:ext cx="180975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350" b="1">
                <a:solidFill>
                  <a:srgbClr val="2A9D8F"/>
                </a:solidFill>
                <a:latin typeface="Aptos Display"/>
                <a:ea typeface="Aptos Display"/>
                <a:cs typeface="Aptos Display"/>
              </a:defRPr>
            </a:pPr>
            <a:r>
              <a:rPr sz="1350" b="1">
                <a:solidFill>
                  <a:srgbClr val="2A9D8F"/>
                </a:solidFill>
                <a:latin typeface="Aptos Display"/>
                <a:ea typeface="Aptos Display"/>
                <a:cs typeface="Aptos Display"/>
              </a:rPr>
              <a:t>M5 prediction</a:t>
            </a:r>
          </a:p>
        </p:txBody>
      </p:sp>
      <p:sp>
        <p:nvSpPr>
          <p:cNvPr id="18" name="Rounded Rectangle 17">
            <a:extLst>
              <a:ext uri="{FF2B5EF4-FFF2-40B4-BE49-F238E27FC236}">
                <a16:creationId xmlns:a16="http://schemas.microsoft.com/office/drawing/2014/main" id="{3C169B12-2FF8-4A88-87F1-9F7EE3EA4984}"/>
              </a:ext>
            </a:extLst>
          </p:cNvPr>
          <p:cNvSpPr>
            <a:spLocks noGrp="1"/>
          </p:cNvSpPr>
          <p:nvPr/>
        </p:nvSpPr>
        <p:spPr>
          <a:xfrm>
            <a:off x="933450" y="4966040"/>
            <a:ext cx="1485900" cy="419100"/>
          </a:xfrm>
          <a:prstGeom prst="roundRect">
            <a:avLst>
              <a:gd name="adj" fmla="val 13636"/>
            </a:avLst>
          </a:prstGeom>
          <a:solidFill>
            <a:srgbClr val="DDEDE9"/>
          </a:solidFill>
          <a:ln w="9525">
            <a:solidFill>
              <a:srgbClr val="2A9D8F"/>
            </a:solidFill>
            <a:prstDash val="solid"/>
          </a:ln>
        </p:spPr>
        <p:txBody>
          <a:bodyPr/>
          <a:lstStyle/>
          <a:p>
            <a:endParaRPr/>
          </a:p>
        </p:txBody>
      </p:sp>
      <p:sp>
        <p:nvSpPr>
          <p:cNvPr id="19" name="Rectangle 18">
            <a:extLst>
              <a:ext uri="{FF2B5EF4-FFF2-40B4-BE49-F238E27FC236}">
                <a16:creationId xmlns:a16="http://schemas.microsoft.com/office/drawing/2014/main" id="{3C1D76ED-38CB-4527-86A7-D089DA5F2A22}"/>
              </a:ext>
            </a:extLst>
          </p:cNvPr>
          <p:cNvSpPr>
            <a:spLocks noGrp="1"/>
          </p:cNvSpPr>
          <p:nvPr/>
        </p:nvSpPr>
        <p:spPr>
          <a:xfrm>
            <a:off x="1009650" y="5042240"/>
            <a:ext cx="1333500" cy="2476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lnSpc>
                <a:spcPct val="105000"/>
              </a:lnSpc>
              <a:buNone/>
              <a:defRPr sz="900" b="1">
                <a:solidFill>
                  <a:srgbClr val="2A9D8F"/>
                </a:solidFill>
                <a:latin typeface="Aptos"/>
                <a:ea typeface="Aptos"/>
                <a:cs typeface="Aptos"/>
              </a:defRPr>
            </a:pPr>
            <a:r>
              <a:rPr sz="900" b="1">
                <a:solidFill>
                  <a:srgbClr val="2A9D8F"/>
                </a:solidFill>
                <a:latin typeface="Aptos"/>
                <a:ea typeface="Aptos"/>
                <a:cs typeface="Aptos"/>
              </a:rPr>
              <a:t>CERnorm 0.000</a:t>
            </a:r>
          </a:p>
          <a:p>
            <a:pPr algn="ctr">
              <a:lnSpc>
                <a:spcPct val="105000"/>
              </a:lnSpc>
              <a:buNone/>
              <a:defRPr sz="900" b="1">
                <a:solidFill>
                  <a:srgbClr val="2A9D8F"/>
                </a:solidFill>
                <a:latin typeface="Aptos"/>
                <a:ea typeface="Aptos"/>
                <a:cs typeface="Aptos"/>
              </a:defRPr>
            </a:pPr>
            <a:r>
              <a:rPr sz="900" b="1">
                <a:solidFill>
                  <a:srgbClr val="2A9D8F"/>
                </a:solidFill>
                <a:latin typeface="Aptos"/>
                <a:ea typeface="Aptos"/>
                <a:cs typeface="Aptos"/>
              </a:rPr>
              <a:t>LAnorm+/- 1.000</a:t>
            </a:r>
          </a:p>
        </p:txBody>
      </p:sp>
      <p:sp>
        <p:nvSpPr>
          <p:cNvPr id="20" name="Rectangle 19">
            <a:extLst>
              <a:ext uri="{FF2B5EF4-FFF2-40B4-BE49-F238E27FC236}">
                <a16:creationId xmlns:a16="http://schemas.microsoft.com/office/drawing/2014/main" id="{A12D4FA9-5A98-44BF-A00C-BDE068062516}"/>
              </a:ext>
            </a:extLst>
          </p:cNvPr>
          <p:cNvSpPr>
            <a:spLocks noGrp="1"/>
          </p:cNvSpPr>
          <p:nvPr/>
        </p:nvSpPr>
        <p:spPr>
          <a:xfrm>
            <a:off x="2895600" y="4565990"/>
            <a:ext cx="6096000" cy="8382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1 | 304. Letters Orders and Instructions. December 1755.</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2 | be sure of idemnity. If your Honor would</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3 | be kind enough to intimate this to General</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4 | Shirley, or the Colonels of those Regiments,- it</a:t>
            </a:r>
          </a:p>
          <a:p>
            <a:pPr algn="l">
              <a:lnSpc>
                <a:spcPct val="110000"/>
              </a:lnSpc>
              <a:buNone/>
              <a:defRPr sz="990" b="0">
                <a:solidFill>
                  <a:srgbClr val="142026"/>
                </a:solidFill>
                <a:latin typeface="Aptos Mono"/>
                <a:ea typeface="Aptos Mono"/>
                <a:cs typeface="Aptos Mono"/>
              </a:defRPr>
            </a:pPr>
            <a:r>
              <a:rPr sz="990" b="0">
                <a:solidFill>
                  <a:srgbClr val="142026"/>
                </a:solidFill>
                <a:latin typeface="Aptos Mono"/>
                <a:ea typeface="Aptos Mono"/>
                <a:cs typeface="Aptos Mono"/>
              </a:rPr>
              <a:t>5 | would be of service to us: without leave we</a:t>
            </a:r>
          </a:p>
        </p:txBody>
      </p:sp>
      <p:sp>
        <p:nvSpPr>
          <p:cNvPr id="21" name="Rounded Rectangle 20">
            <a:extLst>
              <a:ext uri="{FF2B5EF4-FFF2-40B4-BE49-F238E27FC236}">
                <a16:creationId xmlns:a16="http://schemas.microsoft.com/office/drawing/2014/main" id="{8256E213-BFCB-43F8-936A-2A36914EC7BF}"/>
              </a:ext>
            </a:extLst>
          </p:cNvPr>
          <p:cNvSpPr>
            <a:spLocks noGrp="1"/>
          </p:cNvSpPr>
          <p:nvPr/>
        </p:nvSpPr>
        <p:spPr>
          <a:xfrm>
            <a:off x="9563100" y="3118190"/>
            <a:ext cx="1619250" cy="609600"/>
          </a:xfrm>
          <a:prstGeom prst="roundRect">
            <a:avLst>
              <a:gd name="adj" fmla="val 9375"/>
            </a:avLst>
          </a:prstGeom>
          <a:solidFill>
            <a:srgbClr val="FFF5F0"/>
          </a:solidFill>
          <a:ln w="9525">
            <a:solidFill>
              <a:srgbClr val="E76F51"/>
            </a:solidFill>
            <a:prstDash val="solid"/>
          </a:ln>
        </p:spPr>
        <p:txBody>
          <a:bodyPr/>
          <a:lstStyle/>
          <a:p>
            <a:endParaRPr/>
          </a:p>
        </p:txBody>
      </p:sp>
      <p:sp>
        <p:nvSpPr>
          <p:cNvPr id="22" name="Rectangle 21">
            <a:extLst>
              <a:ext uri="{FF2B5EF4-FFF2-40B4-BE49-F238E27FC236}">
                <a16:creationId xmlns:a16="http://schemas.microsoft.com/office/drawing/2014/main" id="{05C38B6C-0425-47CB-9A87-66CFFA1334A1}"/>
              </a:ext>
            </a:extLst>
          </p:cNvPr>
          <p:cNvSpPr>
            <a:spLocks noGrp="1"/>
          </p:cNvSpPr>
          <p:nvPr/>
        </p:nvSpPr>
        <p:spPr>
          <a:xfrm>
            <a:off x="9696450" y="3251540"/>
            <a:ext cx="1352550" cy="3238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lnSpc>
                <a:spcPct val="108000"/>
              </a:lnSpc>
              <a:buNone/>
              <a:defRPr sz="938" b="1">
                <a:solidFill>
                  <a:srgbClr val="E76F51"/>
                </a:solidFill>
                <a:latin typeface="Aptos"/>
                <a:ea typeface="Aptos"/>
                <a:cs typeface="Aptos"/>
              </a:defRPr>
            </a:pPr>
            <a:r>
              <a:rPr sz="938" b="1">
                <a:solidFill>
                  <a:srgbClr val="E76F51"/>
                </a:solidFill>
                <a:latin typeface="Aptos"/>
                <a:ea typeface="Aptos"/>
                <a:cs typeface="Aptos"/>
              </a:rPr>
              <a:t>Boundary after the header is shifted.</a:t>
            </a:r>
          </a:p>
        </p:txBody>
      </p:sp>
      <p:sp>
        <p:nvSpPr>
          <p:cNvPr id="23" name="Rounded Rectangle 22">
            <a:extLst>
              <a:ext uri="{FF2B5EF4-FFF2-40B4-BE49-F238E27FC236}">
                <a16:creationId xmlns:a16="http://schemas.microsoft.com/office/drawing/2014/main" id="{47FA311C-ECAF-4C62-9119-9E6DAF7925E6}"/>
              </a:ext>
            </a:extLst>
          </p:cNvPr>
          <p:cNvSpPr>
            <a:spLocks noGrp="1"/>
          </p:cNvSpPr>
          <p:nvPr/>
        </p:nvSpPr>
        <p:spPr>
          <a:xfrm>
            <a:off x="2857500" y="2889590"/>
            <a:ext cx="4591050" cy="228600"/>
          </a:xfrm>
          <a:prstGeom prst="roundRect">
            <a:avLst>
              <a:gd name="adj" fmla="val 15385"/>
            </a:avLst>
          </a:prstGeom>
          <a:solidFill>
            <a:srgbClr val="E76F51">
              <a:alpha val="9412"/>
            </a:srgbClr>
          </a:solidFill>
          <a:ln w="9525">
            <a:solidFill>
              <a:srgbClr val="E76F51"/>
            </a:solidFill>
            <a:prstDash val="solid"/>
          </a:ln>
        </p:spPr>
        <p:txBody>
          <a:bodyPr/>
          <a:lstStyle/>
          <a:p>
            <a:endParaRPr/>
          </a:p>
        </p:txBody>
      </p:sp>
      <p:sp>
        <p:nvSpPr>
          <p:cNvPr id="24" name="Rounded Rectangle 23">
            <a:extLst>
              <a:ext uri="{FF2B5EF4-FFF2-40B4-BE49-F238E27FC236}">
                <a16:creationId xmlns:a16="http://schemas.microsoft.com/office/drawing/2014/main" id="{7ED3BC3F-171C-4F73-BC35-95033BECC1BF}"/>
              </a:ext>
            </a:extLst>
          </p:cNvPr>
          <p:cNvSpPr>
            <a:spLocks noGrp="1"/>
          </p:cNvSpPr>
          <p:nvPr/>
        </p:nvSpPr>
        <p:spPr>
          <a:xfrm>
            <a:off x="7181850" y="2889589"/>
            <a:ext cx="266700" cy="233363"/>
          </a:xfrm>
          <a:prstGeom prst="roundRect">
            <a:avLst>
              <a:gd name="adj" fmla="val 15385"/>
            </a:avLst>
          </a:prstGeom>
          <a:solidFill>
            <a:srgbClr val="E76F51">
              <a:alpha val="18824"/>
            </a:srgbClr>
          </a:solidFill>
          <a:ln w="9525">
            <a:solidFill>
              <a:srgbClr val="E76F51"/>
            </a:solidFill>
            <a:prstDash val="solid"/>
          </a:ln>
        </p:spPr>
        <p:txBody>
          <a:bodyPr/>
          <a:lstStyle/>
          <a:p>
            <a:endParaRPr/>
          </a:p>
        </p:txBody>
      </p:sp>
      <p:sp>
        <p:nvSpPr>
          <p:cNvPr id="25" name="Rounded Rectangle 24">
            <a:extLst>
              <a:ext uri="{FF2B5EF4-FFF2-40B4-BE49-F238E27FC236}">
                <a16:creationId xmlns:a16="http://schemas.microsoft.com/office/drawing/2014/main" id="{D3E55528-9CD6-4990-887E-3061DC8A7962}"/>
              </a:ext>
            </a:extLst>
          </p:cNvPr>
          <p:cNvSpPr>
            <a:spLocks noGrp="1"/>
          </p:cNvSpPr>
          <p:nvPr/>
        </p:nvSpPr>
        <p:spPr>
          <a:xfrm>
            <a:off x="7524750" y="2999128"/>
            <a:ext cx="2552700" cy="28575"/>
          </a:xfrm>
          <a:prstGeom prst="roundRect">
            <a:avLst>
              <a:gd name="adj" fmla="val 50000"/>
            </a:avLst>
          </a:prstGeom>
          <a:solidFill>
            <a:srgbClr val="E76F51"/>
          </a:solidFill>
          <a:ln w="0">
            <a:solidFill>
              <a:srgbClr val="000000">
                <a:alpha val="0"/>
              </a:srgbClr>
            </a:solidFill>
            <a:prstDash val="solid"/>
          </a:ln>
        </p:spPr>
        <p:txBody>
          <a:bodyPr/>
          <a:lstStyle/>
          <a:p>
            <a:endParaRPr/>
          </a:p>
        </p:txBody>
      </p:sp>
      <p:sp>
        <p:nvSpPr>
          <p:cNvPr id="26" name="Rounded Rectangle 25">
            <a:extLst>
              <a:ext uri="{FF2B5EF4-FFF2-40B4-BE49-F238E27FC236}">
                <a16:creationId xmlns:a16="http://schemas.microsoft.com/office/drawing/2014/main" id="{DB8E329B-8BF6-4F2C-97C9-A5BDF7637419}"/>
              </a:ext>
            </a:extLst>
          </p:cNvPr>
          <p:cNvSpPr>
            <a:spLocks noGrp="1"/>
          </p:cNvSpPr>
          <p:nvPr/>
        </p:nvSpPr>
        <p:spPr>
          <a:xfrm>
            <a:off x="9544050" y="2699090"/>
            <a:ext cx="1638300" cy="400050"/>
          </a:xfrm>
          <a:prstGeom prst="roundRect">
            <a:avLst>
              <a:gd name="adj" fmla="val 14286"/>
            </a:avLst>
          </a:prstGeom>
          <a:solidFill>
            <a:srgbClr val="FFF5F0"/>
          </a:solidFill>
          <a:ln w="9525">
            <a:solidFill>
              <a:srgbClr val="E76F51"/>
            </a:solidFill>
            <a:prstDash val="solid"/>
          </a:ln>
        </p:spPr>
        <p:txBody>
          <a:bodyPr wrap="square" lIns="57150" tIns="38100" rIns="57150" bIns="38100" anchor="ctr"/>
          <a:lstStyle/>
          <a:p>
            <a:pPr algn="ctr">
              <a:lnSpc>
                <a:spcPct val="108000"/>
              </a:lnSpc>
              <a:buNone/>
              <a:defRPr sz="780" b="1">
                <a:solidFill>
                  <a:srgbClr val="E76F51"/>
                </a:solidFill>
                <a:latin typeface="Aptos"/>
                <a:ea typeface="Aptos"/>
                <a:cs typeface="Aptos"/>
              </a:defRPr>
            </a:pPr>
            <a:r>
              <a:rPr sz="780" b="1">
                <a:solidFill>
                  <a:srgbClr val="E76F51"/>
                </a:solidFill>
                <a:latin typeface="Aptos"/>
                <a:ea typeface="Aptos"/>
                <a:cs typeface="Aptos"/>
              </a:rPr>
              <a:t>M3: 'be' joins</a:t>
            </a:r>
          </a:p>
          <a:p>
            <a:pPr algn="ctr">
              <a:lnSpc>
                <a:spcPct val="108000"/>
              </a:lnSpc>
              <a:buNone/>
              <a:defRPr sz="780" b="1">
                <a:solidFill>
                  <a:srgbClr val="E76F51"/>
                </a:solidFill>
                <a:latin typeface="Aptos"/>
                <a:ea typeface="Aptos"/>
                <a:cs typeface="Aptos"/>
              </a:defRPr>
            </a:pPr>
            <a:r>
              <a:rPr sz="780" b="1">
                <a:solidFill>
                  <a:srgbClr val="E76F51"/>
                </a:solidFill>
                <a:latin typeface="Aptos"/>
                <a:ea typeface="Aptos"/>
                <a:cs typeface="Aptos"/>
              </a:rPr>
              <a:t>header line</a:t>
            </a:r>
          </a:p>
        </p:txBody>
      </p:sp>
      <p:sp>
        <p:nvSpPr>
          <p:cNvPr id="27" name="Rounded Rectangle 26">
            <a:extLst>
              <a:ext uri="{FF2B5EF4-FFF2-40B4-BE49-F238E27FC236}">
                <a16:creationId xmlns:a16="http://schemas.microsoft.com/office/drawing/2014/main" id="{D1F5DE98-871D-4589-9993-1E27DDEAFF0E}"/>
              </a:ext>
            </a:extLst>
          </p:cNvPr>
          <p:cNvSpPr>
            <a:spLocks noGrp="1"/>
          </p:cNvSpPr>
          <p:nvPr/>
        </p:nvSpPr>
        <p:spPr>
          <a:xfrm>
            <a:off x="2857500" y="4527890"/>
            <a:ext cx="4324350" cy="209550"/>
          </a:xfrm>
          <a:prstGeom prst="roundRect">
            <a:avLst>
              <a:gd name="adj" fmla="val 15385"/>
            </a:avLst>
          </a:prstGeom>
          <a:solidFill>
            <a:srgbClr val="2A9D8F">
              <a:alpha val="7843"/>
            </a:srgbClr>
          </a:solidFill>
          <a:ln w="9525">
            <a:solidFill>
              <a:srgbClr val="2A9D8F"/>
            </a:solidFill>
            <a:prstDash val="solid"/>
          </a:ln>
        </p:spPr>
        <p:txBody>
          <a:bodyPr/>
          <a:lstStyle/>
          <a:p>
            <a:endParaRPr/>
          </a:p>
        </p:txBody>
      </p:sp>
      <p:sp>
        <p:nvSpPr>
          <p:cNvPr id="28" name="Rounded Rectangle 27">
            <a:extLst>
              <a:ext uri="{FF2B5EF4-FFF2-40B4-BE49-F238E27FC236}">
                <a16:creationId xmlns:a16="http://schemas.microsoft.com/office/drawing/2014/main" id="{F801455C-1467-48A1-9CF6-ABB95C07BC48}"/>
              </a:ext>
            </a:extLst>
          </p:cNvPr>
          <p:cNvSpPr>
            <a:spLocks noGrp="1"/>
          </p:cNvSpPr>
          <p:nvPr/>
        </p:nvSpPr>
        <p:spPr>
          <a:xfrm>
            <a:off x="7150194" y="4506318"/>
            <a:ext cx="28575" cy="247650"/>
          </a:xfrm>
          <a:prstGeom prst="roundRect">
            <a:avLst>
              <a:gd name="adj" fmla="val 50000"/>
            </a:avLst>
          </a:prstGeom>
          <a:solidFill>
            <a:srgbClr val="2A9D8F"/>
          </a:solidFill>
          <a:ln w="0">
            <a:solidFill>
              <a:srgbClr val="000000">
                <a:alpha val="0"/>
              </a:srgbClr>
            </a:solidFill>
            <a:prstDash val="solid"/>
          </a:ln>
        </p:spPr>
        <p:txBody>
          <a:bodyPr/>
          <a:lstStyle/>
          <a:p>
            <a:endParaRPr/>
          </a:p>
        </p:txBody>
      </p:sp>
      <p:sp>
        <p:nvSpPr>
          <p:cNvPr id="29" name="Rounded Rectangle 28">
            <a:extLst>
              <a:ext uri="{FF2B5EF4-FFF2-40B4-BE49-F238E27FC236}">
                <a16:creationId xmlns:a16="http://schemas.microsoft.com/office/drawing/2014/main" id="{F6A213B9-7D0B-41BA-91C9-3102CC2E923F}"/>
              </a:ext>
            </a:extLst>
          </p:cNvPr>
          <p:cNvSpPr>
            <a:spLocks noGrp="1"/>
          </p:cNvSpPr>
          <p:nvPr/>
        </p:nvSpPr>
        <p:spPr>
          <a:xfrm>
            <a:off x="7204262" y="4637427"/>
            <a:ext cx="2686050" cy="28575"/>
          </a:xfrm>
          <a:prstGeom prst="roundRect">
            <a:avLst>
              <a:gd name="adj" fmla="val 50000"/>
            </a:avLst>
          </a:prstGeom>
          <a:solidFill>
            <a:srgbClr val="2A9D8F"/>
          </a:solidFill>
          <a:ln w="0">
            <a:solidFill>
              <a:srgbClr val="000000">
                <a:alpha val="0"/>
              </a:srgbClr>
            </a:solidFill>
            <a:prstDash val="solid"/>
          </a:ln>
        </p:spPr>
        <p:txBody>
          <a:bodyPr/>
          <a:lstStyle/>
          <a:p>
            <a:endParaRPr/>
          </a:p>
        </p:txBody>
      </p:sp>
      <p:sp>
        <p:nvSpPr>
          <p:cNvPr id="30" name="Rounded Rectangle 29">
            <a:extLst>
              <a:ext uri="{FF2B5EF4-FFF2-40B4-BE49-F238E27FC236}">
                <a16:creationId xmlns:a16="http://schemas.microsoft.com/office/drawing/2014/main" id="{B3308994-1DB5-427D-BE7C-FCCE18273875}"/>
              </a:ext>
            </a:extLst>
          </p:cNvPr>
          <p:cNvSpPr>
            <a:spLocks noGrp="1"/>
          </p:cNvSpPr>
          <p:nvPr/>
        </p:nvSpPr>
        <p:spPr>
          <a:xfrm>
            <a:off x="9544050" y="4565990"/>
            <a:ext cx="1638300" cy="400050"/>
          </a:xfrm>
          <a:prstGeom prst="roundRect">
            <a:avLst>
              <a:gd name="adj" fmla="val 14286"/>
            </a:avLst>
          </a:prstGeom>
          <a:solidFill>
            <a:srgbClr val="DDEDE9"/>
          </a:solidFill>
          <a:ln w="9525">
            <a:solidFill>
              <a:srgbClr val="2A9D8F"/>
            </a:solidFill>
            <a:prstDash val="solid"/>
          </a:ln>
        </p:spPr>
        <p:txBody>
          <a:bodyPr wrap="square" lIns="57150" tIns="38100" rIns="57150" bIns="38100" anchor="ctr"/>
          <a:lstStyle/>
          <a:p>
            <a:pPr algn="ctr">
              <a:lnSpc>
                <a:spcPct val="108000"/>
              </a:lnSpc>
              <a:buNone/>
              <a:defRPr sz="780" b="1">
                <a:solidFill>
                  <a:srgbClr val="264653"/>
                </a:solidFill>
                <a:latin typeface="Aptos"/>
                <a:ea typeface="Aptos"/>
                <a:cs typeface="Aptos"/>
              </a:defRPr>
            </a:pPr>
            <a:r>
              <a:rPr sz="780" b="1">
                <a:solidFill>
                  <a:srgbClr val="264653"/>
                </a:solidFill>
                <a:latin typeface="Aptos"/>
                <a:ea typeface="Aptos"/>
                <a:cs typeface="Aptos"/>
              </a:rPr>
              <a:t>M5: break after</a:t>
            </a:r>
          </a:p>
          <a:p>
            <a:pPr algn="ctr">
              <a:lnSpc>
                <a:spcPct val="108000"/>
              </a:lnSpc>
              <a:buNone/>
              <a:defRPr sz="780" b="1">
                <a:solidFill>
                  <a:srgbClr val="264653"/>
                </a:solidFill>
                <a:latin typeface="Aptos"/>
                <a:ea typeface="Aptos"/>
                <a:cs typeface="Aptos"/>
              </a:defRPr>
            </a:pPr>
            <a:r>
              <a:rPr sz="780" b="1">
                <a:solidFill>
                  <a:srgbClr val="264653"/>
                </a:solidFill>
                <a:latin typeface="Aptos"/>
                <a:ea typeface="Aptos"/>
                <a:cs typeface="Aptos"/>
              </a:rPr>
              <a:t>December 1755.</a:t>
            </a:r>
          </a:p>
        </p:txBody>
      </p:sp>
    </p:spTree>
    <p:extLst>
      <p:ext uri="{BB962C8B-B14F-4D97-AF65-F5344CB8AC3E}">
        <p14:creationId xmlns:p14="http://schemas.microsoft.com/office/powerpoint/2010/main" val="761033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A2C840B-18BF-4146-8B13-EC05E6B5199D}"/>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3E3E0D7A-5FB4-4100-82A0-F7D9B8BB08F9}"/>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C6722F24-3D7B-4DE7-A7D5-4CEE13B92EC1}"/>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Interpretation</a:t>
            </a:r>
          </a:p>
        </p:txBody>
      </p:sp>
      <p:sp>
        <p:nvSpPr>
          <p:cNvPr id="4" name="Rectangle 3">
            <a:extLst>
              <a:ext uri="{FF2B5EF4-FFF2-40B4-BE49-F238E27FC236}">
                <a16:creationId xmlns:a16="http://schemas.microsoft.com/office/drawing/2014/main" id="{89A6793D-412D-4885-A060-EF0A4CC7346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Conclusion</a:t>
            </a:r>
          </a:p>
        </p:txBody>
      </p:sp>
      <p:sp>
        <p:nvSpPr>
          <p:cNvPr id="5" name="Rectangle 4">
            <a:extLst>
              <a:ext uri="{FF2B5EF4-FFF2-40B4-BE49-F238E27FC236}">
                <a16:creationId xmlns:a16="http://schemas.microsoft.com/office/drawing/2014/main" id="{E78973E4-6EF4-4752-A282-25644C48872C}"/>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3CE91F2D-2CF2-4BB1-AE49-8AE34A3B7BF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13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0B6DE8ED-CE10-4A9C-BC5E-6B86D1A88078}"/>
              </a:ext>
            </a:extLst>
          </p:cNvPr>
          <p:cNvSpPr>
            <a:spLocks noGrp="1"/>
          </p:cNvSpPr>
          <p:nvPr/>
        </p:nvSpPr>
        <p:spPr>
          <a:xfrm>
            <a:off x="533400" y="1104900"/>
            <a:ext cx="3390900" cy="3829050"/>
          </a:xfrm>
          <a:prstGeom prst="roundRect">
            <a:avLst>
              <a:gd name="adj" fmla="val 1685"/>
            </a:avLst>
          </a:prstGeom>
          <a:solidFill>
            <a:srgbClr val="FFFDF7"/>
          </a:solidFill>
          <a:ln w="9525">
            <a:solidFill>
              <a:srgbClr val="2A9D8F"/>
            </a:solidFill>
            <a:prstDash val="solid"/>
          </a:ln>
        </p:spPr>
        <p:txBody>
          <a:bodyPr/>
          <a:lstStyle/>
          <a:p>
            <a:endParaRPr/>
          </a:p>
        </p:txBody>
      </p:sp>
      <p:sp>
        <p:nvSpPr>
          <p:cNvPr id="8" name="Rounded Rectangle 7">
            <a:extLst>
              <a:ext uri="{FF2B5EF4-FFF2-40B4-BE49-F238E27FC236}">
                <a16:creationId xmlns:a16="http://schemas.microsoft.com/office/drawing/2014/main" id="{199C4592-8A75-44D2-8C31-9D0308805684}"/>
              </a:ext>
            </a:extLst>
          </p:cNvPr>
          <p:cNvSpPr>
            <a:spLocks noGrp="1"/>
          </p:cNvSpPr>
          <p:nvPr/>
        </p:nvSpPr>
        <p:spPr>
          <a:xfrm>
            <a:off x="533400" y="1104900"/>
            <a:ext cx="3390900" cy="457200"/>
          </a:xfrm>
          <a:prstGeom prst="roundRect">
            <a:avLst>
              <a:gd name="adj" fmla="val 12500"/>
            </a:avLst>
          </a:prstGeom>
          <a:solidFill>
            <a:srgbClr val="2A9D8F"/>
          </a:solidFill>
          <a:ln w="0">
            <a:solidFill>
              <a:srgbClr val="000000">
                <a:alpha val="0"/>
              </a:srgbClr>
            </a:solidFill>
            <a:prstDash val="solid"/>
          </a:ln>
        </p:spPr>
        <p:txBody>
          <a:bodyPr/>
          <a:lstStyle/>
          <a:p>
            <a:endParaRPr/>
          </a:p>
        </p:txBody>
      </p:sp>
      <p:sp>
        <p:nvSpPr>
          <p:cNvPr id="9" name="Rectangle 8">
            <a:extLst>
              <a:ext uri="{FF2B5EF4-FFF2-40B4-BE49-F238E27FC236}">
                <a16:creationId xmlns:a16="http://schemas.microsoft.com/office/drawing/2014/main" id="{C48C6A6B-B567-41CE-9C40-170BC5CE2AA0}"/>
              </a:ext>
            </a:extLst>
          </p:cNvPr>
          <p:cNvSpPr>
            <a:spLocks noGrp="1"/>
          </p:cNvSpPr>
          <p:nvPr/>
        </p:nvSpPr>
        <p:spPr>
          <a:xfrm>
            <a:off x="685800" y="1238250"/>
            <a:ext cx="3086100" cy="1905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275" b="1">
                <a:solidFill>
                  <a:srgbClr val="FFFFFF"/>
                </a:solidFill>
                <a:latin typeface="Aptos"/>
                <a:ea typeface="Aptos"/>
                <a:cs typeface="Aptos"/>
              </a:defRPr>
            </a:pPr>
            <a:r>
              <a:rPr sz="1400" b="1">
                <a:solidFill>
                  <a:srgbClr val="FFFFFF"/>
                </a:solidFill>
                <a:latin typeface="Aptos"/>
                <a:ea typeface="Aptos"/>
                <a:cs typeface="Aptos"/>
              </a:rPr>
              <a:t>Established Within Scope</a:t>
            </a:r>
          </a:p>
        </p:txBody>
      </p:sp>
      <p:sp>
        <p:nvSpPr>
          <p:cNvPr id="10" name="Rectangle 9">
            <a:extLst>
              <a:ext uri="{FF2B5EF4-FFF2-40B4-BE49-F238E27FC236}">
                <a16:creationId xmlns:a16="http://schemas.microsoft.com/office/drawing/2014/main" id="{94CD24A8-B354-40DC-9A9D-D18BF62082E9}"/>
              </a:ext>
            </a:extLst>
          </p:cNvPr>
          <p:cNvSpPr>
            <a:spLocks noGrp="1"/>
          </p:cNvSpPr>
          <p:nvPr/>
        </p:nvSpPr>
        <p:spPr>
          <a:xfrm>
            <a:off x="857250" y="1962150"/>
            <a:ext cx="2743200" cy="21907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a:t>
            </a:r>
            <a:r>
              <a:rPr sz="1400">
                <a:solidFill>
                  <a:srgbClr val="142026"/>
                </a:solidFill>
                <a:latin typeface="Aptos"/>
                <a:ea typeface="Aptos"/>
                <a:cs typeface="Aptos"/>
              </a:rPr>
              <a:t>B</a:t>
            </a:r>
            <a:r>
              <a:rPr sz="1400" b="0">
                <a:solidFill>
                  <a:srgbClr val="142026"/>
                </a:solidFill>
                <a:latin typeface="Aptos"/>
                <a:ea typeface="Aptos"/>
                <a:cs typeface="Aptos"/>
              </a:rPr>
              <a:t>oundary prediction over fixed text</a:t>
            </a:r>
          </a:p>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M5 is highest-scoring among evaluated LLM/VLM setups</a:t>
            </a:r>
          </a:p>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Output control is central</a:t>
            </a:r>
          </a:p>
        </p:txBody>
      </p:sp>
      <p:sp>
        <p:nvSpPr>
          <p:cNvPr id="11" name="Rounded Rectangle 10">
            <a:extLst>
              <a:ext uri="{FF2B5EF4-FFF2-40B4-BE49-F238E27FC236}">
                <a16:creationId xmlns:a16="http://schemas.microsoft.com/office/drawing/2014/main" id="{1013A13E-C05C-4EC4-872D-F9CA79DAE0B5}"/>
              </a:ext>
            </a:extLst>
          </p:cNvPr>
          <p:cNvSpPr>
            <a:spLocks noGrp="1"/>
          </p:cNvSpPr>
          <p:nvPr/>
        </p:nvSpPr>
        <p:spPr>
          <a:xfrm>
            <a:off x="4400550" y="1104900"/>
            <a:ext cx="3390900" cy="3829050"/>
          </a:xfrm>
          <a:prstGeom prst="roundRect">
            <a:avLst>
              <a:gd name="adj" fmla="val 1685"/>
            </a:avLst>
          </a:prstGeom>
          <a:solidFill>
            <a:srgbClr val="FFFDF7"/>
          </a:solidFill>
          <a:ln w="9525">
            <a:solidFill>
              <a:srgbClr val="D4A373"/>
            </a:solidFill>
            <a:prstDash val="solid"/>
          </a:ln>
        </p:spPr>
        <p:txBody>
          <a:bodyPr/>
          <a:lstStyle/>
          <a:p>
            <a:endParaRPr/>
          </a:p>
        </p:txBody>
      </p:sp>
      <p:sp>
        <p:nvSpPr>
          <p:cNvPr id="12" name="Rounded Rectangle 11">
            <a:extLst>
              <a:ext uri="{FF2B5EF4-FFF2-40B4-BE49-F238E27FC236}">
                <a16:creationId xmlns:a16="http://schemas.microsoft.com/office/drawing/2014/main" id="{A5AC8190-1064-4DEE-9437-D6A32C578841}"/>
              </a:ext>
            </a:extLst>
          </p:cNvPr>
          <p:cNvSpPr>
            <a:spLocks noGrp="1"/>
          </p:cNvSpPr>
          <p:nvPr/>
        </p:nvSpPr>
        <p:spPr>
          <a:xfrm>
            <a:off x="4400550" y="1104900"/>
            <a:ext cx="3390900" cy="457200"/>
          </a:xfrm>
          <a:prstGeom prst="roundRect">
            <a:avLst>
              <a:gd name="adj" fmla="val 12500"/>
            </a:avLst>
          </a:prstGeom>
          <a:solidFill>
            <a:srgbClr val="D4A373"/>
          </a:solidFill>
          <a:ln w="0">
            <a:solidFill>
              <a:srgbClr val="000000">
                <a:alpha val="0"/>
              </a:srgbClr>
            </a:solidFill>
            <a:prstDash val="solid"/>
          </a:ln>
        </p:spPr>
        <p:txBody>
          <a:bodyPr/>
          <a:lstStyle/>
          <a:p>
            <a:endParaRPr/>
          </a:p>
        </p:txBody>
      </p:sp>
      <p:sp>
        <p:nvSpPr>
          <p:cNvPr id="13" name="Rectangle 12">
            <a:extLst>
              <a:ext uri="{FF2B5EF4-FFF2-40B4-BE49-F238E27FC236}">
                <a16:creationId xmlns:a16="http://schemas.microsoft.com/office/drawing/2014/main" id="{31A26BBF-668F-4A17-9DC0-D66994FA23CC}"/>
              </a:ext>
            </a:extLst>
          </p:cNvPr>
          <p:cNvSpPr>
            <a:spLocks noGrp="1"/>
          </p:cNvSpPr>
          <p:nvPr/>
        </p:nvSpPr>
        <p:spPr>
          <a:xfrm>
            <a:off x="4552950" y="1238250"/>
            <a:ext cx="3086100" cy="1905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275" b="1">
                <a:solidFill>
                  <a:srgbClr val="FFFFFF"/>
                </a:solidFill>
                <a:latin typeface="Aptos"/>
                <a:ea typeface="Aptos"/>
                <a:cs typeface="Aptos"/>
              </a:defRPr>
            </a:pPr>
            <a:r>
              <a:rPr sz="1400" b="1">
                <a:solidFill>
                  <a:srgbClr val="FFFFFF"/>
                </a:solidFill>
                <a:latin typeface="Aptos"/>
                <a:ea typeface="Aptos"/>
                <a:cs typeface="Aptos"/>
              </a:rPr>
              <a:t>Limits</a:t>
            </a:r>
          </a:p>
        </p:txBody>
      </p:sp>
      <p:sp>
        <p:nvSpPr>
          <p:cNvPr id="14" name="Rectangle 13">
            <a:extLst>
              <a:ext uri="{FF2B5EF4-FFF2-40B4-BE49-F238E27FC236}">
                <a16:creationId xmlns:a16="http://schemas.microsoft.com/office/drawing/2014/main" id="{457B7859-710B-4B38-9BA4-1BB0D1849FC7}"/>
              </a:ext>
            </a:extLst>
          </p:cNvPr>
          <p:cNvSpPr>
            <a:spLocks noGrp="1"/>
          </p:cNvSpPr>
          <p:nvPr/>
        </p:nvSpPr>
        <p:spPr>
          <a:xfrm>
            <a:off x="4724400" y="1962150"/>
            <a:ext cx="2743200" cy="21907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Close and dataset-dependent vs. NNTP</a:t>
            </a:r>
          </a:p>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Known-count structured setting</a:t>
            </a:r>
          </a:p>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Configuration-Level Evidence</a:t>
            </a:r>
          </a:p>
        </p:txBody>
      </p:sp>
      <p:sp>
        <p:nvSpPr>
          <p:cNvPr id="15" name="Rounded Rectangle 14">
            <a:extLst>
              <a:ext uri="{FF2B5EF4-FFF2-40B4-BE49-F238E27FC236}">
                <a16:creationId xmlns:a16="http://schemas.microsoft.com/office/drawing/2014/main" id="{68C03008-7E21-436A-82A8-3DC8CF1FAAFB}"/>
              </a:ext>
            </a:extLst>
          </p:cNvPr>
          <p:cNvSpPr>
            <a:spLocks noGrp="1"/>
          </p:cNvSpPr>
          <p:nvPr/>
        </p:nvSpPr>
        <p:spPr>
          <a:xfrm>
            <a:off x="8267700" y="1104900"/>
            <a:ext cx="3390900" cy="3829050"/>
          </a:xfrm>
          <a:prstGeom prst="roundRect">
            <a:avLst>
              <a:gd name="adj" fmla="val 1685"/>
            </a:avLst>
          </a:prstGeom>
          <a:solidFill>
            <a:srgbClr val="FFFDF7"/>
          </a:solidFill>
          <a:ln w="9525">
            <a:solidFill>
              <a:srgbClr val="E76F51"/>
            </a:solidFill>
            <a:prstDash val="solid"/>
          </a:ln>
        </p:spPr>
        <p:txBody>
          <a:bodyPr/>
          <a:lstStyle/>
          <a:p>
            <a:endParaRPr/>
          </a:p>
        </p:txBody>
      </p:sp>
      <p:sp>
        <p:nvSpPr>
          <p:cNvPr id="16" name="Rounded Rectangle 15">
            <a:extLst>
              <a:ext uri="{FF2B5EF4-FFF2-40B4-BE49-F238E27FC236}">
                <a16:creationId xmlns:a16="http://schemas.microsoft.com/office/drawing/2014/main" id="{870C7384-067B-4CA0-BCD1-09D8F4C44B52}"/>
              </a:ext>
            </a:extLst>
          </p:cNvPr>
          <p:cNvSpPr>
            <a:spLocks noGrp="1"/>
          </p:cNvSpPr>
          <p:nvPr/>
        </p:nvSpPr>
        <p:spPr>
          <a:xfrm>
            <a:off x="8267700" y="1104900"/>
            <a:ext cx="3390900" cy="457200"/>
          </a:xfrm>
          <a:prstGeom prst="roundRect">
            <a:avLst>
              <a:gd name="adj" fmla="val 12500"/>
            </a:avLst>
          </a:prstGeom>
          <a:solidFill>
            <a:srgbClr val="E76F51"/>
          </a:solidFill>
          <a:ln w="0">
            <a:solidFill>
              <a:srgbClr val="000000">
                <a:alpha val="0"/>
              </a:srgbClr>
            </a:solidFill>
            <a:prstDash val="solid"/>
          </a:ln>
        </p:spPr>
        <p:txBody>
          <a:bodyPr/>
          <a:lstStyle/>
          <a:p>
            <a:endParaRPr/>
          </a:p>
        </p:txBody>
      </p:sp>
      <p:sp>
        <p:nvSpPr>
          <p:cNvPr id="17" name="Rectangle 16">
            <a:extLst>
              <a:ext uri="{FF2B5EF4-FFF2-40B4-BE49-F238E27FC236}">
                <a16:creationId xmlns:a16="http://schemas.microsoft.com/office/drawing/2014/main" id="{83E05CE1-6E0B-48F5-A051-F69EF502E6E4}"/>
              </a:ext>
            </a:extLst>
          </p:cNvPr>
          <p:cNvSpPr>
            <a:spLocks noGrp="1"/>
          </p:cNvSpPr>
          <p:nvPr/>
        </p:nvSpPr>
        <p:spPr>
          <a:xfrm>
            <a:off x="8420100" y="1238250"/>
            <a:ext cx="3086100" cy="1905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275" b="1">
                <a:solidFill>
                  <a:srgbClr val="FFFFFF"/>
                </a:solidFill>
                <a:latin typeface="Aptos"/>
                <a:ea typeface="Aptos"/>
                <a:cs typeface="Aptos"/>
              </a:defRPr>
            </a:pPr>
            <a:r>
              <a:rPr sz="1400" b="1">
                <a:solidFill>
                  <a:srgbClr val="FFFFFF"/>
                </a:solidFill>
                <a:latin typeface="Aptos"/>
                <a:ea typeface="Aptos"/>
                <a:cs typeface="Aptos"/>
              </a:rPr>
              <a:t>Future Work</a:t>
            </a:r>
          </a:p>
        </p:txBody>
      </p:sp>
      <p:sp>
        <p:nvSpPr>
          <p:cNvPr id="18" name="Rectangle 17">
            <a:extLst>
              <a:ext uri="{FF2B5EF4-FFF2-40B4-BE49-F238E27FC236}">
                <a16:creationId xmlns:a16="http://schemas.microsoft.com/office/drawing/2014/main" id="{4639EC00-88BC-4D1D-B292-EB5DEB71BE45}"/>
              </a:ext>
            </a:extLst>
          </p:cNvPr>
          <p:cNvSpPr>
            <a:spLocks noGrp="1"/>
          </p:cNvSpPr>
          <p:nvPr/>
        </p:nvSpPr>
        <p:spPr>
          <a:xfrm>
            <a:off x="8591550" y="1962150"/>
            <a:ext cx="2743200" cy="21907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Blind line-count / segmentation setting</a:t>
            </a:r>
          </a:p>
          <a:p>
            <a:pPr>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C</a:t>
            </a:r>
            <a:r>
              <a:rPr sz="1400">
                <a:solidFill>
                  <a:srgbClr val="142026"/>
                </a:solidFill>
                <a:latin typeface="Aptos"/>
                <a:ea typeface="Aptos"/>
                <a:cs typeface="Aptos"/>
              </a:rPr>
              <a:t>omponent-level isolation</a:t>
            </a:r>
          </a:p>
          <a:p>
            <a:pPr algn="l">
              <a:lnSpc>
                <a:spcPct val="126000"/>
              </a:lnSpc>
              <a:buNone/>
              <a:defRPr sz="1320" b="0">
                <a:solidFill>
                  <a:srgbClr val="142026"/>
                </a:solidFill>
                <a:latin typeface="Aptos"/>
                <a:ea typeface="Aptos"/>
                <a:cs typeface="Aptos"/>
              </a:defRPr>
            </a:pPr>
            <a:r>
              <a:rPr sz="1400" b="0">
                <a:solidFill>
                  <a:srgbClr val="142026"/>
                </a:solidFill>
                <a:latin typeface="Aptos"/>
                <a:ea typeface="Aptos"/>
                <a:cs typeface="Aptos"/>
              </a:rPr>
              <a:t>- Direct boundary prediction / constrained decoding</a:t>
            </a:r>
          </a:p>
        </p:txBody>
      </p:sp>
    </p:spTree>
    <p:extLst>
      <p:ext uri="{BB962C8B-B14F-4D97-AF65-F5344CB8AC3E}">
        <p14:creationId xmlns:p14="http://schemas.microsoft.com/office/powerpoint/2010/main" val="1767162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64653"/>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0673400-725A-4A96-9A1F-0260CB5955D6}"/>
              </a:ext>
            </a:extLst>
          </p:cNvPr>
          <p:cNvSpPr>
            <a:spLocks noGrp="1"/>
          </p:cNvSpPr>
          <p:nvPr/>
        </p:nvSpPr>
        <p:spPr>
          <a:xfrm>
            <a:off x="514350" y="723900"/>
            <a:ext cx="66675" cy="323850"/>
          </a:xfrm>
          <a:prstGeom prst="rect">
            <a:avLst/>
          </a:prstGeom>
          <a:solidFill>
            <a:srgbClr val="2A9D8F"/>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5F66EC6B-7D1D-45A5-9AB3-13192FED90CA}"/>
              </a:ext>
            </a:extLst>
          </p:cNvPr>
          <p:cNvSpPr>
            <a:spLocks noGrp="1"/>
          </p:cNvSpPr>
          <p:nvPr/>
        </p:nvSpPr>
        <p:spPr>
          <a:xfrm>
            <a:off x="704850" y="685800"/>
            <a:ext cx="8096250" cy="3810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From Prompting To Controlled Alignment</a:t>
            </a:r>
          </a:p>
        </p:txBody>
      </p:sp>
      <p:sp>
        <p:nvSpPr>
          <p:cNvPr id="3" name="Rectangle 2">
            <a:extLst>
              <a:ext uri="{FF2B5EF4-FFF2-40B4-BE49-F238E27FC236}">
                <a16:creationId xmlns:a16="http://schemas.microsoft.com/office/drawing/2014/main" id="{8DB42E76-8B0A-4885-9D2F-5B36530BCB1A}"/>
              </a:ext>
            </a:extLst>
          </p:cNvPr>
          <p:cNvSpPr>
            <a:spLocks noGrp="1"/>
          </p:cNvSpPr>
          <p:nvPr/>
        </p:nvSpPr>
        <p:spPr>
          <a:xfrm>
            <a:off x="819150" y="1790700"/>
            <a:ext cx="9906000" cy="781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04000"/>
              </a:lnSpc>
              <a:buNone/>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Newline-only alignment moves from weakly constrained prompting to structured boundary assignment.</a:t>
            </a:r>
          </a:p>
        </p:txBody>
      </p:sp>
      <p:sp>
        <p:nvSpPr>
          <p:cNvPr id="4" name="Rectangle 3">
            <a:extLst>
              <a:ext uri="{FF2B5EF4-FFF2-40B4-BE49-F238E27FC236}">
                <a16:creationId xmlns:a16="http://schemas.microsoft.com/office/drawing/2014/main" id="{5A935EDC-08A8-4536-A9FE-259BC1780A7A}"/>
              </a:ext>
            </a:extLst>
          </p:cNvPr>
          <p:cNvSpPr>
            <a:spLocks noGrp="1"/>
          </p:cNvSpPr>
          <p:nvPr/>
        </p:nvSpPr>
        <p:spPr>
          <a:xfrm>
            <a:off x="819150" y="2876550"/>
            <a:ext cx="8191500" cy="19050"/>
          </a:xfrm>
          <a:prstGeom prst="rect">
            <a:avLst/>
          </a:prstGeom>
          <a:solidFill>
            <a:srgbClr val="2A9D8F"/>
          </a:solidFill>
          <a:ln w="0">
            <a:solidFill>
              <a:srgbClr val="000000">
                <a:alpha val="0"/>
              </a:srgbClr>
            </a:solidFill>
            <a:prstDash val="solid"/>
          </a:ln>
        </p:spPr>
        <p:txBody>
          <a:bodyPr/>
          <a:lstStyle/>
          <a:p>
            <a:endParaRPr/>
          </a:p>
        </p:txBody>
      </p:sp>
      <p:sp>
        <p:nvSpPr>
          <p:cNvPr id="5" name="Rounded Rectangle 4">
            <a:extLst>
              <a:ext uri="{FF2B5EF4-FFF2-40B4-BE49-F238E27FC236}">
                <a16:creationId xmlns:a16="http://schemas.microsoft.com/office/drawing/2014/main" id="{71C59024-F9F8-49DF-B142-F89930DD1198}"/>
              </a:ext>
            </a:extLst>
          </p:cNvPr>
          <p:cNvSpPr>
            <a:spLocks noGrp="1"/>
          </p:cNvSpPr>
          <p:nvPr/>
        </p:nvSpPr>
        <p:spPr>
          <a:xfrm>
            <a:off x="857250" y="3562350"/>
            <a:ext cx="3048000" cy="1085850"/>
          </a:xfrm>
          <a:prstGeom prst="roundRect">
            <a:avLst>
              <a:gd name="adj" fmla="val 5263"/>
            </a:avLst>
          </a:prstGeom>
          <a:solidFill>
            <a:srgbClr val="FFFFFF">
              <a:alpha val="6275"/>
            </a:srgbClr>
          </a:solidFill>
          <a:ln w="9525">
            <a:solidFill>
              <a:srgbClr val="6FB7AD"/>
            </a:solidFill>
            <a:prstDash val="solid"/>
          </a:ln>
        </p:spPr>
        <p:txBody>
          <a:bodyPr/>
          <a:lstStyle/>
          <a:p>
            <a:endParaRPr/>
          </a:p>
        </p:txBody>
      </p:sp>
      <p:sp>
        <p:nvSpPr>
          <p:cNvPr id="6" name="Rounded Rectangle 5">
            <a:extLst>
              <a:ext uri="{FF2B5EF4-FFF2-40B4-BE49-F238E27FC236}">
                <a16:creationId xmlns:a16="http://schemas.microsoft.com/office/drawing/2014/main" id="{050E9BA2-6C55-4225-989D-BD3B8478AC1E}"/>
              </a:ext>
            </a:extLst>
          </p:cNvPr>
          <p:cNvSpPr>
            <a:spLocks noGrp="1"/>
          </p:cNvSpPr>
          <p:nvPr/>
        </p:nvSpPr>
        <p:spPr>
          <a:xfrm>
            <a:off x="1028700" y="3790950"/>
            <a:ext cx="323850" cy="323850"/>
          </a:xfrm>
          <a:prstGeom prst="roundRect">
            <a:avLst>
              <a:gd name="adj" fmla="val 17647"/>
            </a:avLst>
          </a:prstGeom>
          <a:solidFill>
            <a:srgbClr val="2A9D8F"/>
          </a:solidFill>
          <a:ln w="0">
            <a:solidFill>
              <a:srgbClr val="000000">
                <a:alpha val="0"/>
              </a:srgbClr>
            </a:solidFill>
            <a:prstDash val="solid"/>
          </a:ln>
        </p:spPr>
        <p:txBody>
          <a:bodyPr/>
          <a:lstStyle/>
          <a:p>
            <a:endParaRPr/>
          </a:p>
        </p:txBody>
      </p:sp>
      <p:sp>
        <p:nvSpPr>
          <p:cNvPr id="7" name="Rectangle 6">
            <a:extLst>
              <a:ext uri="{FF2B5EF4-FFF2-40B4-BE49-F238E27FC236}">
                <a16:creationId xmlns:a16="http://schemas.microsoft.com/office/drawing/2014/main" id="{938F5E82-2F8A-47A1-9A34-13725EAF143C}"/>
              </a:ext>
            </a:extLst>
          </p:cNvPr>
          <p:cNvSpPr>
            <a:spLocks noGrp="1"/>
          </p:cNvSpPr>
          <p:nvPr/>
        </p:nvSpPr>
        <p:spPr>
          <a:xfrm>
            <a:off x="1028700" y="3857625"/>
            <a:ext cx="32385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8" name="Rectangle 7">
            <a:extLst>
              <a:ext uri="{FF2B5EF4-FFF2-40B4-BE49-F238E27FC236}">
                <a16:creationId xmlns:a16="http://schemas.microsoft.com/office/drawing/2014/main" id="{834D9106-B639-4134-9B4E-B8FECF0392BA}"/>
              </a:ext>
            </a:extLst>
          </p:cNvPr>
          <p:cNvSpPr>
            <a:spLocks noGrp="1"/>
          </p:cNvSpPr>
          <p:nvPr/>
        </p:nvSpPr>
        <p:spPr>
          <a:xfrm>
            <a:off x="1485900" y="3752850"/>
            <a:ext cx="2266950" cy="5143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10000"/>
              </a:lnSpc>
              <a:buNone/>
              <a:defRPr sz="1350" b="0">
                <a:solidFill>
                  <a:srgbClr val="F7F3EB"/>
                </a:solidFill>
                <a:latin typeface="Aptos"/>
                <a:ea typeface="Aptos"/>
                <a:cs typeface="Aptos"/>
              </a:defRPr>
            </a:pPr>
            <a:r>
              <a:rPr sz="1350" b="0">
                <a:solidFill>
                  <a:srgbClr val="F7F3EB"/>
                </a:solidFill>
                <a:latin typeface="Aptos"/>
                <a:ea typeface="Aptos"/>
                <a:cs typeface="Aptos"/>
              </a:rPr>
              <a:t>VLMs can use line-level visual evidence for transcription alignment.</a:t>
            </a:r>
          </a:p>
        </p:txBody>
      </p:sp>
      <p:sp>
        <p:nvSpPr>
          <p:cNvPr id="9" name="Rounded Rectangle 8">
            <a:extLst>
              <a:ext uri="{FF2B5EF4-FFF2-40B4-BE49-F238E27FC236}">
                <a16:creationId xmlns:a16="http://schemas.microsoft.com/office/drawing/2014/main" id="{F277BCBF-675D-4BBD-A2E5-4A4DE76FB0B1}"/>
              </a:ext>
            </a:extLst>
          </p:cNvPr>
          <p:cNvSpPr>
            <a:spLocks noGrp="1"/>
          </p:cNvSpPr>
          <p:nvPr/>
        </p:nvSpPr>
        <p:spPr>
          <a:xfrm>
            <a:off x="4476750" y="3562350"/>
            <a:ext cx="3048000" cy="1085850"/>
          </a:xfrm>
          <a:prstGeom prst="roundRect">
            <a:avLst>
              <a:gd name="adj" fmla="val 5263"/>
            </a:avLst>
          </a:prstGeom>
          <a:solidFill>
            <a:srgbClr val="FFFFFF">
              <a:alpha val="6275"/>
            </a:srgbClr>
          </a:solidFill>
          <a:ln w="9525">
            <a:solidFill>
              <a:srgbClr val="6FB7AD"/>
            </a:solidFill>
            <a:prstDash val="solid"/>
          </a:ln>
        </p:spPr>
        <p:txBody>
          <a:bodyPr/>
          <a:lstStyle/>
          <a:p>
            <a:endParaRPr/>
          </a:p>
        </p:txBody>
      </p:sp>
      <p:sp>
        <p:nvSpPr>
          <p:cNvPr id="10" name="Rounded Rectangle 9">
            <a:extLst>
              <a:ext uri="{FF2B5EF4-FFF2-40B4-BE49-F238E27FC236}">
                <a16:creationId xmlns:a16="http://schemas.microsoft.com/office/drawing/2014/main" id="{ED302436-C982-4F1A-98D2-581A23D4AF2A}"/>
              </a:ext>
            </a:extLst>
          </p:cNvPr>
          <p:cNvSpPr>
            <a:spLocks noGrp="1"/>
          </p:cNvSpPr>
          <p:nvPr/>
        </p:nvSpPr>
        <p:spPr>
          <a:xfrm>
            <a:off x="4648200" y="3790950"/>
            <a:ext cx="323850" cy="323850"/>
          </a:xfrm>
          <a:prstGeom prst="roundRect">
            <a:avLst>
              <a:gd name="adj" fmla="val 17647"/>
            </a:avLst>
          </a:prstGeom>
          <a:solidFill>
            <a:srgbClr val="2A9D8F"/>
          </a:solidFill>
          <a:ln w="0">
            <a:solidFill>
              <a:srgbClr val="000000">
                <a:alpha val="0"/>
              </a:srgbClr>
            </a:solidFill>
            <a:prstDash val="solid"/>
          </a:ln>
        </p:spPr>
        <p:txBody>
          <a:bodyPr/>
          <a:lstStyle/>
          <a:p>
            <a:endParaRPr/>
          </a:p>
        </p:txBody>
      </p:sp>
      <p:sp>
        <p:nvSpPr>
          <p:cNvPr id="11" name="Rectangle 10">
            <a:extLst>
              <a:ext uri="{FF2B5EF4-FFF2-40B4-BE49-F238E27FC236}">
                <a16:creationId xmlns:a16="http://schemas.microsoft.com/office/drawing/2014/main" id="{6A198A10-307F-4537-BAD4-0F57B8A4CB44}"/>
              </a:ext>
            </a:extLst>
          </p:cNvPr>
          <p:cNvSpPr>
            <a:spLocks noGrp="1"/>
          </p:cNvSpPr>
          <p:nvPr/>
        </p:nvSpPr>
        <p:spPr>
          <a:xfrm>
            <a:off x="4648200" y="3857625"/>
            <a:ext cx="32385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12" name="Rectangle 11">
            <a:extLst>
              <a:ext uri="{FF2B5EF4-FFF2-40B4-BE49-F238E27FC236}">
                <a16:creationId xmlns:a16="http://schemas.microsoft.com/office/drawing/2014/main" id="{116F9E07-6D81-4C73-AB7E-D8C15281024B}"/>
              </a:ext>
            </a:extLst>
          </p:cNvPr>
          <p:cNvSpPr>
            <a:spLocks noGrp="1"/>
          </p:cNvSpPr>
          <p:nvPr/>
        </p:nvSpPr>
        <p:spPr>
          <a:xfrm>
            <a:off x="5105400" y="3752850"/>
            <a:ext cx="2266950" cy="5143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lnSpc>
                <a:spcPct val="110000"/>
              </a:lnSpc>
              <a:buNone/>
              <a:defRPr sz="1350" b="0">
                <a:solidFill>
                  <a:srgbClr val="F7F3EB"/>
                </a:solidFill>
                <a:latin typeface="Aptos"/>
                <a:ea typeface="Aptos"/>
                <a:cs typeface="Aptos"/>
              </a:defRPr>
            </a:pPr>
            <a:r>
              <a:rPr sz="1350" b="0">
                <a:solidFill>
                  <a:srgbClr val="F7F3EB"/>
                </a:solidFill>
                <a:latin typeface="Aptos"/>
                <a:ea typeface="Aptos"/>
                <a:cs typeface="Aptos"/>
              </a:rPr>
              <a:t>Output control is what makes the result valid under fixed transcription.</a:t>
            </a:r>
          </a:p>
        </p:txBody>
      </p:sp>
      <p:sp>
        <p:nvSpPr>
          <p:cNvPr id="13" name="Rounded Rectangle 12">
            <a:extLst>
              <a:ext uri="{FF2B5EF4-FFF2-40B4-BE49-F238E27FC236}">
                <a16:creationId xmlns:a16="http://schemas.microsoft.com/office/drawing/2014/main" id="{8B630203-3AA2-41FF-B5DD-20EDB76AC11B}"/>
              </a:ext>
            </a:extLst>
          </p:cNvPr>
          <p:cNvSpPr>
            <a:spLocks noGrp="1"/>
          </p:cNvSpPr>
          <p:nvPr/>
        </p:nvSpPr>
        <p:spPr>
          <a:xfrm>
            <a:off x="8096250" y="3562350"/>
            <a:ext cx="3048000" cy="1085850"/>
          </a:xfrm>
          <a:prstGeom prst="roundRect">
            <a:avLst>
              <a:gd name="adj" fmla="val 5263"/>
            </a:avLst>
          </a:prstGeom>
          <a:solidFill>
            <a:srgbClr val="FFFFFF">
              <a:alpha val="6275"/>
            </a:srgbClr>
          </a:solidFill>
          <a:ln w="9525">
            <a:solidFill>
              <a:srgbClr val="6FB7AD"/>
            </a:solidFill>
            <a:prstDash val="solid"/>
          </a:ln>
        </p:spPr>
        <p:txBody>
          <a:bodyPr/>
          <a:lstStyle/>
          <a:p>
            <a:endParaRPr/>
          </a:p>
        </p:txBody>
      </p:sp>
      <p:sp>
        <p:nvSpPr>
          <p:cNvPr id="14" name="Rounded Rectangle 13">
            <a:extLst>
              <a:ext uri="{FF2B5EF4-FFF2-40B4-BE49-F238E27FC236}">
                <a16:creationId xmlns:a16="http://schemas.microsoft.com/office/drawing/2014/main" id="{828FEA2F-ED93-48BF-AEDE-149DD3EBB5E8}"/>
              </a:ext>
            </a:extLst>
          </p:cNvPr>
          <p:cNvSpPr>
            <a:spLocks noGrp="1"/>
          </p:cNvSpPr>
          <p:nvPr/>
        </p:nvSpPr>
        <p:spPr>
          <a:xfrm>
            <a:off x="8267700" y="3790950"/>
            <a:ext cx="323850" cy="323850"/>
          </a:xfrm>
          <a:prstGeom prst="roundRect">
            <a:avLst>
              <a:gd name="adj" fmla="val 17647"/>
            </a:avLst>
          </a:prstGeom>
          <a:solidFill>
            <a:srgbClr val="2A9D8F"/>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A46197C3-8959-4621-B48C-413A0B0BDCBA}"/>
              </a:ext>
            </a:extLst>
          </p:cNvPr>
          <p:cNvSpPr>
            <a:spLocks noGrp="1"/>
          </p:cNvSpPr>
          <p:nvPr/>
        </p:nvSpPr>
        <p:spPr>
          <a:xfrm>
            <a:off x="8267700" y="3857625"/>
            <a:ext cx="32385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16" name="Rectangle 15">
            <a:extLst>
              <a:ext uri="{FF2B5EF4-FFF2-40B4-BE49-F238E27FC236}">
                <a16:creationId xmlns:a16="http://schemas.microsoft.com/office/drawing/2014/main" id="{9C7FF0B2-B5CA-42BA-8FD0-52D04E0D5BE7}"/>
              </a:ext>
            </a:extLst>
          </p:cNvPr>
          <p:cNvSpPr>
            <a:spLocks noGrp="1"/>
          </p:cNvSpPr>
          <p:nvPr/>
        </p:nvSpPr>
        <p:spPr>
          <a:xfrm>
            <a:off x="8724900" y="3752850"/>
            <a:ext cx="2266950" cy="5143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nSpc>
                <a:spcPct val="110000"/>
              </a:lnSpc>
              <a:buNone/>
              <a:defRPr sz="1350" b="0">
                <a:solidFill>
                  <a:srgbClr val="F7F3EB"/>
                </a:solidFill>
                <a:latin typeface="Aptos"/>
                <a:ea typeface="Aptos"/>
                <a:cs typeface="Aptos"/>
              </a:defRPr>
            </a:pPr>
            <a:r>
              <a:rPr sz="1350"/>
              <a:t>The highest-scoring evaluated VLM setup is competitive with NNTP.</a:t>
            </a:r>
          </a:p>
        </p:txBody>
      </p:sp>
      <p:sp>
        <p:nvSpPr>
          <p:cNvPr id="17" name="Rectangle 16">
            <a:extLst>
              <a:ext uri="{FF2B5EF4-FFF2-40B4-BE49-F238E27FC236}">
                <a16:creationId xmlns:a16="http://schemas.microsoft.com/office/drawing/2014/main" id="{B2175A2B-1257-4513-BCAD-9FC357797F59}"/>
              </a:ext>
            </a:extLst>
          </p:cNvPr>
          <p:cNvSpPr>
            <a:spLocks noGrp="1"/>
          </p:cNvSpPr>
          <p:nvPr/>
        </p:nvSpPr>
        <p:spPr>
          <a:xfrm>
            <a:off x="819150" y="5619750"/>
            <a:ext cx="4953000" cy="2476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1575" b="1">
                <a:solidFill>
                  <a:srgbClr val="FFFFFF"/>
                </a:solidFill>
                <a:latin typeface="Aptos"/>
                <a:ea typeface="Aptos"/>
                <a:cs typeface="Aptos"/>
              </a:defRPr>
            </a:pPr>
            <a:r>
              <a:rPr sz="1575" b="1">
                <a:solidFill>
                  <a:srgbClr val="FFFFFF"/>
                </a:solidFill>
                <a:latin typeface="Aptos"/>
                <a:ea typeface="Aptos"/>
                <a:cs typeface="Aptos"/>
              </a:rPr>
              <a:t>Thank you!</a:t>
            </a:r>
          </a:p>
        </p:txBody>
      </p:sp>
      <p:sp>
        <p:nvSpPr>
          <p:cNvPr id="18" name="Rectangle 17">
            <a:extLst>
              <a:ext uri="{FF2B5EF4-FFF2-40B4-BE49-F238E27FC236}">
                <a16:creationId xmlns:a16="http://schemas.microsoft.com/office/drawing/2014/main" id="{AA3DCCF9-4098-4192-81C2-745D12095592}"/>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DDEDE9"/>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19" name="Rectangle 18">
            <a:extLst>
              <a:ext uri="{FF2B5EF4-FFF2-40B4-BE49-F238E27FC236}">
                <a16:creationId xmlns:a16="http://schemas.microsoft.com/office/drawing/2014/main" id="{62116F2A-A962-4F69-BDE0-8A609DB59A7A}"/>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14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Tree>
    <p:extLst>
      <p:ext uri="{BB962C8B-B14F-4D97-AF65-F5344CB8AC3E}">
        <p14:creationId xmlns:p14="http://schemas.microsoft.com/office/powerpoint/2010/main" val="1555081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4C3E7BE-CE3E-460D-BF9B-2CC31FCD2A25}"/>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0CE50D6E-4C7D-4376-B06C-5116BECFAD6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AF8E4997-1409-455C-8245-FFDFD87E09EC}"/>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a:t>
            </a:r>
          </a:p>
        </p:txBody>
      </p:sp>
      <p:sp>
        <p:nvSpPr>
          <p:cNvPr id="4" name="Rectangle 3">
            <a:extLst>
              <a:ext uri="{FF2B5EF4-FFF2-40B4-BE49-F238E27FC236}">
                <a16:creationId xmlns:a16="http://schemas.microsoft.com/office/drawing/2014/main" id="{43115C73-304E-44A1-B4AC-81E2212FADA6}"/>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Formal Task Definition</a:t>
            </a:r>
          </a:p>
        </p:txBody>
      </p:sp>
      <p:sp>
        <p:nvSpPr>
          <p:cNvPr id="5" name="Rectangle 4">
            <a:extLst>
              <a:ext uri="{FF2B5EF4-FFF2-40B4-BE49-F238E27FC236}">
                <a16:creationId xmlns:a16="http://schemas.microsoft.com/office/drawing/2014/main" id="{8B609866-4AC9-4472-92C9-7A6D41C41C0B}"/>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3B1ADECE-14B5-46D9-97E1-B1CF26352968}"/>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15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09680556-C79B-428C-BA55-EFA19D1E3EC6}"/>
              </a:ext>
            </a:extLst>
          </p:cNvPr>
          <p:cNvSpPr>
            <a:spLocks noGrp="1"/>
          </p:cNvSpPr>
          <p:nvPr/>
        </p:nvSpPr>
        <p:spPr>
          <a:xfrm>
            <a:off x="1257300" y="1524000"/>
            <a:ext cx="9677400" cy="2381250"/>
          </a:xfrm>
          <a:prstGeom prst="roundRect">
            <a:avLst>
              <a:gd name="adj" fmla="val 2400"/>
            </a:avLst>
          </a:prstGeom>
          <a:solidFill>
            <a:srgbClr val="FFFDF7"/>
          </a:solidFill>
          <a:ln w="9525">
            <a:solidFill>
              <a:srgbClr val="CFC7B8"/>
            </a:solidFill>
            <a:prstDash val="solid"/>
          </a:ln>
        </p:spPr>
        <p:txBody>
          <a:bodyPr/>
          <a:lstStyle/>
          <a:p>
            <a:endParaRPr/>
          </a:p>
        </p:txBody>
      </p:sp>
      <p:sp>
        <p:nvSpPr>
          <p:cNvPr id="8" name="Rectangle 7">
            <a:extLst>
              <a:ext uri="{FF2B5EF4-FFF2-40B4-BE49-F238E27FC236}">
                <a16:creationId xmlns:a16="http://schemas.microsoft.com/office/drawing/2014/main" id="{47A2F3C1-9D56-4B1B-BEBD-6826354FAB3E}"/>
              </a:ext>
            </a:extLst>
          </p:cNvPr>
          <p:cNvSpPr>
            <a:spLocks noGrp="1"/>
          </p:cNvSpPr>
          <p:nvPr/>
        </p:nvSpPr>
        <p:spPr>
          <a:xfrm>
            <a:off x="1809750" y="1924050"/>
            <a:ext cx="8572500" cy="3238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800" b="1">
                <a:solidFill>
                  <a:srgbClr val="142026"/>
                </a:solidFill>
                <a:latin typeface="Aptos"/>
                <a:ea typeface="Aptos"/>
                <a:cs typeface="Aptos"/>
              </a:defRPr>
            </a:pPr>
            <a:r>
              <a:rPr sz="1800" b="1">
                <a:solidFill>
                  <a:srgbClr val="142026"/>
                </a:solidFill>
                <a:latin typeface="Aptos"/>
                <a:ea typeface="Aptos"/>
                <a:cs typeface="Aptos"/>
              </a:rPr>
              <a:t>Given fixed transcription x, predict y such that remove_newlines(y) = x.</a:t>
            </a:r>
          </a:p>
        </p:txBody>
      </p:sp>
      <p:sp>
        <p:nvSpPr>
          <p:cNvPr id="9" name="Rectangle 8">
            <a:extLst>
              <a:ext uri="{FF2B5EF4-FFF2-40B4-BE49-F238E27FC236}">
                <a16:creationId xmlns:a16="http://schemas.microsoft.com/office/drawing/2014/main" id="{29EF7827-832D-424A-8734-4D3572CC6BFF}"/>
              </a:ext>
            </a:extLst>
          </p:cNvPr>
          <p:cNvSpPr>
            <a:spLocks noGrp="1"/>
          </p:cNvSpPr>
          <p:nvPr/>
        </p:nvSpPr>
        <p:spPr>
          <a:xfrm>
            <a:off x="2190750" y="2705100"/>
            <a:ext cx="7810500" cy="2857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350" b="0">
                <a:solidFill>
                  <a:srgbClr val="142026"/>
                </a:solidFill>
                <a:latin typeface="Aptos"/>
                <a:ea typeface="Aptos"/>
                <a:cs typeface="Aptos"/>
              </a:defRPr>
            </a:pPr>
            <a:r>
              <a:rPr sz="1350" b="0">
                <a:solidFill>
                  <a:srgbClr val="142026"/>
                </a:solidFill>
                <a:latin typeface="Aptos"/>
                <a:ea typeface="Aptos"/>
                <a:cs typeface="Aptos"/>
              </a:rPr>
              <a:t>Y(x) = all strings formed by inserting zero or more newline characters between existing characters of x</a:t>
            </a:r>
          </a:p>
        </p:txBody>
      </p:sp>
      <p:sp>
        <p:nvSpPr>
          <p:cNvPr id="10" name="Rectangle 9">
            <a:extLst>
              <a:ext uri="{FF2B5EF4-FFF2-40B4-BE49-F238E27FC236}">
                <a16:creationId xmlns:a16="http://schemas.microsoft.com/office/drawing/2014/main" id="{E6304FC3-4FC6-4562-BDB8-3AA9B855E35B}"/>
              </a:ext>
            </a:extLst>
          </p:cNvPr>
          <p:cNvSpPr>
            <a:spLocks noGrp="1"/>
          </p:cNvSpPr>
          <p:nvPr/>
        </p:nvSpPr>
        <p:spPr>
          <a:xfrm>
            <a:off x="2343150" y="3390900"/>
            <a:ext cx="7524750" cy="2857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200" b="0">
                <a:solidFill>
                  <a:srgbClr val="5C686B"/>
                </a:solidFill>
                <a:latin typeface="Aptos"/>
                <a:ea typeface="Aptos"/>
                <a:cs typeface="Aptos"/>
              </a:defRPr>
            </a:pPr>
            <a:r>
              <a:rPr sz="1200" b="0">
                <a:solidFill>
                  <a:srgbClr val="5C686B"/>
                </a:solidFill>
                <a:latin typeface="Aptos"/>
                <a:ea typeface="Aptos"/>
                <a:cs typeface="Aptos"/>
              </a:rPr>
              <a:t>Boundary-vector view: choose admissible insertion positions; do not change the underlying character sequence.</a:t>
            </a:r>
          </a:p>
        </p:txBody>
      </p:sp>
    </p:spTree>
    <p:extLst>
      <p:ext uri="{BB962C8B-B14F-4D97-AF65-F5344CB8AC3E}">
        <p14:creationId xmlns:p14="http://schemas.microsoft.com/office/powerpoint/2010/main" val="2078763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91" name="Rectangle 90">
            <a:extLst>
              <a:ext uri="{FF2B5EF4-FFF2-40B4-BE49-F238E27FC236}">
                <a16:creationId xmlns:a16="http://schemas.microsoft.com/office/drawing/2014/main" id="{8E494B33-EEB9-4AEE-ABE1-8ADF05700E5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84CFD33-0850-4E95-A2EC-50760781F047}"/>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CB6D6421-43AE-4926-A136-03D878C42546}"/>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A2</a:t>
            </a:r>
          </a:p>
        </p:txBody>
      </p:sp>
      <p:sp>
        <p:nvSpPr>
          <p:cNvPr id="4" name="Rectangle 3">
            <a:extLst>
              <a:ext uri="{FF2B5EF4-FFF2-40B4-BE49-F238E27FC236}">
                <a16:creationId xmlns:a16="http://schemas.microsoft.com/office/drawing/2014/main" id="{DBECFA8B-378C-49E3-B11C-013DC57C699E}"/>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Dataset Inventory</a:t>
            </a:r>
          </a:p>
        </p:txBody>
      </p:sp>
      <p:sp>
        <p:nvSpPr>
          <p:cNvPr id="5" name="Rectangle 4">
            <a:extLst>
              <a:ext uri="{FF2B5EF4-FFF2-40B4-BE49-F238E27FC236}">
                <a16:creationId xmlns:a16="http://schemas.microsoft.com/office/drawing/2014/main" id="{4AA4FB14-F4B7-427F-878B-87DCAD4F8D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EC5E0541-C66E-4FF1-8CCF-8616BD2426EA}"/>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16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8A034335-1A6C-44EA-A900-3CD72116BAF4}"/>
              </a:ext>
            </a:extLst>
          </p:cNvPr>
          <p:cNvSpPr>
            <a:spLocks noGrp="1"/>
          </p:cNvSpPr>
          <p:nvPr/>
        </p:nvSpPr>
        <p:spPr>
          <a:xfrm>
            <a:off x="1143000" y="1219200"/>
            <a:ext cx="2857500" cy="323850"/>
          </a:xfrm>
          <a:prstGeom prst="rect">
            <a:avLst/>
          </a:prstGeom>
          <a:solidFill>
            <a:srgbClr val="264653"/>
          </a:solidFill>
          <a:ln w="9525">
            <a:solidFill>
              <a:srgbClr val="264653"/>
            </a:solidFill>
            <a:prstDash val="solid"/>
          </a:ln>
        </p:spPr>
        <p:txBody>
          <a:bodyPr/>
          <a:lstStyle/>
          <a:p>
            <a:endParaRPr/>
          </a:p>
        </p:txBody>
      </p:sp>
      <p:sp>
        <p:nvSpPr>
          <p:cNvPr id="8" name="Rectangle 7">
            <a:extLst>
              <a:ext uri="{FF2B5EF4-FFF2-40B4-BE49-F238E27FC236}">
                <a16:creationId xmlns:a16="http://schemas.microsoft.com/office/drawing/2014/main" id="{7D5415BF-F925-4EA6-BF55-897BBFA253F4}"/>
              </a:ext>
            </a:extLst>
          </p:cNvPr>
          <p:cNvSpPr>
            <a:spLocks noGrp="1"/>
          </p:cNvSpPr>
          <p:nvPr/>
        </p:nvSpPr>
        <p:spPr>
          <a:xfrm>
            <a:off x="1200150" y="1304925"/>
            <a:ext cx="2743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975" b="1">
                <a:solidFill>
                  <a:srgbClr val="FFFFFF"/>
                </a:solidFill>
                <a:latin typeface="Aptos"/>
                <a:ea typeface="Aptos"/>
                <a:cs typeface="Aptos"/>
              </a:defRPr>
            </a:pPr>
            <a:r>
              <a:rPr sz="975" b="1">
                <a:solidFill>
                  <a:srgbClr val="FFFFFF"/>
                </a:solidFill>
                <a:latin typeface="Aptos"/>
                <a:ea typeface="Aptos"/>
                <a:cs typeface="Aptos"/>
              </a:rPr>
              <a:t>Dataset</a:t>
            </a:r>
          </a:p>
        </p:txBody>
      </p:sp>
      <p:sp>
        <p:nvSpPr>
          <p:cNvPr id="9" name="Rectangle 8">
            <a:extLst>
              <a:ext uri="{FF2B5EF4-FFF2-40B4-BE49-F238E27FC236}">
                <a16:creationId xmlns:a16="http://schemas.microsoft.com/office/drawing/2014/main" id="{E1083709-D49B-4DB6-89E3-87846871949F}"/>
              </a:ext>
            </a:extLst>
          </p:cNvPr>
          <p:cNvSpPr>
            <a:spLocks noGrp="1"/>
          </p:cNvSpPr>
          <p:nvPr/>
        </p:nvSpPr>
        <p:spPr>
          <a:xfrm>
            <a:off x="4000500" y="1219200"/>
            <a:ext cx="1619250" cy="323850"/>
          </a:xfrm>
          <a:prstGeom prst="rect">
            <a:avLst/>
          </a:prstGeom>
          <a:solidFill>
            <a:srgbClr val="264653"/>
          </a:solidFill>
          <a:ln w="9525">
            <a:solidFill>
              <a:srgbClr val="264653"/>
            </a:solidFill>
            <a:prstDash val="solid"/>
          </a:ln>
        </p:spPr>
        <p:txBody>
          <a:bodyPr/>
          <a:lstStyle/>
          <a:p>
            <a:endParaRPr/>
          </a:p>
        </p:txBody>
      </p:sp>
      <p:sp>
        <p:nvSpPr>
          <p:cNvPr id="10" name="Rectangle 9">
            <a:extLst>
              <a:ext uri="{FF2B5EF4-FFF2-40B4-BE49-F238E27FC236}">
                <a16:creationId xmlns:a16="http://schemas.microsoft.com/office/drawing/2014/main" id="{AFA23E82-22D3-4D7B-8C53-B5803567ED89}"/>
              </a:ext>
            </a:extLst>
          </p:cNvPr>
          <p:cNvSpPr>
            <a:spLocks noGrp="1"/>
          </p:cNvSpPr>
          <p:nvPr/>
        </p:nvSpPr>
        <p:spPr>
          <a:xfrm>
            <a:off x="4057650" y="1304925"/>
            <a:ext cx="15049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75" b="1">
                <a:solidFill>
                  <a:srgbClr val="FFFFFF"/>
                </a:solidFill>
                <a:latin typeface="Aptos"/>
                <a:ea typeface="Aptos"/>
                <a:cs typeface="Aptos"/>
              </a:defRPr>
            </a:pPr>
            <a:r>
              <a:rPr sz="975" b="1">
                <a:solidFill>
                  <a:srgbClr val="FFFFFF"/>
                </a:solidFill>
                <a:latin typeface="Aptos"/>
                <a:ea typeface="Aptos"/>
                <a:cs typeface="Aptos"/>
              </a:rPr>
              <a:t>Modality</a:t>
            </a:r>
          </a:p>
        </p:txBody>
      </p:sp>
      <p:sp>
        <p:nvSpPr>
          <p:cNvPr id="11" name="Rectangle 10">
            <a:extLst>
              <a:ext uri="{FF2B5EF4-FFF2-40B4-BE49-F238E27FC236}">
                <a16:creationId xmlns:a16="http://schemas.microsoft.com/office/drawing/2014/main" id="{5552A8A3-3E54-4B12-A7F9-4346FBFAB141}"/>
              </a:ext>
            </a:extLst>
          </p:cNvPr>
          <p:cNvSpPr>
            <a:spLocks noGrp="1"/>
          </p:cNvSpPr>
          <p:nvPr/>
        </p:nvSpPr>
        <p:spPr>
          <a:xfrm>
            <a:off x="5619750" y="1219200"/>
            <a:ext cx="857250" cy="323850"/>
          </a:xfrm>
          <a:prstGeom prst="rect">
            <a:avLst/>
          </a:prstGeom>
          <a:solidFill>
            <a:srgbClr val="264653"/>
          </a:solidFill>
          <a:ln w="9525">
            <a:solidFill>
              <a:srgbClr val="264653"/>
            </a:solidFill>
            <a:prstDash val="solid"/>
          </a:ln>
        </p:spPr>
        <p:txBody>
          <a:bodyPr/>
          <a:lstStyle/>
          <a:p>
            <a:endParaRPr/>
          </a:p>
        </p:txBody>
      </p:sp>
      <p:sp>
        <p:nvSpPr>
          <p:cNvPr id="12" name="Rectangle 11">
            <a:extLst>
              <a:ext uri="{FF2B5EF4-FFF2-40B4-BE49-F238E27FC236}">
                <a16:creationId xmlns:a16="http://schemas.microsoft.com/office/drawing/2014/main" id="{6ACF3886-2DA2-4033-A550-23C1569200EC}"/>
              </a:ext>
            </a:extLst>
          </p:cNvPr>
          <p:cNvSpPr>
            <a:spLocks noGrp="1"/>
          </p:cNvSpPr>
          <p:nvPr/>
        </p:nvSpPr>
        <p:spPr>
          <a:xfrm>
            <a:off x="5676900" y="1304925"/>
            <a:ext cx="7429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75" b="1">
                <a:solidFill>
                  <a:srgbClr val="FFFFFF"/>
                </a:solidFill>
                <a:latin typeface="Aptos"/>
                <a:ea typeface="Aptos"/>
                <a:cs typeface="Aptos"/>
              </a:defRPr>
            </a:pPr>
            <a:r>
              <a:rPr sz="975" b="1">
                <a:solidFill>
                  <a:srgbClr val="FFFFFF"/>
                </a:solidFill>
                <a:latin typeface="Aptos"/>
                <a:ea typeface="Aptos"/>
                <a:cs typeface="Aptos"/>
              </a:rPr>
              <a:t>n</a:t>
            </a:r>
          </a:p>
        </p:txBody>
      </p:sp>
      <p:sp>
        <p:nvSpPr>
          <p:cNvPr id="13" name="Rectangle 12">
            <a:extLst>
              <a:ext uri="{FF2B5EF4-FFF2-40B4-BE49-F238E27FC236}">
                <a16:creationId xmlns:a16="http://schemas.microsoft.com/office/drawing/2014/main" id="{1D01CAA0-2640-45CC-AB5C-6F34BEC5DBEB}"/>
              </a:ext>
            </a:extLst>
          </p:cNvPr>
          <p:cNvSpPr>
            <a:spLocks noGrp="1"/>
          </p:cNvSpPr>
          <p:nvPr/>
        </p:nvSpPr>
        <p:spPr>
          <a:xfrm>
            <a:off x="6477000" y="1219200"/>
            <a:ext cx="952500" cy="323850"/>
          </a:xfrm>
          <a:prstGeom prst="rect">
            <a:avLst/>
          </a:prstGeom>
          <a:solidFill>
            <a:srgbClr val="264653"/>
          </a:solidFill>
          <a:ln w="9525">
            <a:solidFill>
              <a:srgbClr val="264653"/>
            </a:solidFill>
            <a:prstDash val="solid"/>
          </a:ln>
        </p:spPr>
        <p:txBody>
          <a:bodyPr/>
          <a:lstStyle/>
          <a:p>
            <a:endParaRPr/>
          </a:p>
        </p:txBody>
      </p:sp>
      <p:sp>
        <p:nvSpPr>
          <p:cNvPr id="14" name="Rectangle 13">
            <a:extLst>
              <a:ext uri="{FF2B5EF4-FFF2-40B4-BE49-F238E27FC236}">
                <a16:creationId xmlns:a16="http://schemas.microsoft.com/office/drawing/2014/main" id="{5F90CC2E-1A42-4158-9556-C2D5FA677BE0}"/>
              </a:ext>
            </a:extLst>
          </p:cNvPr>
          <p:cNvSpPr>
            <a:spLocks noGrp="1"/>
          </p:cNvSpPr>
          <p:nvPr/>
        </p:nvSpPr>
        <p:spPr>
          <a:xfrm>
            <a:off x="6534150" y="1304925"/>
            <a:ext cx="838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75" b="1">
                <a:solidFill>
                  <a:srgbClr val="FFFFFF"/>
                </a:solidFill>
                <a:latin typeface="Aptos"/>
                <a:ea typeface="Aptos"/>
                <a:cs typeface="Aptos"/>
              </a:defRPr>
            </a:pPr>
            <a:r>
              <a:rPr sz="975" b="1">
                <a:solidFill>
                  <a:srgbClr val="FFFFFF"/>
                </a:solidFill>
                <a:latin typeface="Aptos"/>
                <a:ea typeface="Aptos"/>
                <a:cs typeface="Aptos"/>
              </a:rPr>
              <a:t>Pages</a:t>
            </a:r>
          </a:p>
        </p:txBody>
      </p:sp>
      <p:sp>
        <p:nvSpPr>
          <p:cNvPr id="15" name="Rectangle 14">
            <a:extLst>
              <a:ext uri="{FF2B5EF4-FFF2-40B4-BE49-F238E27FC236}">
                <a16:creationId xmlns:a16="http://schemas.microsoft.com/office/drawing/2014/main" id="{EB511B92-137D-41C1-88D7-B75EA6B85841}"/>
              </a:ext>
            </a:extLst>
          </p:cNvPr>
          <p:cNvSpPr>
            <a:spLocks noGrp="1"/>
          </p:cNvSpPr>
          <p:nvPr/>
        </p:nvSpPr>
        <p:spPr>
          <a:xfrm>
            <a:off x="7429500" y="1219200"/>
            <a:ext cx="1333500" cy="323850"/>
          </a:xfrm>
          <a:prstGeom prst="rect">
            <a:avLst/>
          </a:prstGeom>
          <a:solidFill>
            <a:srgbClr val="264653"/>
          </a:solidFill>
          <a:ln w="9525">
            <a:solidFill>
              <a:srgbClr val="264653"/>
            </a:solidFill>
            <a:prstDash val="solid"/>
          </a:ln>
        </p:spPr>
        <p:txBody>
          <a:bodyPr/>
          <a:lstStyle/>
          <a:p>
            <a:endParaRPr/>
          </a:p>
        </p:txBody>
      </p:sp>
      <p:sp>
        <p:nvSpPr>
          <p:cNvPr id="16" name="Rectangle 15">
            <a:extLst>
              <a:ext uri="{FF2B5EF4-FFF2-40B4-BE49-F238E27FC236}">
                <a16:creationId xmlns:a16="http://schemas.microsoft.com/office/drawing/2014/main" id="{8E5D2F87-633C-4AB3-8A68-7ED426F3EBA2}"/>
              </a:ext>
            </a:extLst>
          </p:cNvPr>
          <p:cNvSpPr>
            <a:spLocks noGrp="1"/>
          </p:cNvSpPr>
          <p:nvPr/>
        </p:nvSpPr>
        <p:spPr>
          <a:xfrm>
            <a:off x="7486650" y="1304925"/>
            <a:ext cx="1219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75" b="1">
                <a:solidFill>
                  <a:srgbClr val="FFFFFF"/>
                </a:solidFill>
                <a:latin typeface="Aptos"/>
                <a:ea typeface="Aptos"/>
                <a:cs typeface="Aptos"/>
              </a:defRPr>
            </a:pPr>
            <a:r>
              <a:rPr sz="975" b="1">
                <a:solidFill>
                  <a:srgbClr val="FFFFFF"/>
                </a:solidFill>
                <a:latin typeface="Aptos"/>
                <a:ea typeface="Aptos"/>
                <a:cs typeface="Aptos"/>
              </a:rPr>
              <a:t>Lines</a:t>
            </a:r>
          </a:p>
        </p:txBody>
      </p:sp>
      <p:sp>
        <p:nvSpPr>
          <p:cNvPr id="17" name="Rectangle 16">
            <a:extLst>
              <a:ext uri="{FF2B5EF4-FFF2-40B4-BE49-F238E27FC236}">
                <a16:creationId xmlns:a16="http://schemas.microsoft.com/office/drawing/2014/main" id="{ECE3B838-E9CF-4B74-84E1-0A4D089E8268}"/>
              </a:ext>
            </a:extLst>
          </p:cNvPr>
          <p:cNvSpPr>
            <a:spLocks noGrp="1"/>
          </p:cNvSpPr>
          <p:nvPr/>
        </p:nvSpPr>
        <p:spPr>
          <a:xfrm>
            <a:off x="8763000" y="1219200"/>
            <a:ext cx="1428750" cy="323850"/>
          </a:xfrm>
          <a:prstGeom prst="rect">
            <a:avLst/>
          </a:prstGeom>
          <a:solidFill>
            <a:srgbClr val="264653"/>
          </a:solidFill>
          <a:ln w="9525">
            <a:solidFill>
              <a:srgbClr val="264653"/>
            </a:solidFill>
            <a:prstDash val="solid"/>
          </a:ln>
        </p:spPr>
        <p:txBody>
          <a:bodyPr/>
          <a:lstStyle/>
          <a:p>
            <a:endParaRPr/>
          </a:p>
        </p:txBody>
      </p:sp>
      <p:sp>
        <p:nvSpPr>
          <p:cNvPr id="18" name="Rectangle 17">
            <a:extLst>
              <a:ext uri="{FF2B5EF4-FFF2-40B4-BE49-F238E27FC236}">
                <a16:creationId xmlns:a16="http://schemas.microsoft.com/office/drawing/2014/main" id="{D0C2DE34-B90E-4615-8AAE-15014C9F4476}"/>
              </a:ext>
            </a:extLst>
          </p:cNvPr>
          <p:cNvSpPr>
            <a:spLocks noGrp="1"/>
          </p:cNvSpPr>
          <p:nvPr/>
        </p:nvSpPr>
        <p:spPr>
          <a:xfrm>
            <a:off x="8820150" y="1304925"/>
            <a:ext cx="13144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75" b="1">
                <a:solidFill>
                  <a:srgbClr val="FFFFFF"/>
                </a:solidFill>
                <a:latin typeface="Aptos"/>
                <a:ea typeface="Aptos"/>
                <a:cs typeface="Aptos"/>
              </a:defRPr>
            </a:pPr>
            <a:r>
              <a:rPr sz="975" b="1">
                <a:solidFill>
                  <a:srgbClr val="FFFFFF"/>
                </a:solidFill>
                <a:latin typeface="Aptos"/>
                <a:ea typeface="Aptos"/>
                <a:cs typeface="Aptos"/>
              </a:rPr>
              <a:t>Chars</a:t>
            </a:r>
          </a:p>
        </p:txBody>
      </p:sp>
      <p:sp>
        <p:nvSpPr>
          <p:cNvPr id="19" name="Rectangle 18">
            <a:extLst>
              <a:ext uri="{FF2B5EF4-FFF2-40B4-BE49-F238E27FC236}">
                <a16:creationId xmlns:a16="http://schemas.microsoft.com/office/drawing/2014/main" id="{4B6D7E34-C3DE-4E8F-8E24-A3F0C3EED3A4}"/>
              </a:ext>
            </a:extLst>
          </p:cNvPr>
          <p:cNvSpPr>
            <a:spLocks noGrp="1"/>
          </p:cNvSpPr>
          <p:nvPr/>
        </p:nvSpPr>
        <p:spPr>
          <a:xfrm>
            <a:off x="1143000" y="1543050"/>
            <a:ext cx="2857500" cy="517525"/>
          </a:xfrm>
          <a:prstGeom prst="rect">
            <a:avLst/>
          </a:prstGeom>
          <a:solidFill>
            <a:srgbClr val="FFFDF7"/>
          </a:solidFill>
          <a:ln w="9525">
            <a:solidFill>
              <a:srgbClr val="CFC7B8"/>
            </a:solidFill>
            <a:prstDash val="solid"/>
          </a:ln>
        </p:spPr>
        <p:txBody>
          <a:bodyPr/>
          <a:lstStyle/>
          <a:p>
            <a:endParaRPr/>
          </a:p>
        </p:txBody>
      </p:sp>
      <p:sp>
        <p:nvSpPr>
          <p:cNvPr id="20" name="Rectangle 19">
            <a:extLst>
              <a:ext uri="{FF2B5EF4-FFF2-40B4-BE49-F238E27FC236}">
                <a16:creationId xmlns:a16="http://schemas.microsoft.com/office/drawing/2014/main" id="{EE5A546E-10DF-40D4-BC2E-6DA409A79D63}"/>
              </a:ext>
            </a:extLst>
          </p:cNvPr>
          <p:cNvSpPr>
            <a:spLocks noGrp="1"/>
          </p:cNvSpPr>
          <p:nvPr/>
        </p:nvSpPr>
        <p:spPr>
          <a:xfrm>
            <a:off x="1200150" y="1619250"/>
            <a:ext cx="2743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25" b="0">
                <a:solidFill>
                  <a:srgbClr val="142026"/>
                </a:solidFill>
                <a:latin typeface="Aptos"/>
                <a:ea typeface="Aptos"/>
                <a:cs typeface="Aptos"/>
              </a:defRPr>
            </a:pPr>
            <a:r>
              <a:rPr sz="1125" b="0">
                <a:solidFill>
                  <a:srgbClr val="142026"/>
                </a:solidFill>
                <a:latin typeface="Aptos"/>
                <a:ea typeface="Aptos"/>
                <a:cs typeface="Aptos"/>
              </a:rPr>
              <a:t>Bullinger Handwritten</a:t>
            </a:r>
          </a:p>
        </p:txBody>
      </p:sp>
      <p:sp>
        <p:nvSpPr>
          <p:cNvPr id="21" name="Rectangle 20">
            <a:extLst>
              <a:ext uri="{FF2B5EF4-FFF2-40B4-BE49-F238E27FC236}">
                <a16:creationId xmlns:a16="http://schemas.microsoft.com/office/drawing/2014/main" id="{A30BAE29-64F3-487B-8465-3E06A4B55CDB}"/>
              </a:ext>
            </a:extLst>
          </p:cNvPr>
          <p:cNvSpPr>
            <a:spLocks noGrp="1"/>
          </p:cNvSpPr>
          <p:nvPr/>
        </p:nvSpPr>
        <p:spPr>
          <a:xfrm>
            <a:off x="4000500" y="1543050"/>
            <a:ext cx="1619250" cy="517525"/>
          </a:xfrm>
          <a:prstGeom prst="rect">
            <a:avLst/>
          </a:prstGeom>
          <a:solidFill>
            <a:srgbClr val="FFFDF7"/>
          </a:solidFill>
          <a:ln w="9525">
            <a:solidFill>
              <a:srgbClr val="CFC7B8"/>
            </a:solidFill>
            <a:prstDash val="solid"/>
          </a:ln>
        </p:spPr>
        <p:txBody>
          <a:bodyPr/>
          <a:lstStyle/>
          <a:p>
            <a:endParaRPr/>
          </a:p>
        </p:txBody>
      </p:sp>
      <p:sp>
        <p:nvSpPr>
          <p:cNvPr id="22" name="Rectangle 21">
            <a:extLst>
              <a:ext uri="{FF2B5EF4-FFF2-40B4-BE49-F238E27FC236}">
                <a16:creationId xmlns:a16="http://schemas.microsoft.com/office/drawing/2014/main" id="{15FB2D6E-4B24-416D-B39E-B47B350B1AD3}"/>
              </a:ext>
            </a:extLst>
          </p:cNvPr>
          <p:cNvSpPr>
            <a:spLocks noGrp="1"/>
          </p:cNvSpPr>
          <p:nvPr/>
        </p:nvSpPr>
        <p:spPr>
          <a:xfrm>
            <a:off x="4057650" y="1619250"/>
            <a:ext cx="1504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handwritten</a:t>
            </a:r>
          </a:p>
        </p:txBody>
      </p:sp>
      <p:sp>
        <p:nvSpPr>
          <p:cNvPr id="23" name="Rectangle 22">
            <a:extLst>
              <a:ext uri="{FF2B5EF4-FFF2-40B4-BE49-F238E27FC236}">
                <a16:creationId xmlns:a16="http://schemas.microsoft.com/office/drawing/2014/main" id="{87A31A01-406F-43F9-99B1-77445547C5E5}"/>
              </a:ext>
            </a:extLst>
          </p:cNvPr>
          <p:cNvSpPr>
            <a:spLocks noGrp="1"/>
          </p:cNvSpPr>
          <p:nvPr/>
        </p:nvSpPr>
        <p:spPr>
          <a:xfrm>
            <a:off x="5619750" y="1543050"/>
            <a:ext cx="857250" cy="517525"/>
          </a:xfrm>
          <a:prstGeom prst="rect">
            <a:avLst/>
          </a:prstGeom>
          <a:solidFill>
            <a:srgbClr val="FFFDF7"/>
          </a:solidFill>
          <a:ln w="9525">
            <a:solidFill>
              <a:srgbClr val="CFC7B8"/>
            </a:solidFill>
            <a:prstDash val="solid"/>
          </a:ln>
        </p:spPr>
        <p:txBody>
          <a:bodyPr/>
          <a:lstStyle/>
          <a:p>
            <a:endParaRPr/>
          </a:p>
        </p:txBody>
      </p:sp>
      <p:sp>
        <p:nvSpPr>
          <p:cNvPr id="24" name="Rectangle 23">
            <a:extLst>
              <a:ext uri="{FF2B5EF4-FFF2-40B4-BE49-F238E27FC236}">
                <a16:creationId xmlns:a16="http://schemas.microsoft.com/office/drawing/2014/main" id="{CDFD10AF-D0A5-4403-9A83-32D63C5BCB8A}"/>
              </a:ext>
            </a:extLst>
          </p:cNvPr>
          <p:cNvSpPr>
            <a:spLocks noGrp="1"/>
          </p:cNvSpPr>
          <p:nvPr/>
        </p:nvSpPr>
        <p:spPr>
          <a:xfrm>
            <a:off x="5676900" y="1619250"/>
            <a:ext cx="742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59</a:t>
            </a:r>
          </a:p>
        </p:txBody>
      </p:sp>
      <p:sp>
        <p:nvSpPr>
          <p:cNvPr id="25" name="Rectangle 24">
            <a:extLst>
              <a:ext uri="{FF2B5EF4-FFF2-40B4-BE49-F238E27FC236}">
                <a16:creationId xmlns:a16="http://schemas.microsoft.com/office/drawing/2014/main" id="{FDF23EC9-B218-41C5-B6DE-33D2AD983040}"/>
              </a:ext>
            </a:extLst>
          </p:cNvPr>
          <p:cNvSpPr>
            <a:spLocks noGrp="1"/>
          </p:cNvSpPr>
          <p:nvPr/>
        </p:nvSpPr>
        <p:spPr>
          <a:xfrm>
            <a:off x="6477000" y="1543050"/>
            <a:ext cx="952500" cy="517525"/>
          </a:xfrm>
          <a:prstGeom prst="rect">
            <a:avLst/>
          </a:prstGeom>
          <a:solidFill>
            <a:srgbClr val="FFFDF7"/>
          </a:solidFill>
          <a:ln w="9525">
            <a:solidFill>
              <a:srgbClr val="CFC7B8"/>
            </a:solidFill>
            <a:prstDash val="solid"/>
          </a:ln>
        </p:spPr>
        <p:txBody>
          <a:bodyPr/>
          <a:lstStyle/>
          <a:p>
            <a:endParaRPr/>
          </a:p>
        </p:txBody>
      </p:sp>
      <p:sp>
        <p:nvSpPr>
          <p:cNvPr id="26" name="Rectangle 25">
            <a:extLst>
              <a:ext uri="{FF2B5EF4-FFF2-40B4-BE49-F238E27FC236}">
                <a16:creationId xmlns:a16="http://schemas.microsoft.com/office/drawing/2014/main" id="{DE8ADE86-3019-4DC9-BBF9-D93736B44E48}"/>
              </a:ext>
            </a:extLst>
          </p:cNvPr>
          <p:cNvSpPr>
            <a:spLocks noGrp="1"/>
          </p:cNvSpPr>
          <p:nvPr/>
        </p:nvSpPr>
        <p:spPr>
          <a:xfrm>
            <a:off x="6534150" y="1619250"/>
            <a:ext cx="838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100</a:t>
            </a:r>
          </a:p>
        </p:txBody>
      </p:sp>
      <p:sp>
        <p:nvSpPr>
          <p:cNvPr id="27" name="Rectangle 26">
            <a:extLst>
              <a:ext uri="{FF2B5EF4-FFF2-40B4-BE49-F238E27FC236}">
                <a16:creationId xmlns:a16="http://schemas.microsoft.com/office/drawing/2014/main" id="{5E6DFE1D-5CE9-4A13-8AF0-D58DFD5A82C3}"/>
              </a:ext>
            </a:extLst>
          </p:cNvPr>
          <p:cNvSpPr>
            <a:spLocks noGrp="1"/>
          </p:cNvSpPr>
          <p:nvPr/>
        </p:nvSpPr>
        <p:spPr>
          <a:xfrm>
            <a:off x="7429500" y="1543050"/>
            <a:ext cx="1333500" cy="517525"/>
          </a:xfrm>
          <a:prstGeom prst="rect">
            <a:avLst/>
          </a:prstGeom>
          <a:solidFill>
            <a:srgbClr val="FFFDF7"/>
          </a:solidFill>
          <a:ln w="9525">
            <a:solidFill>
              <a:srgbClr val="CFC7B8"/>
            </a:solidFill>
            <a:prstDash val="solid"/>
          </a:ln>
        </p:spPr>
        <p:txBody>
          <a:bodyPr/>
          <a:lstStyle/>
          <a:p>
            <a:endParaRPr/>
          </a:p>
        </p:txBody>
      </p:sp>
      <p:sp>
        <p:nvSpPr>
          <p:cNvPr id="28" name="Rectangle 27">
            <a:extLst>
              <a:ext uri="{FF2B5EF4-FFF2-40B4-BE49-F238E27FC236}">
                <a16:creationId xmlns:a16="http://schemas.microsoft.com/office/drawing/2014/main" id="{4512980F-4AFD-416E-9673-CFB44E9FA816}"/>
              </a:ext>
            </a:extLst>
          </p:cNvPr>
          <p:cNvSpPr>
            <a:spLocks noGrp="1"/>
          </p:cNvSpPr>
          <p:nvPr/>
        </p:nvSpPr>
        <p:spPr>
          <a:xfrm>
            <a:off x="7486650" y="1619250"/>
            <a:ext cx="1219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2,535</a:t>
            </a:r>
          </a:p>
        </p:txBody>
      </p:sp>
      <p:sp>
        <p:nvSpPr>
          <p:cNvPr id="29" name="Rectangle 28">
            <a:extLst>
              <a:ext uri="{FF2B5EF4-FFF2-40B4-BE49-F238E27FC236}">
                <a16:creationId xmlns:a16="http://schemas.microsoft.com/office/drawing/2014/main" id="{D6CA3874-FC66-4022-9FF4-FDAB3217744E}"/>
              </a:ext>
            </a:extLst>
          </p:cNvPr>
          <p:cNvSpPr>
            <a:spLocks noGrp="1"/>
          </p:cNvSpPr>
          <p:nvPr/>
        </p:nvSpPr>
        <p:spPr>
          <a:xfrm>
            <a:off x="8763000" y="1543050"/>
            <a:ext cx="1428750" cy="517525"/>
          </a:xfrm>
          <a:prstGeom prst="rect">
            <a:avLst/>
          </a:prstGeom>
          <a:solidFill>
            <a:srgbClr val="FFFDF7"/>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46B0B505-29A4-44C5-A4AD-E0349CEC5E45}"/>
              </a:ext>
            </a:extLst>
          </p:cNvPr>
          <p:cNvSpPr>
            <a:spLocks noGrp="1"/>
          </p:cNvSpPr>
          <p:nvPr/>
        </p:nvSpPr>
        <p:spPr>
          <a:xfrm>
            <a:off x="8820150" y="1619250"/>
            <a:ext cx="13144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133,883</a:t>
            </a:r>
          </a:p>
        </p:txBody>
      </p:sp>
      <p:sp>
        <p:nvSpPr>
          <p:cNvPr id="31" name="Rectangle 30">
            <a:extLst>
              <a:ext uri="{FF2B5EF4-FFF2-40B4-BE49-F238E27FC236}">
                <a16:creationId xmlns:a16="http://schemas.microsoft.com/office/drawing/2014/main" id="{415E8F95-BA16-4B92-BD9D-2C53409E4713}"/>
              </a:ext>
            </a:extLst>
          </p:cNvPr>
          <p:cNvSpPr>
            <a:spLocks noGrp="1"/>
          </p:cNvSpPr>
          <p:nvPr/>
        </p:nvSpPr>
        <p:spPr>
          <a:xfrm>
            <a:off x="1143000" y="2060575"/>
            <a:ext cx="2857500" cy="517525"/>
          </a:xfrm>
          <a:prstGeom prst="rect">
            <a:avLst/>
          </a:prstGeom>
          <a:solidFill>
            <a:srgbClr val="F8F5EA"/>
          </a:solidFill>
          <a:ln w="9525">
            <a:solidFill>
              <a:srgbClr val="CFC7B8"/>
            </a:solidFill>
            <a:prstDash val="solid"/>
          </a:ln>
        </p:spPr>
        <p:txBody>
          <a:bodyPr/>
          <a:lstStyle/>
          <a:p>
            <a:endParaRPr/>
          </a:p>
        </p:txBody>
      </p:sp>
      <p:sp>
        <p:nvSpPr>
          <p:cNvPr id="32" name="Rectangle 31">
            <a:extLst>
              <a:ext uri="{FF2B5EF4-FFF2-40B4-BE49-F238E27FC236}">
                <a16:creationId xmlns:a16="http://schemas.microsoft.com/office/drawing/2014/main" id="{8C3F337F-6A4C-4390-859E-40DAA1877C2E}"/>
              </a:ext>
            </a:extLst>
          </p:cNvPr>
          <p:cNvSpPr>
            <a:spLocks noGrp="1"/>
          </p:cNvSpPr>
          <p:nvPr/>
        </p:nvSpPr>
        <p:spPr>
          <a:xfrm>
            <a:off x="1200150" y="2136775"/>
            <a:ext cx="2743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25" b="0">
                <a:solidFill>
                  <a:srgbClr val="142026"/>
                </a:solidFill>
                <a:latin typeface="Aptos"/>
                <a:ea typeface="Aptos"/>
                <a:cs typeface="Aptos"/>
              </a:defRPr>
            </a:pPr>
            <a:r>
              <a:rPr sz="1125" b="0">
                <a:solidFill>
                  <a:srgbClr val="142026"/>
                </a:solidFill>
                <a:latin typeface="Aptos"/>
                <a:ea typeface="Aptos"/>
                <a:cs typeface="Aptos"/>
              </a:rPr>
              <a:t>Children Handwritten</a:t>
            </a:r>
          </a:p>
        </p:txBody>
      </p:sp>
      <p:sp>
        <p:nvSpPr>
          <p:cNvPr id="33" name="Rectangle 32">
            <a:extLst>
              <a:ext uri="{FF2B5EF4-FFF2-40B4-BE49-F238E27FC236}">
                <a16:creationId xmlns:a16="http://schemas.microsoft.com/office/drawing/2014/main" id="{D8DCCA16-8D3D-4882-990B-B84392BA0877}"/>
              </a:ext>
            </a:extLst>
          </p:cNvPr>
          <p:cNvSpPr>
            <a:spLocks noGrp="1"/>
          </p:cNvSpPr>
          <p:nvPr/>
        </p:nvSpPr>
        <p:spPr>
          <a:xfrm>
            <a:off x="4000500" y="2060575"/>
            <a:ext cx="1619250" cy="517525"/>
          </a:xfrm>
          <a:prstGeom prst="rect">
            <a:avLst/>
          </a:prstGeom>
          <a:solidFill>
            <a:srgbClr val="F8F5EA"/>
          </a:solidFill>
          <a:ln w="9525">
            <a:solidFill>
              <a:srgbClr val="CFC7B8"/>
            </a:solidFill>
            <a:prstDash val="solid"/>
          </a:ln>
        </p:spPr>
        <p:txBody>
          <a:bodyPr/>
          <a:lstStyle/>
          <a:p>
            <a:endParaRPr/>
          </a:p>
        </p:txBody>
      </p:sp>
      <p:sp>
        <p:nvSpPr>
          <p:cNvPr id="34" name="Rectangle 33">
            <a:extLst>
              <a:ext uri="{FF2B5EF4-FFF2-40B4-BE49-F238E27FC236}">
                <a16:creationId xmlns:a16="http://schemas.microsoft.com/office/drawing/2014/main" id="{50C8CE7F-5E82-45AC-A552-C07820043214}"/>
              </a:ext>
            </a:extLst>
          </p:cNvPr>
          <p:cNvSpPr>
            <a:spLocks noGrp="1"/>
          </p:cNvSpPr>
          <p:nvPr/>
        </p:nvSpPr>
        <p:spPr>
          <a:xfrm>
            <a:off x="4057650" y="2136775"/>
            <a:ext cx="1504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handwritten</a:t>
            </a:r>
          </a:p>
        </p:txBody>
      </p:sp>
      <p:sp>
        <p:nvSpPr>
          <p:cNvPr id="35" name="Rectangle 34">
            <a:extLst>
              <a:ext uri="{FF2B5EF4-FFF2-40B4-BE49-F238E27FC236}">
                <a16:creationId xmlns:a16="http://schemas.microsoft.com/office/drawing/2014/main" id="{DD74A6EA-7E01-425B-89B8-369AE487EA47}"/>
              </a:ext>
            </a:extLst>
          </p:cNvPr>
          <p:cNvSpPr>
            <a:spLocks noGrp="1"/>
          </p:cNvSpPr>
          <p:nvPr/>
        </p:nvSpPr>
        <p:spPr>
          <a:xfrm>
            <a:off x="5619750" y="2060575"/>
            <a:ext cx="857250" cy="517525"/>
          </a:xfrm>
          <a:prstGeom prst="rect">
            <a:avLst/>
          </a:prstGeom>
          <a:solidFill>
            <a:srgbClr val="F8F5EA"/>
          </a:solidFill>
          <a:ln w="9525">
            <a:solidFill>
              <a:srgbClr val="CFC7B8"/>
            </a:solidFill>
            <a:prstDash val="solid"/>
          </a:ln>
        </p:spPr>
        <p:txBody>
          <a:bodyPr/>
          <a:lstStyle/>
          <a:p>
            <a:endParaRPr/>
          </a:p>
        </p:txBody>
      </p:sp>
      <p:sp>
        <p:nvSpPr>
          <p:cNvPr id="36" name="Rectangle 35">
            <a:extLst>
              <a:ext uri="{FF2B5EF4-FFF2-40B4-BE49-F238E27FC236}">
                <a16:creationId xmlns:a16="http://schemas.microsoft.com/office/drawing/2014/main" id="{E4CBC2DA-B2B2-42C8-B420-910DF95EFA33}"/>
              </a:ext>
            </a:extLst>
          </p:cNvPr>
          <p:cNvSpPr>
            <a:spLocks noGrp="1"/>
          </p:cNvSpPr>
          <p:nvPr/>
        </p:nvSpPr>
        <p:spPr>
          <a:xfrm>
            <a:off x="5676900" y="2136775"/>
            <a:ext cx="742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63</a:t>
            </a:r>
          </a:p>
        </p:txBody>
      </p:sp>
      <p:sp>
        <p:nvSpPr>
          <p:cNvPr id="37" name="Rectangle 36">
            <a:extLst>
              <a:ext uri="{FF2B5EF4-FFF2-40B4-BE49-F238E27FC236}">
                <a16:creationId xmlns:a16="http://schemas.microsoft.com/office/drawing/2014/main" id="{06481327-DEDF-4796-B06D-7CBB9D31EE04}"/>
              </a:ext>
            </a:extLst>
          </p:cNvPr>
          <p:cNvSpPr>
            <a:spLocks noGrp="1"/>
          </p:cNvSpPr>
          <p:nvPr/>
        </p:nvSpPr>
        <p:spPr>
          <a:xfrm>
            <a:off x="6477000" y="2060575"/>
            <a:ext cx="952500" cy="517525"/>
          </a:xfrm>
          <a:prstGeom prst="rect">
            <a:avLst/>
          </a:prstGeom>
          <a:solidFill>
            <a:srgbClr val="F8F5EA"/>
          </a:solidFill>
          <a:ln w="9525">
            <a:solidFill>
              <a:srgbClr val="CFC7B8"/>
            </a:solidFill>
            <a:prstDash val="solid"/>
          </a:ln>
        </p:spPr>
        <p:txBody>
          <a:bodyPr/>
          <a:lstStyle/>
          <a:p>
            <a:endParaRPr/>
          </a:p>
        </p:txBody>
      </p:sp>
      <p:sp>
        <p:nvSpPr>
          <p:cNvPr id="38" name="Rectangle 37">
            <a:extLst>
              <a:ext uri="{FF2B5EF4-FFF2-40B4-BE49-F238E27FC236}">
                <a16:creationId xmlns:a16="http://schemas.microsoft.com/office/drawing/2014/main" id="{5B994359-E303-45CD-B0A6-9559469AF01A}"/>
              </a:ext>
            </a:extLst>
          </p:cNvPr>
          <p:cNvSpPr>
            <a:spLocks noGrp="1"/>
          </p:cNvSpPr>
          <p:nvPr/>
        </p:nvSpPr>
        <p:spPr>
          <a:xfrm>
            <a:off x="6534150" y="2136775"/>
            <a:ext cx="838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63</a:t>
            </a:r>
          </a:p>
        </p:txBody>
      </p:sp>
      <p:sp>
        <p:nvSpPr>
          <p:cNvPr id="39" name="Rectangle 38">
            <a:extLst>
              <a:ext uri="{FF2B5EF4-FFF2-40B4-BE49-F238E27FC236}">
                <a16:creationId xmlns:a16="http://schemas.microsoft.com/office/drawing/2014/main" id="{49F1D16A-49F9-4867-B6DF-EBD28AD154A8}"/>
              </a:ext>
            </a:extLst>
          </p:cNvPr>
          <p:cNvSpPr>
            <a:spLocks noGrp="1"/>
          </p:cNvSpPr>
          <p:nvPr/>
        </p:nvSpPr>
        <p:spPr>
          <a:xfrm>
            <a:off x="7429500" y="2060575"/>
            <a:ext cx="1333500" cy="517525"/>
          </a:xfrm>
          <a:prstGeom prst="rect">
            <a:avLst/>
          </a:prstGeom>
          <a:solidFill>
            <a:srgbClr val="F8F5EA"/>
          </a:solidFill>
          <a:ln w="9525">
            <a:solidFill>
              <a:srgbClr val="CFC7B8"/>
            </a:solidFill>
            <a:prstDash val="solid"/>
          </a:ln>
        </p:spPr>
        <p:txBody>
          <a:bodyPr/>
          <a:lstStyle/>
          <a:p>
            <a:endParaRPr/>
          </a:p>
        </p:txBody>
      </p:sp>
      <p:sp>
        <p:nvSpPr>
          <p:cNvPr id="40" name="Rectangle 39">
            <a:extLst>
              <a:ext uri="{FF2B5EF4-FFF2-40B4-BE49-F238E27FC236}">
                <a16:creationId xmlns:a16="http://schemas.microsoft.com/office/drawing/2014/main" id="{CB5EDB37-E5BC-47AF-A8AB-9B856992F781}"/>
              </a:ext>
            </a:extLst>
          </p:cNvPr>
          <p:cNvSpPr>
            <a:spLocks noGrp="1"/>
          </p:cNvSpPr>
          <p:nvPr/>
        </p:nvSpPr>
        <p:spPr>
          <a:xfrm>
            <a:off x="7486650" y="2136775"/>
            <a:ext cx="1219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394</a:t>
            </a:r>
          </a:p>
        </p:txBody>
      </p:sp>
      <p:sp>
        <p:nvSpPr>
          <p:cNvPr id="41" name="Rectangle 40">
            <a:extLst>
              <a:ext uri="{FF2B5EF4-FFF2-40B4-BE49-F238E27FC236}">
                <a16:creationId xmlns:a16="http://schemas.microsoft.com/office/drawing/2014/main" id="{4D07EA46-A676-4BAB-B6F8-340F0EB3DDB7}"/>
              </a:ext>
            </a:extLst>
          </p:cNvPr>
          <p:cNvSpPr>
            <a:spLocks noGrp="1"/>
          </p:cNvSpPr>
          <p:nvPr/>
        </p:nvSpPr>
        <p:spPr>
          <a:xfrm>
            <a:off x="8763000" y="2060575"/>
            <a:ext cx="1428750" cy="517525"/>
          </a:xfrm>
          <a:prstGeom prst="rect">
            <a:avLst/>
          </a:prstGeom>
          <a:solidFill>
            <a:srgbClr val="F8F5EA"/>
          </a:solidFill>
          <a:ln w="9525">
            <a:solidFill>
              <a:srgbClr val="CFC7B8"/>
            </a:solidFill>
            <a:prstDash val="solid"/>
          </a:ln>
        </p:spPr>
        <p:txBody>
          <a:bodyPr/>
          <a:lstStyle/>
          <a:p>
            <a:endParaRPr/>
          </a:p>
        </p:txBody>
      </p:sp>
      <p:sp>
        <p:nvSpPr>
          <p:cNvPr id="42" name="Rectangle 41">
            <a:extLst>
              <a:ext uri="{FF2B5EF4-FFF2-40B4-BE49-F238E27FC236}">
                <a16:creationId xmlns:a16="http://schemas.microsoft.com/office/drawing/2014/main" id="{3C0CFAEB-3C8C-4E21-BDD6-7A5BF21F0772}"/>
              </a:ext>
            </a:extLst>
          </p:cNvPr>
          <p:cNvSpPr>
            <a:spLocks noGrp="1"/>
          </p:cNvSpPr>
          <p:nvPr/>
        </p:nvSpPr>
        <p:spPr>
          <a:xfrm>
            <a:off x="8820150" y="2136775"/>
            <a:ext cx="13144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10,261</a:t>
            </a:r>
          </a:p>
        </p:txBody>
      </p:sp>
      <p:sp>
        <p:nvSpPr>
          <p:cNvPr id="43" name="Rectangle 42">
            <a:extLst>
              <a:ext uri="{FF2B5EF4-FFF2-40B4-BE49-F238E27FC236}">
                <a16:creationId xmlns:a16="http://schemas.microsoft.com/office/drawing/2014/main" id="{D576BCBD-C73A-4E9C-8533-428F60FB569C}"/>
              </a:ext>
            </a:extLst>
          </p:cNvPr>
          <p:cNvSpPr>
            <a:spLocks noGrp="1"/>
          </p:cNvSpPr>
          <p:nvPr/>
        </p:nvSpPr>
        <p:spPr>
          <a:xfrm>
            <a:off x="1143000" y="2578100"/>
            <a:ext cx="2857500" cy="517525"/>
          </a:xfrm>
          <a:prstGeom prst="rect">
            <a:avLst/>
          </a:prstGeom>
          <a:solidFill>
            <a:srgbClr val="FFFDF7"/>
          </a:solidFill>
          <a:ln w="9525">
            <a:solidFill>
              <a:srgbClr val="CFC7B8"/>
            </a:solidFill>
            <a:prstDash val="solid"/>
          </a:ln>
        </p:spPr>
        <p:txBody>
          <a:bodyPr/>
          <a:lstStyle/>
          <a:p>
            <a:endParaRPr/>
          </a:p>
        </p:txBody>
      </p:sp>
      <p:sp>
        <p:nvSpPr>
          <p:cNvPr id="44" name="Rectangle 43">
            <a:extLst>
              <a:ext uri="{FF2B5EF4-FFF2-40B4-BE49-F238E27FC236}">
                <a16:creationId xmlns:a16="http://schemas.microsoft.com/office/drawing/2014/main" id="{BF09AD83-8D3A-45B6-9F13-DBBD57E4C2E5}"/>
              </a:ext>
            </a:extLst>
          </p:cNvPr>
          <p:cNvSpPr>
            <a:spLocks noGrp="1"/>
          </p:cNvSpPr>
          <p:nvPr/>
        </p:nvSpPr>
        <p:spPr>
          <a:xfrm>
            <a:off x="1200150" y="2654300"/>
            <a:ext cx="2743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25" b="0">
                <a:solidFill>
                  <a:srgbClr val="142026"/>
                </a:solidFill>
                <a:latin typeface="Aptos"/>
                <a:ea typeface="Aptos"/>
                <a:cs typeface="Aptos"/>
              </a:defRPr>
            </a:pPr>
            <a:r>
              <a:rPr sz="1125" b="0">
                <a:solidFill>
                  <a:srgbClr val="142026"/>
                </a:solidFill>
                <a:latin typeface="Aptos"/>
                <a:ea typeface="Aptos"/>
                <a:cs typeface="Aptos"/>
              </a:rPr>
              <a:t>IAM Handwritten</a:t>
            </a:r>
          </a:p>
        </p:txBody>
      </p:sp>
      <p:sp>
        <p:nvSpPr>
          <p:cNvPr id="45" name="Rectangle 44">
            <a:extLst>
              <a:ext uri="{FF2B5EF4-FFF2-40B4-BE49-F238E27FC236}">
                <a16:creationId xmlns:a16="http://schemas.microsoft.com/office/drawing/2014/main" id="{170042D2-60AE-4A5A-8E2C-E4B5508F3246}"/>
              </a:ext>
            </a:extLst>
          </p:cNvPr>
          <p:cNvSpPr>
            <a:spLocks noGrp="1"/>
          </p:cNvSpPr>
          <p:nvPr/>
        </p:nvSpPr>
        <p:spPr>
          <a:xfrm>
            <a:off x="4000500" y="2578100"/>
            <a:ext cx="1619250" cy="517525"/>
          </a:xfrm>
          <a:prstGeom prst="rect">
            <a:avLst/>
          </a:prstGeom>
          <a:solidFill>
            <a:srgbClr val="FFFDF7"/>
          </a:solidFill>
          <a:ln w="9525">
            <a:solidFill>
              <a:srgbClr val="CFC7B8"/>
            </a:solidFill>
            <a:prstDash val="solid"/>
          </a:ln>
        </p:spPr>
        <p:txBody>
          <a:bodyPr/>
          <a:lstStyle/>
          <a:p>
            <a:endParaRPr/>
          </a:p>
        </p:txBody>
      </p:sp>
      <p:sp>
        <p:nvSpPr>
          <p:cNvPr id="46" name="Rectangle 45">
            <a:extLst>
              <a:ext uri="{FF2B5EF4-FFF2-40B4-BE49-F238E27FC236}">
                <a16:creationId xmlns:a16="http://schemas.microsoft.com/office/drawing/2014/main" id="{2BCF345F-9519-43C0-A57E-F1A18CCD348A}"/>
              </a:ext>
            </a:extLst>
          </p:cNvPr>
          <p:cNvSpPr>
            <a:spLocks noGrp="1"/>
          </p:cNvSpPr>
          <p:nvPr/>
        </p:nvSpPr>
        <p:spPr>
          <a:xfrm>
            <a:off x="4057650" y="2654300"/>
            <a:ext cx="1504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handwritten</a:t>
            </a:r>
          </a:p>
        </p:txBody>
      </p:sp>
      <p:sp>
        <p:nvSpPr>
          <p:cNvPr id="47" name="Rectangle 46">
            <a:extLst>
              <a:ext uri="{FF2B5EF4-FFF2-40B4-BE49-F238E27FC236}">
                <a16:creationId xmlns:a16="http://schemas.microsoft.com/office/drawing/2014/main" id="{BA57A686-111D-4BE7-93B3-82B6BA9BAD78}"/>
              </a:ext>
            </a:extLst>
          </p:cNvPr>
          <p:cNvSpPr>
            <a:spLocks noGrp="1"/>
          </p:cNvSpPr>
          <p:nvPr/>
        </p:nvSpPr>
        <p:spPr>
          <a:xfrm>
            <a:off x="5619750" y="2578100"/>
            <a:ext cx="857250" cy="517525"/>
          </a:xfrm>
          <a:prstGeom prst="rect">
            <a:avLst/>
          </a:prstGeom>
          <a:solidFill>
            <a:srgbClr val="FFFDF7"/>
          </a:solidFill>
          <a:ln w="9525">
            <a:solidFill>
              <a:srgbClr val="CFC7B8"/>
            </a:solidFill>
            <a:prstDash val="solid"/>
          </a:ln>
        </p:spPr>
        <p:txBody>
          <a:bodyPr/>
          <a:lstStyle/>
          <a:p>
            <a:endParaRPr/>
          </a:p>
        </p:txBody>
      </p:sp>
      <p:sp>
        <p:nvSpPr>
          <p:cNvPr id="48" name="Rectangle 47">
            <a:extLst>
              <a:ext uri="{FF2B5EF4-FFF2-40B4-BE49-F238E27FC236}">
                <a16:creationId xmlns:a16="http://schemas.microsoft.com/office/drawing/2014/main" id="{B01F014A-EF29-4781-9036-26CAA94CE5EF}"/>
              </a:ext>
            </a:extLst>
          </p:cNvPr>
          <p:cNvSpPr>
            <a:spLocks noGrp="1"/>
          </p:cNvSpPr>
          <p:nvPr/>
        </p:nvSpPr>
        <p:spPr>
          <a:xfrm>
            <a:off x="5676900" y="2654300"/>
            <a:ext cx="742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20</a:t>
            </a:r>
          </a:p>
        </p:txBody>
      </p:sp>
      <p:sp>
        <p:nvSpPr>
          <p:cNvPr id="49" name="Rectangle 48">
            <a:extLst>
              <a:ext uri="{FF2B5EF4-FFF2-40B4-BE49-F238E27FC236}">
                <a16:creationId xmlns:a16="http://schemas.microsoft.com/office/drawing/2014/main" id="{25309BFA-EEE2-44EF-A22C-CCC32D2B4575}"/>
              </a:ext>
            </a:extLst>
          </p:cNvPr>
          <p:cNvSpPr>
            <a:spLocks noGrp="1"/>
          </p:cNvSpPr>
          <p:nvPr/>
        </p:nvSpPr>
        <p:spPr>
          <a:xfrm>
            <a:off x="6477000" y="2578100"/>
            <a:ext cx="952500" cy="517525"/>
          </a:xfrm>
          <a:prstGeom prst="rect">
            <a:avLst/>
          </a:prstGeom>
          <a:solidFill>
            <a:srgbClr val="FFFDF7"/>
          </a:solidFill>
          <a:ln w="9525">
            <a:solidFill>
              <a:srgbClr val="CFC7B8"/>
            </a:solidFill>
            <a:prstDash val="solid"/>
          </a:ln>
        </p:spPr>
        <p:txBody>
          <a:bodyPr/>
          <a:lstStyle/>
          <a:p>
            <a:endParaRPr/>
          </a:p>
        </p:txBody>
      </p:sp>
      <p:sp>
        <p:nvSpPr>
          <p:cNvPr id="50" name="Rectangle 49">
            <a:extLst>
              <a:ext uri="{FF2B5EF4-FFF2-40B4-BE49-F238E27FC236}">
                <a16:creationId xmlns:a16="http://schemas.microsoft.com/office/drawing/2014/main" id="{1E306A6C-CDD4-4207-A206-C34D9E08A5CA}"/>
              </a:ext>
            </a:extLst>
          </p:cNvPr>
          <p:cNvSpPr>
            <a:spLocks noGrp="1"/>
          </p:cNvSpPr>
          <p:nvPr/>
        </p:nvSpPr>
        <p:spPr>
          <a:xfrm>
            <a:off x="6534150" y="2654300"/>
            <a:ext cx="838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20</a:t>
            </a:r>
          </a:p>
        </p:txBody>
      </p:sp>
      <p:sp>
        <p:nvSpPr>
          <p:cNvPr id="51" name="Rectangle 50">
            <a:extLst>
              <a:ext uri="{FF2B5EF4-FFF2-40B4-BE49-F238E27FC236}">
                <a16:creationId xmlns:a16="http://schemas.microsoft.com/office/drawing/2014/main" id="{15E03120-8F80-4A49-8B0B-D8A8FD5F54C2}"/>
              </a:ext>
            </a:extLst>
          </p:cNvPr>
          <p:cNvSpPr>
            <a:spLocks noGrp="1"/>
          </p:cNvSpPr>
          <p:nvPr/>
        </p:nvSpPr>
        <p:spPr>
          <a:xfrm>
            <a:off x="7429500" y="2578100"/>
            <a:ext cx="1333500" cy="517525"/>
          </a:xfrm>
          <a:prstGeom prst="rect">
            <a:avLst/>
          </a:prstGeom>
          <a:solidFill>
            <a:srgbClr val="FFFDF7"/>
          </a:solidFill>
          <a:ln w="9525">
            <a:solidFill>
              <a:srgbClr val="CFC7B8"/>
            </a:solidFill>
            <a:prstDash val="solid"/>
          </a:ln>
        </p:spPr>
        <p:txBody>
          <a:bodyPr/>
          <a:lstStyle/>
          <a:p>
            <a:endParaRPr/>
          </a:p>
        </p:txBody>
      </p:sp>
      <p:sp>
        <p:nvSpPr>
          <p:cNvPr id="52" name="Rectangle 51">
            <a:extLst>
              <a:ext uri="{FF2B5EF4-FFF2-40B4-BE49-F238E27FC236}">
                <a16:creationId xmlns:a16="http://schemas.microsoft.com/office/drawing/2014/main" id="{0FE5E1CD-8648-4B11-9FFA-3EA041C96182}"/>
              </a:ext>
            </a:extLst>
          </p:cNvPr>
          <p:cNvSpPr>
            <a:spLocks noGrp="1"/>
          </p:cNvSpPr>
          <p:nvPr/>
        </p:nvSpPr>
        <p:spPr>
          <a:xfrm>
            <a:off x="7486650" y="2654300"/>
            <a:ext cx="1219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180</a:t>
            </a:r>
          </a:p>
        </p:txBody>
      </p:sp>
      <p:sp>
        <p:nvSpPr>
          <p:cNvPr id="53" name="Rectangle 52">
            <a:extLst>
              <a:ext uri="{FF2B5EF4-FFF2-40B4-BE49-F238E27FC236}">
                <a16:creationId xmlns:a16="http://schemas.microsoft.com/office/drawing/2014/main" id="{DFDA89E2-738F-4F95-94B5-1413BA6C3155}"/>
              </a:ext>
            </a:extLst>
          </p:cNvPr>
          <p:cNvSpPr>
            <a:spLocks noGrp="1"/>
          </p:cNvSpPr>
          <p:nvPr/>
        </p:nvSpPr>
        <p:spPr>
          <a:xfrm>
            <a:off x="8763000" y="2578100"/>
            <a:ext cx="1428750" cy="517525"/>
          </a:xfrm>
          <a:prstGeom prst="rect">
            <a:avLst/>
          </a:prstGeom>
          <a:solidFill>
            <a:srgbClr val="FFFDF7"/>
          </a:solidFill>
          <a:ln w="9525">
            <a:solidFill>
              <a:srgbClr val="CFC7B8"/>
            </a:solidFill>
            <a:prstDash val="solid"/>
          </a:ln>
        </p:spPr>
        <p:txBody>
          <a:bodyPr/>
          <a:lstStyle/>
          <a:p>
            <a:endParaRPr/>
          </a:p>
        </p:txBody>
      </p:sp>
      <p:sp>
        <p:nvSpPr>
          <p:cNvPr id="54" name="Rectangle 53">
            <a:extLst>
              <a:ext uri="{FF2B5EF4-FFF2-40B4-BE49-F238E27FC236}">
                <a16:creationId xmlns:a16="http://schemas.microsoft.com/office/drawing/2014/main" id="{0D187DF5-2D98-4DE3-8312-719D494EF211}"/>
              </a:ext>
            </a:extLst>
          </p:cNvPr>
          <p:cNvSpPr>
            <a:spLocks noGrp="1"/>
          </p:cNvSpPr>
          <p:nvPr/>
        </p:nvSpPr>
        <p:spPr>
          <a:xfrm>
            <a:off x="8820150" y="2654300"/>
            <a:ext cx="13144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7,604</a:t>
            </a:r>
          </a:p>
        </p:txBody>
      </p:sp>
      <p:sp>
        <p:nvSpPr>
          <p:cNvPr id="55" name="Rectangle 54">
            <a:extLst>
              <a:ext uri="{FF2B5EF4-FFF2-40B4-BE49-F238E27FC236}">
                <a16:creationId xmlns:a16="http://schemas.microsoft.com/office/drawing/2014/main" id="{3B3C34E3-3910-4895-AC6B-204C88304A9F}"/>
              </a:ext>
            </a:extLst>
          </p:cNvPr>
          <p:cNvSpPr>
            <a:spLocks noGrp="1"/>
          </p:cNvSpPr>
          <p:nvPr/>
        </p:nvSpPr>
        <p:spPr>
          <a:xfrm>
            <a:off x="1143000" y="3095625"/>
            <a:ext cx="2857500" cy="517525"/>
          </a:xfrm>
          <a:prstGeom prst="rect">
            <a:avLst/>
          </a:prstGeom>
          <a:solidFill>
            <a:srgbClr val="F8F5EA"/>
          </a:solidFill>
          <a:ln w="9525">
            <a:solidFill>
              <a:srgbClr val="CFC7B8"/>
            </a:solidFill>
            <a:prstDash val="solid"/>
          </a:ln>
        </p:spPr>
        <p:txBody>
          <a:bodyPr/>
          <a:lstStyle/>
          <a:p>
            <a:endParaRPr/>
          </a:p>
        </p:txBody>
      </p:sp>
      <p:sp>
        <p:nvSpPr>
          <p:cNvPr id="56" name="Rectangle 55">
            <a:extLst>
              <a:ext uri="{FF2B5EF4-FFF2-40B4-BE49-F238E27FC236}">
                <a16:creationId xmlns:a16="http://schemas.microsoft.com/office/drawing/2014/main" id="{4A596EC1-A539-483D-9B98-88A2C004EE19}"/>
              </a:ext>
            </a:extLst>
          </p:cNvPr>
          <p:cNvSpPr>
            <a:spLocks noGrp="1"/>
          </p:cNvSpPr>
          <p:nvPr/>
        </p:nvSpPr>
        <p:spPr>
          <a:xfrm>
            <a:off x="1200150" y="3171825"/>
            <a:ext cx="2743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25" b="0">
                <a:solidFill>
                  <a:srgbClr val="142026"/>
                </a:solidFill>
                <a:latin typeface="Aptos"/>
                <a:ea typeface="Aptos"/>
                <a:cs typeface="Aptos"/>
              </a:defRPr>
            </a:pPr>
            <a:r>
              <a:rPr sz="1125" b="0">
                <a:solidFill>
                  <a:srgbClr val="142026"/>
                </a:solidFill>
                <a:latin typeface="Aptos"/>
                <a:ea typeface="Aptos"/>
                <a:cs typeface="Aptos"/>
              </a:rPr>
              <a:t>Washington Handwritten</a:t>
            </a:r>
          </a:p>
        </p:txBody>
      </p:sp>
      <p:sp>
        <p:nvSpPr>
          <p:cNvPr id="57" name="Rectangle 56">
            <a:extLst>
              <a:ext uri="{FF2B5EF4-FFF2-40B4-BE49-F238E27FC236}">
                <a16:creationId xmlns:a16="http://schemas.microsoft.com/office/drawing/2014/main" id="{22B700F7-837D-4573-90CA-B2C647C3288F}"/>
              </a:ext>
            </a:extLst>
          </p:cNvPr>
          <p:cNvSpPr>
            <a:spLocks noGrp="1"/>
          </p:cNvSpPr>
          <p:nvPr/>
        </p:nvSpPr>
        <p:spPr>
          <a:xfrm>
            <a:off x="4000500" y="3095625"/>
            <a:ext cx="1619250" cy="517525"/>
          </a:xfrm>
          <a:prstGeom prst="rect">
            <a:avLst/>
          </a:prstGeom>
          <a:solidFill>
            <a:srgbClr val="F8F5EA"/>
          </a:solidFill>
          <a:ln w="9525">
            <a:solidFill>
              <a:srgbClr val="CFC7B8"/>
            </a:solidFill>
            <a:prstDash val="solid"/>
          </a:ln>
        </p:spPr>
        <p:txBody>
          <a:bodyPr/>
          <a:lstStyle/>
          <a:p>
            <a:endParaRPr/>
          </a:p>
        </p:txBody>
      </p:sp>
      <p:sp>
        <p:nvSpPr>
          <p:cNvPr id="58" name="Rectangle 57">
            <a:extLst>
              <a:ext uri="{FF2B5EF4-FFF2-40B4-BE49-F238E27FC236}">
                <a16:creationId xmlns:a16="http://schemas.microsoft.com/office/drawing/2014/main" id="{C82CE24B-FEEF-407B-9176-F2F952D6C482}"/>
              </a:ext>
            </a:extLst>
          </p:cNvPr>
          <p:cNvSpPr>
            <a:spLocks noGrp="1"/>
          </p:cNvSpPr>
          <p:nvPr/>
        </p:nvSpPr>
        <p:spPr>
          <a:xfrm>
            <a:off x="4057650" y="3171825"/>
            <a:ext cx="1504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handwritten</a:t>
            </a:r>
          </a:p>
        </p:txBody>
      </p:sp>
      <p:sp>
        <p:nvSpPr>
          <p:cNvPr id="59" name="Rectangle 58">
            <a:extLst>
              <a:ext uri="{FF2B5EF4-FFF2-40B4-BE49-F238E27FC236}">
                <a16:creationId xmlns:a16="http://schemas.microsoft.com/office/drawing/2014/main" id="{1E360F92-2379-4108-8B28-84CB406F37F9}"/>
              </a:ext>
            </a:extLst>
          </p:cNvPr>
          <p:cNvSpPr>
            <a:spLocks noGrp="1"/>
          </p:cNvSpPr>
          <p:nvPr/>
        </p:nvSpPr>
        <p:spPr>
          <a:xfrm>
            <a:off x="5619750" y="3095625"/>
            <a:ext cx="857250" cy="517525"/>
          </a:xfrm>
          <a:prstGeom prst="rect">
            <a:avLst/>
          </a:prstGeom>
          <a:solidFill>
            <a:srgbClr val="F8F5EA"/>
          </a:solidFill>
          <a:ln w="9525">
            <a:solidFill>
              <a:srgbClr val="CFC7B8"/>
            </a:solidFill>
            <a:prstDash val="solid"/>
          </a:ln>
        </p:spPr>
        <p:txBody>
          <a:bodyPr/>
          <a:lstStyle/>
          <a:p>
            <a:endParaRPr/>
          </a:p>
        </p:txBody>
      </p:sp>
      <p:sp>
        <p:nvSpPr>
          <p:cNvPr id="60" name="Rectangle 59">
            <a:extLst>
              <a:ext uri="{FF2B5EF4-FFF2-40B4-BE49-F238E27FC236}">
                <a16:creationId xmlns:a16="http://schemas.microsoft.com/office/drawing/2014/main" id="{E2D437D5-57E5-4D19-B406-7BFD0F5DCD87}"/>
              </a:ext>
            </a:extLst>
          </p:cNvPr>
          <p:cNvSpPr>
            <a:spLocks noGrp="1"/>
          </p:cNvSpPr>
          <p:nvPr/>
        </p:nvSpPr>
        <p:spPr>
          <a:xfrm>
            <a:off x="5676900" y="3171825"/>
            <a:ext cx="742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20</a:t>
            </a:r>
          </a:p>
        </p:txBody>
      </p:sp>
      <p:sp>
        <p:nvSpPr>
          <p:cNvPr id="61" name="Rectangle 60">
            <a:extLst>
              <a:ext uri="{FF2B5EF4-FFF2-40B4-BE49-F238E27FC236}">
                <a16:creationId xmlns:a16="http://schemas.microsoft.com/office/drawing/2014/main" id="{9970061F-DD77-4F49-93A6-026C52052BC0}"/>
              </a:ext>
            </a:extLst>
          </p:cNvPr>
          <p:cNvSpPr>
            <a:spLocks noGrp="1"/>
          </p:cNvSpPr>
          <p:nvPr/>
        </p:nvSpPr>
        <p:spPr>
          <a:xfrm>
            <a:off x="6477000" y="3095625"/>
            <a:ext cx="952500" cy="517525"/>
          </a:xfrm>
          <a:prstGeom prst="rect">
            <a:avLst/>
          </a:prstGeom>
          <a:solidFill>
            <a:srgbClr val="F8F5EA"/>
          </a:solidFill>
          <a:ln w="9525">
            <a:solidFill>
              <a:srgbClr val="CFC7B8"/>
            </a:solidFill>
            <a:prstDash val="solid"/>
          </a:ln>
        </p:spPr>
        <p:txBody>
          <a:bodyPr/>
          <a:lstStyle/>
          <a:p>
            <a:endParaRPr/>
          </a:p>
        </p:txBody>
      </p:sp>
      <p:sp>
        <p:nvSpPr>
          <p:cNvPr id="62" name="Rectangle 61">
            <a:extLst>
              <a:ext uri="{FF2B5EF4-FFF2-40B4-BE49-F238E27FC236}">
                <a16:creationId xmlns:a16="http://schemas.microsoft.com/office/drawing/2014/main" id="{845F00F7-9508-49B6-925C-08A614FEC3D7}"/>
              </a:ext>
            </a:extLst>
          </p:cNvPr>
          <p:cNvSpPr>
            <a:spLocks noGrp="1"/>
          </p:cNvSpPr>
          <p:nvPr/>
        </p:nvSpPr>
        <p:spPr>
          <a:xfrm>
            <a:off x="6534150" y="3171825"/>
            <a:ext cx="838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20</a:t>
            </a:r>
          </a:p>
        </p:txBody>
      </p:sp>
      <p:sp>
        <p:nvSpPr>
          <p:cNvPr id="63" name="Rectangle 62">
            <a:extLst>
              <a:ext uri="{FF2B5EF4-FFF2-40B4-BE49-F238E27FC236}">
                <a16:creationId xmlns:a16="http://schemas.microsoft.com/office/drawing/2014/main" id="{A3B8EF9E-DEF9-43CD-9B0B-728F8B1C7F12}"/>
              </a:ext>
            </a:extLst>
          </p:cNvPr>
          <p:cNvSpPr>
            <a:spLocks noGrp="1"/>
          </p:cNvSpPr>
          <p:nvPr/>
        </p:nvSpPr>
        <p:spPr>
          <a:xfrm>
            <a:off x="7429500" y="3095625"/>
            <a:ext cx="1333500" cy="517525"/>
          </a:xfrm>
          <a:prstGeom prst="rect">
            <a:avLst/>
          </a:prstGeom>
          <a:solidFill>
            <a:srgbClr val="F8F5EA"/>
          </a:solidFill>
          <a:ln w="9525">
            <a:solidFill>
              <a:srgbClr val="CFC7B8"/>
            </a:solidFill>
            <a:prstDash val="solid"/>
          </a:ln>
        </p:spPr>
        <p:txBody>
          <a:bodyPr/>
          <a:lstStyle/>
          <a:p>
            <a:endParaRPr/>
          </a:p>
        </p:txBody>
      </p:sp>
      <p:sp>
        <p:nvSpPr>
          <p:cNvPr id="64" name="Rectangle 63">
            <a:extLst>
              <a:ext uri="{FF2B5EF4-FFF2-40B4-BE49-F238E27FC236}">
                <a16:creationId xmlns:a16="http://schemas.microsoft.com/office/drawing/2014/main" id="{78DF44C0-106A-418C-B529-F258EDFEC49B}"/>
              </a:ext>
            </a:extLst>
          </p:cNvPr>
          <p:cNvSpPr>
            <a:spLocks noGrp="1"/>
          </p:cNvSpPr>
          <p:nvPr/>
        </p:nvSpPr>
        <p:spPr>
          <a:xfrm>
            <a:off x="7486650" y="3171825"/>
            <a:ext cx="1219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656</a:t>
            </a:r>
          </a:p>
        </p:txBody>
      </p:sp>
      <p:sp>
        <p:nvSpPr>
          <p:cNvPr id="65" name="Rectangle 64">
            <a:extLst>
              <a:ext uri="{FF2B5EF4-FFF2-40B4-BE49-F238E27FC236}">
                <a16:creationId xmlns:a16="http://schemas.microsoft.com/office/drawing/2014/main" id="{ACB7957F-DD1F-4D03-A17C-D3BE7EDEBAAE}"/>
              </a:ext>
            </a:extLst>
          </p:cNvPr>
          <p:cNvSpPr>
            <a:spLocks noGrp="1"/>
          </p:cNvSpPr>
          <p:nvPr/>
        </p:nvSpPr>
        <p:spPr>
          <a:xfrm>
            <a:off x="8763000" y="3095625"/>
            <a:ext cx="1428750" cy="517525"/>
          </a:xfrm>
          <a:prstGeom prst="rect">
            <a:avLst/>
          </a:prstGeom>
          <a:solidFill>
            <a:srgbClr val="F8F5EA"/>
          </a:solidFill>
          <a:ln w="9525">
            <a:solidFill>
              <a:srgbClr val="CFC7B8"/>
            </a:solidFill>
            <a:prstDash val="solid"/>
          </a:ln>
        </p:spPr>
        <p:txBody>
          <a:bodyPr/>
          <a:lstStyle/>
          <a:p>
            <a:endParaRPr/>
          </a:p>
        </p:txBody>
      </p:sp>
      <p:sp>
        <p:nvSpPr>
          <p:cNvPr id="66" name="Rectangle 65">
            <a:extLst>
              <a:ext uri="{FF2B5EF4-FFF2-40B4-BE49-F238E27FC236}">
                <a16:creationId xmlns:a16="http://schemas.microsoft.com/office/drawing/2014/main" id="{46B1B28B-2BF0-48DC-AAFE-68A13D0FDBDF}"/>
              </a:ext>
            </a:extLst>
          </p:cNvPr>
          <p:cNvSpPr>
            <a:spLocks noGrp="1"/>
          </p:cNvSpPr>
          <p:nvPr/>
        </p:nvSpPr>
        <p:spPr>
          <a:xfrm>
            <a:off x="8820150" y="3171825"/>
            <a:ext cx="13144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26,458</a:t>
            </a:r>
          </a:p>
        </p:txBody>
      </p:sp>
      <p:sp>
        <p:nvSpPr>
          <p:cNvPr id="67" name="Rectangle 66">
            <a:extLst>
              <a:ext uri="{FF2B5EF4-FFF2-40B4-BE49-F238E27FC236}">
                <a16:creationId xmlns:a16="http://schemas.microsoft.com/office/drawing/2014/main" id="{6C3C03DA-FB6F-48B9-A497-23E0BF518E6D}"/>
              </a:ext>
            </a:extLst>
          </p:cNvPr>
          <p:cNvSpPr>
            <a:spLocks noGrp="1"/>
          </p:cNvSpPr>
          <p:nvPr/>
        </p:nvSpPr>
        <p:spPr>
          <a:xfrm>
            <a:off x="1143000" y="3613150"/>
            <a:ext cx="2857500" cy="517525"/>
          </a:xfrm>
          <a:prstGeom prst="rect">
            <a:avLst/>
          </a:prstGeom>
          <a:solidFill>
            <a:srgbClr val="FFFDF7"/>
          </a:solidFill>
          <a:ln w="9525">
            <a:solidFill>
              <a:srgbClr val="CFC7B8"/>
            </a:solidFill>
            <a:prstDash val="solid"/>
          </a:ln>
        </p:spPr>
        <p:txBody>
          <a:bodyPr/>
          <a:lstStyle/>
          <a:p>
            <a:endParaRPr/>
          </a:p>
        </p:txBody>
      </p:sp>
      <p:sp>
        <p:nvSpPr>
          <p:cNvPr id="68" name="Rectangle 67">
            <a:extLst>
              <a:ext uri="{FF2B5EF4-FFF2-40B4-BE49-F238E27FC236}">
                <a16:creationId xmlns:a16="http://schemas.microsoft.com/office/drawing/2014/main" id="{86589942-1450-4C6C-852B-E63AB7FFB45D}"/>
              </a:ext>
            </a:extLst>
          </p:cNvPr>
          <p:cNvSpPr>
            <a:spLocks noGrp="1"/>
          </p:cNvSpPr>
          <p:nvPr/>
        </p:nvSpPr>
        <p:spPr>
          <a:xfrm>
            <a:off x="1200150" y="3689350"/>
            <a:ext cx="2743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25" b="0">
                <a:solidFill>
                  <a:srgbClr val="142026"/>
                </a:solidFill>
                <a:latin typeface="Aptos"/>
                <a:ea typeface="Aptos"/>
                <a:cs typeface="Aptos"/>
              </a:defRPr>
            </a:pPr>
            <a:r>
              <a:rPr sz="1125" b="0">
                <a:solidFill>
                  <a:srgbClr val="142026"/>
                </a:solidFill>
                <a:latin typeface="Aptos"/>
                <a:ea typeface="Aptos"/>
                <a:cs typeface="Aptos"/>
              </a:rPr>
              <a:t>Bullinger Print</a:t>
            </a:r>
          </a:p>
        </p:txBody>
      </p:sp>
      <p:sp>
        <p:nvSpPr>
          <p:cNvPr id="69" name="Rectangle 68">
            <a:extLst>
              <a:ext uri="{FF2B5EF4-FFF2-40B4-BE49-F238E27FC236}">
                <a16:creationId xmlns:a16="http://schemas.microsoft.com/office/drawing/2014/main" id="{73546DDB-2C33-49C8-801A-AD7C64C906DF}"/>
              </a:ext>
            </a:extLst>
          </p:cNvPr>
          <p:cNvSpPr>
            <a:spLocks noGrp="1"/>
          </p:cNvSpPr>
          <p:nvPr/>
        </p:nvSpPr>
        <p:spPr>
          <a:xfrm>
            <a:off x="4000500" y="3613150"/>
            <a:ext cx="1619250" cy="517525"/>
          </a:xfrm>
          <a:prstGeom prst="rect">
            <a:avLst/>
          </a:prstGeom>
          <a:solidFill>
            <a:srgbClr val="FFFDF7"/>
          </a:solidFill>
          <a:ln w="9525">
            <a:solidFill>
              <a:srgbClr val="CFC7B8"/>
            </a:solidFill>
            <a:prstDash val="solid"/>
          </a:ln>
        </p:spPr>
        <p:txBody>
          <a:bodyPr/>
          <a:lstStyle/>
          <a:p>
            <a:endParaRPr/>
          </a:p>
        </p:txBody>
      </p:sp>
      <p:sp>
        <p:nvSpPr>
          <p:cNvPr id="70" name="Rectangle 69">
            <a:extLst>
              <a:ext uri="{FF2B5EF4-FFF2-40B4-BE49-F238E27FC236}">
                <a16:creationId xmlns:a16="http://schemas.microsoft.com/office/drawing/2014/main" id="{9E6788F3-EF0B-47E6-A09D-87E1E0222D15}"/>
              </a:ext>
            </a:extLst>
          </p:cNvPr>
          <p:cNvSpPr>
            <a:spLocks noGrp="1"/>
          </p:cNvSpPr>
          <p:nvPr/>
        </p:nvSpPr>
        <p:spPr>
          <a:xfrm>
            <a:off x="4057650" y="3689350"/>
            <a:ext cx="1504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printed</a:t>
            </a:r>
          </a:p>
        </p:txBody>
      </p:sp>
      <p:sp>
        <p:nvSpPr>
          <p:cNvPr id="71" name="Rectangle 70">
            <a:extLst>
              <a:ext uri="{FF2B5EF4-FFF2-40B4-BE49-F238E27FC236}">
                <a16:creationId xmlns:a16="http://schemas.microsoft.com/office/drawing/2014/main" id="{12F6A2A4-3BC5-4883-84F8-28B314E33B7B}"/>
              </a:ext>
            </a:extLst>
          </p:cNvPr>
          <p:cNvSpPr>
            <a:spLocks noGrp="1"/>
          </p:cNvSpPr>
          <p:nvPr/>
        </p:nvSpPr>
        <p:spPr>
          <a:xfrm>
            <a:off x="5619750" y="3613150"/>
            <a:ext cx="857250" cy="517525"/>
          </a:xfrm>
          <a:prstGeom prst="rect">
            <a:avLst/>
          </a:prstGeom>
          <a:solidFill>
            <a:srgbClr val="FFFDF7"/>
          </a:solidFill>
          <a:ln w="9525">
            <a:solidFill>
              <a:srgbClr val="CFC7B8"/>
            </a:solidFill>
            <a:prstDash val="solid"/>
          </a:ln>
        </p:spPr>
        <p:txBody>
          <a:bodyPr/>
          <a:lstStyle/>
          <a:p>
            <a:endParaRPr/>
          </a:p>
        </p:txBody>
      </p:sp>
      <p:sp>
        <p:nvSpPr>
          <p:cNvPr id="72" name="Rectangle 71">
            <a:extLst>
              <a:ext uri="{FF2B5EF4-FFF2-40B4-BE49-F238E27FC236}">
                <a16:creationId xmlns:a16="http://schemas.microsoft.com/office/drawing/2014/main" id="{539E07E0-93EF-49B1-88BD-077478E93F4D}"/>
              </a:ext>
            </a:extLst>
          </p:cNvPr>
          <p:cNvSpPr>
            <a:spLocks noGrp="1"/>
          </p:cNvSpPr>
          <p:nvPr/>
        </p:nvSpPr>
        <p:spPr>
          <a:xfrm>
            <a:off x="5676900" y="3689350"/>
            <a:ext cx="742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10</a:t>
            </a:r>
          </a:p>
        </p:txBody>
      </p:sp>
      <p:sp>
        <p:nvSpPr>
          <p:cNvPr id="73" name="Rectangle 72">
            <a:extLst>
              <a:ext uri="{FF2B5EF4-FFF2-40B4-BE49-F238E27FC236}">
                <a16:creationId xmlns:a16="http://schemas.microsoft.com/office/drawing/2014/main" id="{2119D052-0D9E-468C-94B3-7100F534D0BF}"/>
              </a:ext>
            </a:extLst>
          </p:cNvPr>
          <p:cNvSpPr>
            <a:spLocks noGrp="1"/>
          </p:cNvSpPr>
          <p:nvPr/>
        </p:nvSpPr>
        <p:spPr>
          <a:xfrm>
            <a:off x="6477000" y="3613150"/>
            <a:ext cx="952500" cy="517525"/>
          </a:xfrm>
          <a:prstGeom prst="rect">
            <a:avLst/>
          </a:prstGeom>
          <a:solidFill>
            <a:srgbClr val="FFFDF7"/>
          </a:solidFill>
          <a:ln w="9525">
            <a:solidFill>
              <a:srgbClr val="CFC7B8"/>
            </a:solidFill>
            <a:prstDash val="solid"/>
          </a:ln>
        </p:spPr>
        <p:txBody>
          <a:bodyPr/>
          <a:lstStyle/>
          <a:p>
            <a:endParaRPr/>
          </a:p>
        </p:txBody>
      </p:sp>
      <p:sp>
        <p:nvSpPr>
          <p:cNvPr id="74" name="Rectangle 73">
            <a:extLst>
              <a:ext uri="{FF2B5EF4-FFF2-40B4-BE49-F238E27FC236}">
                <a16:creationId xmlns:a16="http://schemas.microsoft.com/office/drawing/2014/main" id="{8D818D8B-E392-4CE1-B14B-0E19302F480A}"/>
              </a:ext>
            </a:extLst>
          </p:cNvPr>
          <p:cNvSpPr>
            <a:spLocks noGrp="1"/>
          </p:cNvSpPr>
          <p:nvPr/>
        </p:nvSpPr>
        <p:spPr>
          <a:xfrm>
            <a:off x="6534150" y="3689350"/>
            <a:ext cx="838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10</a:t>
            </a:r>
          </a:p>
        </p:txBody>
      </p:sp>
      <p:sp>
        <p:nvSpPr>
          <p:cNvPr id="75" name="Rectangle 74">
            <a:extLst>
              <a:ext uri="{FF2B5EF4-FFF2-40B4-BE49-F238E27FC236}">
                <a16:creationId xmlns:a16="http://schemas.microsoft.com/office/drawing/2014/main" id="{06F3FE85-8FAE-4DE2-B51C-138C5691522B}"/>
              </a:ext>
            </a:extLst>
          </p:cNvPr>
          <p:cNvSpPr>
            <a:spLocks noGrp="1"/>
          </p:cNvSpPr>
          <p:nvPr/>
        </p:nvSpPr>
        <p:spPr>
          <a:xfrm>
            <a:off x="7429500" y="3613150"/>
            <a:ext cx="1333500" cy="517525"/>
          </a:xfrm>
          <a:prstGeom prst="rect">
            <a:avLst/>
          </a:prstGeom>
          <a:solidFill>
            <a:srgbClr val="FFFDF7"/>
          </a:solidFill>
          <a:ln w="9525">
            <a:solidFill>
              <a:srgbClr val="CFC7B8"/>
            </a:solidFill>
            <a:prstDash val="solid"/>
          </a:ln>
        </p:spPr>
        <p:txBody>
          <a:bodyPr/>
          <a:lstStyle/>
          <a:p>
            <a:endParaRPr/>
          </a:p>
        </p:txBody>
      </p:sp>
      <p:sp>
        <p:nvSpPr>
          <p:cNvPr id="76" name="Rectangle 75">
            <a:extLst>
              <a:ext uri="{FF2B5EF4-FFF2-40B4-BE49-F238E27FC236}">
                <a16:creationId xmlns:a16="http://schemas.microsoft.com/office/drawing/2014/main" id="{EC045A64-1D1B-4E7D-ACF1-6CF69652AFAE}"/>
              </a:ext>
            </a:extLst>
          </p:cNvPr>
          <p:cNvSpPr>
            <a:spLocks noGrp="1"/>
          </p:cNvSpPr>
          <p:nvPr/>
        </p:nvSpPr>
        <p:spPr>
          <a:xfrm>
            <a:off x="7486650" y="3689350"/>
            <a:ext cx="1219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271</a:t>
            </a:r>
          </a:p>
        </p:txBody>
      </p:sp>
      <p:sp>
        <p:nvSpPr>
          <p:cNvPr id="77" name="Rectangle 76">
            <a:extLst>
              <a:ext uri="{FF2B5EF4-FFF2-40B4-BE49-F238E27FC236}">
                <a16:creationId xmlns:a16="http://schemas.microsoft.com/office/drawing/2014/main" id="{DC787E42-2DC0-4168-8885-9F042F063853}"/>
              </a:ext>
            </a:extLst>
          </p:cNvPr>
          <p:cNvSpPr>
            <a:spLocks noGrp="1"/>
          </p:cNvSpPr>
          <p:nvPr/>
        </p:nvSpPr>
        <p:spPr>
          <a:xfrm>
            <a:off x="8763000" y="3613150"/>
            <a:ext cx="1428750" cy="517525"/>
          </a:xfrm>
          <a:prstGeom prst="rect">
            <a:avLst/>
          </a:prstGeom>
          <a:solidFill>
            <a:srgbClr val="FFFDF7"/>
          </a:solidFill>
          <a:ln w="9525">
            <a:solidFill>
              <a:srgbClr val="CFC7B8"/>
            </a:solidFill>
            <a:prstDash val="solid"/>
          </a:ln>
        </p:spPr>
        <p:txBody>
          <a:bodyPr/>
          <a:lstStyle/>
          <a:p>
            <a:endParaRPr/>
          </a:p>
        </p:txBody>
      </p:sp>
      <p:sp>
        <p:nvSpPr>
          <p:cNvPr id="78" name="Rectangle 77">
            <a:extLst>
              <a:ext uri="{FF2B5EF4-FFF2-40B4-BE49-F238E27FC236}">
                <a16:creationId xmlns:a16="http://schemas.microsoft.com/office/drawing/2014/main" id="{23AD12FE-9836-4988-8E4E-E9E1868FE05F}"/>
              </a:ext>
            </a:extLst>
          </p:cNvPr>
          <p:cNvSpPr>
            <a:spLocks noGrp="1"/>
          </p:cNvSpPr>
          <p:nvPr/>
        </p:nvSpPr>
        <p:spPr>
          <a:xfrm>
            <a:off x="8820150" y="3689350"/>
            <a:ext cx="13144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15,004</a:t>
            </a:r>
          </a:p>
        </p:txBody>
      </p:sp>
      <p:sp>
        <p:nvSpPr>
          <p:cNvPr id="79" name="Rectangle 78">
            <a:extLst>
              <a:ext uri="{FF2B5EF4-FFF2-40B4-BE49-F238E27FC236}">
                <a16:creationId xmlns:a16="http://schemas.microsoft.com/office/drawing/2014/main" id="{88FA902E-7AC1-44F4-9BD8-A42FB0E5AC1C}"/>
              </a:ext>
            </a:extLst>
          </p:cNvPr>
          <p:cNvSpPr>
            <a:spLocks noGrp="1"/>
          </p:cNvSpPr>
          <p:nvPr/>
        </p:nvSpPr>
        <p:spPr>
          <a:xfrm>
            <a:off x="1143000" y="4130675"/>
            <a:ext cx="2857500" cy="517525"/>
          </a:xfrm>
          <a:prstGeom prst="rect">
            <a:avLst/>
          </a:prstGeom>
          <a:solidFill>
            <a:srgbClr val="F8F5EA"/>
          </a:solidFill>
          <a:ln w="9525">
            <a:solidFill>
              <a:srgbClr val="CFC7B8"/>
            </a:solidFill>
            <a:prstDash val="solid"/>
          </a:ln>
        </p:spPr>
        <p:txBody>
          <a:bodyPr/>
          <a:lstStyle/>
          <a:p>
            <a:endParaRPr/>
          </a:p>
        </p:txBody>
      </p:sp>
      <p:sp>
        <p:nvSpPr>
          <p:cNvPr id="80" name="Rectangle 79">
            <a:extLst>
              <a:ext uri="{FF2B5EF4-FFF2-40B4-BE49-F238E27FC236}">
                <a16:creationId xmlns:a16="http://schemas.microsoft.com/office/drawing/2014/main" id="{3175DE93-9002-4B30-801A-0893B38CC334}"/>
              </a:ext>
            </a:extLst>
          </p:cNvPr>
          <p:cNvSpPr>
            <a:spLocks noGrp="1"/>
          </p:cNvSpPr>
          <p:nvPr/>
        </p:nvSpPr>
        <p:spPr>
          <a:xfrm>
            <a:off x="1200150" y="4206875"/>
            <a:ext cx="2743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125" b="0">
                <a:solidFill>
                  <a:srgbClr val="142026"/>
                </a:solidFill>
                <a:latin typeface="Aptos"/>
                <a:ea typeface="Aptos"/>
                <a:cs typeface="Aptos"/>
              </a:defRPr>
            </a:pPr>
            <a:r>
              <a:rPr sz="1125" b="0">
                <a:solidFill>
                  <a:srgbClr val="142026"/>
                </a:solidFill>
                <a:latin typeface="Aptos"/>
                <a:ea typeface="Aptos"/>
                <a:cs typeface="Aptos"/>
              </a:rPr>
              <a:t>IAM Print</a:t>
            </a:r>
          </a:p>
        </p:txBody>
      </p:sp>
      <p:sp>
        <p:nvSpPr>
          <p:cNvPr id="81" name="Rectangle 80">
            <a:extLst>
              <a:ext uri="{FF2B5EF4-FFF2-40B4-BE49-F238E27FC236}">
                <a16:creationId xmlns:a16="http://schemas.microsoft.com/office/drawing/2014/main" id="{116683A4-12AE-4AF3-B2CD-D66E8E32F2FB}"/>
              </a:ext>
            </a:extLst>
          </p:cNvPr>
          <p:cNvSpPr>
            <a:spLocks noGrp="1"/>
          </p:cNvSpPr>
          <p:nvPr/>
        </p:nvSpPr>
        <p:spPr>
          <a:xfrm>
            <a:off x="4000500" y="4130675"/>
            <a:ext cx="1619250" cy="517525"/>
          </a:xfrm>
          <a:prstGeom prst="rect">
            <a:avLst/>
          </a:prstGeom>
          <a:solidFill>
            <a:srgbClr val="F8F5EA"/>
          </a:solidFill>
          <a:ln w="9525">
            <a:solidFill>
              <a:srgbClr val="CFC7B8"/>
            </a:solidFill>
            <a:prstDash val="solid"/>
          </a:ln>
        </p:spPr>
        <p:txBody>
          <a:bodyPr/>
          <a:lstStyle/>
          <a:p>
            <a:endParaRPr/>
          </a:p>
        </p:txBody>
      </p:sp>
      <p:sp>
        <p:nvSpPr>
          <p:cNvPr id="82" name="Rectangle 81">
            <a:extLst>
              <a:ext uri="{FF2B5EF4-FFF2-40B4-BE49-F238E27FC236}">
                <a16:creationId xmlns:a16="http://schemas.microsoft.com/office/drawing/2014/main" id="{2FEC95A6-548B-43F1-B0C4-75DC6B90F788}"/>
              </a:ext>
            </a:extLst>
          </p:cNvPr>
          <p:cNvSpPr>
            <a:spLocks noGrp="1"/>
          </p:cNvSpPr>
          <p:nvPr/>
        </p:nvSpPr>
        <p:spPr>
          <a:xfrm>
            <a:off x="4057650" y="4206875"/>
            <a:ext cx="1504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printed</a:t>
            </a:r>
          </a:p>
        </p:txBody>
      </p:sp>
      <p:sp>
        <p:nvSpPr>
          <p:cNvPr id="83" name="Rectangle 82">
            <a:extLst>
              <a:ext uri="{FF2B5EF4-FFF2-40B4-BE49-F238E27FC236}">
                <a16:creationId xmlns:a16="http://schemas.microsoft.com/office/drawing/2014/main" id="{05297E3E-A585-4566-8424-46EE6F0A19A5}"/>
              </a:ext>
            </a:extLst>
          </p:cNvPr>
          <p:cNvSpPr>
            <a:spLocks noGrp="1"/>
          </p:cNvSpPr>
          <p:nvPr/>
        </p:nvSpPr>
        <p:spPr>
          <a:xfrm>
            <a:off x="5619750" y="4130675"/>
            <a:ext cx="857250" cy="517525"/>
          </a:xfrm>
          <a:prstGeom prst="rect">
            <a:avLst/>
          </a:prstGeom>
          <a:solidFill>
            <a:srgbClr val="F8F5EA"/>
          </a:solidFill>
          <a:ln w="9525">
            <a:solidFill>
              <a:srgbClr val="CFC7B8"/>
            </a:solidFill>
            <a:prstDash val="solid"/>
          </a:ln>
        </p:spPr>
        <p:txBody>
          <a:bodyPr/>
          <a:lstStyle/>
          <a:p>
            <a:endParaRPr/>
          </a:p>
        </p:txBody>
      </p:sp>
      <p:sp>
        <p:nvSpPr>
          <p:cNvPr id="84" name="Rectangle 83">
            <a:extLst>
              <a:ext uri="{FF2B5EF4-FFF2-40B4-BE49-F238E27FC236}">
                <a16:creationId xmlns:a16="http://schemas.microsoft.com/office/drawing/2014/main" id="{709C887F-D78C-492D-9216-839AA437AA9E}"/>
              </a:ext>
            </a:extLst>
          </p:cNvPr>
          <p:cNvSpPr>
            <a:spLocks noGrp="1"/>
          </p:cNvSpPr>
          <p:nvPr/>
        </p:nvSpPr>
        <p:spPr>
          <a:xfrm>
            <a:off x="5676900" y="4206875"/>
            <a:ext cx="7429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30</a:t>
            </a:r>
          </a:p>
        </p:txBody>
      </p:sp>
      <p:sp>
        <p:nvSpPr>
          <p:cNvPr id="85" name="Rectangle 84">
            <a:extLst>
              <a:ext uri="{FF2B5EF4-FFF2-40B4-BE49-F238E27FC236}">
                <a16:creationId xmlns:a16="http://schemas.microsoft.com/office/drawing/2014/main" id="{18E0945B-6996-4FC5-A2C7-DFFA3600DD6D}"/>
              </a:ext>
            </a:extLst>
          </p:cNvPr>
          <p:cNvSpPr>
            <a:spLocks noGrp="1"/>
          </p:cNvSpPr>
          <p:nvPr/>
        </p:nvSpPr>
        <p:spPr>
          <a:xfrm>
            <a:off x="6477000" y="4130675"/>
            <a:ext cx="952500" cy="517525"/>
          </a:xfrm>
          <a:prstGeom prst="rect">
            <a:avLst/>
          </a:prstGeom>
          <a:solidFill>
            <a:srgbClr val="F8F5EA"/>
          </a:solidFill>
          <a:ln w="9525">
            <a:solidFill>
              <a:srgbClr val="CFC7B8"/>
            </a:solidFill>
            <a:prstDash val="solid"/>
          </a:ln>
        </p:spPr>
        <p:txBody>
          <a:bodyPr/>
          <a:lstStyle/>
          <a:p>
            <a:endParaRPr/>
          </a:p>
        </p:txBody>
      </p:sp>
      <p:sp>
        <p:nvSpPr>
          <p:cNvPr id="86" name="Rectangle 85">
            <a:extLst>
              <a:ext uri="{FF2B5EF4-FFF2-40B4-BE49-F238E27FC236}">
                <a16:creationId xmlns:a16="http://schemas.microsoft.com/office/drawing/2014/main" id="{280ABF60-2693-4AB1-92E0-FF41B564C828}"/>
              </a:ext>
            </a:extLst>
          </p:cNvPr>
          <p:cNvSpPr>
            <a:spLocks noGrp="1"/>
          </p:cNvSpPr>
          <p:nvPr/>
        </p:nvSpPr>
        <p:spPr>
          <a:xfrm>
            <a:off x="6534150" y="4206875"/>
            <a:ext cx="838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30</a:t>
            </a:r>
          </a:p>
        </p:txBody>
      </p:sp>
      <p:sp>
        <p:nvSpPr>
          <p:cNvPr id="87" name="Rectangle 86">
            <a:extLst>
              <a:ext uri="{FF2B5EF4-FFF2-40B4-BE49-F238E27FC236}">
                <a16:creationId xmlns:a16="http://schemas.microsoft.com/office/drawing/2014/main" id="{127A9FBD-02CD-483E-8B55-664E73C74EBA}"/>
              </a:ext>
            </a:extLst>
          </p:cNvPr>
          <p:cNvSpPr>
            <a:spLocks noGrp="1"/>
          </p:cNvSpPr>
          <p:nvPr/>
        </p:nvSpPr>
        <p:spPr>
          <a:xfrm>
            <a:off x="7429500" y="4130675"/>
            <a:ext cx="1333500" cy="517525"/>
          </a:xfrm>
          <a:prstGeom prst="rect">
            <a:avLst/>
          </a:prstGeom>
          <a:solidFill>
            <a:srgbClr val="F8F5EA"/>
          </a:solidFill>
          <a:ln w="9525">
            <a:solidFill>
              <a:srgbClr val="CFC7B8"/>
            </a:solidFill>
            <a:prstDash val="solid"/>
          </a:ln>
        </p:spPr>
        <p:txBody>
          <a:bodyPr/>
          <a:lstStyle/>
          <a:p>
            <a:endParaRPr/>
          </a:p>
        </p:txBody>
      </p:sp>
      <p:sp>
        <p:nvSpPr>
          <p:cNvPr id="88" name="Rectangle 87">
            <a:extLst>
              <a:ext uri="{FF2B5EF4-FFF2-40B4-BE49-F238E27FC236}">
                <a16:creationId xmlns:a16="http://schemas.microsoft.com/office/drawing/2014/main" id="{E770C4AD-7C4B-4A52-B8A5-64619B08331A}"/>
              </a:ext>
            </a:extLst>
          </p:cNvPr>
          <p:cNvSpPr>
            <a:spLocks noGrp="1"/>
          </p:cNvSpPr>
          <p:nvPr/>
        </p:nvSpPr>
        <p:spPr>
          <a:xfrm>
            <a:off x="7486650" y="4206875"/>
            <a:ext cx="121920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161</a:t>
            </a:r>
          </a:p>
        </p:txBody>
      </p:sp>
      <p:sp>
        <p:nvSpPr>
          <p:cNvPr id="89" name="Rectangle 88">
            <a:extLst>
              <a:ext uri="{FF2B5EF4-FFF2-40B4-BE49-F238E27FC236}">
                <a16:creationId xmlns:a16="http://schemas.microsoft.com/office/drawing/2014/main" id="{8F299001-192D-4766-AB3F-AB01240CB78A}"/>
              </a:ext>
            </a:extLst>
          </p:cNvPr>
          <p:cNvSpPr>
            <a:spLocks noGrp="1"/>
          </p:cNvSpPr>
          <p:nvPr/>
        </p:nvSpPr>
        <p:spPr>
          <a:xfrm>
            <a:off x="8763000" y="4130675"/>
            <a:ext cx="1428750" cy="517525"/>
          </a:xfrm>
          <a:prstGeom prst="rect">
            <a:avLst/>
          </a:prstGeom>
          <a:solidFill>
            <a:srgbClr val="F8F5EA"/>
          </a:solidFill>
          <a:ln w="9525">
            <a:solidFill>
              <a:srgbClr val="CFC7B8"/>
            </a:solidFill>
            <a:prstDash val="solid"/>
          </a:ln>
        </p:spPr>
        <p:txBody>
          <a:bodyPr/>
          <a:lstStyle/>
          <a:p>
            <a:endParaRPr/>
          </a:p>
        </p:txBody>
      </p:sp>
      <p:sp>
        <p:nvSpPr>
          <p:cNvPr id="90" name="Rectangle 89">
            <a:extLst>
              <a:ext uri="{FF2B5EF4-FFF2-40B4-BE49-F238E27FC236}">
                <a16:creationId xmlns:a16="http://schemas.microsoft.com/office/drawing/2014/main" id="{D3C93228-E4F2-4394-82B3-4EC797BA6E2C}"/>
              </a:ext>
            </a:extLst>
          </p:cNvPr>
          <p:cNvSpPr>
            <a:spLocks noGrp="1"/>
          </p:cNvSpPr>
          <p:nvPr/>
        </p:nvSpPr>
        <p:spPr>
          <a:xfrm>
            <a:off x="8820150" y="4206875"/>
            <a:ext cx="1314450" cy="42227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0">
                <a:solidFill>
                  <a:srgbClr val="142026"/>
                </a:solidFill>
                <a:latin typeface="Aptos"/>
                <a:ea typeface="Aptos"/>
                <a:cs typeface="Aptos"/>
              </a:defRPr>
            </a:pPr>
            <a:r>
              <a:rPr sz="1125" b="0">
                <a:solidFill>
                  <a:srgbClr val="142026"/>
                </a:solidFill>
                <a:latin typeface="Aptos"/>
                <a:ea typeface="Aptos"/>
                <a:cs typeface="Aptos"/>
              </a:rPr>
              <a:t>12,194</a:t>
            </a:r>
          </a:p>
        </p:txBody>
      </p:sp>
    </p:spTree>
    <p:extLst>
      <p:ext uri="{BB962C8B-B14F-4D97-AF65-F5344CB8AC3E}">
        <p14:creationId xmlns:p14="http://schemas.microsoft.com/office/powerpoint/2010/main" val="387077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484FFE-1672-4DD7-9A14-B735B335903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F3439A3-F1EE-4AA4-9F44-60B6DFCF0EF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50DCDD3-E684-4F4F-9FA8-6582988F9D52}"/>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Appendix A3</a:t>
            </a:r>
          </a:p>
        </p:txBody>
      </p:sp>
      <p:sp>
        <p:nvSpPr>
          <p:cNvPr id="4" name="Rectangle 3">
            <a:extLst>
              <a:ext uri="{FF2B5EF4-FFF2-40B4-BE49-F238E27FC236}">
                <a16:creationId xmlns:a16="http://schemas.microsoft.com/office/drawing/2014/main" id="{8D1C7D3A-ABCD-4609-9F77-2ECD71C41A7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Methods</a:t>
            </a:r>
          </a:p>
        </p:txBody>
      </p:sp>
      <p:sp>
        <p:nvSpPr>
          <p:cNvPr id="5" name="Rectangle 4">
            <a:extLst>
              <a:ext uri="{FF2B5EF4-FFF2-40B4-BE49-F238E27FC236}">
                <a16:creationId xmlns:a16="http://schemas.microsoft.com/office/drawing/2014/main" id="{26BC2582-9E1C-4F21-9D14-37E45F5814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9F7D7FB-5A67-4A30-80CB-6117BB541C7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17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4B2BD2F4-1278-45D7-A9E2-73C39CA95041}"/>
              </a:ext>
            </a:extLst>
          </p:cNvPr>
          <p:cNvSpPr>
            <a:spLocks noGrp="1"/>
          </p:cNvSpPr>
          <p:nvPr/>
        </p:nvSpPr>
        <p:spPr>
          <a:xfrm>
            <a:off x="666750" y="1104900"/>
            <a:ext cx="952500" cy="323850"/>
          </a:xfrm>
          <a:prstGeom prst="rect">
            <a:avLst/>
          </a:prstGeom>
          <a:solidFill>
            <a:srgbClr val="264653"/>
          </a:solidFill>
          <a:ln w="9525">
            <a:solidFill>
              <a:srgbClr val="264653"/>
            </a:solidFill>
            <a:prstDash val="solid"/>
          </a:ln>
        </p:spPr>
        <p:txBody>
          <a:bodyPr/>
          <a:lstStyle/>
          <a:p>
            <a:endParaRPr/>
          </a:p>
        </p:txBody>
      </p:sp>
      <p:sp>
        <p:nvSpPr>
          <p:cNvPr id="8" name="Rectangle 7">
            <a:extLst>
              <a:ext uri="{FF2B5EF4-FFF2-40B4-BE49-F238E27FC236}">
                <a16:creationId xmlns:a16="http://schemas.microsoft.com/office/drawing/2014/main" id="{B6F17E67-AFE1-47F7-AF19-83FE85C308C6}"/>
              </a:ext>
            </a:extLst>
          </p:cNvPr>
          <p:cNvSpPr>
            <a:spLocks noGrp="1"/>
          </p:cNvSpPr>
          <p:nvPr/>
        </p:nvSpPr>
        <p:spPr>
          <a:xfrm>
            <a:off x="723900" y="1190625"/>
            <a:ext cx="838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900" b="1">
                <a:solidFill>
                  <a:srgbClr val="FFFFFF"/>
                </a:solidFill>
                <a:latin typeface="Aptos"/>
                <a:ea typeface="Aptos"/>
                <a:cs typeface="Aptos"/>
              </a:defRPr>
            </a:pPr>
            <a:r>
              <a:rPr sz="900" b="1">
                <a:solidFill>
                  <a:srgbClr val="FFFFFF"/>
                </a:solidFill>
                <a:latin typeface="Aptos"/>
                <a:ea typeface="Aptos"/>
                <a:cs typeface="Aptos"/>
              </a:rPr>
              <a:t>Method</a:t>
            </a:r>
          </a:p>
        </p:txBody>
      </p:sp>
      <p:sp>
        <p:nvSpPr>
          <p:cNvPr id="9" name="Rectangle 8">
            <a:extLst>
              <a:ext uri="{FF2B5EF4-FFF2-40B4-BE49-F238E27FC236}">
                <a16:creationId xmlns:a16="http://schemas.microsoft.com/office/drawing/2014/main" id="{1768FC19-FC09-4FAC-95B9-5B14B1FFF1F3}"/>
              </a:ext>
            </a:extLst>
          </p:cNvPr>
          <p:cNvSpPr>
            <a:spLocks noGrp="1"/>
          </p:cNvSpPr>
          <p:nvPr/>
        </p:nvSpPr>
        <p:spPr>
          <a:xfrm>
            <a:off x="1619250" y="1104900"/>
            <a:ext cx="4000500" cy="323850"/>
          </a:xfrm>
          <a:prstGeom prst="rect">
            <a:avLst/>
          </a:prstGeom>
          <a:solidFill>
            <a:srgbClr val="264653"/>
          </a:solidFill>
          <a:ln w="9525">
            <a:solidFill>
              <a:srgbClr val="264653"/>
            </a:solidFill>
            <a:prstDash val="solid"/>
          </a:ln>
        </p:spPr>
        <p:txBody>
          <a:bodyPr/>
          <a:lstStyle/>
          <a:p>
            <a:endParaRPr/>
          </a:p>
        </p:txBody>
      </p:sp>
      <p:sp>
        <p:nvSpPr>
          <p:cNvPr id="10" name="Rectangle 9">
            <a:extLst>
              <a:ext uri="{FF2B5EF4-FFF2-40B4-BE49-F238E27FC236}">
                <a16:creationId xmlns:a16="http://schemas.microsoft.com/office/drawing/2014/main" id="{26F9A269-4249-4614-BD06-13B4944E6E8F}"/>
              </a:ext>
            </a:extLst>
          </p:cNvPr>
          <p:cNvSpPr>
            <a:spLocks noGrp="1"/>
          </p:cNvSpPr>
          <p:nvPr/>
        </p:nvSpPr>
        <p:spPr>
          <a:xfrm>
            <a:off x="1676400" y="1190625"/>
            <a:ext cx="3886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Input evidence</a:t>
            </a:r>
          </a:p>
        </p:txBody>
      </p:sp>
      <p:sp>
        <p:nvSpPr>
          <p:cNvPr id="11" name="Rectangle 10">
            <a:extLst>
              <a:ext uri="{FF2B5EF4-FFF2-40B4-BE49-F238E27FC236}">
                <a16:creationId xmlns:a16="http://schemas.microsoft.com/office/drawing/2014/main" id="{554FB0B9-3087-46AC-BA79-A1F957105FD3}"/>
              </a:ext>
            </a:extLst>
          </p:cNvPr>
          <p:cNvSpPr>
            <a:spLocks noGrp="1"/>
          </p:cNvSpPr>
          <p:nvPr/>
        </p:nvSpPr>
        <p:spPr>
          <a:xfrm>
            <a:off x="5619750" y="1104900"/>
            <a:ext cx="3333750" cy="323850"/>
          </a:xfrm>
          <a:prstGeom prst="rect">
            <a:avLst/>
          </a:prstGeom>
          <a:solidFill>
            <a:srgbClr val="264653"/>
          </a:solidFill>
          <a:ln w="9525">
            <a:solidFill>
              <a:srgbClr val="264653"/>
            </a:solidFill>
            <a:prstDash val="solid"/>
          </a:ln>
        </p:spPr>
        <p:txBody>
          <a:bodyPr/>
          <a:lstStyle/>
          <a:p>
            <a:endParaRPr/>
          </a:p>
        </p:txBody>
      </p:sp>
      <p:sp>
        <p:nvSpPr>
          <p:cNvPr id="12" name="Rectangle 11">
            <a:extLst>
              <a:ext uri="{FF2B5EF4-FFF2-40B4-BE49-F238E27FC236}">
                <a16:creationId xmlns:a16="http://schemas.microsoft.com/office/drawing/2014/main" id="{0BC9187B-65DE-4CF6-B6A3-42F0631B6E17}"/>
              </a:ext>
            </a:extLst>
          </p:cNvPr>
          <p:cNvSpPr>
            <a:spLocks noGrp="1"/>
          </p:cNvSpPr>
          <p:nvPr/>
        </p:nvSpPr>
        <p:spPr>
          <a:xfrm>
            <a:off x="5676900" y="1190625"/>
            <a:ext cx="32194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Output control</a:t>
            </a:r>
          </a:p>
        </p:txBody>
      </p:sp>
      <p:sp>
        <p:nvSpPr>
          <p:cNvPr id="13" name="Rectangle 12">
            <a:extLst>
              <a:ext uri="{FF2B5EF4-FFF2-40B4-BE49-F238E27FC236}">
                <a16:creationId xmlns:a16="http://schemas.microsoft.com/office/drawing/2014/main" id="{86241D99-CC18-40D2-9359-E2FDFE75B49F}"/>
              </a:ext>
            </a:extLst>
          </p:cNvPr>
          <p:cNvSpPr>
            <a:spLocks noGrp="1"/>
          </p:cNvSpPr>
          <p:nvPr/>
        </p:nvSpPr>
        <p:spPr>
          <a:xfrm>
            <a:off x="8953500" y="1104900"/>
            <a:ext cx="2000250" cy="323850"/>
          </a:xfrm>
          <a:prstGeom prst="rect">
            <a:avLst/>
          </a:prstGeom>
          <a:solidFill>
            <a:srgbClr val="264653"/>
          </a:solidFill>
          <a:ln w="9525">
            <a:solidFill>
              <a:srgbClr val="264653"/>
            </a:solidFill>
            <a:prstDash val="solid"/>
          </a:ln>
        </p:spPr>
        <p:txBody>
          <a:bodyPr/>
          <a:lstStyle/>
          <a:p>
            <a:endParaRPr/>
          </a:p>
        </p:txBody>
      </p:sp>
      <p:sp>
        <p:nvSpPr>
          <p:cNvPr id="14" name="Rectangle 13">
            <a:extLst>
              <a:ext uri="{FF2B5EF4-FFF2-40B4-BE49-F238E27FC236}">
                <a16:creationId xmlns:a16="http://schemas.microsoft.com/office/drawing/2014/main" id="{9CBA34CC-C8B8-4198-8B31-9A3E534BBD69}"/>
              </a:ext>
            </a:extLst>
          </p:cNvPr>
          <p:cNvSpPr>
            <a:spLocks noGrp="1"/>
          </p:cNvSpPr>
          <p:nvPr/>
        </p:nvSpPr>
        <p:spPr>
          <a:xfrm>
            <a:off x="9010650" y="1190625"/>
            <a:ext cx="18859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Scored output</a:t>
            </a:r>
          </a:p>
        </p:txBody>
      </p:sp>
      <p:sp>
        <p:nvSpPr>
          <p:cNvPr id="15" name="Rectangle 14">
            <a:extLst>
              <a:ext uri="{FF2B5EF4-FFF2-40B4-BE49-F238E27FC236}">
                <a16:creationId xmlns:a16="http://schemas.microsoft.com/office/drawing/2014/main" id="{9AB34A66-8CF7-4956-93EE-2788394E5451}"/>
              </a:ext>
            </a:extLst>
          </p:cNvPr>
          <p:cNvSpPr>
            <a:spLocks noGrp="1"/>
          </p:cNvSpPr>
          <p:nvPr/>
        </p:nvSpPr>
        <p:spPr>
          <a:xfrm>
            <a:off x="666750" y="1428750"/>
            <a:ext cx="952500" cy="612775"/>
          </a:xfrm>
          <a:prstGeom prst="rect">
            <a:avLst/>
          </a:prstGeom>
          <a:solidFill>
            <a:srgbClr val="FFFDF7"/>
          </a:solidFill>
          <a:ln w="9525">
            <a:solidFill>
              <a:srgbClr val="CFC7B8"/>
            </a:solidFill>
            <a:prstDash val="solid"/>
          </a:ln>
        </p:spPr>
        <p:txBody>
          <a:bodyPr/>
          <a:lstStyle/>
          <a:p>
            <a:endParaRPr/>
          </a:p>
        </p:txBody>
      </p:sp>
      <p:sp>
        <p:nvSpPr>
          <p:cNvPr id="16" name="Rectangle 15">
            <a:extLst>
              <a:ext uri="{FF2B5EF4-FFF2-40B4-BE49-F238E27FC236}">
                <a16:creationId xmlns:a16="http://schemas.microsoft.com/office/drawing/2014/main" id="{69C99EEE-682E-4655-9FB2-591CBB5F2F98}"/>
              </a:ext>
            </a:extLst>
          </p:cNvPr>
          <p:cNvSpPr>
            <a:spLocks noGrp="1"/>
          </p:cNvSpPr>
          <p:nvPr/>
        </p:nvSpPr>
        <p:spPr>
          <a:xfrm>
            <a:off x="723900" y="1504950"/>
            <a:ext cx="838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050" b="0">
                <a:solidFill>
                  <a:srgbClr val="142026"/>
                </a:solidFill>
                <a:latin typeface="Aptos"/>
                <a:ea typeface="Aptos"/>
                <a:cs typeface="Aptos"/>
              </a:rPr>
              <a:t>M1</a:t>
            </a:r>
          </a:p>
        </p:txBody>
      </p:sp>
      <p:sp>
        <p:nvSpPr>
          <p:cNvPr id="17" name="Rectangle 16">
            <a:extLst>
              <a:ext uri="{FF2B5EF4-FFF2-40B4-BE49-F238E27FC236}">
                <a16:creationId xmlns:a16="http://schemas.microsoft.com/office/drawing/2014/main" id="{6050C232-C665-475C-8F25-B460C753AA29}"/>
              </a:ext>
            </a:extLst>
          </p:cNvPr>
          <p:cNvSpPr>
            <a:spLocks noGrp="1"/>
          </p:cNvSpPr>
          <p:nvPr/>
        </p:nvSpPr>
        <p:spPr>
          <a:xfrm>
            <a:off x="1619250" y="1428750"/>
            <a:ext cx="4000500" cy="612775"/>
          </a:xfrm>
          <a:prstGeom prst="rect">
            <a:avLst/>
          </a:prstGeom>
          <a:solidFill>
            <a:srgbClr val="FFFDF7"/>
          </a:solidFill>
          <a:ln w="9525">
            <a:solidFill>
              <a:srgbClr val="CFC7B8"/>
            </a:solidFill>
            <a:prstDash val="solid"/>
          </a:ln>
        </p:spPr>
        <p:txBody>
          <a:bodyPr/>
          <a:lstStyle/>
          <a:p>
            <a:endParaRPr/>
          </a:p>
        </p:txBody>
      </p:sp>
      <p:sp>
        <p:nvSpPr>
          <p:cNvPr id="18" name="Rectangle 17">
            <a:extLst>
              <a:ext uri="{FF2B5EF4-FFF2-40B4-BE49-F238E27FC236}">
                <a16:creationId xmlns:a16="http://schemas.microsoft.com/office/drawing/2014/main" id="{DB97E872-B96F-48EF-A042-C67C50CC7A19}"/>
              </a:ext>
            </a:extLst>
          </p:cNvPr>
          <p:cNvSpPr>
            <a:spLocks noGrp="1"/>
          </p:cNvSpPr>
          <p:nvPr/>
        </p:nvSpPr>
        <p:spPr>
          <a:xfrm>
            <a:off x="1676400" y="1504950"/>
            <a:ext cx="3886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page image(s) + fixed transcription</a:t>
            </a:r>
          </a:p>
        </p:txBody>
      </p:sp>
      <p:sp>
        <p:nvSpPr>
          <p:cNvPr id="19" name="Rectangle 18">
            <a:extLst>
              <a:ext uri="{FF2B5EF4-FFF2-40B4-BE49-F238E27FC236}">
                <a16:creationId xmlns:a16="http://schemas.microsoft.com/office/drawing/2014/main" id="{7111C128-5D9C-4020-B30E-50CAEB4F681C}"/>
              </a:ext>
            </a:extLst>
          </p:cNvPr>
          <p:cNvSpPr>
            <a:spLocks noGrp="1"/>
          </p:cNvSpPr>
          <p:nvPr/>
        </p:nvSpPr>
        <p:spPr>
          <a:xfrm>
            <a:off x="5619750" y="1428750"/>
            <a:ext cx="3333750" cy="612775"/>
          </a:xfrm>
          <a:prstGeom prst="rect">
            <a:avLst/>
          </a:prstGeom>
          <a:solidFill>
            <a:srgbClr val="FFFDF7"/>
          </a:solidFill>
          <a:ln w="9525">
            <a:solidFill>
              <a:srgbClr val="CFC7B8"/>
            </a:solidFill>
            <a:prstDash val="solid"/>
          </a:ln>
        </p:spPr>
        <p:txBody>
          <a:bodyPr/>
          <a:lstStyle/>
          <a:p>
            <a:endParaRPr/>
          </a:p>
        </p:txBody>
      </p:sp>
      <p:sp>
        <p:nvSpPr>
          <p:cNvPr id="20" name="Rectangle 19">
            <a:extLst>
              <a:ext uri="{FF2B5EF4-FFF2-40B4-BE49-F238E27FC236}">
                <a16:creationId xmlns:a16="http://schemas.microsoft.com/office/drawing/2014/main" id="{580D66CC-2C36-451D-BF5C-F458E91DCE65}"/>
              </a:ext>
            </a:extLst>
          </p:cNvPr>
          <p:cNvSpPr>
            <a:spLocks noGrp="1"/>
          </p:cNvSpPr>
          <p:nvPr/>
        </p:nvSpPr>
        <p:spPr>
          <a:xfrm>
            <a:off x="5676900" y="1504950"/>
            <a:ext cx="32194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prompt only</a:t>
            </a:r>
          </a:p>
        </p:txBody>
      </p:sp>
      <p:sp>
        <p:nvSpPr>
          <p:cNvPr id="21" name="Rectangle 20">
            <a:extLst>
              <a:ext uri="{FF2B5EF4-FFF2-40B4-BE49-F238E27FC236}">
                <a16:creationId xmlns:a16="http://schemas.microsoft.com/office/drawing/2014/main" id="{5E125D7E-92F4-4F02-9AFE-DA62F6780D1B}"/>
              </a:ext>
            </a:extLst>
          </p:cNvPr>
          <p:cNvSpPr>
            <a:spLocks noGrp="1"/>
          </p:cNvSpPr>
          <p:nvPr/>
        </p:nvSpPr>
        <p:spPr>
          <a:xfrm>
            <a:off x="8953500" y="1428750"/>
            <a:ext cx="2000250" cy="612775"/>
          </a:xfrm>
          <a:prstGeom prst="rect">
            <a:avLst/>
          </a:prstGeom>
          <a:solidFill>
            <a:srgbClr val="FFFDF7"/>
          </a:solidFill>
          <a:ln w="9525">
            <a:solidFill>
              <a:srgbClr val="CFC7B8"/>
            </a:solidFill>
            <a:prstDash val="solid"/>
          </a:ln>
        </p:spPr>
        <p:txBody>
          <a:bodyPr/>
          <a:lstStyle/>
          <a:p>
            <a:endParaRPr/>
          </a:p>
        </p:txBody>
      </p:sp>
      <p:sp>
        <p:nvSpPr>
          <p:cNvPr id="22" name="Rectangle 21">
            <a:extLst>
              <a:ext uri="{FF2B5EF4-FFF2-40B4-BE49-F238E27FC236}">
                <a16:creationId xmlns:a16="http://schemas.microsoft.com/office/drawing/2014/main" id="{15496D14-F6CD-4F1E-B774-8D4F4ED86945}"/>
              </a:ext>
            </a:extLst>
          </p:cNvPr>
          <p:cNvSpPr>
            <a:spLocks noGrp="1"/>
          </p:cNvSpPr>
          <p:nvPr/>
        </p:nvSpPr>
        <p:spPr>
          <a:xfrm>
            <a:off x="9010650" y="1504950"/>
            <a:ext cx="18859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raw returned text</a:t>
            </a:r>
          </a:p>
        </p:txBody>
      </p:sp>
      <p:sp>
        <p:nvSpPr>
          <p:cNvPr id="23" name="Rectangle 22">
            <a:extLst>
              <a:ext uri="{FF2B5EF4-FFF2-40B4-BE49-F238E27FC236}">
                <a16:creationId xmlns:a16="http://schemas.microsoft.com/office/drawing/2014/main" id="{93853DF0-9A8A-49D3-B068-1C85F73BA541}"/>
              </a:ext>
            </a:extLst>
          </p:cNvPr>
          <p:cNvSpPr>
            <a:spLocks noGrp="1"/>
          </p:cNvSpPr>
          <p:nvPr/>
        </p:nvSpPr>
        <p:spPr>
          <a:xfrm>
            <a:off x="666750" y="2041525"/>
            <a:ext cx="952500" cy="612775"/>
          </a:xfrm>
          <a:prstGeom prst="rect">
            <a:avLst/>
          </a:prstGeom>
          <a:solidFill>
            <a:srgbClr val="F8F5EA"/>
          </a:solidFill>
          <a:ln w="9525">
            <a:solidFill>
              <a:srgbClr val="CFC7B8"/>
            </a:solidFill>
            <a:prstDash val="solid"/>
          </a:ln>
        </p:spPr>
        <p:txBody>
          <a:bodyPr/>
          <a:lstStyle/>
          <a:p>
            <a:endParaRPr/>
          </a:p>
        </p:txBody>
      </p:sp>
      <p:sp>
        <p:nvSpPr>
          <p:cNvPr id="24" name="Rectangle 23">
            <a:extLst>
              <a:ext uri="{FF2B5EF4-FFF2-40B4-BE49-F238E27FC236}">
                <a16:creationId xmlns:a16="http://schemas.microsoft.com/office/drawing/2014/main" id="{531A54B2-686F-4EEE-97CC-F5DC12F149AE}"/>
              </a:ext>
            </a:extLst>
          </p:cNvPr>
          <p:cNvSpPr>
            <a:spLocks noGrp="1"/>
          </p:cNvSpPr>
          <p:nvPr/>
        </p:nvSpPr>
        <p:spPr>
          <a:xfrm>
            <a:off x="723900" y="2117725"/>
            <a:ext cx="838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050" b="0">
                <a:solidFill>
                  <a:srgbClr val="142026"/>
                </a:solidFill>
                <a:latin typeface="Aptos"/>
                <a:ea typeface="Aptos"/>
                <a:cs typeface="Aptos"/>
              </a:rPr>
              <a:t>M2</a:t>
            </a:r>
          </a:p>
        </p:txBody>
      </p:sp>
      <p:sp>
        <p:nvSpPr>
          <p:cNvPr id="25" name="Rectangle 24">
            <a:extLst>
              <a:ext uri="{FF2B5EF4-FFF2-40B4-BE49-F238E27FC236}">
                <a16:creationId xmlns:a16="http://schemas.microsoft.com/office/drawing/2014/main" id="{087D7110-0C8B-4B34-96E3-817FE4CD256A}"/>
              </a:ext>
            </a:extLst>
          </p:cNvPr>
          <p:cNvSpPr>
            <a:spLocks noGrp="1"/>
          </p:cNvSpPr>
          <p:nvPr/>
        </p:nvSpPr>
        <p:spPr>
          <a:xfrm>
            <a:off x="1619250" y="2041525"/>
            <a:ext cx="4000500" cy="612775"/>
          </a:xfrm>
          <a:prstGeom prst="rect">
            <a:avLst/>
          </a:prstGeom>
          <a:solidFill>
            <a:srgbClr val="F8F5EA"/>
          </a:solidFill>
          <a:ln w="9525">
            <a:solidFill>
              <a:srgbClr val="CFC7B8"/>
            </a:solidFill>
            <a:prstDash val="solid"/>
          </a:ln>
        </p:spPr>
        <p:txBody>
          <a:bodyPr/>
          <a:lstStyle/>
          <a:p>
            <a:endParaRPr/>
          </a:p>
        </p:txBody>
      </p:sp>
      <p:sp>
        <p:nvSpPr>
          <p:cNvPr id="26" name="Rectangle 25">
            <a:extLst>
              <a:ext uri="{FF2B5EF4-FFF2-40B4-BE49-F238E27FC236}">
                <a16:creationId xmlns:a16="http://schemas.microsoft.com/office/drawing/2014/main" id="{082EB8E1-63CD-4975-9C29-1913F46230DD}"/>
              </a:ext>
            </a:extLst>
          </p:cNvPr>
          <p:cNvSpPr>
            <a:spLocks noGrp="1"/>
          </p:cNvSpPr>
          <p:nvPr/>
        </p:nvSpPr>
        <p:spPr>
          <a:xfrm>
            <a:off x="1676400" y="2117725"/>
            <a:ext cx="3886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page image(s) + OCR/HTR hint + fixed transcription</a:t>
            </a:r>
          </a:p>
        </p:txBody>
      </p:sp>
      <p:sp>
        <p:nvSpPr>
          <p:cNvPr id="27" name="Rectangle 26">
            <a:extLst>
              <a:ext uri="{FF2B5EF4-FFF2-40B4-BE49-F238E27FC236}">
                <a16:creationId xmlns:a16="http://schemas.microsoft.com/office/drawing/2014/main" id="{5F39CEA3-7C45-4B15-A626-378C57315553}"/>
              </a:ext>
            </a:extLst>
          </p:cNvPr>
          <p:cNvSpPr>
            <a:spLocks noGrp="1"/>
          </p:cNvSpPr>
          <p:nvPr/>
        </p:nvSpPr>
        <p:spPr>
          <a:xfrm>
            <a:off x="5619750" y="2041525"/>
            <a:ext cx="3333750" cy="612775"/>
          </a:xfrm>
          <a:prstGeom prst="rect">
            <a:avLst/>
          </a:prstGeom>
          <a:solidFill>
            <a:srgbClr val="F8F5EA"/>
          </a:solidFill>
          <a:ln w="9525">
            <a:solidFill>
              <a:srgbClr val="CFC7B8"/>
            </a:solidFill>
            <a:prstDash val="solid"/>
          </a:ln>
        </p:spPr>
        <p:txBody>
          <a:bodyPr/>
          <a:lstStyle/>
          <a:p>
            <a:endParaRPr/>
          </a:p>
        </p:txBody>
      </p:sp>
      <p:sp>
        <p:nvSpPr>
          <p:cNvPr id="28" name="Rectangle 27">
            <a:extLst>
              <a:ext uri="{FF2B5EF4-FFF2-40B4-BE49-F238E27FC236}">
                <a16:creationId xmlns:a16="http://schemas.microsoft.com/office/drawing/2014/main" id="{D3037F2B-B81E-46C0-885F-2C494248D846}"/>
              </a:ext>
            </a:extLst>
          </p:cNvPr>
          <p:cNvSpPr>
            <a:spLocks noGrp="1"/>
          </p:cNvSpPr>
          <p:nvPr/>
        </p:nvSpPr>
        <p:spPr>
          <a:xfrm>
            <a:off x="5676900" y="2117725"/>
            <a:ext cx="32194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prompt only</a:t>
            </a:r>
          </a:p>
        </p:txBody>
      </p:sp>
      <p:sp>
        <p:nvSpPr>
          <p:cNvPr id="29" name="Rectangle 28">
            <a:extLst>
              <a:ext uri="{FF2B5EF4-FFF2-40B4-BE49-F238E27FC236}">
                <a16:creationId xmlns:a16="http://schemas.microsoft.com/office/drawing/2014/main" id="{FFD61589-B68C-41AB-A01F-FC7F9EC05959}"/>
              </a:ext>
            </a:extLst>
          </p:cNvPr>
          <p:cNvSpPr>
            <a:spLocks noGrp="1"/>
          </p:cNvSpPr>
          <p:nvPr/>
        </p:nvSpPr>
        <p:spPr>
          <a:xfrm>
            <a:off x="8953500" y="2041525"/>
            <a:ext cx="2000250" cy="612775"/>
          </a:xfrm>
          <a:prstGeom prst="rect">
            <a:avLst/>
          </a:prstGeom>
          <a:solidFill>
            <a:srgbClr val="F8F5EA"/>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522E6BF9-57D7-46AF-BE5D-283035000BD9}"/>
              </a:ext>
            </a:extLst>
          </p:cNvPr>
          <p:cNvSpPr>
            <a:spLocks noGrp="1"/>
          </p:cNvSpPr>
          <p:nvPr/>
        </p:nvSpPr>
        <p:spPr>
          <a:xfrm>
            <a:off x="9010650" y="2117725"/>
            <a:ext cx="18859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raw returned text</a:t>
            </a:r>
          </a:p>
        </p:txBody>
      </p:sp>
      <p:sp>
        <p:nvSpPr>
          <p:cNvPr id="31" name="Rectangle 30">
            <a:extLst>
              <a:ext uri="{FF2B5EF4-FFF2-40B4-BE49-F238E27FC236}">
                <a16:creationId xmlns:a16="http://schemas.microsoft.com/office/drawing/2014/main" id="{B8BC2308-A03C-4401-BF74-FD8048000F48}"/>
              </a:ext>
            </a:extLst>
          </p:cNvPr>
          <p:cNvSpPr>
            <a:spLocks noGrp="1"/>
          </p:cNvSpPr>
          <p:nvPr/>
        </p:nvSpPr>
        <p:spPr>
          <a:xfrm>
            <a:off x="666750" y="2654300"/>
            <a:ext cx="952500" cy="612775"/>
          </a:xfrm>
          <a:prstGeom prst="rect">
            <a:avLst/>
          </a:prstGeom>
          <a:solidFill>
            <a:srgbClr val="FFFDF7"/>
          </a:solidFill>
          <a:ln w="9525">
            <a:solidFill>
              <a:srgbClr val="CFC7B8"/>
            </a:solidFill>
            <a:prstDash val="solid"/>
          </a:ln>
        </p:spPr>
        <p:txBody>
          <a:bodyPr/>
          <a:lstStyle/>
          <a:p>
            <a:endParaRPr/>
          </a:p>
        </p:txBody>
      </p:sp>
      <p:sp>
        <p:nvSpPr>
          <p:cNvPr id="32" name="Rectangle 31">
            <a:extLst>
              <a:ext uri="{FF2B5EF4-FFF2-40B4-BE49-F238E27FC236}">
                <a16:creationId xmlns:a16="http://schemas.microsoft.com/office/drawing/2014/main" id="{E13CA35C-784A-4CDD-B8ED-700E5B68602E}"/>
              </a:ext>
            </a:extLst>
          </p:cNvPr>
          <p:cNvSpPr>
            <a:spLocks noGrp="1"/>
          </p:cNvSpPr>
          <p:nvPr/>
        </p:nvSpPr>
        <p:spPr>
          <a:xfrm>
            <a:off x="723900" y="2730500"/>
            <a:ext cx="838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050" b="0">
                <a:solidFill>
                  <a:srgbClr val="142026"/>
                </a:solidFill>
                <a:latin typeface="Aptos"/>
                <a:ea typeface="Aptos"/>
                <a:cs typeface="Aptos"/>
              </a:rPr>
              <a:t>M3</a:t>
            </a:r>
          </a:p>
        </p:txBody>
      </p:sp>
      <p:sp>
        <p:nvSpPr>
          <p:cNvPr id="33" name="Rectangle 32">
            <a:extLst>
              <a:ext uri="{FF2B5EF4-FFF2-40B4-BE49-F238E27FC236}">
                <a16:creationId xmlns:a16="http://schemas.microsoft.com/office/drawing/2014/main" id="{0463AC4B-10A5-4AD7-BF52-F6DE77D6955B}"/>
              </a:ext>
            </a:extLst>
          </p:cNvPr>
          <p:cNvSpPr>
            <a:spLocks noGrp="1"/>
          </p:cNvSpPr>
          <p:nvPr/>
        </p:nvSpPr>
        <p:spPr>
          <a:xfrm>
            <a:off x="1619250" y="2654300"/>
            <a:ext cx="4000500" cy="612775"/>
          </a:xfrm>
          <a:prstGeom prst="rect">
            <a:avLst/>
          </a:prstGeom>
          <a:solidFill>
            <a:srgbClr val="FFFDF7"/>
          </a:solidFill>
          <a:ln w="9525">
            <a:solidFill>
              <a:srgbClr val="CFC7B8"/>
            </a:solidFill>
            <a:prstDash val="solid"/>
          </a:ln>
        </p:spPr>
        <p:txBody>
          <a:bodyPr/>
          <a:lstStyle/>
          <a:p>
            <a:endParaRPr/>
          </a:p>
        </p:txBody>
      </p:sp>
      <p:sp>
        <p:nvSpPr>
          <p:cNvPr id="34" name="Rectangle 33">
            <a:extLst>
              <a:ext uri="{FF2B5EF4-FFF2-40B4-BE49-F238E27FC236}">
                <a16:creationId xmlns:a16="http://schemas.microsoft.com/office/drawing/2014/main" id="{5837A855-DC7E-423F-BFE5-18B575489BCF}"/>
              </a:ext>
            </a:extLst>
          </p:cNvPr>
          <p:cNvSpPr>
            <a:spLocks noGrp="1"/>
          </p:cNvSpPr>
          <p:nvPr/>
        </p:nvSpPr>
        <p:spPr>
          <a:xfrm>
            <a:off x="1676400" y="2730500"/>
            <a:ext cx="3886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OCR/HTR hint + fixed transcription</a:t>
            </a:r>
          </a:p>
        </p:txBody>
      </p:sp>
      <p:sp>
        <p:nvSpPr>
          <p:cNvPr id="35" name="Rectangle 34">
            <a:extLst>
              <a:ext uri="{FF2B5EF4-FFF2-40B4-BE49-F238E27FC236}">
                <a16:creationId xmlns:a16="http://schemas.microsoft.com/office/drawing/2014/main" id="{192F841B-7119-48B2-A693-A4394C668F02}"/>
              </a:ext>
            </a:extLst>
          </p:cNvPr>
          <p:cNvSpPr>
            <a:spLocks noGrp="1"/>
          </p:cNvSpPr>
          <p:nvPr/>
        </p:nvSpPr>
        <p:spPr>
          <a:xfrm>
            <a:off x="5619750" y="2654300"/>
            <a:ext cx="3333750" cy="612775"/>
          </a:xfrm>
          <a:prstGeom prst="rect">
            <a:avLst/>
          </a:prstGeom>
          <a:solidFill>
            <a:srgbClr val="FFFDF7"/>
          </a:solidFill>
          <a:ln w="9525">
            <a:solidFill>
              <a:srgbClr val="CFC7B8"/>
            </a:solidFill>
            <a:prstDash val="solid"/>
          </a:ln>
        </p:spPr>
        <p:txBody>
          <a:bodyPr/>
          <a:lstStyle/>
          <a:p>
            <a:endParaRPr/>
          </a:p>
        </p:txBody>
      </p:sp>
      <p:sp>
        <p:nvSpPr>
          <p:cNvPr id="36" name="Rectangle 35">
            <a:extLst>
              <a:ext uri="{FF2B5EF4-FFF2-40B4-BE49-F238E27FC236}">
                <a16:creationId xmlns:a16="http://schemas.microsoft.com/office/drawing/2014/main" id="{D0816FE6-48FB-44A2-B3D1-65FB6E14266D}"/>
              </a:ext>
            </a:extLst>
          </p:cNvPr>
          <p:cNvSpPr>
            <a:spLocks noGrp="1"/>
          </p:cNvSpPr>
          <p:nvPr/>
        </p:nvSpPr>
        <p:spPr>
          <a:xfrm>
            <a:off x="5676900" y="2730500"/>
            <a:ext cx="32194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prompt only</a:t>
            </a:r>
          </a:p>
        </p:txBody>
      </p:sp>
      <p:sp>
        <p:nvSpPr>
          <p:cNvPr id="37" name="Rectangle 36">
            <a:extLst>
              <a:ext uri="{FF2B5EF4-FFF2-40B4-BE49-F238E27FC236}">
                <a16:creationId xmlns:a16="http://schemas.microsoft.com/office/drawing/2014/main" id="{C82EAC3F-9FC5-4DED-B9C1-52993A4FA483}"/>
              </a:ext>
            </a:extLst>
          </p:cNvPr>
          <p:cNvSpPr>
            <a:spLocks noGrp="1"/>
          </p:cNvSpPr>
          <p:nvPr/>
        </p:nvSpPr>
        <p:spPr>
          <a:xfrm>
            <a:off x="8953500" y="2654300"/>
            <a:ext cx="2000250" cy="612775"/>
          </a:xfrm>
          <a:prstGeom prst="rect">
            <a:avLst/>
          </a:prstGeom>
          <a:solidFill>
            <a:srgbClr val="FFFDF7"/>
          </a:solidFill>
          <a:ln w="9525">
            <a:solidFill>
              <a:srgbClr val="CFC7B8"/>
            </a:solidFill>
            <a:prstDash val="solid"/>
          </a:ln>
        </p:spPr>
        <p:txBody>
          <a:bodyPr/>
          <a:lstStyle/>
          <a:p>
            <a:endParaRPr/>
          </a:p>
        </p:txBody>
      </p:sp>
      <p:sp>
        <p:nvSpPr>
          <p:cNvPr id="38" name="Rectangle 37">
            <a:extLst>
              <a:ext uri="{FF2B5EF4-FFF2-40B4-BE49-F238E27FC236}">
                <a16:creationId xmlns:a16="http://schemas.microsoft.com/office/drawing/2014/main" id="{71F7A25B-62C2-4268-81EF-5B1B44D9AE74}"/>
              </a:ext>
            </a:extLst>
          </p:cNvPr>
          <p:cNvSpPr>
            <a:spLocks noGrp="1"/>
          </p:cNvSpPr>
          <p:nvPr/>
        </p:nvSpPr>
        <p:spPr>
          <a:xfrm>
            <a:off x="9010650" y="2730500"/>
            <a:ext cx="18859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raw returned text</a:t>
            </a:r>
          </a:p>
        </p:txBody>
      </p:sp>
      <p:sp>
        <p:nvSpPr>
          <p:cNvPr id="39" name="Rectangle 38">
            <a:extLst>
              <a:ext uri="{FF2B5EF4-FFF2-40B4-BE49-F238E27FC236}">
                <a16:creationId xmlns:a16="http://schemas.microsoft.com/office/drawing/2014/main" id="{9A9CF920-176B-4B8E-8B76-C1D57B8A2868}"/>
              </a:ext>
            </a:extLst>
          </p:cNvPr>
          <p:cNvSpPr>
            <a:spLocks noGrp="1"/>
          </p:cNvSpPr>
          <p:nvPr/>
        </p:nvSpPr>
        <p:spPr>
          <a:xfrm>
            <a:off x="666750" y="3267075"/>
            <a:ext cx="952500" cy="612775"/>
          </a:xfrm>
          <a:prstGeom prst="rect">
            <a:avLst/>
          </a:prstGeom>
          <a:solidFill>
            <a:srgbClr val="F8F5EA"/>
          </a:solidFill>
          <a:ln w="9525">
            <a:solidFill>
              <a:srgbClr val="CFC7B8"/>
            </a:solidFill>
            <a:prstDash val="solid"/>
          </a:ln>
        </p:spPr>
        <p:txBody>
          <a:bodyPr/>
          <a:lstStyle/>
          <a:p>
            <a:endParaRPr/>
          </a:p>
        </p:txBody>
      </p:sp>
      <p:sp>
        <p:nvSpPr>
          <p:cNvPr id="40" name="Rectangle 39">
            <a:extLst>
              <a:ext uri="{FF2B5EF4-FFF2-40B4-BE49-F238E27FC236}">
                <a16:creationId xmlns:a16="http://schemas.microsoft.com/office/drawing/2014/main" id="{FD299C3A-711B-431C-82D2-2C3F2A36B736}"/>
              </a:ext>
            </a:extLst>
          </p:cNvPr>
          <p:cNvSpPr>
            <a:spLocks noGrp="1"/>
          </p:cNvSpPr>
          <p:nvPr/>
        </p:nvSpPr>
        <p:spPr>
          <a:xfrm>
            <a:off x="723900" y="3343275"/>
            <a:ext cx="838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050" b="0">
                <a:solidFill>
                  <a:srgbClr val="142026"/>
                </a:solidFill>
                <a:latin typeface="Aptos"/>
                <a:ea typeface="Aptos"/>
                <a:cs typeface="Aptos"/>
              </a:rPr>
              <a:t>M4</a:t>
            </a:r>
          </a:p>
        </p:txBody>
      </p:sp>
      <p:sp>
        <p:nvSpPr>
          <p:cNvPr id="41" name="Rectangle 40">
            <a:extLst>
              <a:ext uri="{FF2B5EF4-FFF2-40B4-BE49-F238E27FC236}">
                <a16:creationId xmlns:a16="http://schemas.microsoft.com/office/drawing/2014/main" id="{6F387419-F151-4885-A8E9-C506A275AA9E}"/>
              </a:ext>
            </a:extLst>
          </p:cNvPr>
          <p:cNvSpPr>
            <a:spLocks noGrp="1"/>
          </p:cNvSpPr>
          <p:nvPr/>
        </p:nvSpPr>
        <p:spPr>
          <a:xfrm>
            <a:off x="1619250" y="3267075"/>
            <a:ext cx="4000500" cy="612775"/>
          </a:xfrm>
          <a:prstGeom prst="rect">
            <a:avLst/>
          </a:prstGeom>
          <a:solidFill>
            <a:srgbClr val="F8F5EA"/>
          </a:solidFill>
          <a:ln w="9525">
            <a:solidFill>
              <a:srgbClr val="CFC7B8"/>
            </a:solidFill>
            <a:prstDash val="solid"/>
          </a:ln>
        </p:spPr>
        <p:txBody>
          <a:bodyPr/>
          <a:lstStyle/>
          <a:p>
            <a:endParaRPr/>
          </a:p>
        </p:txBody>
      </p:sp>
      <p:sp>
        <p:nvSpPr>
          <p:cNvPr id="42" name="Rectangle 41">
            <a:extLst>
              <a:ext uri="{FF2B5EF4-FFF2-40B4-BE49-F238E27FC236}">
                <a16:creationId xmlns:a16="http://schemas.microsoft.com/office/drawing/2014/main" id="{95573F25-E874-4DAC-8EB6-94877EC893FD}"/>
              </a:ext>
            </a:extLst>
          </p:cNvPr>
          <p:cNvSpPr>
            <a:spLocks noGrp="1"/>
          </p:cNvSpPr>
          <p:nvPr/>
        </p:nvSpPr>
        <p:spPr>
          <a:xfrm>
            <a:off x="1676400" y="3343275"/>
            <a:ext cx="3886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ordered OCR-line scaffold + expected N + fixed transcription</a:t>
            </a:r>
          </a:p>
        </p:txBody>
      </p:sp>
      <p:sp>
        <p:nvSpPr>
          <p:cNvPr id="43" name="Rectangle 42">
            <a:extLst>
              <a:ext uri="{FF2B5EF4-FFF2-40B4-BE49-F238E27FC236}">
                <a16:creationId xmlns:a16="http://schemas.microsoft.com/office/drawing/2014/main" id="{5C6861DA-88BE-4CA3-9F49-3FDE6915250F}"/>
              </a:ext>
            </a:extLst>
          </p:cNvPr>
          <p:cNvSpPr>
            <a:spLocks noGrp="1"/>
          </p:cNvSpPr>
          <p:nvPr/>
        </p:nvSpPr>
        <p:spPr>
          <a:xfrm>
            <a:off x="5619750" y="3267075"/>
            <a:ext cx="3333750" cy="612775"/>
          </a:xfrm>
          <a:prstGeom prst="rect">
            <a:avLst/>
          </a:prstGeom>
          <a:solidFill>
            <a:srgbClr val="F8F5EA"/>
          </a:solidFill>
          <a:ln w="9525">
            <a:solidFill>
              <a:srgbClr val="CFC7B8"/>
            </a:solidFill>
            <a:prstDash val="solid"/>
          </a:ln>
        </p:spPr>
        <p:txBody>
          <a:bodyPr/>
          <a:lstStyle/>
          <a:p>
            <a:endParaRPr/>
          </a:p>
        </p:txBody>
      </p:sp>
      <p:sp>
        <p:nvSpPr>
          <p:cNvPr id="44" name="Rectangle 43">
            <a:extLst>
              <a:ext uri="{FF2B5EF4-FFF2-40B4-BE49-F238E27FC236}">
                <a16:creationId xmlns:a16="http://schemas.microsoft.com/office/drawing/2014/main" id="{A568A618-C91B-4213-9AD6-C61EFF17F9A7}"/>
              </a:ext>
            </a:extLst>
          </p:cNvPr>
          <p:cNvSpPr>
            <a:spLocks noGrp="1"/>
          </p:cNvSpPr>
          <p:nvPr/>
        </p:nvSpPr>
        <p:spPr>
          <a:xfrm>
            <a:off x="5676900" y="3343275"/>
            <a:ext cx="32194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strict JSON, repair/fallback, projection</a:t>
            </a:r>
          </a:p>
        </p:txBody>
      </p:sp>
      <p:sp>
        <p:nvSpPr>
          <p:cNvPr id="45" name="Rectangle 44">
            <a:extLst>
              <a:ext uri="{FF2B5EF4-FFF2-40B4-BE49-F238E27FC236}">
                <a16:creationId xmlns:a16="http://schemas.microsoft.com/office/drawing/2014/main" id="{A8171ACC-F197-4F34-ADA9-142426308675}"/>
              </a:ext>
            </a:extLst>
          </p:cNvPr>
          <p:cNvSpPr>
            <a:spLocks noGrp="1"/>
          </p:cNvSpPr>
          <p:nvPr/>
        </p:nvSpPr>
        <p:spPr>
          <a:xfrm>
            <a:off x="8953500" y="3267075"/>
            <a:ext cx="2000250" cy="612775"/>
          </a:xfrm>
          <a:prstGeom prst="rect">
            <a:avLst/>
          </a:prstGeom>
          <a:solidFill>
            <a:srgbClr val="F8F5EA"/>
          </a:solidFill>
          <a:ln w="9525">
            <a:solidFill>
              <a:srgbClr val="CFC7B8"/>
            </a:solidFill>
            <a:prstDash val="solid"/>
          </a:ln>
        </p:spPr>
        <p:txBody>
          <a:bodyPr/>
          <a:lstStyle/>
          <a:p>
            <a:endParaRPr/>
          </a:p>
        </p:txBody>
      </p:sp>
      <p:sp>
        <p:nvSpPr>
          <p:cNvPr id="46" name="Rectangle 45">
            <a:extLst>
              <a:ext uri="{FF2B5EF4-FFF2-40B4-BE49-F238E27FC236}">
                <a16:creationId xmlns:a16="http://schemas.microsoft.com/office/drawing/2014/main" id="{EBA5591E-6F30-4D7C-B2A5-22787AC23A34}"/>
              </a:ext>
            </a:extLst>
          </p:cNvPr>
          <p:cNvSpPr>
            <a:spLocks noGrp="1"/>
          </p:cNvSpPr>
          <p:nvPr/>
        </p:nvSpPr>
        <p:spPr>
          <a:xfrm>
            <a:off x="9010650" y="3343275"/>
            <a:ext cx="18859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projected boundary plan</a:t>
            </a:r>
          </a:p>
        </p:txBody>
      </p:sp>
      <p:sp>
        <p:nvSpPr>
          <p:cNvPr id="47" name="Rectangle 46">
            <a:extLst>
              <a:ext uri="{FF2B5EF4-FFF2-40B4-BE49-F238E27FC236}">
                <a16:creationId xmlns:a16="http://schemas.microsoft.com/office/drawing/2014/main" id="{38344ED4-2135-41D5-AFA2-AD1C56C16A25}"/>
              </a:ext>
            </a:extLst>
          </p:cNvPr>
          <p:cNvSpPr>
            <a:spLocks noGrp="1"/>
          </p:cNvSpPr>
          <p:nvPr/>
        </p:nvSpPr>
        <p:spPr>
          <a:xfrm>
            <a:off x="666750" y="3879850"/>
            <a:ext cx="952500" cy="612775"/>
          </a:xfrm>
          <a:prstGeom prst="rect">
            <a:avLst/>
          </a:prstGeom>
          <a:solidFill>
            <a:srgbClr val="FFFDF7"/>
          </a:solidFill>
          <a:ln w="9525">
            <a:solidFill>
              <a:srgbClr val="CFC7B8"/>
            </a:solidFill>
            <a:prstDash val="solid"/>
          </a:ln>
        </p:spPr>
        <p:txBody>
          <a:bodyPr/>
          <a:lstStyle/>
          <a:p>
            <a:endParaRPr/>
          </a:p>
        </p:txBody>
      </p:sp>
      <p:sp>
        <p:nvSpPr>
          <p:cNvPr id="48" name="Rectangle 47">
            <a:extLst>
              <a:ext uri="{FF2B5EF4-FFF2-40B4-BE49-F238E27FC236}">
                <a16:creationId xmlns:a16="http://schemas.microsoft.com/office/drawing/2014/main" id="{E20CC748-5B0B-43DF-8751-9B733F23E8C2}"/>
              </a:ext>
            </a:extLst>
          </p:cNvPr>
          <p:cNvSpPr>
            <a:spLocks noGrp="1"/>
          </p:cNvSpPr>
          <p:nvPr/>
        </p:nvSpPr>
        <p:spPr>
          <a:xfrm>
            <a:off x="723900" y="3956050"/>
            <a:ext cx="838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050" b="0">
                <a:solidFill>
                  <a:srgbClr val="142026"/>
                </a:solidFill>
                <a:latin typeface="Aptos"/>
                <a:ea typeface="Aptos"/>
                <a:cs typeface="Aptos"/>
              </a:rPr>
              <a:t>M5</a:t>
            </a:r>
          </a:p>
        </p:txBody>
      </p:sp>
      <p:sp>
        <p:nvSpPr>
          <p:cNvPr id="49" name="Rectangle 48">
            <a:extLst>
              <a:ext uri="{FF2B5EF4-FFF2-40B4-BE49-F238E27FC236}">
                <a16:creationId xmlns:a16="http://schemas.microsoft.com/office/drawing/2014/main" id="{7C96AC10-31F8-46F3-AA01-718502404047}"/>
              </a:ext>
            </a:extLst>
          </p:cNvPr>
          <p:cNvSpPr>
            <a:spLocks noGrp="1"/>
          </p:cNvSpPr>
          <p:nvPr/>
        </p:nvSpPr>
        <p:spPr>
          <a:xfrm>
            <a:off x="1619250" y="3879850"/>
            <a:ext cx="4000500" cy="612775"/>
          </a:xfrm>
          <a:prstGeom prst="rect">
            <a:avLst/>
          </a:prstGeom>
          <a:solidFill>
            <a:srgbClr val="FFFDF7"/>
          </a:solidFill>
          <a:ln w="9525">
            <a:solidFill>
              <a:srgbClr val="CFC7B8"/>
            </a:solidFill>
            <a:prstDash val="solid"/>
          </a:ln>
        </p:spPr>
        <p:txBody>
          <a:bodyPr/>
          <a:lstStyle/>
          <a:p>
            <a:endParaRPr/>
          </a:p>
        </p:txBody>
      </p:sp>
      <p:sp>
        <p:nvSpPr>
          <p:cNvPr id="50" name="Rectangle 49">
            <a:extLst>
              <a:ext uri="{FF2B5EF4-FFF2-40B4-BE49-F238E27FC236}">
                <a16:creationId xmlns:a16="http://schemas.microsoft.com/office/drawing/2014/main" id="{F70C0C77-02A8-4ED1-8747-BFAB745485EC}"/>
              </a:ext>
            </a:extLst>
          </p:cNvPr>
          <p:cNvSpPr>
            <a:spLocks noGrp="1"/>
          </p:cNvSpPr>
          <p:nvPr/>
        </p:nvSpPr>
        <p:spPr>
          <a:xfrm>
            <a:off x="1676400" y="3956050"/>
            <a:ext cx="3886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ordered line crops + OCR/HTR line text + page context + expected N + fixed transcription</a:t>
            </a:r>
          </a:p>
        </p:txBody>
      </p:sp>
      <p:sp>
        <p:nvSpPr>
          <p:cNvPr id="51" name="Rectangle 50">
            <a:extLst>
              <a:ext uri="{FF2B5EF4-FFF2-40B4-BE49-F238E27FC236}">
                <a16:creationId xmlns:a16="http://schemas.microsoft.com/office/drawing/2014/main" id="{F0E74DC1-D49A-47EE-A32C-D55AAD60C99C}"/>
              </a:ext>
            </a:extLst>
          </p:cNvPr>
          <p:cNvSpPr>
            <a:spLocks noGrp="1"/>
          </p:cNvSpPr>
          <p:nvPr/>
        </p:nvSpPr>
        <p:spPr>
          <a:xfrm>
            <a:off x="5619750" y="3879850"/>
            <a:ext cx="3333750" cy="612775"/>
          </a:xfrm>
          <a:prstGeom prst="rect">
            <a:avLst/>
          </a:prstGeom>
          <a:solidFill>
            <a:srgbClr val="FFFDF7"/>
          </a:solidFill>
          <a:ln w="9525">
            <a:solidFill>
              <a:srgbClr val="CFC7B8"/>
            </a:solidFill>
            <a:prstDash val="solid"/>
          </a:ln>
        </p:spPr>
        <p:txBody>
          <a:bodyPr/>
          <a:lstStyle/>
          <a:p>
            <a:endParaRPr/>
          </a:p>
        </p:txBody>
      </p:sp>
      <p:sp>
        <p:nvSpPr>
          <p:cNvPr id="52" name="Rectangle 51">
            <a:extLst>
              <a:ext uri="{FF2B5EF4-FFF2-40B4-BE49-F238E27FC236}">
                <a16:creationId xmlns:a16="http://schemas.microsoft.com/office/drawing/2014/main" id="{6D392D2B-FEC1-4991-8215-6BFD004E68EB}"/>
              </a:ext>
            </a:extLst>
          </p:cNvPr>
          <p:cNvSpPr>
            <a:spLocks noGrp="1"/>
          </p:cNvSpPr>
          <p:nvPr/>
        </p:nvSpPr>
        <p:spPr>
          <a:xfrm>
            <a:off x="5676900" y="3956050"/>
            <a:ext cx="32194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strict JSON, repair/recovery/fallback, projection</a:t>
            </a:r>
          </a:p>
        </p:txBody>
      </p:sp>
      <p:sp>
        <p:nvSpPr>
          <p:cNvPr id="53" name="Rectangle 52">
            <a:extLst>
              <a:ext uri="{FF2B5EF4-FFF2-40B4-BE49-F238E27FC236}">
                <a16:creationId xmlns:a16="http://schemas.microsoft.com/office/drawing/2014/main" id="{E5033737-FAA7-44C2-BF1C-2E07F5B10585}"/>
              </a:ext>
            </a:extLst>
          </p:cNvPr>
          <p:cNvSpPr>
            <a:spLocks noGrp="1"/>
          </p:cNvSpPr>
          <p:nvPr/>
        </p:nvSpPr>
        <p:spPr>
          <a:xfrm>
            <a:off x="8953500" y="3879850"/>
            <a:ext cx="2000250" cy="612775"/>
          </a:xfrm>
          <a:prstGeom prst="rect">
            <a:avLst/>
          </a:prstGeom>
          <a:solidFill>
            <a:srgbClr val="FFFDF7"/>
          </a:solidFill>
          <a:ln w="9525">
            <a:solidFill>
              <a:srgbClr val="CFC7B8"/>
            </a:solidFill>
            <a:prstDash val="solid"/>
          </a:ln>
        </p:spPr>
        <p:txBody>
          <a:bodyPr/>
          <a:lstStyle/>
          <a:p>
            <a:endParaRPr/>
          </a:p>
        </p:txBody>
      </p:sp>
      <p:sp>
        <p:nvSpPr>
          <p:cNvPr id="54" name="Rectangle 53">
            <a:extLst>
              <a:ext uri="{FF2B5EF4-FFF2-40B4-BE49-F238E27FC236}">
                <a16:creationId xmlns:a16="http://schemas.microsoft.com/office/drawing/2014/main" id="{7C9E8A42-3BBF-4DE6-897B-50A94C2B2E7A}"/>
              </a:ext>
            </a:extLst>
          </p:cNvPr>
          <p:cNvSpPr>
            <a:spLocks noGrp="1"/>
          </p:cNvSpPr>
          <p:nvPr/>
        </p:nvSpPr>
        <p:spPr>
          <a:xfrm>
            <a:off x="9010650" y="3956050"/>
            <a:ext cx="18859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projected boundary plan</a:t>
            </a:r>
          </a:p>
        </p:txBody>
      </p:sp>
      <p:sp>
        <p:nvSpPr>
          <p:cNvPr id="55" name="Rectangle 54">
            <a:extLst>
              <a:ext uri="{FF2B5EF4-FFF2-40B4-BE49-F238E27FC236}">
                <a16:creationId xmlns:a16="http://schemas.microsoft.com/office/drawing/2014/main" id="{5D0DF92B-4F77-4141-B04D-B2BE408F7EED}"/>
              </a:ext>
            </a:extLst>
          </p:cNvPr>
          <p:cNvSpPr>
            <a:spLocks noGrp="1"/>
          </p:cNvSpPr>
          <p:nvPr/>
        </p:nvSpPr>
        <p:spPr>
          <a:xfrm>
            <a:off x="666750" y="4492625"/>
            <a:ext cx="952500" cy="612775"/>
          </a:xfrm>
          <a:prstGeom prst="rect">
            <a:avLst/>
          </a:prstGeom>
          <a:solidFill>
            <a:srgbClr val="F8F5EA"/>
          </a:solidFill>
          <a:ln w="9525">
            <a:solidFill>
              <a:srgbClr val="CFC7B8"/>
            </a:solidFill>
            <a:prstDash val="solid"/>
          </a:ln>
        </p:spPr>
        <p:txBody>
          <a:bodyPr/>
          <a:lstStyle/>
          <a:p>
            <a:endParaRPr/>
          </a:p>
        </p:txBody>
      </p:sp>
      <p:sp>
        <p:nvSpPr>
          <p:cNvPr id="56" name="Rectangle 55">
            <a:extLst>
              <a:ext uri="{FF2B5EF4-FFF2-40B4-BE49-F238E27FC236}">
                <a16:creationId xmlns:a16="http://schemas.microsoft.com/office/drawing/2014/main" id="{2F303657-0941-4F3B-9920-5B10FE3F4703}"/>
              </a:ext>
            </a:extLst>
          </p:cNvPr>
          <p:cNvSpPr>
            <a:spLocks noGrp="1"/>
          </p:cNvSpPr>
          <p:nvPr/>
        </p:nvSpPr>
        <p:spPr>
          <a:xfrm>
            <a:off x="723900" y="4568825"/>
            <a:ext cx="838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050" b="0">
                <a:solidFill>
                  <a:srgbClr val="142026"/>
                </a:solidFill>
                <a:latin typeface="Aptos"/>
                <a:ea typeface="Aptos"/>
                <a:cs typeface="Aptos"/>
              </a:rPr>
              <a:t>NNTP</a:t>
            </a:r>
          </a:p>
        </p:txBody>
      </p:sp>
      <p:sp>
        <p:nvSpPr>
          <p:cNvPr id="57" name="Rectangle 56">
            <a:extLst>
              <a:ext uri="{FF2B5EF4-FFF2-40B4-BE49-F238E27FC236}">
                <a16:creationId xmlns:a16="http://schemas.microsoft.com/office/drawing/2014/main" id="{FE7774DA-6F69-4F9E-B740-084C9E371D32}"/>
              </a:ext>
            </a:extLst>
          </p:cNvPr>
          <p:cNvSpPr>
            <a:spLocks noGrp="1"/>
          </p:cNvSpPr>
          <p:nvPr/>
        </p:nvSpPr>
        <p:spPr>
          <a:xfrm>
            <a:off x="1619250" y="4492625"/>
            <a:ext cx="4000500" cy="612775"/>
          </a:xfrm>
          <a:prstGeom prst="rect">
            <a:avLst/>
          </a:prstGeom>
          <a:solidFill>
            <a:srgbClr val="F8F5EA"/>
          </a:solidFill>
          <a:ln w="9525">
            <a:solidFill>
              <a:srgbClr val="CFC7B8"/>
            </a:solidFill>
            <a:prstDash val="solid"/>
          </a:ln>
        </p:spPr>
        <p:txBody>
          <a:bodyPr/>
          <a:lstStyle/>
          <a:p>
            <a:endParaRPr/>
          </a:p>
        </p:txBody>
      </p:sp>
      <p:sp>
        <p:nvSpPr>
          <p:cNvPr id="58" name="Rectangle 57">
            <a:extLst>
              <a:ext uri="{FF2B5EF4-FFF2-40B4-BE49-F238E27FC236}">
                <a16:creationId xmlns:a16="http://schemas.microsoft.com/office/drawing/2014/main" id="{E42131B6-C0E0-4B87-9D0B-78DD6DB0AF75}"/>
              </a:ext>
            </a:extLst>
          </p:cNvPr>
          <p:cNvSpPr>
            <a:spLocks noGrp="1"/>
          </p:cNvSpPr>
          <p:nvPr/>
        </p:nvSpPr>
        <p:spPr>
          <a:xfrm>
            <a:off x="1676400" y="4568825"/>
            <a:ext cx="388620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line images + recognizer output + fixed transcription</a:t>
            </a:r>
          </a:p>
        </p:txBody>
      </p:sp>
      <p:sp>
        <p:nvSpPr>
          <p:cNvPr id="59" name="Rectangle 58">
            <a:extLst>
              <a:ext uri="{FF2B5EF4-FFF2-40B4-BE49-F238E27FC236}">
                <a16:creationId xmlns:a16="http://schemas.microsoft.com/office/drawing/2014/main" id="{A8954CCC-2171-44D7-BCC7-0F88F7BB5D79}"/>
              </a:ext>
            </a:extLst>
          </p:cNvPr>
          <p:cNvSpPr>
            <a:spLocks noGrp="1"/>
          </p:cNvSpPr>
          <p:nvPr/>
        </p:nvSpPr>
        <p:spPr>
          <a:xfrm>
            <a:off x="5619750" y="4492625"/>
            <a:ext cx="3333750" cy="612775"/>
          </a:xfrm>
          <a:prstGeom prst="rect">
            <a:avLst/>
          </a:prstGeom>
          <a:solidFill>
            <a:srgbClr val="F8F5EA"/>
          </a:solidFill>
          <a:ln w="9525">
            <a:solidFill>
              <a:srgbClr val="CFC7B8"/>
            </a:solidFill>
            <a:prstDash val="solid"/>
          </a:ln>
        </p:spPr>
        <p:txBody>
          <a:bodyPr/>
          <a:lstStyle/>
          <a:p>
            <a:endParaRPr/>
          </a:p>
        </p:txBody>
      </p:sp>
      <p:sp>
        <p:nvSpPr>
          <p:cNvPr id="60" name="Rectangle 59">
            <a:extLst>
              <a:ext uri="{FF2B5EF4-FFF2-40B4-BE49-F238E27FC236}">
                <a16:creationId xmlns:a16="http://schemas.microsoft.com/office/drawing/2014/main" id="{87566DFC-66C3-4000-B5B3-A34ECE5E3BDF}"/>
              </a:ext>
            </a:extLst>
          </p:cNvPr>
          <p:cNvSpPr>
            <a:spLocks noGrp="1"/>
          </p:cNvSpPr>
          <p:nvPr/>
        </p:nvSpPr>
        <p:spPr>
          <a:xfrm>
            <a:off x="5676900" y="4568825"/>
            <a:ext cx="32194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deterministic forced alignment; PyLaia filtering</a:t>
            </a:r>
          </a:p>
        </p:txBody>
      </p:sp>
      <p:sp>
        <p:nvSpPr>
          <p:cNvPr id="61" name="Rectangle 60">
            <a:extLst>
              <a:ext uri="{FF2B5EF4-FFF2-40B4-BE49-F238E27FC236}">
                <a16:creationId xmlns:a16="http://schemas.microsoft.com/office/drawing/2014/main" id="{026987BC-1A7B-4819-89D7-F250539CBC04}"/>
              </a:ext>
            </a:extLst>
          </p:cNvPr>
          <p:cNvSpPr>
            <a:spLocks noGrp="1"/>
          </p:cNvSpPr>
          <p:nvPr/>
        </p:nvSpPr>
        <p:spPr>
          <a:xfrm>
            <a:off x="8953500" y="4492625"/>
            <a:ext cx="2000250" cy="612775"/>
          </a:xfrm>
          <a:prstGeom prst="rect">
            <a:avLst/>
          </a:prstGeom>
          <a:solidFill>
            <a:srgbClr val="F8F5EA"/>
          </a:solidFill>
          <a:ln w="9525">
            <a:solidFill>
              <a:srgbClr val="CFC7B8"/>
            </a:solidFill>
            <a:prstDash val="solid"/>
          </a:ln>
        </p:spPr>
        <p:txBody>
          <a:bodyPr/>
          <a:lstStyle/>
          <a:p>
            <a:endParaRPr/>
          </a:p>
        </p:txBody>
      </p:sp>
      <p:sp>
        <p:nvSpPr>
          <p:cNvPr id="62" name="Rectangle 61">
            <a:extLst>
              <a:ext uri="{FF2B5EF4-FFF2-40B4-BE49-F238E27FC236}">
                <a16:creationId xmlns:a16="http://schemas.microsoft.com/office/drawing/2014/main" id="{F5BEC8D2-9B1E-4A75-B58D-C32C1CC5A2D7}"/>
              </a:ext>
            </a:extLst>
          </p:cNvPr>
          <p:cNvSpPr>
            <a:spLocks noGrp="1"/>
          </p:cNvSpPr>
          <p:nvPr/>
        </p:nvSpPr>
        <p:spPr>
          <a:xfrm>
            <a:off x="9010650" y="4568825"/>
            <a:ext cx="1885950" cy="517525"/>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050" b="0">
                <a:solidFill>
                  <a:srgbClr val="142026"/>
                </a:solidFill>
                <a:latin typeface="Aptos"/>
                <a:ea typeface="Aptos"/>
                <a:cs typeface="Aptos"/>
              </a:rPr>
              <a:t>filtered reconstruction</a:t>
            </a:r>
          </a:p>
        </p:txBody>
      </p:sp>
    </p:spTree>
    <p:extLst>
      <p:ext uri="{BB962C8B-B14F-4D97-AF65-F5344CB8AC3E}">
        <p14:creationId xmlns:p14="http://schemas.microsoft.com/office/powerpoint/2010/main" val="700841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484FFE-1672-4DD7-9A14-B735B335903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F3439A3-F1EE-4AA4-9F44-60B6DFCF0EF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50DCDD3-E684-4F4F-9FA8-6582988F9D52}"/>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Appendix A4</a:t>
            </a:r>
          </a:p>
        </p:txBody>
      </p:sp>
      <p:sp>
        <p:nvSpPr>
          <p:cNvPr id="4" name="Rectangle 3">
            <a:extLst>
              <a:ext uri="{FF2B5EF4-FFF2-40B4-BE49-F238E27FC236}">
                <a16:creationId xmlns:a16="http://schemas.microsoft.com/office/drawing/2014/main" id="{8D1C7D3A-ABCD-4609-9F77-2ECD71C41A7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Typical Failure Modes By Method</a:t>
            </a:r>
          </a:p>
        </p:txBody>
      </p:sp>
      <p:sp>
        <p:nvSpPr>
          <p:cNvPr id="5" name="Rectangle 4">
            <a:extLst>
              <a:ext uri="{FF2B5EF4-FFF2-40B4-BE49-F238E27FC236}">
                <a16:creationId xmlns:a16="http://schemas.microsoft.com/office/drawing/2014/main" id="{26BC2582-9E1C-4F21-9D14-37E45F5814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9F7D7FB-5A67-4A30-80CB-6117BB541C7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18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64" name="Rectangle 63">
            <a:extLst>
              <a:ext uri="{FF2B5EF4-FFF2-40B4-BE49-F238E27FC236}">
                <a16:creationId xmlns:a16="http://schemas.microsoft.com/office/drawing/2014/main" id="{1DBF0ED0-F092-485B-8E53-52868D21290B}"/>
              </a:ext>
            </a:extLst>
          </p:cNvPr>
          <p:cNvSpPr>
            <a:spLocks noGrp="1"/>
          </p:cNvSpPr>
          <p:nvPr/>
        </p:nvSpPr>
        <p:spPr>
          <a:xfrm>
            <a:off x="400050" y="904875"/>
            <a:ext cx="11391900" cy="4038600"/>
          </a:xfrm>
          <a:prstGeom prst="rect">
            <a:avLst/>
          </a:prstGeom>
          <a:solidFill>
            <a:srgbClr val="FBF9F3"/>
          </a:solidFill>
          <a:ln w="9525">
            <a:solidFill>
              <a:srgbClr val="D8D0C2"/>
            </a:solidFill>
            <a:prstDash val="solid"/>
          </a:ln>
        </p:spPr>
        <p:txBody>
          <a:bodyPr/>
          <a:lstStyle/>
          <a:p>
            <a:endParaRPr/>
          </a:p>
        </p:txBody>
      </p:sp>
      <p:sp>
        <p:nvSpPr>
          <p:cNvPr id="65" name="Rectangle 64">
            <a:extLst>
              <a:ext uri="{FF2B5EF4-FFF2-40B4-BE49-F238E27FC236}">
                <a16:creationId xmlns:a16="http://schemas.microsoft.com/office/drawing/2014/main" id="{F50C31F8-E4E8-499C-8F56-DCE829485BC7}"/>
              </a:ext>
            </a:extLst>
          </p:cNvPr>
          <p:cNvSpPr>
            <a:spLocks noGrp="1"/>
          </p:cNvSpPr>
          <p:nvPr/>
        </p:nvSpPr>
        <p:spPr>
          <a:xfrm>
            <a:off x="400050" y="904875"/>
            <a:ext cx="11391900" cy="323850"/>
          </a:xfrm>
          <a:prstGeom prst="rect">
            <a:avLst/>
          </a:prstGeom>
          <a:solidFill>
            <a:srgbClr val="264653"/>
          </a:solidFill>
          <a:ln w="0">
            <a:solidFill>
              <a:srgbClr val="264653"/>
            </a:solidFill>
            <a:prstDash val="solid"/>
          </a:ln>
        </p:spPr>
        <p:txBody>
          <a:bodyPr/>
          <a:lstStyle/>
          <a:p>
            <a:endParaRPr/>
          </a:p>
        </p:txBody>
      </p:sp>
      <p:sp>
        <p:nvSpPr>
          <p:cNvPr id="66" name="Rectangle 65">
            <a:extLst>
              <a:ext uri="{FF2B5EF4-FFF2-40B4-BE49-F238E27FC236}">
                <a16:creationId xmlns:a16="http://schemas.microsoft.com/office/drawing/2014/main" id="{40572CC2-0FFC-4CB2-AC34-0FB81F3B96B6}"/>
              </a:ext>
            </a:extLst>
          </p:cNvPr>
          <p:cNvSpPr>
            <a:spLocks noGrp="1"/>
          </p:cNvSpPr>
          <p:nvPr/>
        </p:nvSpPr>
        <p:spPr>
          <a:xfrm>
            <a:off x="476250" y="962025"/>
            <a:ext cx="571500" cy="209550"/>
          </a:xfrm>
          <a:prstGeom prst="rect">
            <a:avLst/>
          </a:prstGeom>
        </p:spPr>
        <p:txBody>
          <a:bodyPr anchor="ctr"/>
          <a:lstStyle/>
          <a:p>
            <a:pPr algn="l">
              <a:lnSpc>
                <a:spcPct val="106000"/>
              </a:lnSpc>
              <a:buNone/>
              <a:defRPr sz="735" b="1">
                <a:solidFill>
                  <a:srgbClr val="FFFFFF"/>
                </a:solidFill>
                <a:latin typeface="Aptos"/>
                <a:ea typeface="Aptos"/>
                <a:cs typeface="Aptos"/>
              </a:defRPr>
            </a:pPr>
            <a:r>
              <a:rPr sz="735" b="1">
                <a:solidFill>
                  <a:srgbClr val="FFFFFF"/>
                </a:solidFill>
                <a:latin typeface="Aptos"/>
                <a:ea typeface="Aptos"/>
                <a:cs typeface="Aptos"/>
              </a:rPr>
              <a:t>Method</a:t>
            </a:r>
          </a:p>
        </p:txBody>
      </p:sp>
      <p:sp>
        <p:nvSpPr>
          <p:cNvPr id="67" name="Rectangle 66">
            <a:extLst>
              <a:ext uri="{FF2B5EF4-FFF2-40B4-BE49-F238E27FC236}">
                <a16:creationId xmlns:a16="http://schemas.microsoft.com/office/drawing/2014/main" id="{E90D65A8-5107-4A5B-BCBC-8C4112138324}"/>
              </a:ext>
            </a:extLst>
          </p:cNvPr>
          <p:cNvSpPr>
            <a:spLocks noGrp="1"/>
          </p:cNvSpPr>
          <p:nvPr/>
        </p:nvSpPr>
        <p:spPr>
          <a:xfrm>
            <a:off x="1123950" y="904875"/>
            <a:ext cx="9525" cy="4038600"/>
          </a:xfrm>
          <a:prstGeom prst="rect">
            <a:avLst/>
          </a:prstGeom>
          <a:solidFill>
            <a:srgbClr val="D8D0C2"/>
          </a:solidFill>
          <a:ln w="0">
            <a:solidFill>
              <a:srgbClr val="D8D0C2"/>
            </a:solidFill>
            <a:prstDash val="solid"/>
          </a:ln>
        </p:spPr>
        <p:txBody>
          <a:bodyPr/>
          <a:lstStyle/>
          <a:p>
            <a:endParaRPr/>
          </a:p>
        </p:txBody>
      </p:sp>
      <p:sp>
        <p:nvSpPr>
          <p:cNvPr id="68" name="Rectangle 67">
            <a:extLst>
              <a:ext uri="{FF2B5EF4-FFF2-40B4-BE49-F238E27FC236}">
                <a16:creationId xmlns:a16="http://schemas.microsoft.com/office/drawing/2014/main" id="{44BD701B-9232-48E4-8C87-FC3627B3CE5C}"/>
              </a:ext>
            </a:extLst>
          </p:cNvPr>
          <p:cNvSpPr>
            <a:spLocks noGrp="1"/>
          </p:cNvSpPr>
          <p:nvPr/>
        </p:nvSpPr>
        <p:spPr>
          <a:xfrm>
            <a:off x="1200150" y="962025"/>
            <a:ext cx="1943100" cy="209550"/>
          </a:xfrm>
          <a:prstGeom prst="rect">
            <a:avLst/>
          </a:prstGeom>
        </p:spPr>
        <p:txBody>
          <a:bodyPr anchor="ctr"/>
          <a:lstStyle/>
          <a:p>
            <a:pPr algn="l">
              <a:lnSpc>
                <a:spcPct val="106000"/>
              </a:lnSpc>
              <a:buNone/>
              <a:defRPr sz="735" b="1">
                <a:solidFill>
                  <a:srgbClr val="FFFFFF"/>
                </a:solidFill>
                <a:latin typeface="Aptos"/>
                <a:ea typeface="Aptos"/>
                <a:cs typeface="Aptos"/>
              </a:defRPr>
            </a:pPr>
            <a:r>
              <a:rPr sz="735" b="1">
                <a:solidFill>
                  <a:srgbClr val="FFFFFF"/>
                </a:solidFill>
                <a:latin typeface="Aptos"/>
                <a:ea typeface="Aptos"/>
                <a:cs typeface="Aptos"/>
              </a:rPr>
              <a:t>Typical failure mode</a:t>
            </a:r>
          </a:p>
        </p:txBody>
      </p:sp>
      <p:sp>
        <p:nvSpPr>
          <p:cNvPr id="69" name="Rectangle 68">
            <a:extLst>
              <a:ext uri="{FF2B5EF4-FFF2-40B4-BE49-F238E27FC236}">
                <a16:creationId xmlns:a16="http://schemas.microsoft.com/office/drawing/2014/main" id="{8BF694AF-7FAF-48A2-A6AE-08C7F005BBDA}"/>
              </a:ext>
            </a:extLst>
          </p:cNvPr>
          <p:cNvSpPr>
            <a:spLocks noGrp="1"/>
          </p:cNvSpPr>
          <p:nvPr/>
        </p:nvSpPr>
        <p:spPr>
          <a:xfrm>
            <a:off x="3219450" y="904875"/>
            <a:ext cx="9525" cy="4038600"/>
          </a:xfrm>
          <a:prstGeom prst="rect">
            <a:avLst/>
          </a:prstGeom>
          <a:solidFill>
            <a:srgbClr val="D8D0C2"/>
          </a:solidFill>
          <a:ln w="0">
            <a:solidFill>
              <a:srgbClr val="D8D0C2"/>
            </a:solidFill>
            <a:prstDash val="solid"/>
          </a:ln>
        </p:spPr>
        <p:txBody>
          <a:bodyPr/>
          <a:lstStyle/>
          <a:p>
            <a:endParaRPr/>
          </a:p>
        </p:txBody>
      </p:sp>
      <p:sp>
        <p:nvSpPr>
          <p:cNvPr id="70" name="Rectangle 69">
            <a:extLst>
              <a:ext uri="{FF2B5EF4-FFF2-40B4-BE49-F238E27FC236}">
                <a16:creationId xmlns:a16="http://schemas.microsoft.com/office/drawing/2014/main" id="{84B8E77C-BFE8-4560-903C-03FDD2C53846}"/>
              </a:ext>
            </a:extLst>
          </p:cNvPr>
          <p:cNvSpPr>
            <a:spLocks noGrp="1"/>
          </p:cNvSpPr>
          <p:nvPr/>
        </p:nvSpPr>
        <p:spPr>
          <a:xfrm>
            <a:off x="3295650" y="962025"/>
            <a:ext cx="2247900" cy="209550"/>
          </a:xfrm>
          <a:prstGeom prst="rect">
            <a:avLst/>
          </a:prstGeom>
        </p:spPr>
        <p:txBody>
          <a:bodyPr anchor="ctr"/>
          <a:lstStyle/>
          <a:p>
            <a:pPr algn="l">
              <a:lnSpc>
                <a:spcPct val="106000"/>
              </a:lnSpc>
              <a:buNone/>
              <a:defRPr sz="735" b="1">
                <a:solidFill>
                  <a:srgbClr val="FFFFFF"/>
                </a:solidFill>
                <a:latin typeface="Aptos"/>
                <a:ea typeface="Aptos"/>
                <a:cs typeface="Aptos"/>
              </a:defRPr>
            </a:pPr>
            <a:r>
              <a:rPr sz="735" b="1">
                <a:solidFill>
                  <a:srgbClr val="FFFFFF"/>
                </a:solidFill>
                <a:latin typeface="Aptos"/>
                <a:ea typeface="Aptos"/>
                <a:cs typeface="Aptos"/>
              </a:rPr>
              <a:t>Why it happens</a:t>
            </a:r>
          </a:p>
        </p:txBody>
      </p:sp>
      <p:sp>
        <p:nvSpPr>
          <p:cNvPr id="71" name="Rectangle 70">
            <a:extLst>
              <a:ext uri="{FF2B5EF4-FFF2-40B4-BE49-F238E27FC236}">
                <a16:creationId xmlns:a16="http://schemas.microsoft.com/office/drawing/2014/main" id="{BE107F91-E978-4C8D-BA3C-090B27F2223D}"/>
              </a:ext>
            </a:extLst>
          </p:cNvPr>
          <p:cNvSpPr>
            <a:spLocks noGrp="1"/>
          </p:cNvSpPr>
          <p:nvPr/>
        </p:nvSpPr>
        <p:spPr>
          <a:xfrm>
            <a:off x="5619750" y="904875"/>
            <a:ext cx="9525" cy="4038600"/>
          </a:xfrm>
          <a:prstGeom prst="rect">
            <a:avLst/>
          </a:prstGeom>
          <a:solidFill>
            <a:srgbClr val="D8D0C2"/>
          </a:solidFill>
          <a:ln w="0">
            <a:solidFill>
              <a:srgbClr val="D8D0C2"/>
            </a:solidFill>
            <a:prstDash val="solid"/>
          </a:ln>
        </p:spPr>
        <p:txBody>
          <a:bodyPr/>
          <a:lstStyle/>
          <a:p>
            <a:endParaRPr/>
          </a:p>
        </p:txBody>
      </p:sp>
      <p:sp>
        <p:nvSpPr>
          <p:cNvPr id="72" name="Rectangle 71">
            <a:extLst>
              <a:ext uri="{FF2B5EF4-FFF2-40B4-BE49-F238E27FC236}">
                <a16:creationId xmlns:a16="http://schemas.microsoft.com/office/drawing/2014/main" id="{C6FE823F-C954-44A3-B77E-56AFA850D6EC}"/>
              </a:ext>
            </a:extLst>
          </p:cNvPr>
          <p:cNvSpPr>
            <a:spLocks noGrp="1"/>
          </p:cNvSpPr>
          <p:nvPr/>
        </p:nvSpPr>
        <p:spPr>
          <a:xfrm>
            <a:off x="5695950" y="962025"/>
            <a:ext cx="3105150" cy="209550"/>
          </a:xfrm>
          <a:prstGeom prst="rect">
            <a:avLst/>
          </a:prstGeom>
        </p:spPr>
        <p:txBody>
          <a:bodyPr anchor="ctr"/>
          <a:lstStyle/>
          <a:p>
            <a:pPr algn="l">
              <a:lnSpc>
                <a:spcPct val="106000"/>
              </a:lnSpc>
              <a:buNone/>
              <a:defRPr sz="735" b="1">
                <a:solidFill>
                  <a:srgbClr val="FFFFFF"/>
                </a:solidFill>
                <a:latin typeface="Aptos"/>
                <a:ea typeface="Aptos"/>
                <a:cs typeface="Aptos"/>
              </a:defRPr>
            </a:pPr>
            <a:r>
              <a:rPr sz="735" b="1">
                <a:solidFill>
                  <a:srgbClr val="FFFFFF"/>
                </a:solidFill>
                <a:latin typeface="Aptos"/>
                <a:ea typeface="Aptos"/>
                <a:cs typeface="Aptos"/>
              </a:rPr>
              <a:t>Example / evidence</a:t>
            </a:r>
          </a:p>
        </p:txBody>
      </p:sp>
      <p:sp>
        <p:nvSpPr>
          <p:cNvPr id="73" name="Rectangle 72">
            <a:extLst>
              <a:ext uri="{FF2B5EF4-FFF2-40B4-BE49-F238E27FC236}">
                <a16:creationId xmlns:a16="http://schemas.microsoft.com/office/drawing/2014/main" id="{6978C724-F721-437F-92F0-E48E12C7D63F}"/>
              </a:ext>
            </a:extLst>
          </p:cNvPr>
          <p:cNvSpPr>
            <a:spLocks noGrp="1"/>
          </p:cNvSpPr>
          <p:nvPr/>
        </p:nvSpPr>
        <p:spPr>
          <a:xfrm>
            <a:off x="8877300" y="904875"/>
            <a:ext cx="9525" cy="4038600"/>
          </a:xfrm>
          <a:prstGeom prst="rect">
            <a:avLst/>
          </a:prstGeom>
          <a:solidFill>
            <a:srgbClr val="D8D0C2"/>
          </a:solidFill>
          <a:ln w="0">
            <a:solidFill>
              <a:srgbClr val="D8D0C2"/>
            </a:solidFill>
            <a:prstDash val="solid"/>
          </a:ln>
        </p:spPr>
        <p:txBody>
          <a:bodyPr/>
          <a:lstStyle/>
          <a:p>
            <a:endParaRPr/>
          </a:p>
        </p:txBody>
      </p:sp>
      <p:sp>
        <p:nvSpPr>
          <p:cNvPr id="74" name="Rectangle 73">
            <a:extLst>
              <a:ext uri="{FF2B5EF4-FFF2-40B4-BE49-F238E27FC236}">
                <a16:creationId xmlns:a16="http://schemas.microsoft.com/office/drawing/2014/main" id="{1F8C10E6-9821-4A24-A1C1-B9974F45C1B9}"/>
              </a:ext>
            </a:extLst>
          </p:cNvPr>
          <p:cNvSpPr>
            <a:spLocks noGrp="1"/>
          </p:cNvSpPr>
          <p:nvPr/>
        </p:nvSpPr>
        <p:spPr>
          <a:xfrm>
            <a:off x="8953500" y="962025"/>
            <a:ext cx="2762250" cy="209550"/>
          </a:xfrm>
          <a:prstGeom prst="rect">
            <a:avLst/>
          </a:prstGeom>
        </p:spPr>
        <p:txBody>
          <a:bodyPr anchor="ctr"/>
          <a:lstStyle/>
          <a:p>
            <a:pPr algn="l">
              <a:lnSpc>
                <a:spcPct val="106000"/>
              </a:lnSpc>
              <a:buNone/>
              <a:defRPr sz="735" b="1">
                <a:solidFill>
                  <a:srgbClr val="FFFFFF"/>
                </a:solidFill>
                <a:latin typeface="Aptos"/>
                <a:ea typeface="Aptos"/>
                <a:cs typeface="Aptos"/>
              </a:defRPr>
            </a:pPr>
            <a:r>
              <a:rPr sz="735" b="1">
                <a:solidFill>
                  <a:srgbClr val="FFFFFF"/>
                </a:solidFill>
                <a:latin typeface="Aptos"/>
                <a:ea typeface="Aptos"/>
                <a:cs typeface="Aptos"/>
              </a:rPr>
              <a:t>Interpretation</a:t>
            </a:r>
          </a:p>
        </p:txBody>
      </p:sp>
      <p:sp>
        <p:nvSpPr>
          <p:cNvPr id="75" name="Rectangle 74">
            <a:extLst>
              <a:ext uri="{FF2B5EF4-FFF2-40B4-BE49-F238E27FC236}">
                <a16:creationId xmlns:a16="http://schemas.microsoft.com/office/drawing/2014/main" id="{2095CC06-B946-4343-91B5-34C7F1A8057E}"/>
              </a:ext>
            </a:extLst>
          </p:cNvPr>
          <p:cNvSpPr>
            <a:spLocks noGrp="1"/>
          </p:cNvSpPr>
          <p:nvPr/>
        </p:nvSpPr>
        <p:spPr>
          <a:xfrm>
            <a:off x="400050" y="1228725"/>
            <a:ext cx="11391900" cy="742950"/>
          </a:xfrm>
          <a:prstGeom prst="rect">
            <a:avLst/>
          </a:prstGeom>
          <a:solidFill>
            <a:srgbClr val="F7F3EB"/>
          </a:solidFill>
          <a:ln w="9525">
            <a:solidFill>
              <a:srgbClr val="D8D0C2"/>
            </a:solidFill>
            <a:prstDash val="solid"/>
          </a:ln>
        </p:spPr>
        <p:txBody>
          <a:bodyPr/>
          <a:lstStyle/>
          <a:p>
            <a:endParaRPr/>
          </a:p>
        </p:txBody>
      </p:sp>
      <p:sp>
        <p:nvSpPr>
          <p:cNvPr id="76" name="Rectangle 75">
            <a:extLst>
              <a:ext uri="{FF2B5EF4-FFF2-40B4-BE49-F238E27FC236}">
                <a16:creationId xmlns:a16="http://schemas.microsoft.com/office/drawing/2014/main" id="{C1BC3281-5F39-4C98-B058-42288E066E5B}"/>
              </a:ext>
            </a:extLst>
          </p:cNvPr>
          <p:cNvSpPr>
            <a:spLocks noGrp="1"/>
          </p:cNvSpPr>
          <p:nvPr/>
        </p:nvSpPr>
        <p:spPr>
          <a:xfrm>
            <a:off x="476250" y="1381125"/>
            <a:ext cx="571500" cy="438150"/>
          </a:xfrm>
          <a:prstGeom prst="rect">
            <a:avLst/>
          </a:prstGeom>
        </p:spPr>
        <p:txBody>
          <a:bodyPr anchor="ctr"/>
          <a:lstStyle/>
          <a:p>
            <a:pPr algn="l">
              <a:lnSpc>
                <a:spcPct val="103000"/>
              </a:lnSpc>
              <a:buNone/>
              <a:defRPr sz="900" b="1">
                <a:solidFill>
                  <a:srgbClr val="264653"/>
                </a:solidFill>
                <a:latin typeface="Aptos"/>
                <a:ea typeface="Aptos"/>
                <a:cs typeface="Aptos"/>
              </a:defRPr>
            </a:pPr>
            <a:r>
              <a:rPr sz="900" b="1">
                <a:solidFill>
                  <a:srgbClr val="264653"/>
                </a:solidFill>
                <a:latin typeface="Aptos"/>
                <a:ea typeface="Aptos"/>
                <a:cs typeface="Aptos"/>
              </a:rPr>
              <a:t>M1</a:t>
            </a:r>
          </a:p>
        </p:txBody>
      </p:sp>
      <p:sp>
        <p:nvSpPr>
          <p:cNvPr id="77" name="Rectangle 76">
            <a:extLst>
              <a:ext uri="{FF2B5EF4-FFF2-40B4-BE49-F238E27FC236}">
                <a16:creationId xmlns:a16="http://schemas.microsoft.com/office/drawing/2014/main" id="{6550304E-CBA7-4CFA-8E95-E99FC6300F01}"/>
              </a:ext>
            </a:extLst>
          </p:cNvPr>
          <p:cNvSpPr>
            <a:spLocks noGrp="1"/>
          </p:cNvSpPr>
          <p:nvPr/>
        </p:nvSpPr>
        <p:spPr>
          <a:xfrm>
            <a:off x="1123950" y="1228725"/>
            <a:ext cx="9525" cy="742950"/>
          </a:xfrm>
          <a:prstGeom prst="rect">
            <a:avLst/>
          </a:prstGeom>
          <a:solidFill>
            <a:srgbClr val="D8D0C2"/>
          </a:solidFill>
          <a:ln w="0">
            <a:solidFill>
              <a:srgbClr val="D8D0C2"/>
            </a:solidFill>
            <a:prstDash val="solid"/>
          </a:ln>
        </p:spPr>
        <p:txBody>
          <a:bodyPr/>
          <a:lstStyle/>
          <a:p>
            <a:endParaRPr/>
          </a:p>
        </p:txBody>
      </p:sp>
      <p:sp>
        <p:nvSpPr>
          <p:cNvPr id="78" name="Rectangle 77">
            <a:extLst>
              <a:ext uri="{FF2B5EF4-FFF2-40B4-BE49-F238E27FC236}">
                <a16:creationId xmlns:a16="http://schemas.microsoft.com/office/drawing/2014/main" id="{12CE4721-F7F6-4A8B-BE5F-C289CC9E1001}"/>
              </a:ext>
            </a:extLst>
          </p:cNvPr>
          <p:cNvSpPr>
            <a:spLocks noGrp="1"/>
          </p:cNvSpPr>
          <p:nvPr/>
        </p:nvSpPr>
        <p:spPr>
          <a:xfrm>
            <a:off x="1200150" y="1381125"/>
            <a:ext cx="1943100" cy="438150"/>
          </a:xfrm>
          <a:prstGeom prst="rect">
            <a:avLst/>
          </a:prstGeom>
        </p:spPr>
        <p:txBody>
          <a:bodyPr anchor="ctr"/>
          <a:lstStyle/>
          <a:p>
            <a:pPr algn="l">
              <a:lnSpc>
                <a:spcPct val="103000"/>
              </a:lnSpc>
              <a:buNone/>
              <a:defRPr sz="788" b="1">
                <a:solidFill>
                  <a:srgbClr val="223941"/>
                </a:solidFill>
                <a:latin typeface="Aptos"/>
                <a:ea typeface="Aptos"/>
                <a:cs typeface="Aptos"/>
              </a:defRPr>
            </a:pPr>
            <a:r>
              <a:rPr sz="788" b="1">
                <a:solidFill>
                  <a:srgbClr val="223941"/>
                </a:solidFill>
                <a:latin typeface="Aptos"/>
                <a:ea typeface="Aptos"/>
                <a:cs typeface="Aptos"/>
              </a:rPr>
              <a:t>Raw Copy + Segment Drift</a:t>
            </a:r>
          </a:p>
        </p:txBody>
      </p:sp>
      <p:sp>
        <p:nvSpPr>
          <p:cNvPr id="79" name="Rectangle 78">
            <a:extLst>
              <a:ext uri="{FF2B5EF4-FFF2-40B4-BE49-F238E27FC236}">
                <a16:creationId xmlns:a16="http://schemas.microsoft.com/office/drawing/2014/main" id="{7169B5EA-8A94-42E9-AE8A-70749DC45100}"/>
              </a:ext>
            </a:extLst>
          </p:cNvPr>
          <p:cNvSpPr>
            <a:spLocks noGrp="1"/>
          </p:cNvSpPr>
          <p:nvPr/>
        </p:nvSpPr>
        <p:spPr>
          <a:xfrm>
            <a:off x="3219450" y="1228725"/>
            <a:ext cx="9525" cy="742950"/>
          </a:xfrm>
          <a:prstGeom prst="rect">
            <a:avLst/>
          </a:prstGeom>
          <a:solidFill>
            <a:srgbClr val="D8D0C2"/>
          </a:solidFill>
          <a:ln w="0">
            <a:solidFill>
              <a:srgbClr val="D8D0C2"/>
            </a:solidFill>
            <a:prstDash val="solid"/>
          </a:ln>
        </p:spPr>
        <p:txBody>
          <a:bodyPr/>
          <a:lstStyle/>
          <a:p>
            <a:endParaRPr/>
          </a:p>
        </p:txBody>
      </p:sp>
      <p:sp>
        <p:nvSpPr>
          <p:cNvPr id="80" name="Rectangle 79">
            <a:extLst>
              <a:ext uri="{FF2B5EF4-FFF2-40B4-BE49-F238E27FC236}">
                <a16:creationId xmlns:a16="http://schemas.microsoft.com/office/drawing/2014/main" id="{22968C79-D875-4E80-8C6B-DF415D2D5FF9}"/>
              </a:ext>
            </a:extLst>
          </p:cNvPr>
          <p:cNvSpPr>
            <a:spLocks noGrp="1"/>
          </p:cNvSpPr>
          <p:nvPr/>
        </p:nvSpPr>
        <p:spPr>
          <a:xfrm>
            <a:off x="3295650" y="1381125"/>
            <a:ext cx="224790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Copying and boundary inference happen in one raw generation; no projection.</a:t>
            </a:r>
          </a:p>
        </p:txBody>
      </p:sp>
      <p:sp>
        <p:nvSpPr>
          <p:cNvPr id="81" name="Rectangle 80">
            <a:extLst>
              <a:ext uri="{FF2B5EF4-FFF2-40B4-BE49-F238E27FC236}">
                <a16:creationId xmlns:a16="http://schemas.microsoft.com/office/drawing/2014/main" id="{32D75644-CCD9-48FC-A394-77496F335846}"/>
              </a:ext>
            </a:extLst>
          </p:cNvPr>
          <p:cNvSpPr>
            <a:spLocks noGrp="1"/>
          </p:cNvSpPr>
          <p:nvPr/>
        </p:nvSpPr>
        <p:spPr>
          <a:xfrm>
            <a:off x="5619750" y="1228725"/>
            <a:ext cx="9525" cy="742950"/>
          </a:xfrm>
          <a:prstGeom prst="rect">
            <a:avLst/>
          </a:prstGeom>
          <a:solidFill>
            <a:srgbClr val="D8D0C2"/>
          </a:solidFill>
          <a:ln w="0">
            <a:solidFill>
              <a:srgbClr val="D8D0C2"/>
            </a:solidFill>
            <a:prstDash val="solid"/>
          </a:ln>
        </p:spPr>
        <p:txBody>
          <a:bodyPr/>
          <a:lstStyle/>
          <a:p>
            <a:endParaRPr/>
          </a:p>
        </p:txBody>
      </p:sp>
      <p:sp>
        <p:nvSpPr>
          <p:cNvPr id="82" name="Rectangle 81">
            <a:extLst>
              <a:ext uri="{FF2B5EF4-FFF2-40B4-BE49-F238E27FC236}">
                <a16:creationId xmlns:a16="http://schemas.microsoft.com/office/drawing/2014/main" id="{AAA4B927-1CF5-40F6-97CE-D4E8E9C489F6}"/>
              </a:ext>
            </a:extLst>
          </p:cNvPr>
          <p:cNvSpPr>
            <a:spLocks noGrp="1"/>
          </p:cNvSpPr>
          <p:nvPr/>
        </p:nvSpPr>
        <p:spPr>
          <a:xfrm>
            <a:off x="5695950" y="1381125"/>
            <a:ext cx="31051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452/648 non-space drift; 295 under, 78 over. Bullinger 11084: missing opener; LAnorm+/- 0.484, F1norm 0.984.</a:t>
            </a:r>
          </a:p>
        </p:txBody>
      </p:sp>
      <p:sp>
        <p:nvSpPr>
          <p:cNvPr id="83" name="Rectangle 82">
            <a:extLst>
              <a:ext uri="{FF2B5EF4-FFF2-40B4-BE49-F238E27FC236}">
                <a16:creationId xmlns:a16="http://schemas.microsoft.com/office/drawing/2014/main" id="{201A6FDA-EA61-4E6E-8928-2772548F0EF5}"/>
              </a:ext>
            </a:extLst>
          </p:cNvPr>
          <p:cNvSpPr>
            <a:spLocks noGrp="1"/>
          </p:cNvSpPr>
          <p:nvPr/>
        </p:nvSpPr>
        <p:spPr>
          <a:xfrm>
            <a:off x="8877300" y="1228725"/>
            <a:ext cx="9525" cy="742950"/>
          </a:xfrm>
          <a:prstGeom prst="rect">
            <a:avLst/>
          </a:prstGeom>
          <a:solidFill>
            <a:srgbClr val="D8D0C2"/>
          </a:solidFill>
          <a:ln w="0">
            <a:solidFill>
              <a:srgbClr val="D8D0C2"/>
            </a:solidFill>
            <a:prstDash val="solid"/>
          </a:ln>
        </p:spPr>
        <p:txBody>
          <a:bodyPr/>
          <a:lstStyle/>
          <a:p>
            <a:endParaRPr/>
          </a:p>
        </p:txBody>
      </p:sp>
      <p:sp>
        <p:nvSpPr>
          <p:cNvPr id="84" name="Rectangle 83">
            <a:extLst>
              <a:ext uri="{FF2B5EF4-FFF2-40B4-BE49-F238E27FC236}">
                <a16:creationId xmlns:a16="http://schemas.microsoft.com/office/drawing/2014/main" id="{D2BF2FFA-B20F-4696-9111-B738D32A08B2}"/>
              </a:ext>
            </a:extLst>
          </p:cNvPr>
          <p:cNvSpPr>
            <a:spLocks noGrp="1"/>
          </p:cNvSpPr>
          <p:nvPr/>
        </p:nvSpPr>
        <p:spPr>
          <a:xfrm>
            <a:off x="8953500" y="1381125"/>
            <a:ext cx="27622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Image evidence can help, but fixed-text validity is not guaranteed.</a:t>
            </a:r>
          </a:p>
        </p:txBody>
      </p:sp>
      <p:sp>
        <p:nvSpPr>
          <p:cNvPr id="85" name="Rectangle 84">
            <a:extLst>
              <a:ext uri="{FF2B5EF4-FFF2-40B4-BE49-F238E27FC236}">
                <a16:creationId xmlns:a16="http://schemas.microsoft.com/office/drawing/2014/main" id="{8913C561-CCC1-4A8D-A0F6-38F8D2E5D049}"/>
              </a:ext>
            </a:extLst>
          </p:cNvPr>
          <p:cNvSpPr>
            <a:spLocks noGrp="1"/>
          </p:cNvSpPr>
          <p:nvPr/>
        </p:nvSpPr>
        <p:spPr>
          <a:xfrm>
            <a:off x="400050" y="1971675"/>
            <a:ext cx="11391900" cy="742950"/>
          </a:xfrm>
          <a:prstGeom prst="rect">
            <a:avLst/>
          </a:prstGeom>
          <a:solidFill>
            <a:srgbClr val="F1ECE2"/>
          </a:solidFill>
          <a:ln w="9525">
            <a:solidFill>
              <a:srgbClr val="D8D0C2"/>
            </a:solidFill>
            <a:prstDash val="solid"/>
          </a:ln>
        </p:spPr>
        <p:txBody>
          <a:bodyPr/>
          <a:lstStyle/>
          <a:p>
            <a:endParaRPr/>
          </a:p>
        </p:txBody>
      </p:sp>
      <p:sp>
        <p:nvSpPr>
          <p:cNvPr id="86" name="Rectangle 85">
            <a:extLst>
              <a:ext uri="{FF2B5EF4-FFF2-40B4-BE49-F238E27FC236}">
                <a16:creationId xmlns:a16="http://schemas.microsoft.com/office/drawing/2014/main" id="{DB5F5026-8A70-42AD-B5F1-0897E1E77068}"/>
              </a:ext>
            </a:extLst>
          </p:cNvPr>
          <p:cNvSpPr>
            <a:spLocks noGrp="1"/>
          </p:cNvSpPr>
          <p:nvPr/>
        </p:nvSpPr>
        <p:spPr>
          <a:xfrm>
            <a:off x="476250" y="2124075"/>
            <a:ext cx="571500" cy="438150"/>
          </a:xfrm>
          <a:prstGeom prst="rect">
            <a:avLst/>
          </a:prstGeom>
        </p:spPr>
        <p:txBody>
          <a:bodyPr anchor="ctr"/>
          <a:lstStyle/>
          <a:p>
            <a:pPr algn="l">
              <a:lnSpc>
                <a:spcPct val="103000"/>
              </a:lnSpc>
              <a:buNone/>
              <a:defRPr sz="900" b="1">
                <a:solidFill>
                  <a:srgbClr val="264653"/>
                </a:solidFill>
                <a:latin typeface="Aptos"/>
                <a:ea typeface="Aptos"/>
                <a:cs typeface="Aptos"/>
              </a:defRPr>
            </a:pPr>
            <a:r>
              <a:rPr sz="900" b="1">
                <a:solidFill>
                  <a:srgbClr val="264653"/>
                </a:solidFill>
                <a:latin typeface="Aptos"/>
                <a:ea typeface="Aptos"/>
                <a:cs typeface="Aptos"/>
              </a:rPr>
              <a:t>M2</a:t>
            </a:r>
          </a:p>
        </p:txBody>
      </p:sp>
      <p:sp>
        <p:nvSpPr>
          <p:cNvPr id="87" name="Rectangle 86">
            <a:extLst>
              <a:ext uri="{FF2B5EF4-FFF2-40B4-BE49-F238E27FC236}">
                <a16:creationId xmlns:a16="http://schemas.microsoft.com/office/drawing/2014/main" id="{9B3BD4B9-8A8A-47D7-B5B7-32DD145CFF6A}"/>
              </a:ext>
            </a:extLst>
          </p:cNvPr>
          <p:cNvSpPr>
            <a:spLocks noGrp="1"/>
          </p:cNvSpPr>
          <p:nvPr/>
        </p:nvSpPr>
        <p:spPr>
          <a:xfrm>
            <a:off x="1123950" y="1971675"/>
            <a:ext cx="9525" cy="742950"/>
          </a:xfrm>
          <a:prstGeom prst="rect">
            <a:avLst/>
          </a:prstGeom>
          <a:solidFill>
            <a:srgbClr val="D8D0C2"/>
          </a:solidFill>
          <a:ln w="0">
            <a:solidFill>
              <a:srgbClr val="D8D0C2"/>
            </a:solidFill>
            <a:prstDash val="solid"/>
          </a:ln>
        </p:spPr>
        <p:txBody>
          <a:bodyPr/>
          <a:lstStyle/>
          <a:p>
            <a:endParaRPr/>
          </a:p>
        </p:txBody>
      </p:sp>
      <p:sp>
        <p:nvSpPr>
          <p:cNvPr id="88" name="Rectangle 87">
            <a:extLst>
              <a:ext uri="{FF2B5EF4-FFF2-40B4-BE49-F238E27FC236}">
                <a16:creationId xmlns:a16="http://schemas.microsoft.com/office/drawing/2014/main" id="{24A70146-0851-4B93-B25C-9FCA483264E2}"/>
              </a:ext>
            </a:extLst>
          </p:cNvPr>
          <p:cNvSpPr>
            <a:spLocks noGrp="1"/>
          </p:cNvSpPr>
          <p:nvPr/>
        </p:nvSpPr>
        <p:spPr>
          <a:xfrm>
            <a:off x="1200150" y="2124075"/>
            <a:ext cx="1943100" cy="438150"/>
          </a:xfrm>
          <a:prstGeom prst="rect">
            <a:avLst/>
          </a:prstGeom>
        </p:spPr>
        <p:txBody>
          <a:bodyPr anchor="ctr"/>
          <a:lstStyle/>
          <a:p>
            <a:pPr algn="l">
              <a:lnSpc>
                <a:spcPct val="103000"/>
              </a:lnSpc>
              <a:buNone/>
              <a:defRPr sz="788" b="1">
                <a:solidFill>
                  <a:srgbClr val="223941"/>
                </a:solidFill>
                <a:latin typeface="Aptos"/>
                <a:ea typeface="Aptos"/>
                <a:cs typeface="Aptos"/>
              </a:defRPr>
            </a:pPr>
            <a:r>
              <a:rPr sz="788" b="1">
                <a:solidFill>
                  <a:srgbClr val="223941"/>
                </a:solidFill>
                <a:latin typeface="Aptos"/>
                <a:ea typeface="Aptos"/>
                <a:cs typeface="Aptos"/>
              </a:rPr>
              <a:t>Noisy OCR Hint Followed</a:t>
            </a:r>
          </a:p>
        </p:txBody>
      </p:sp>
      <p:sp>
        <p:nvSpPr>
          <p:cNvPr id="89" name="Rectangle 88">
            <a:extLst>
              <a:ext uri="{FF2B5EF4-FFF2-40B4-BE49-F238E27FC236}">
                <a16:creationId xmlns:a16="http://schemas.microsoft.com/office/drawing/2014/main" id="{1E66BF4D-DDF5-41A6-A0CC-CAC889AAED6B}"/>
              </a:ext>
            </a:extLst>
          </p:cNvPr>
          <p:cNvSpPr>
            <a:spLocks noGrp="1"/>
          </p:cNvSpPr>
          <p:nvPr/>
        </p:nvSpPr>
        <p:spPr>
          <a:xfrm>
            <a:off x="3219450" y="1971675"/>
            <a:ext cx="9525" cy="742950"/>
          </a:xfrm>
          <a:prstGeom prst="rect">
            <a:avLst/>
          </a:prstGeom>
          <a:solidFill>
            <a:srgbClr val="D8D0C2"/>
          </a:solidFill>
          <a:ln w="0">
            <a:solidFill>
              <a:srgbClr val="D8D0C2"/>
            </a:solidFill>
            <a:prstDash val="solid"/>
          </a:ln>
        </p:spPr>
        <p:txBody>
          <a:bodyPr/>
          <a:lstStyle/>
          <a:p>
            <a:endParaRPr/>
          </a:p>
        </p:txBody>
      </p:sp>
      <p:sp>
        <p:nvSpPr>
          <p:cNvPr id="90" name="Rectangle 89">
            <a:extLst>
              <a:ext uri="{FF2B5EF4-FFF2-40B4-BE49-F238E27FC236}">
                <a16:creationId xmlns:a16="http://schemas.microsoft.com/office/drawing/2014/main" id="{64971CE1-96D0-4917-9743-2513DC3AA786}"/>
              </a:ext>
            </a:extLst>
          </p:cNvPr>
          <p:cNvSpPr>
            <a:spLocks noGrp="1"/>
          </p:cNvSpPr>
          <p:nvPr/>
        </p:nvSpPr>
        <p:spPr>
          <a:xfrm>
            <a:off x="3295650" y="2124075"/>
            <a:ext cx="224790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Image, fixed text, OCR/HTR hint, and chunks must be reconciled.</a:t>
            </a:r>
          </a:p>
        </p:txBody>
      </p:sp>
      <p:sp>
        <p:nvSpPr>
          <p:cNvPr id="91" name="Rectangle 90">
            <a:extLst>
              <a:ext uri="{FF2B5EF4-FFF2-40B4-BE49-F238E27FC236}">
                <a16:creationId xmlns:a16="http://schemas.microsoft.com/office/drawing/2014/main" id="{98519BC0-BA01-4EBC-AF2E-35B4395F3378}"/>
              </a:ext>
            </a:extLst>
          </p:cNvPr>
          <p:cNvSpPr>
            <a:spLocks noGrp="1"/>
          </p:cNvSpPr>
          <p:nvPr/>
        </p:nvSpPr>
        <p:spPr>
          <a:xfrm>
            <a:off x="5619750" y="1971675"/>
            <a:ext cx="9525" cy="742950"/>
          </a:xfrm>
          <a:prstGeom prst="rect">
            <a:avLst/>
          </a:prstGeom>
          <a:solidFill>
            <a:srgbClr val="D8D0C2"/>
          </a:solidFill>
          <a:ln w="0">
            <a:solidFill>
              <a:srgbClr val="D8D0C2"/>
            </a:solidFill>
            <a:prstDash val="solid"/>
          </a:ln>
        </p:spPr>
        <p:txBody>
          <a:bodyPr/>
          <a:lstStyle/>
          <a:p>
            <a:endParaRPr/>
          </a:p>
        </p:txBody>
      </p:sp>
      <p:sp>
        <p:nvSpPr>
          <p:cNvPr id="92" name="Rectangle 91">
            <a:extLst>
              <a:ext uri="{FF2B5EF4-FFF2-40B4-BE49-F238E27FC236}">
                <a16:creationId xmlns:a16="http://schemas.microsoft.com/office/drawing/2014/main" id="{A7846689-D0AC-4E78-B193-8C254FCBCB19}"/>
              </a:ext>
            </a:extLst>
          </p:cNvPr>
          <p:cNvSpPr>
            <a:spLocks noGrp="1"/>
          </p:cNvSpPr>
          <p:nvPr/>
        </p:nvSpPr>
        <p:spPr>
          <a:xfrm>
            <a:off x="5695950" y="2124075"/>
            <a:ext cx="31051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M2-M1 worse in 233/506. Children 2A_11_18-19: M1 exact; M2 one line (Qwen3-VL-8B).</a:t>
            </a:r>
          </a:p>
        </p:txBody>
      </p:sp>
      <p:sp>
        <p:nvSpPr>
          <p:cNvPr id="93" name="Rectangle 92">
            <a:extLst>
              <a:ext uri="{FF2B5EF4-FFF2-40B4-BE49-F238E27FC236}">
                <a16:creationId xmlns:a16="http://schemas.microsoft.com/office/drawing/2014/main" id="{5F51EC71-4A84-4086-BB17-5FCD7CD99811}"/>
              </a:ext>
            </a:extLst>
          </p:cNvPr>
          <p:cNvSpPr>
            <a:spLocks noGrp="1"/>
          </p:cNvSpPr>
          <p:nvPr/>
        </p:nvSpPr>
        <p:spPr>
          <a:xfrm>
            <a:off x="8877300" y="1971675"/>
            <a:ext cx="9525" cy="742950"/>
          </a:xfrm>
          <a:prstGeom prst="rect">
            <a:avLst/>
          </a:prstGeom>
          <a:solidFill>
            <a:srgbClr val="D8D0C2"/>
          </a:solidFill>
          <a:ln w="0">
            <a:solidFill>
              <a:srgbClr val="D8D0C2"/>
            </a:solidFill>
            <a:prstDash val="solid"/>
          </a:ln>
        </p:spPr>
        <p:txBody>
          <a:bodyPr/>
          <a:lstStyle/>
          <a:p>
            <a:endParaRPr/>
          </a:p>
        </p:txBody>
      </p:sp>
      <p:sp>
        <p:nvSpPr>
          <p:cNvPr id="94" name="Rectangle 93">
            <a:extLst>
              <a:ext uri="{FF2B5EF4-FFF2-40B4-BE49-F238E27FC236}">
                <a16:creationId xmlns:a16="http://schemas.microsoft.com/office/drawing/2014/main" id="{F5E1737A-1601-4267-BCF0-55A04C2A7264}"/>
              </a:ext>
            </a:extLst>
          </p:cNvPr>
          <p:cNvSpPr>
            <a:spLocks noGrp="1"/>
          </p:cNvSpPr>
          <p:nvPr/>
        </p:nvSpPr>
        <p:spPr>
          <a:xfrm>
            <a:off x="8953500" y="2124075"/>
            <a:ext cx="27622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OCR/HTR is a noisy structural hint, not monotonic extra information.</a:t>
            </a:r>
          </a:p>
        </p:txBody>
      </p:sp>
      <p:sp>
        <p:nvSpPr>
          <p:cNvPr id="95" name="Rectangle 94">
            <a:extLst>
              <a:ext uri="{FF2B5EF4-FFF2-40B4-BE49-F238E27FC236}">
                <a16:creationId xmlns:a16="http://schemas.microsoft.com/office/drawing/2014/main" id="{2994F915-5B68-450B-8AA4-D81C5A39B124}"/>
              </a:ext>
            </a:extLst>
          </p:cNvPr>
          <p:cNvSpPr>
            <a:spLocks noGrp="1"/>
          </p:cNvSpPr>
          <p:nvPr/>
        </p:nvSpPr>
        <p:spPr>
          <a:xfrm>
            <a:off x="400050" y="2714625"/>
            <a:ext cx="11391900" cy="742950"/>
          </a:xfrm>
          <a:prstGeom prst="rect">
            <a:avLst/>
          </a:prstGeom>
          <a:solidFill>
            <a:srgbClr val="F7F3EB"/>
          </a:solidFill>
          <a:ln w="9525">
            <a:solidFill>
              <a:srgbClr val="D8D0C2"/>
            </a:solidFill>
            <a:prstDash val="solid"/>
          </a:ln>
        </p:spPr>
        <p:txBody>
          <a:bodyPr/>
          <a:lstStyle/>
          <a:p>
            <a:endParaRPr/>
          </a:p>
        </p:txBody>
      </p:sp>
      <p:sp>
        <p:nvSpPr>
          <p:cNvPr id="96" name="Rectangle 95">
            <a:extLst>
              <a:ext uri="{FF2B5EF4-FFF2-40B4-BE49-F238E27FC236}">
                <a16:creationId xmlns:a16="http://schemas.microsoft.com/office/drawing/2014/main" id="{70313F2D-F760-45DD-A91F-64AE72C75C88}"/>
              </a:ext>
            </a:extLst>
          </p:cNvPr>
          <p:cNvSpPr>
            <a:spLocks noGrp="1"/>
          </p:cNvSpPr>
          <p:nvPr/>
        </p:nvSpPr>
        <p:spPr>
          <a:xfrm>
            <a:off x="476250" y="2867025"/>
            <a:ext cx="571500" cy="438150"/>
          </a:xfrm>
          <a:prstGeom prst="rect">
            <a:avLst/>
          </a:prstGeom>
        </p:spPr>
        <p:txBody>
          <a:bodyPr anchor="ctr"/>
          <a:lstStyle/>
          <a:p>
            <a:pPr algn="l">
              <a:lnSpc>
                <a:spcPct val="103000"/>
              </a:lnSpc>
              <a:buNone/>
              <a:defRPr sz="900" b="1">
                <a:solidFill>
                  <a:srgbClr val="264653"/>
                </a:solidFill>
                <a:latin typeface="Aptos"/>
                <a:ea typeface="Aptos"/>
                <a:cs typeface="Aptos"/>
              </a:defRPr>
            </a:pPr>
            <a:r>
              <a:rPr sz="900" b="1">
                <a:solidFill>
                  <a:srgbClr val="264653"/>
                </a:solidFill>
                <a:latin typeface="Aptos"/>
                <a:ea typeface="Aptos"/>
                <a:cs typeface="Aptos"/>
              </a:rPr>
              <a:t>M3</a:t>
            </a:r>
          </a:p>
        </p:txBody>
      </p:sp>
      <p:sp>
        <p:nvSpPr>
          <p:cNvPr id="97" name="Rectangle 96">
            <a:extLst>
              <a:ext uri="{FF2B5EF4-FFF2-40B4-BE49-F238E27FC236}">
                <a16:creationId xmlns:a16="http://schemas.microsoft.com/office/drawing/2014/main" id="{87B14D83-8C68-4DDA-81FB-202005C03409}"/>
              </a:ext>
            </a:extLst>
          </p:cNvPr>
          <p:cNvSpPr>
            <a:spLocks noGrp="1"/>
          </p:cNvSpPr>
          <p:nvPr/>
        </p:nvSpPr>
        <p:spPr>
          <a:xfrm>
            <a:off x="1123950" y="2714625"/>
            <a:ext cx="9525" cy="742950"/>
          </a:xfrm>
          <a:prstGeom prst="rect">
            <a:avLst/>
          </a:prstGeom>
          <a:solidFill>
            <a:srgbClr val="D8D0C2"/>
          </a:solidFill>
          <a:ln w="0">
            <a:solidFill>
              <a:srgbClr val="D8D0C2"/>
            </a:solidFill>
            <a:prstDash val="solid"/>
          </a:ln>
        </p:spPr>
        <p:txBody>
          <a:bodyPr/>
          <a:lstStyle/>
          <a:p>
            <a:endParaRPr/>
          </a:p>
        </p:txBody>
      </p:sp>
      <p:sp>
        <p:nvSpPr>
          <p:cNvPr id="98" name="Rectangle 97">
            <a:extLst>
              <a:ext uri="{FF2B5EF4-FFF2-40B4-BE49-F238E27FC236}">
                <a16:creationId xmlns:a16="http://schemas.microsoft.com/office/drawing/2014/main" id="{1A7B59C9-76DC-4999-8BAC-39F1B2C1ADEC}"/>
              </a:ext>
            </a:extLst>
          </p:cNvPr>
          <p:cNvSpPr>
            <a:spLocks noGrp="1"/>
          </p:cNvSpPr>
          <p:nvPr/>
        </p:nvSpPr>
        <p:spPr>
          <a:xfrm>
            <a:off x="1200150" y="2867025"/>
            <a:ext cx="1943100" cy="438150"/>
          </a:xfrm>
          <a:prstGeom prst="rect">
            <a:avLst/>
          </a:prstGeom>
        </p:spPr>
        <p:txBody>
          <a:bodyPr anchor="ctr"/>
          <a:lstStyle/>
          <a:p>
            <a:pPr algn="l">
              <a:lnSpc>
                <a:spcPct val="103000"/>
              </a:lnSpc>
              <a:buNone/>
              <a:defRPr sz="788" b="1">
                <a:solidFill>
                  <a:srgbClr val="223941"/>
                </a:solidFill>
                <a:latin typeface="Aptos"/>
                <a:ea typeface="Aptos"/>
                <a:cs typeface="Aptos"/>
              </a:defRPr>
            </a:pPr>
            <a:r>
              <a:rPr sz="788" b="1">
                <a:solidFill>
                  <a:srgbClr val="223941"/>
                </a:solidFill>
                <a:latin typeface="Aptos"/>
                <a:ea typeface="Aptos"/>
                <a:cs typeface="Aptos"/>
              </a:rPr>
              <a:t>No Visual Correction</a:t>
            </a:r>
          </a:p>
        </p:txBody>
      </p:sp>
      <p:sp>
        <p:nvSpPr>
          <p:cNvPr id="99" name="Rectangle 98">
            <a:extLst>
              <a:ext uri="{FF2B5EF4-FFF2-40B4-BE49-F238E27FC236}">
                <a16:creationId xmlns:a16="http://schemas.microsoft.com/office/drawing/2014/main" id="{34FAE3E1-A66F-47FE-923F-E4AFED8A6976}"/>
              </a:ext>
            </a:extLst>
          </p:cNvPr>
          <p:cNvSpPr>
            <a:spLocks noGrp="1"/>
          </p:cNvSpPr>
          <p:nvPr/>
        </p:nvSpPr>
        <p:spPr>
          <a:xfrm>
            <a:off x="3219450" y="2714625"/>
            <a:ext cx="9525" cy="742950"/>
          </a:xfrm>
          <a:prstGeom prst="rect">
            <a:avLst/>
          </a:prstGeom>
          <a:solidFill>
            <a:srgbClr val="D8D0C2"/>
          </a:solidFill>
          <a:ln w="0">
            <a:solidFill>
              <a:srgbClr val="D8D0C2"/>
            </a:solidFill>
            <a:prstDash val="solid"/>
          </a:ln>
        </p:spPr>
        <p:txBody>
          <a:bodyPr/>
          <a:lstStyle/>
          <a:p>
            <a:endParaRPr/>
          </a:p>
        </p:txBody>
      </p:sp>
      <p:sp>
        <p:nvSpPr>
          <p:cNvPr id="100" name="Rectangle 99">
            <a:extLst>
              <a:ext uri="{FF2B5EF4-FFF2-40B4-BE49-F238E27FC236}">
                <a16:creationId xmlns:a16="http://schemas.microsoft.com/office/drawing/2014/main" id="{CC8C640A-F35B-4407-BA1A-D4884B6A3CFB}"/>
              </a:ext>
            </a:extLst>
          </p:cNvPr>
          <p:cNvSpPr>
            <a:spLocks noGrp="1"/>
          </p:cNvSpPr>
          <p:nvPr/>
        </p:nvSpPr>
        <p:spPr>
          <a:xfrm>
            <a:off x="3295650" y="2867025"/>
            <a:ext cx="224790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OCR/HTR hint plus fixed text only; raw returned text is scored.</a:t>
            </a:r>
          </a:p>
        </p:txBody>
      </p:sp>
      <p:sp>
        <p:nvSpPr>
          <p:cNvPr id="101" name="Rectangle 100">
            <a:extLst>
              <a:ext uri="{FF2B5EF4-FFF2-40B4-BE49-F238E27FC236}">
                <a16:creationId xmlns:a16="http://schemas.microsoft.com/office/drawing/2014/main" id="{A6ED050A-8E0A-4D04-A3F6-FB788B7DDA78}"/>
              </a:ext>
            </a:extLst>
          </p:cNvPr>
          <p:cNvSpPr>
            <a:spLocks noGrp="1"/>
          </p:cNvSpPr>
          <p:nvPr/>
        </p:nvSpPr>
        <p:spPr>
          <a:xfrm>
            <a:off x="5619750" y="2714625"/>
            <a:ext cx="9525" cy="742950"/>
          </a:xfrm>
          <a:prstGeom prst="rect">
            <a:avLst/>
          </a:prstGeom>
          <a:solidFill>
            <a:srgbClr val="D8D0C2"/>
          </a:solidFill>
          <a:ln w="0">
            <a:solidFill>
              <a:srgbClr val="D8D0C2"/>
            </a:solidFill>
            <a:prstDash val="solid"/>
          </a:ln>
        </p:spPr>
        <p:txBody>
          <a:bodyPr/>
          <a:lstStyle/>
          <a:p>
            <a:endParaRPr/>
          </a:p>
        </p:txBody>
      </p:sp>
      <p:sp>
        <p:nvSpPr>
          <p:cNvPr id="102" name="Rectangle 101">
            <a:extLst>
              <a:ext uri="{FF2B5EF4-FFF2-40B4-BE49-F238E27FC236}">
                <a16:creationId xmlns:a16="http://schemas.microsoft.com/office/drawing/2014/main" id="{48C2B71A-7E5A-4F91-AC17-9153FE50D3A6}"/>
              </a:ext>
            </a:extLst>
          </p:cNvPr>
          <p:cNvSpPr>
            <a:spLocks noGrp="1"/>
          </p:cNvSpPr>
          <p:nvPr/>
        </p:nvSpPr>
        <p:spPr>
          <a:xfrm>
            <a:off x="5695950" y="2867025"/>
            <a:ext cx="31051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271/506 under-segmented. Washington 304: CERnorm 0.000, LAnorm+/- 0.338.</a:t>
            </a:r>
          </a:p>
        </p:txBody>
      </p:sp>
      <p:sp>
        <p:nvSpPr>
          <p:cNvPr id="103" name="Rectangle 102">
            <a:extLst>
              <a:ext uri="{FF2B5EF4-FFF2-40B4-BE49-F238E27FC236}">
                <a16:creationId xmlns:a16="http://schemas.microsoft.com/office/drawing/2014/main" id="{3FC3A0DE-9D46-454D-9B4E-1198421694F9}"/>
              </a:ext>
            </a:extLst>
          </p:cNvPr>
          <p:cNvSpPr>
            <a:spLocks noGrp="1"/>
          </p:cNvSpPr>
          <p:nvPr/>
        </p:nvSpPr>
        <p:spPr>
          <a:xfrm>
            <a:off x="8877300" y="2714625"/>
            <a:ext cx="9525" cy="742950"/>
          </a:xfrm>
          <a:prstGeom prst="rect">
            <a:avLst/>
          </a:prstGeom>
          <a:solidFill>
            <a:srgbClr val="D8D0C2"/>
          </a:solidFill>
          <a:ln w="0">
            <a:solidFill>
              <a:srgbClr val="D8D0C2"/>
            </a:solidFill>
            <a:prstDash val="solid"/>
          </a:ln>
        </p:spPr>
        <p:txBody>
          <a:bodyPr/>
          <a:lstStyle/>
          <a:p>
            <a:endParaRPr/>
          </a:p>
        </p:txBody>
      </p:sp>
      <p:sp>
        <p:nvSpPr>
          <p:cNvPr id="104" name="Rectangle 103">
            <a:extLst>
              <a:ext uri="{FF2B5EF4-FFF2-40B4-BE49-F238E27FC236}">
                <a16:creationId xmlns:a16="http://schemas.microsoft.com/office/drawing/2014/main" id="{4296ED9A-4914-4D8C-9713-D495750A2DF2}"/>
              </a:ext>
            </a:extLst>
          </p:cNvPr>
          <p:cNvSpPr>
            <a:spLocks noGrp="1"/>
          </p:cNvSpPr>
          <p:nvPr/>
        </p:nvSpPr>
        <p:spPr>
          <a:xfrm>
            <a:off x="8953500" y="2867025"/>
            <a:ext cx="27622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Near-ceiling when lineation is good; limited when the scaffold is wrong.</a:t>
            </a:r>
          </a:p>
        </p:txBody>
      </p:sp>
      <p:sp>
        <p:nvSpPr>
          <p:cNvPr id="105" name="Rectangle 104">
            <a:extLst>
              <a:ext uri="{FF2B5EF4-FFF2-40B4-BE49-F238E27FC236}">
                <a16:creationId xmlns:a16="http://schemas.microsoft.com/office/drawing/2014/main" id="{12EBFA39-E46D-42C3-8139-58A77B742A44}"/>
              </a:ext>
            </a:extLst>
          </p:cNvPr>
          <p:cNvSpPr>
            <a:spLocks noGrp="1"/>
          </p:cNvSpPr>
          <p:nvPr/>
        </p:nvSpPr>
        <p:spPr>
          <a:xfrm>
            <a:off x="400050" y="3457575"/>
            <a:ext cx="11391900" cy="742950"/>
          </a:xfrm>
          <a:prstGeom prst="rect">
            <a:avLst/>
          </a:prstGeom>
          <a:solidFill>
            <a:srgbClr val="F1ECE2"/>
          </a:solidFill>
          <a:ln w="9525">
            <a:solidFill>
              <a:srgbClr val="D8D0C2"/>
            </a:solidFill>
            <a:prstDash val="solid"/>
          </a:ln>
        </p:spPr>
        <p:txBody>
          <a:bodyPr/>
          <a:lstStyle/>
          <a:p>
            <a:endParaRPr/>
          </a:p>
        </p:txBody>
      </p:sp>
      <p:sp>
        <p:nvSpPr>
          <p:cNvPr id="106" name="Rectangle 105">
            <a:extLst>
              <a:ext uri="{FF2B5EF4-FFF2-40B4-BE49-F238E27FC236}">
                <a16:creationId xmlns:a16="http://schemas.microsoft.com/office/drawing/2014/main" id="{6306EB4A-0860-4A1C-9B42-750715ED2E0A}"/>
              </a:ext>
            </a:extLst>
          </p:cNvPr>
          <p:cNvSpPr>
            <a:spLocks noGrp="1"/>
          </p:cNvSpPr>
          <p:nvPr/>
        </p:nvSpPr>
        <p:spPr>
          <a:xfrm>
            <a:off x="476250" y="3609975"/>
            <a:ext cx="571500" cy="438150"/>
          </a:xfrm>
          <a:prstGeom prst="rect">
            <a:avLst/>
          </a:prstGeom>
        </p:spPr>
        <p:txBody>
          <a:bodyPr anchor="ctr"/>
          <a:lstStyle/>
          <a:p>
            <a:pPr algn="l">
              <a:lnSpc>
                <a:spcPct val="103000"/>
              </a:lnSpc>
              <a:buNone/>
              <a:defRPr sz="900" b="1">
                <a:solidFill>
                  <a:srgbClr val="264653"/>
                </a:solidFill>
                <a:latin typeface="Aptos"/>
                <a:ea typeface="Aptos"/>
                <a:cs typeface="Aptos"/>
              </a:defRPr>
            </a:pPr>
            <a:r>
              <a:rPr sz="900" b="1">
                <a:solidFill>
                  <a:srgbClr val="264653"/>
                </a:solidFill>
                <a:latin typeface="Aptos"/>
                <a:ea typeface="Aptos"/>
                <a:cs typeface="Aptos"/>
              </a:rPr>
              <a:t>M4</a:t>
            </a:r>
          </a:p>
        </p:txBody>
      </p:sp>
      <p:sp>
        <p:nvSpPr>
          <p:cNvPr id="107" name="Rectangle 106">
            <a:extLst>
              <a:ext uri="{FF2B5EF4-FFF2-40B4-BE49-F238E27FC236}">
                <a16:creationId xmlns:a16="http://schemas.microsoft.com/office/drawing/2014/main" id="{DBEAEDB1-CFB9-4809-A742-638A4C01DD34}"/>
              </a:ext>
            </a:extLst>
          </p:cNvPr>
          <p:cNvSpPr>
            <a:spLocks noGrp="1"/>
          </p:cNvSpPr>
          <p:nvPr/>
        </p:nvSpPr>
        <p:spPr>
          <a:xfrm>
            <a:off x="1123950" y="3457575"/>
            <a:ext cx="9525" cy="742950"/>
          </a:xfrm>
          <a:prstGeom prst="rect">
            <a:avLst/>
          </a:prstGeom>
          <a:solidFill>
            <a:srgbClr val="D8D0C2"/>
          </a:solidFill>
          <a:ln w="0">
            <a:solidFill>
              <a:srgbClr val="D8D0C2"/>
            </a:solidFill>
            <a:prstDash val="solid"/>
          </a:ln>
        </p:spPr>
        <p:txBody>
          <a:bodyPr/>
          <a:lstStyle/>
          <a:p>
            <a:endParaRPr/>
          </a:p>
        </p:txBody>
      </p:sp>
      <p:sp>
        <p:nvSpPr>
          <p:cNvPr id="108" name="Rectangle 107">
            <a:extLst>
              <a:ext uri="{FF2B5EF4-FFF2-40B4-BE49-F238E27FC236}">
                <a16:creationId xmlns:a16="http://schemas.microsoft.com/office/drawing/2014/main" id="{6EDC9073-D1EF-490A-83DC-4994DD39BAE3}"/>
              </a:ext>
            </a:extLst>
          </p:cNvPr>
          <p:cNvSpPr>
            <a:spLocks noGrp="1"/>
          </p:cNvSpPr>
          <p:nvPr/>
        </p:nvSpPr>
        <p:spPr>
          <a:xfrm>
            <a:off x="1200150" y="3609975"/>
            <a:ext cx="1943100" cy="438150"/>
          </a:xfrm>
          <a:prstGeom prst="rect">
            <a:avLst/>
          </a:prstGeom>
        </p:spPr>
        <p:txBody>
          <a:bodyPr anchor="ctr"/>
          <a:lstStyle/>
          <a:p>
            <a:pPr algn="l">
              <a:lnSpc>
                <a:spcPct val="103000"/>
              </a:lnSpc>
              <a:buNone/>
              <a:defRPr sz="788" b="1">
                <a:solidFill>
                  <a:srgbClr val="223941"/>
                </a:solidFill>
                <a:latin typeface="Aptos"/>
                <a:ea typeface="Aptos"/>
                <a:cs typeface="Aptos"/>
              </a:defRPr>
            </a:pPr>
            <a:r>
              <a:rPr sz="788" b="1">
                <a:solidFill>
                  <a:srgbClr val="223941"/>
                </a:solidFill>
                <a:latin typeface="Aptos"/>
                <a:ea typeface="Aptos"/>
                <a:cs typeface="Aptos"/>
              </a:rPr>
              <a:t>Flawed OCR Scaffold</a:t>
            </a:r>
          </a:p>
        </p:txBody>
      </p:sp>
      <p:sp>
        <p:nvSpPr>
          <p:cNvPr id="109" name="Rectangle 108">
            <a:extLst>
              <a:ext uri="{FF2B5EF4-FFF2-40B4-BE49-F238E27FC236}">
                <a16:creationId xmlns:a16="http://schemas.microsoft.com/office/drawing/2014/main" id="{89D31FEE-AE50-422E-B30A-49318CDBA1F4}"/>
              </a:ext>
            </a:extLst>
          </p:cNvPr>
          <p:cNvSpPr>
            <a:spLocks noGrp="1"/>
          </p:cNvSpPr>
          <p:nvPr/>
        </p:nvSpPr>
        <p:spPr>
          <a:xfrm>
            <a:off x="3219450" y="3457575"/>
            <a:ext cx="9525" cy="742950"/>
          </a:xfrm>
          <a:prstGeom prst="rect">
            <a:avLst/>
          </a:prstGeom>
          <a:solidFill>
            <a:srgbClr val="D8D0C2"/>
          </a:solidFill>
          <a:ln w="0">
            <a:solidFill>
              <a:srgbClr val="D8D0C2"/>
            </a:solidFill>
            <a:prstDash val="solid"/>
          </a:ln>
        </p:spPr>
        <p:txBody>
          <a:bodyPr/>
          <a:lstStyle/>
          <a:p>
            <a:endParaRPr/>
          </a:p>
        </p:txBody>
      </p:sp>
      <p:sp>
        <p:nvSpPr>
          <p:cNvPr id="110" name="Rectangle 109">
            <a:extLst>
              <a:ext uri="{FF2B5EF4-FFF2-40B4-BE49-F238E27FC236}">
                <a16:creationId xmlns:a16="http://schemas.microsoft.com/office/drawing/2014/main" id="{D53729CF-55C1-4EC2-8DB0-770B14A646B0}"/>
              </a:ext>
            </a:extLst>
          </p:cNvPr>
          <p:cNvSpPr>
            <a:spLocks noGrp="1"/>
          </p:cNvSpPr>
          <p:nvPr/>
        </p:nvSpPr>
        <p:spPr>
          <a:xfrm>
            <a:off x="3295650" y="3609975"/>
            <a:ext cx="224790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Exact count and JSON/projection can still follow bad OCR splits.</a:t>
            </a:r>
          </a:p>
        </p:txBody>
      </p:sp>
      <p:sp>
        <p:nvSpPr>
          <p:cNvPr id="111" name="Rectangle 110">
            <a:extLst>
              <a:ext uri="{FF2B5EF4-FFF2-40B4-BE49-F238E27FC236}">
                <a16:creationId xmlns:a16="http://schemas.microsoft.com/office/drawing/2014/main" id="{0C8D10AD-48FA-4264-9635-B59D685778C6}"/>
              </a:ext>
            </a:extLst>
          </p:cNvPr>
          <p:cNvSpPr>
            <a:spLocks noGrp="1"/>
          </p:cNvSpPr>
          <p:nvPr/>
        </p:nvSpPr>
        <p:spPr>
          <a:xfrm>
            <a:off x="5619750" y="3457575"/>
            <a:ext cx="9525" cy="742950"/>
          </a:xfrm>
          <a:prstGeom prst="rect">
            <a:avLst/>
          </a:prstGeom>
          <a:solidFill>
            <a:srgbClr val="D8D0C2"/>
          </a:solidFill>
          <a:ln w="0">
            <a:solidFill>
              <a:srgbClr val="D8D0C2"/>
            </a:solidFill>
            <a:prstDash val="solid"/>
          </a:ln>
        </p:spPr>
        <p:txBody>
          <a:bodyPr/>
          <a:lstStyle/>
          <a:p>
            <a:endParaRPr/>
          </a:p>
        </p:txBody>
      </p:sp>
      <p:sp>
        <p:nvSpPr>
          <p:cNvPr id="112" name="Rectangle 111">
            <a:extLst>
              <a:ext uri="{FF2B5EF4-FFF2-40B4-BE49-F238E27FC236}">
                <a16:creationId xmlns:a16="http://schemas.microsoft.com/office/drawing/2014/main" id="{F2B03833-9717-4A70-88B1-9CA64E2AFF28}"/>
              </a:ext>
            </a:extLst>
          </p:cNvPr>
          <p:cNvSpPr>
            <a:spLocks noGrp="1"/>
          </p:cNvSpPr>
          <p:nvPr/>
        </p:nvSpPr>
        <p:spPr>
          <a:xfrm>
            <a:off x="5695950" y="3609975"/>
            <a:ext cx="31051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Washington 307: M3 exact; M4 LAnorm+/- 0.000 despite F1norm 0.839.</a:t>
            </a:r>
          </a:p>
        </p:txBody>
      </p:sp>
      <p:sp>
        <p:nvSpPr>
          <p:cNvPr id="113" name="Rectangle 112">
            <a:extLst>
              <a:ext uri="{FF2B5EF4-FFF2-40B4-BE49-F238E27FC236}">
                <a16:creationId xmlns:a16="http://schemas.microsoft.com/office/drawing/2014/main" id="{C4F2E44F-9882-4149-9000-93F6FF8E47DF}"/>
              </a:ext>
            </a:extLst>
          </p:cNvPr>
          <p:cNvSpPr>
            <a:spLocks noGrp="1"/>
          </p:cNvSpPr>
          <p:nvPr/>
        </p:nvSpPr>
        <p:spPr>
          <a:xfrm>
            <a:off x="8877300" y="3457575"/>
            <a:ext cx="9525" cy="742950"/>
          </a:xfrm>
          <a:prstGeom prst="rect">
            <a:avLst/>
          </a:prstGeom>
          <a:solidFill>
            <a:srgbClr val="D8D0C2"/>
          </a:solidFill>
          <a:ln w="0">
            <a:solidFill>
              <a:srgbClr val="D8D0C2"/>
            </a:solidFill>
            <a:prstDash val="solid"/>
          </a:ln>
        </p:spPr>
        <p:txBody>
          <a:bodyPr/>
          <a:lstStyle/>
          <a:p>
            <a:endParaRPr/>
          </a:p>
        </p:txBody>
      </p:sp>
      <p:sp>
        <p:nvSpPr>
          <p:cNvPr id="114" name="Rectangle 113">
            <a:extLst>
              <a:ext uri="{FF2B5EF4-FFF2-40B4-BE49-F238E27FC236}">
                <a16:creationId xmlns:a16="http://schemas.microsoft.com/office/drawing/2014/main" id="{4CD7BCC4-C2A4-4EE9-B135-6C141AD50FA5}"/>
              </a:ext>
            </a:extLst>
          </p:cNvPr>
          <p:cNvSpPr>
            <a:spLocks noGrp="1"/>
          </p:cNvSpPr>
          <p:nvPr/>
        </p:nvSpPr>
        <p:spPr>
          <a:xfrm>
            <a:off x="8953500" y="3609975"/>
            <a:ext cx="27622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Validity control improves form, not guaranteed boundary accuracy.</a:t>
            </a:r>
          </a:p>
        </p:txBody>
      </p:sp>
      <p:sp>
        <p:nvSpPr>
          <p:cNvPr id="115" name="Rectangle 114">
            <a:extLst>
              <a:ext uri="{FF2B5EF4-FFF2-40B4-BE49-F238E27FC236}">
                <a16:creationId xmlns:a16="http://schemas.microsoft.com/office/drawing/2014/main" id="{470A1458-1846-4D3A-BDD1-FEDAC20FB080}"/>
              </a:ext>
            </a:extLst>
          </p:cNvPr>
          <p:cNvSpPr>
            <a:spLocks noGrp="1"/>
          </p:cNvSpPr>
          <p:nvPr/>
        </p:nvSpPr>
        <p:spPr>
          <a:xfrm>
            <a:off x="400050" y="4200525"/>
            <a:ext cx="11391900" cy="742950"/>
          </a:xfrm>
          <a:prstGeom prst="rect">
            <a:avLst/>
          </a:prstGeom>
          <a:solidFill>
            <a:srgbClr val="F7F3EB"/>
          </a:solidFill>
          <a:ln w="9525">
            <a:solidFill>
              <a:srgbClr val="D8D0C2"/>
            </a:solidFill>
            <a:prstDash val="solid"/>
          </a:ln>
        </p:spPr>
        <p:txBody>
          <a:bodyPr/>
          <a:lstStyle/>
          <a:p>
            <a:endParaRPr/>
          </a:p>
        </p:txBody>
      </p:sp>
      <p:sp>
        <p:nvSpPr>
          <p:cNvPr id="116" name="Rectangle 115">
            <a:extLst>
              <a:ext uri="{FF2B5EF4-FFF2-40B4-BE49-F238E27FC236}">
                <a16:creationId xmlns:a16="http://schemas.microsoft.com/office/drawing/2014/main" id="{E0E8C65C-49D1-41CE-99A2-479CB4309F08}"/>
              </a:ext>
            </a:extLst>
          </p:cNvPr>
          <p:cNvSpPr>
            <a:spLocks noGrp="1"/>
          </p:cNvSpPr>
          <p:nvPr/>
        </p:nvSpPr>
        <p:spPr>
          <a:xfrm>
            <a:off x="476250" y="4352925"/>
            <a:ext cx="571500" cy="438150"/>
          </a:xfrm>
          <a:prstGeom prst="rect">
            <a:avLst/>
          </a:prstGeom>
        </p:spPr>
        <p:txBody>
          <a:bodyPr anchor="ctr"/>
          <a:lstStyle/>
          <a:p>
            <a:pPr algn="l">
              <a:lnSpc>
                <a:spcPct val="103000"/>
              </a:lnSpc>
              <a:buNone/>
              <a:defRPr sz="900" b="1">
                <a:solidFill>
                  <a:srgbClr val="264653"/>
                </a:solidFill>
                <a:latin typeface="Aptos"/>
                <a:ea typeface="Aptos"/>
                <a:cs typeface="Aptos"/>
              </a:defRPr>
            </a:pPr>
            <a:r>
              <a:rPr sz="900" b="1">
                <a:solidFill>
                  <a:srgbClr val="264653"/>
                </a:solidFill>
                <a:latin typeface="Aptos"/>
                <a:ea typeface="Aptos"/>
                <a:cs typeface="Aptos"/>
              </a:rPr>
              <a:t>M5</a:t>
            </a:r>
          </a:p>
        </p:txBody>
      </p:sp>
      <p:sp>
        <p:nvSpPr>
          <p:cNvPr id="117" name="Rectangle 116">
            <a:extLst>
              <a:ext uri="{FF2B5EF4-FFF2-40B4-BE49-F238E27FC236}">
                <a16:creationId xmlns:a16="http://schemas.microsoft.com/office/drawing/2014/main" id="{2162085F-5B8C-409E-A0BA-BEE1423E4B6E}"/>
              </a:ext>
            </a:extLst>
          </p:cNvPr>
          <p:cNvSpPr>
            <a:spLocks noGrp="1"/>
          </p:cNvSpPr>
          <p:nvPr/>
        </p:nvSpPr>
        <p:spPr>
          <a:xfrm>
            <a:off x="1123950" y="4200525"/>
            <a:ext cx="9525" cy="742950"/>
          </a:xfrm>
          <a:prstGeom prst="rect">
            <a:avLst/>
          </a:prstGeom>
          <a:solidFill>
            <a:srgbClr val="D8D0C2"/>
          </a:solidFill>
          <a:ln w="0">
            <a:solidFill>
              <a:srgbClr val="D8D0C2"/>
            </a:solidFill>
            <a:prstDash val="solid"/>
          </a:ln>
        </p:spPr>
        <p:txBody>
          <a:bodyPr/>
          <a:lstStyle/>
          <a:p>
            <a:endParaRPr/>
          </a:p>
        </p:txBody>
      </p:sp>
      <p:sp>
        <p:nvSpPr>
          <p:cNvPr id="118" name="Rectangle 117">
            <a:extLst>
              <a:ext uri="{FF2B5EF4-FFF2-40B4-BE49-F238E27FC236}">
                <a16:creationId xmlns:a16="http://schemas.microsoft.com/office/drawing/2014/main" id="{85340BF9-7EC7-4553-BB24-1BBFDE903BDD}"/>
              </a:ext>
            </a:extLst>
          </p:cNvPr>
          <p:cNvSpPr>
            <a:spLocks noGrp="1"/>
          </p:cNvSpPr>
          <p:nvPr/>
        </p:nvSpPr>
        <p:spPr>
          <a:xfrm>
            <a:off x="1200150" y="4352925"/>
            <a:ext cx="1943100" cy="438150"/>
          </a:xfrm>
          <a:prstGeom prst="rect">
            <a:avLst/>
          </a:prstGeom>
        </p:spPr>
        <p:txBody>
          <a:bodyPr anchor="ctr"/>
          <a:lstStyle/>
          <a:p>
            <a:pPr algn="l">
              <a:lnSpc>
                <a:spcPct val="103000"/>
              </a:lnSpc>
              <a:buNone/>
              <a:defRPr sz="788" b="1">
                <a:solidFill>
                  <a:srgbClr val="223941"/>
                </a:solidFill>
                <a:latin typeface="Aptos"/>
                <a:ea typeface="Aptos"/>
                <a:cs typeface="Aptos"/>
              </a:defRPr>
            </a:pPr>
            <a:r>
              <a:rPr sz="788" b="1">
                <a:solidFill>
                  <a:srgbClr val="223941"/>
                </a:solidFill>
                <a:latin typeface="Aptos"/>
                <a:ea typeface="Aptos"/>
                <a:cs typeface="Aptos"/>
              </a:rPr>
              <a:t>Hard Local Boundary / Fallback Context</a:t>
            </a:r>
          </a:p>
        </p:txBody>
      </p:sp>
      <p:sp>
        <p:nvSpPr>
          <p:cNvPr id="119" name="Rectangle 118">
            <a:extLst>
              <a:ext uri="{FF2B5EF4-FFF2-40B4-BE49-F238E27FC236}">
                <a16:creationId xmlns:a16="http://schemas.microsoft.com/office/drawing/2014/main" id="{7E103241-D168-493B-9432-E3B4CA156319}"/>
              </a:ext>
            </a:extLst>
          </p:cNvPr>
          <p:cNvSpPr>
            <a:spLocks noGrp="1"/>
          </p:cNvSpPr>
          <p:nvPr/>
        </p:nvSpPr>
        <p:spPr>
          <a:xfrm>
            <a:off x="3219450" y="4200525"/>
            <a:ext cx="9525" cy="742950"/>
          </a:xfrm>
          <a:prstGeom prst="rect">
            <a:avLst/>
          </a:prstGeom>
          <a:solidFill>
            <a:srgbClr val="D8D0C2"/>
          </a:solidFill>
          <a:ln w="0">
            <a:solidFill>
              <a:srgbClr val="D8D0C2"/>
            </a:solidFill>
            <a:prstDash val="solid"/>
          </a:ln>
        </p:spPr>
        <p:txBody>
          <a:bodyPr/>
          <a:lstStyle/>
          <a:p>
            <a:endParaRPr/>
          </a:p>
        </p:txBody>
      </p:sp>
      <p:sp>
        <p:nvSpPr>
          <p:cNvPr id="120" name="Rectangle 119">
            <a:extLst>
              <a:ext uri="{FF2B5EF4-FFF2-40B4-BE49-F238E27FC236}">
                <a16:creationId xmlns:a16="http://schemas.microsoft.com/office/drawing/2014/main" id="{87DD6813-E64D-4265-9DF3-CBEDA73EF0C1}"/>
              </a:ext>
            </a:extLst>
          </p:cNvPr>
          <p:cNvSpPr>
            <a:spLocks noGrp="1"/>
          </p:cNvSpPr>
          <p:nvPr/>
        </p:nvSpPr>
        <p:spPr>
          <a:xfrm>
            <a:off x="3295650" y="4352925"/>
            <a:ext cx="224790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Line crops, OCR text, page context, repair/fallback, and projection remain entangled.</a:t>
            </a:r>
          </a:p>
        </p:txBody>
      </p:sp>
      <p:sp>
        <p:nvSpPr>
          <p:cNvPr id="121" name="Rectangle 120">
            <a:extLst>
              <a:ext uri="{FF2B5EF4-FFF2-40B4-BE49-F238E27FC236}">
                <a16:creationId xmlns:a16="http://schemas.microsoft.com/office/drawing/2014/main" id="{BEBF8F5D-641B-492C-B84F-89AEBF75D046}"/>
              </a:ext>
            </a:extLst>
          </p:cNvPr>
          <p:cNvSpPr>
            <a:spLocks noGrp="1"/>
          </p:cNvSpPr>
          <p:nvPr/>
        </p:nvSpPr>
        <p:spPr>
          <a:xfrm>
            <a:off x="5619750" y="4200525"/>
            <a:ext cx="9525" cy="742950"/>
          </a:xfrm>
          <a:prstGeom prst="rect">
            <a:avLst/>
          </a:prstGeom>
          <a:solidFill>
            <a:srgbClr val="D8D0C2"/>
          </a:solidFill>
          <a:ln w="0">
            <a:solidFill>
              <a:srgbClr val="D8D0C2"/>
            </a:solidFill>
            <a:prstDash val="solid"/>
          </a:ln>
        </p:spPr>
        <p:txBody>
          <a:bodyPr/>
          <a:lstStyle/>
          <a:p>
            <a:endParaRPr/>
          </a:p>
        </p:txBody>
      </p:sp>
      <p:sp>
        <p:nvSpPr>
          <p:cNvPr id="122" name="Rectangle 121">
            <a:extLst>
              <a:ext uri="{FF2B5EF4-FFF2-40B4-BE49-F238E27FC236}">
                <a16:creationId xmlns:a16="http://schemas.microsoft.com/office/drawing/2014/main" id="{C9FE01C4-1338-45AE-802D-AD3F22A9746C}"/>
              </a:ext>
            </a:extLst>
          </p:cNvPr>
          <p:cNvSpPr>
            <a:spLocks noGrp="1"/>
          </p:cNvSpPr>
          <p:nvPr/>
        </p:nvSpPr>
        <p:spPr>
          <a:xfrm>
            <a:off x="5695950" y="4352925"/>
            <a:ext cx="31051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17 hyphen mismatches; fallback LAnorm+/- 0.573 vs projection 0.920. Washington 270: M5 0.871 &lt; M3 0.935.</a:t>
            </a:r>
          </a:p>
        </p:txBody>
      </p:sp>
      <p:sp>
        <p:nvSpPr>
          <p:cNvPr id="123" name="Rectangle 122">
            <a:extLst>
              <a:ext uri="{FF2B5EF4-FFF2-40B4-BE49-F238E27FC236}">
                <a16:creationId xmlns:a16="http://schemas.microsoft.com/office/drawing/2014/main" id="{B788B314-17B4-4913-A1FA-0045A89866F7}"/>
              </a:ext>
            </a:extLst>
          </p:cNvPr>
          <p:cNvSpPr>
            <a:spLocks noGrp="1"/>
          </p:cNvSpPr>
          <p:nvPr/>
        </p:nvSpPr>
        <p:spPr>
          <a:xfrm>
            <a:off x="8877300" y="4200525"/>
            <a:ext cx="9525" cy="742950"/>
          </a:xfrm>
          <a:prstGeom prst="rect">
            <a:avLst/>
          </a:prstGeom>
          <a:solidFill>
            <a:srgbClr val="D8D0C2"/>
          </a:solidFill>
          <a:ln w="0">
            <a:solidFill>
              <a:srgbClr val="D8D0C2"/>
            </a:solidFill>
            <a:prstDash val="solid"/>
          </a:ln>
        </p:spPr>
        <p:txBody>
          <a:bodyPr/>
          <a:lstStyle/>
          <a:p>
            <a:endParaRPr/>
          </a:p>
        </p:txBody>
      </p:sp>
      <p:sp>
        <p:nvSpPr>
          <p:cNvPr id="124" name="Rectangle 123">
            <a:extLst>
              <a:ext uri="{FF2B5EF4-FFF2-40B4-BE49-F238E27FC236}">
                <a16:creationId xmlns:a16="http://schemas.microsoft.com/office/drawing/2014/main" id="{AA4350A4-3747-4829-9B63-5EDEF3977E6F}"/>
              </a:ext>
            </a:extLst>
          </p:cNvPr>
          <p:cNvSpPr>
            <a:spLocks noGrp="1"/>
          </p:cNvSpPr>
          <p:nvPr/>
        </p:nvSpPr>
        <p:spPr>
          <a:xfrm>
            <a:off x="8953500" y="4352925"/>
            <a:ext cx="2762250" cy="438150"/>
          </a:xfrm>
          <a:prstGeom prst="rect">
            <a:avLst/>
          </a:prstGeom>
        </p:spPr>
        <p:txBody>
          <a:bodyPr anchor="ctr"/>
          <a:lstStyle/>
          <a:p>
            <a:pPr algn="l">
              <a:lnSpc>
                <a:spcPct val="103000"/>
              </a:lnSpc>
              <a:buNone/>
              <a:defRPr sz="690" b="0">
                <a:solidFill>
                  <a:srgbClr val="223941"/>
                </a:solidFill>
                <a:latin typeface="Aptos"/>
                <a:ea typeface="Aptos"/>
                <a:cs typeface="Aptos"/>
              </a:defRPr>
            </a:pPr>
            <a:r>
              <a:rPr sz="690" b="0">
                <a:solidFill>
                  <a:srgbClr val="223941"/>
                </a:solidFill>
                <a:latin typeface="Aptos"/>
                <a:ea typeface="Aptos"/>
                <a:cs typeface="Aptos"/>
              </a:rPr>
              <a:t>Highest-scoring evaluated setup, not an every-sample winner.</a:t>
            </a:r>
          </a:p>
        </p:txBody>
      </p:sp>
      <p:sp>
        <p:nvSpPr>
          <p:cNvPr id="125" name="Rectangle 124">
            <a:extLst>
              <a:ext uri="{FF2B5EF4-FFF2-40B4-BE49-F238E27FC236}">
                <a16:creationId xmlns:a16="http://schemas.microsoft.com/office/drawing/2014/main" id="{FC629A85-0383-4914-A510-392D80EEA6A7}"/>
              </a:ext>
            </a:extLst>
          </p:cNvPr>
          <p:cNvSpPr>
            <a:spLocks noGrp="1"/>
          </p:cNvSpPr>
          <p:nvPr/>
        </p:nvSpPr>
        <p:spPr>
          <a:xfrm>
            <a:off x="514350" y="5114925"/>
            <a:ext cx="10934700" cy="285750"/>
          </a:xfrm>
          <a:prstGeom prst="rect">
            <a:avLst/>
          </a:prstGeom>
        </p:spPr>
        <p:txBody>
          <a:bodyPr anchor="ctr"/>
          <a:lstStyle/>
          <a:p>
            <a:pPr algn="l">
              <a:lnSpc>
                <a:spcPct val="106000"/>
              </a:lnSpc>
              <a:buNone/>
              <a:defRPr sz="825">
                <a:solidFill>
                  <a:srgbClr val="58676B"/>
                </a:solidFill>
                <a:latin typeface="Aptos"/>
                <a:ea typeface="Aptos"/>
                <a:cs typeface="Aptos"/>
              </a:defRPr>
            </a:pPr>
            <a:r>
              <a:rPr sz="825">
                <a:solidFill>
                  <a:srgbClr val="58676B"/>
                </a:solidFill>
                <a:latin typeface="Aptos"/>
                <a:ea typeface="Aptos"/>
                <a:cs typeface="Aptos"/>
              </a:rPr>
              <a:t>Illustrative mechanisms from stored prediction/trace analysis; not causal component ablations.</a:t>
            </a:r>
          </a:p>
        </p:txBody>
      </p:sp>
    </p:spTree>
    <p:extLst>
      <p:ext uri="{BB962C8B-B14F-4D97-AF65-F5344CB8AC3E}">
        <p14:creationId xmlns:p14="http://schemas.microsoft.com/office/powerpoint/2010/main" val="700841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484FFE-1672-4DD7-9A14-B735B335903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F3439A3-F1EE-4AA4-9F44-60B6DFCF0EF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50DCDD3-E684-4F4F-9FA8-6582988F9D52}"/>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Appendix A5</a:t>
            </a:r>
          </a:p>
        </p:txBody>
      </p:sp>
      <p:sp>
        <p:nvSpPr>
          <p:cNvPr id="4" name="Rectangle 3">
            <a:extLst>
              <a:ext uri="{FF2B5EF4-FFF2-40B4-BE49-F238E27FC236}">
                <a16:creationId xmlns:a16="http://schemas.microsoft.com/office/drawing/2014/main" id="{8D1C7D3A-ABCD-4609-9F77-2ECD71C41A7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M1 Failure Example: Missing Opening Line</a:t>
            </a:r>
          </a:p>
        </p:txBody>
      </p:sp>
      <p:sp>
        <p:nvSpPr>
          <p:cNvPr id="5" name="Rectangle 4">
            <a:extLst>
              <a:ext uri="{FF2B5EF4-FFF2-40B4-BE49-F238E27FC236}">
                <a16:creationId xmlns:a16="http://schemas.microsoft.com/office/drawing/2014/main" id="{26BC2582-9E1C-4F21-9D14-37E45F5814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9F7D7FB-5A67-4A30-80CB-6117BB541C7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19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64" name="Rounded Rectangle 63">
            <a:extLst>
              <a:ext uri="{FF2B5EF4-FFF2-40B4-BE49-F238E27FC236}">
                <a16:creationId xmlns:a16="http://schemas.microsoft.com/office/drawing/2014/main" id="{959A629C-7185-4B9C-8A7A-4A294406ADF4}"/>
              </a:ext>
            </a:extLst>
          </p:cNvPr>
          <p:cNvSpPr>
            <a:spLocks noGrp="1"/>
          </p:cNvSpPr>
          <p:nvPr/>
        </p:nvSpPr>
        <p:spPr>
          <a:xfrm>
            <a:off x="647700" y="781050"/>
            <a:ext cx="723900" cy="228600"/>
          </a:xfrm>
          <a:prstGeom prst="roundRect">
            <a:avLst>
              <a:gd name="adj" fmla="val 8333"/>
            </a:avLst>
          </a:prstGeom>
          <a:solidFill>
            <a:srgbClr val="DFF3EF"/>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M1</a:t>
            </a:r>
          </a:p>
        </p:txBody>
      </p:sp>
      <p:sp>
        <p:nvSpPr>
          <p:cNvPr id="65" name="Rounded Rectangle 64">
            <a:extLst>
              <a:ext uri="{FF2B5EF4-FFF2-40B4-BE49-F238E27FC236}">
                <a16:creationId xmlns:a16="http://schemas.microsoft.com/office/drawing/2014/main" id="{3D9FF5F6-B32C-4797-B9BF-AB5D7CE4C8C5}"/>
              </a:ext>
            </a:extLst>
          </p:cNvPr>
          <p:cNvSpPr>
            <a:spLocks noGrp="1"/>
          </p:cNvSpPr>
          <p:nvPr/>
        </p:nvSpPr>
        <p:spPr>
          <a:xfrm>
            <a:off x="1447800" y="781050"/>
            <a:ext cx="1604010" cy="228600"/>
          </a:xfrm>
          <a:prstGeom prst="roundRect">
            <a:avLst>
              <a:gd name="adj" fmla="val 8333"/>
            </a:avLst>
          </a:prstGeom>
          <a:solidFill>
            <a:srgbClr val="D9EDF7"/>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Raw Copy + Segment Drift</a:t>
            </a:r>
          </a:p>
        </p:txBody>
      </p:sp>
      <p:sp>
        <p:nvSpPr>
          <p:cNvPr id="66" name="Rectangle 65">
            <a:extLst>
              <a:ext uri="{FF2B5EF4-FFF2-40B4-BE49-F238E27FC236}">
                <a16:creationId xmlns:a16="http://schemas.microsoft.com/office/drawing/2014/main" id="{D1FF5B46-F779-4890-A34C-988DCB587D9B}"/>
              </a:ext>
            </a:extLst>
          </p:cNvPr>
          <p:cNvSpPr>
            <a:spLocks noGrp="1"/>
          </p:cNvSpPr>
          <p:nvPr/>
        </p:nvSpPr>
        <p:spPr>
          <a:xfrm>
            <a:off x="647700" y="1057275"/>
            <a:ext cx="7239000" cy="247650"/>
          </a:xfrm>
          <a:prstGeom prst="rect">
            <a:avLst/>
          </a:prstGeom>
        </p:spPr>
        <p:txBody>
          <a:bodyPr anchor="t"/>
          <a:lstStyle/>
          <a:p>
            <a:pPr>
              <a:lnSpc>
                <a:spcPct val="108000"/>
              </a:lnSpc>
              <a:buNone/>
              <a:defRPr sz="1050" b="1">
                <a:solidFill>
                  <a:srgbClr val="264653"/>
                </a:solidFill>
              </a:defRPr>
            </a:pPr>
            <a:r>
              <a:rPr sz="1050" b="1">
                <a:solidFill>
                  <a:srgbClr val="264653"/>
                </a:solidFill>
              </a:rPr>
              <a:t>Bullinger 11084 · GPT-5.4-0305</a:t>
            </a:r>
          </a:p>
        </p:txBody>
      </p:sp>
      <p:sp>
        <p:nvSpPr>
          <p:cNvPr id="67" name="Rectangle 66">
            <a:extLst>
              <a:ext uri="{FF2B5EF4-FFF2-40B4-BE49-F238E27FC236}">
                <a16:creationId xmlns:a16="http://schemas.microsoft.com/office/drawing/2014/main" id="{2CBE7021-F921-4621-B28A-342A048C44B4}"/>
              </a:ext>
            </a:extLst>
          </p:cNvPr>
          <p:cNvSpPr>
            <a:spLocks noGrp="1"/>
          </p:cNvSpPr>
          <p:nvPr/>
        </p:nvSpPr>
        <p:spPr>
          <a:xfrm>
            <a:off x="8020050" y="819150"/>
            <a:ext cx="3238500" cy="514350"/>
          </a:xfrm>
          <a:prstGeom prst="rect">
            <a:avLst/>
          </a:prstGeom>
        </p:spPr>
        <p:txBody>
          <a:bodyPr anchor="t"/>
          <a:lstStyle/>
          <a:p>
            <a:pPr algn="r">
              <a:lnSpc>
                <a:spcPct val="105000"/>
              </a:lnSpc>
              <a:buNone/>
              <a:defRPr sz="900" b="1">
                <a:solidFill>
                  <a:srgbClr val="596B6F"/>
                </a:solidFill>
              </a:defRPr>
            </a:pPr>
            <a:r>
              <a:rPr sz="900" b="1">
                <a:solidFill>
                  <a:srgbClr val="596B6F"/>
                </a:solidFill>
              </a:rPr>
              <a:t>Example 1/5</a:t>
            </a:r>
          </a:p>
          <a:p>
            <a:pPr algn="r">
              <a:lnSpc>
                <a:spcPct val="105000"/>
              </a:lnSpc>
              <a:buNone/>
              <a:defRPr sz="900" b="1">
                <a:solidFill>
                  <a:srgbClr val="596B6F"/>
                </a:solidFill>
              </a:defRPr>
            </a:pPr>
            <a:r>
              <a:rPr sz="900" b="1">
                <a:solidFill>
                  <a:srgbClr val="596B6F"/>
                </a:solidFill>
              </a:rPr>
              <a:t>Stored prediction excerpt</a:t>
            </a:r>
          </a:p>
        </p:txBody>
      </p:sp>
      <p:sp>
        <p:nvSpPr>
          <p:cNvPr id="68" name="Rounded Rectangle 67">
            <a:extLst>
              <a:ext uri="{FF2B5EF4-FFF2-40B4-BE49-F238E27FC236}">
                <a16:creationId xmlns:a16="http://schemas.microsoft.com/office/drawing/2014/main" id="{B073395A-9F34-4841-91DB-AD648A113C02}"/>
              </a:ext>
            </a:extLst>
          </p:cNvPr>
          <p:cNvSpPr>
            <a:spLocks noGrp="1"/>
          </p:cNvSpPr>
          <p:nvPr/>
        </p:nvSpPr>
        <p:spPr>
          <a:xfrm>
            <a:off x="628650"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69" name="Rectangle 68">
            <a:extLst>
              <a:ext uri="{FF2B5EF4-FFF2-40B4-BE49-F238E27FC236}">
                <a16:creationId xmlns:a16="http://schemas.microsoft.com/office/drawing/2014/main" id="{1F3658CA-8A9C-4AAA-9E71-13B9CAC0BD34}"/>
              </a:ext>
            </a:extLst>
          </p:cNvPr>
          <p:cNvSpPr>
            <a:spLocks noGrp="1"/>
          </p:cNvSpPr>
          <p:nvPr/>
        </p:nvSpPr>
        <p:spPr>
          <a:xfrm>
            <a:off x="628650" y="1466850"/>
            <a:ext cx="5286375" cy="323850"/>
          </a:xfrm>
          <a:prstGeom prst="rect">
            <a:avLst/>
          </a:prstGeom>
          <a:solidFill>
            <a:srgbClr val="264653"/>
          </a:solidFill>
          <a:ln w="0">
            <a:solidFill>
              <a:srgbClr val="264653"/>
            </a:solidFill>
            <a:prstDash val="solid"/>
          </a:ln>
        </p:spPr>
        <p:txBody>
          <a:bodyPr/>
          <a:lstStyle/>
          <a:p>
            <a:endParaRPr/>
          </a:p>
        </p:txBody>
      </p:sp>
      <p:sp>
        <p:nvSpPr>
          <p:cNvPr id="70" name="Rectangle 69">
            <a:extLst>
              <a:ext uri="{FF2B5EF4-FFF2-40B4-BE49-F238E27FC236}">
                <a16:creationId xmlns:a16="http://schemas.microsoft.com/office/drawing/2014/main" id="{DD44B324-D826-4086-BF13-ADA5E3FA0CF4}"/>
              </a:ext>
            </a:extLst>
          </p:cNvPr>
          <p:cNvSpPr>
            <a:spLocks noGrp="1"/>
          </p:cNvSpPr>
          <p:nvPr/>
        </p:nvSpPr>
        <p:spPr>
          <a:xfrm>
            <a:off x="762000"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Ground truth opening</a:t>
            </a:r>
          </a:p>
        </p:txBody>
      </p:sp>
      <p:sp>
        <p:nvSpPr>
          <p:cNvPr id="71" name="Rectangle 70">
            <a:extLst>
              <a:ext uri="{FF2B5EF4-FFF2-40B4-BE49-F238E27FC236}">
                <a16:creationId xmlns:a16="http://schemas.microsoft.com/office/drawing/2014/main" id="{D165385B-05FD-41FE-A50B-C7A43497D036}"/>
              </a:ext>
            </a:extLst>
          </p:cNvPr>
          <p:cNvSpPr>
            <a:spLocks noGrp="1"/>
          </p:cNvSpPr>
          <p:nvPr/>
        </p:nvSpPr>
        <p:spPr>
          <a:xfrm>
            <a:off x="800100"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20154</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L02: Op D. Lieber gunstiger Heu vnd bruder, das ich nun schriben an Ich</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L03: So hang verzogen hab ist kein andere Vrsach dan das ich alwege verhoffett hat</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L04: Hans schmid wurde hinuber komen, das ich inne brief durch ein gewisser</a:t>
            </a:r>
          </a:p>
        </p:txBody>
      </p:sp>
      <p:sp>
        <p:nvSpPr>
          <p:cNvPr id="72" name="Rounded Rectangle 71">
            <a:extLst>
              <a:ext uri="{FF2B5EF4-FFF2-40B4-BE49-F238E27FC236}">
                <a16:creationId xmlns:a16="http://schemas.microsoft.com/office/drawing/2014/main" id="{7EECE678-E826-4480-8C4E-1F69995D4D13}"/>
              </a:ext>
            </a:extLst>
          </p:cNvPr>
          <p:cNvSpPr>
            <a:spLocks noGrp="1"/>
          </p:cNvSpPr>
          <p:nvPr/>
        </p:nvSpPr>
        <p:spPr>
          <a:xfrm>
            <a:off x="6276975"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73" name="Rectangle 72">
            <a:extLst>
              <a:ext uri="{FF2B5EF4-FFF2-40B4-BE49-F238E27FC236}">
                <a16:creationId xmlns:a16="http://schemas.microsoft.com/office/drawing/2014/main" id="{53123849-1DAF-467A-BEB1-3E42C68C0525}"/>
              </a:ext>
            </a:extLst>
          </p:cNvPr>
          <p:cNvSpPr>
            <a:spLocks noGrp="1"/>
          </p:cNvSpPr>
          <p:nvPr/>
        </p:nvSpPr>
        <p:spPr>
          <a:xfrm>
            <a:off x="6276975" y="1466850"/>
            <a:ext cx="5286375" cy="323850"/>
          </a:xfrm>
          <a:prstGeom prst="rect">
            <a:avLst/>
          </a:prstGeom>
          <a:solidFill>
            <a:srgbClr val="E76F51"/>
          </a:solidFill>
          <a:ln w="0">
            <a:solidFill>
              <a:srgbClr val="E76F51"/>
            </a:solidFill>
            <a:prstDash val="solid"/>
          </a:ln>
        </p:spPr>
        <p:txBody>
          <a:bodyPr/>
          <a:lstStyle/>
          <a:p>
            <a:endParaRPr/>
          </a:p>
        </p:txBody>
      </p:sp>
      <p:sp>
        <p:nvSpPr>
          <p:cNvPr id="74" name="Rectangle 73">
            <a:extLst>
              <a:ext uri="{FF2B5EF4-FFF2-40B4-BE49-F238E27FC236}">
                <a16:creationId xmlns:a16="http://schemas.microsoft.com/office/drawing/2014/main" id="{E029914C-187C-4D13-9D96-9EE7CD598355}"/>
              </a:ext>
            </a:extLst>
          </p:cNvPr>
          <p:cNvSpPr>
            <a:spLocks noGrp="1"/>
          </p:cNvSpPr>
          <p:nvPr/>
        </p:nvSpPr>
        <p:spPr>
          <a:xfrm>
            <a:off x="6410325"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Actual M1 prediction opening</a:t>
            </a:r>
          </a:p>
        </p:txBody>
      </p:sp>
      <p:sp>
        <p:nvSpPr>
          <p:cNvPr id="75" name="Rectangle 74">
            <a:extLst>
              <a:ext uri="{FF2B5EF4-FFF2-40B4-BE49-F238E27FC236}">
                <a16:creationId xmlns:a16="http://schemas.microsoft.com/office/drawing/2014/main" id="{87859747-0ED8-478D-A16B-8376683AE6F3}"/>
              </a:ext>
            </a:extLst>
          </p:cNvPr>
          <p:cNvSpPr>
            <a:spLocks noGrp="1"/>
          </p:cNvSpPr>
          <p:nvPr/>
        </p:nvSpPr>
        <p:spPr>
          <a:xfrm>
            <a:off x="6448425"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Op D. Lieber gunstiger Heu vnd bruder, das ich nun schriben an Ich</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L02: So hang verzogen hab ist kein andere Vrsach dan das ich alwege verhoffett hat</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L03: Hans schmid wurde hinuber komen, das ich inne brief durch ein gewisser</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L04: botte vch vberantwurten mocht das aber mit bestheilen etc. vff Sommlichen</a:t>
            </a:r>
          </a:p>
        </p:txBody>
      </p:sp>
      <p:sp>
        <p:nvSpPr>
          <p:cNvPr id="76" name="Rounded Rectangle 75">
            <a:extLst>
              <a:ext uri="{FF2B5EF4-FFF2-40B4-BE49-F238E27FC236}">
                <a16:creationId xmlns:a16="http://schemas.microsoft.com/office/drawing/2014/main" id="{80DEE802-C2B3-49BE-979C-F66AFEE7D761}"/>
              </a:ext>
            </a:extLst>
          </p:cNvPr>
          <p:cNvSpPr>
            <a:spLocks noGrp="1"/>
          </p:cNvSpPr>
          <p:nvPr/>
        </p:nvSpPr>
        <p:spPr>
          <a:xfrm>
            <a:off x="628650" y="4686300"/>
            <a:ext cx="5334000" cy="723900"/>
          </a:xfrm>
          <a:prstGeom prst="roundRect">
            <a:avLst>
              <a:gd name="adj" fmla="val 2632"/>
            </a:avLst>
          </a:prstGeom>
          <a:solidFill>
            <a:srgbClr val="F1ECE2"/>
          </a:solidFill>
          <a:ln w="9525">
            <a:solidFill>
              <a:srgbClr val="D8D0C2"/>
            </a:solidFill>
            <a:prstDash val="solid"/>
          </a:ln>
        </p:spPr>
        <p:txBody>
          <a:bodyPr/>
          <a:lstStyle/>
          <a:p>
            <a:endParaRPr/>
          </a:p>
        </p:txBody>
      </p:sp>
      <p:sp>
        <p:nvSpPr>
          <p:cNvPr id="77" name="Rectangle 76">
            <a:extLst>
              <a:ext uri="{FF2B5EF4-FFF2-40B4-BE49-F238E27FC236}">
                <a16:creationId xmlns:a16="http://schemas.microsoft.com/office/drawing/2014/main" id="{1FC82484-7AA1-48DC-A7B9-021CD07AEB5D}"/>
              </a:ext>
            </a:extLst>
          </p:cNvPr>
          <p:cNvSpPr>
            <a:spLocks noGrp="1"/>
          </p:cNvSpPr>
          <p:nvPr/>
        </p:nvSpPr>
        <p:spPr>
          <a:xfrm>
            <a:off x="800100" y="4857750"/>
            <a:ext cx="4991100" cy="400050"/>
          </a:xfrm>
          <a:prstGeom prst="rect">
            <a:avLst/>
          </a:prstGeom>
        </p:spPr>
        <p:txBody>
          <a:bodyPr anchor="ctr"/>
          <a:lstStyle/>
          <a:p>
            <a:pPr>
              <a:lnSpc>
                <a:spcPct val="108000"/>
              </a:lnSpc>
              <a:buNone/>
              <a:defRPr sz="1140" b="1">
                <a:solidFill>
                  <a:srgbClr val="223941"/>
                </a:solidFill>
              </a:defRPr>
            </a:pPr>
            <a:r>
              <a:rPr sz="1140" b="1">
                <a:solidFill>
                  <a:srgbClr val="223941"/>
                </a:solidFill>
              </a:rPr>
              <a:t>Prediction starts at the second ground-truth line; the opening line “20154” is absent.</a:t>
            </a:r>
          </a:p>
        </p:txBody>
      </p:sp>
      <p:sp>
        <p:nvSpPr>
          <p:cNvPr id="78" name="Rounded Rectangle 77">
            <a:extLst>
              <a:ext uri="{FF2B5EF4-FFF2-40B4-BE49-F238E27FC236}">
                <a16:creationId xmlns:a16="http://schemas.microsoft.com/office/drawing/2014/main" id="{2BC2D28F-92DE-4BAA-8F66-DA3BE0A4114F}"/>
              </a:ext>
            </a:extLst>
          </p:cNvPr>
          <p:cNvSpPr>
            <a:spLocks noGrp="1"/>
          </p:cNvSpPr>
          <p:nvPr/>
        </p:nvSpPr>
        <p:spPr>
          <a:xfrm>
            <a:off x="6229350" y="4686300"/>
            <a:ext cx="5334000" cy="723900"/>
          </a:xfrm>
          <a:prstGeom prst="roundRect">
            <a:avLst>
              <a:gd name="adj" fmla="val 2632"/>
            </a:avLst>
          </a:prstGeom>
          <a:solidFill>
            <a:srgbClr val="DFF3EF"/>
          </a:solidFill>
          <a:ln w="9525">
            <a:solidFill>
              <a:srgbClr val="2A9D8F"/>
            </a:solidFill>
            <a:prstDash val="solid"/>
          </a:ln>
        </p:spPr>
        <p:txBody>
          <a:bodyPr/>
          <a:lstStyle/>
          <a:p>
            <a:endParaRPr/>
          </a:p>
        </p:txBody>
      </p:sp>
      <p:sp>
        <p:nvSpPr>
          <p:cNvPr id="79" name="Rectangle 78">
            <a:extLst>
              <a:ext uri="{FF2B5EF4-FFF2-40B4-BE49-F238E27FC236}">
                <a16:creationId xmlns:a16="http://schemas.microsoft.com/office/drawing/2014/main" id="{90C4B275-A22B-4C25-B9D5-D74ED4DB2912}"/>
              </a:ext>
            </a:extLst>
          </p:cNvPr>
          <p:cNvSpPr>
            <a:spLocks noGrp="1"/>
          </p:cNvSpPr>
          <p:nvPr/>
        </p:nvSpPr>
        <p:spPr>
          <a:xfrm>
            <a:off x="6400800" y="4857750"/>
            <a:ext cx="4991100" cy="400050"/>
          </a:xfrm>
          <a:prstGeom prst="rect">
            <a:avLst/>
          </a:prstGeom>
        </p:spPr>
        <p:txBody>
          <a:bodyPr anchor="ctr"/>
          <a:lstStyle/>
          <a:p>
            <a:pPr>
              <a:lnSpc>
                <a:spcPct val="108000"/>
              </a:lnSpc>
              <a:buNone/>
              <a:defRPr sz="990">
                <a:solidFill>
                  <a:srgbClr val="223941"/>
                </a:solidFill>
              </a:defRPr>
            </a:pPr>
            <a:r>
              <a:rPr sz="990">
                <a:solidFill>
                  <a:srgbClr val="223941"/>
                </a:solidFill>
              </a:rPr>
              <a:t>LAnorm+/- 0; reverse LAnorm 0.969; F1norm 0.984; CERnorm 0.003.</a:t>
            </a:r>
          </a:p>
        </p:txBody>
      </p:sp>
      <p:sp>
        <p:nvSpPr>
          <p:cNvPr id="80" name="Rectangle 79">
            <a:extLst>
              <a:ext uri="{FF2B5EF4-FFF2-40B4-BE49-F238E27FC236}">
                <a16:creationId xmlns:a16="http://schemas.microsoft.com/office/drawing/2014/main" id="{315F2C36-5310-4DDF-ADFE-2765A544C283}"/>
              </a:ext>
            </a:extLst>
          </p:cNvPr>
          <p:cNvSpPr>
            <a:spLocks noGrp="1"/>
          </p:cNvSpPr>
          <p:nvPr/>
        </p:nvSpPr>
        <p:spPr>
          <a:xfrm>
            <a:off x="685800" y="5581650"/>
            <a:ext cx="10591800" cy="285750"/>
          </a:xfrm>
          <a:prstGeom prst="rect">
            <a:avLst/>
          </a:prstGeom>
        </p:spPr>
        <p:txBody>
          <a:bodyPr anchor="t"/>
          <a:lstStyle/>
          <a:p>
            <a:pPr>
              <a:lnSpc>
                <a:spcPct val="108000"/>
              </a:lnSpc>
              <a:buNone/>
              <a:defRPr sz="885">
                <a:solidFill>
                  <a:srgbClr val="596B6F"/>
                </a:solidFill>
              </a:defRPr>
            </a:pPr>
            <a:r>
              <a:rPr sz="885">
                <a:solidFill>
                  <a:srgbClr val="596B6F"/>
                </a:solidFill>
              </a:rPr>
              <a:t>Short verbatim windows from retained predictions; examples illustrate mechanisms, not causal component ablations.</a:t>
            </a:r>
          </a:p>
        </p:txBody>
      </p:sp>
    </p:spTree>
    <p:extLst>
      <p:ext uri="{BB962C8B-B14F-4D97-AF65-F5344CB8AC3E}">
        <p14:creationId xmlns:p14="http://schemas.microsoft.com/office/powerpoint/2010/main" val="700841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484FFE-1672-4DD7-9A14-B735B335903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F3439A3-F1EE-4AA4-9F44-60B6DFCF0EF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50DCDD3-E684-4F4F-9FA8-6582988F9D52}"/>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Appendix A6</a:t>
            </a:r>
          </a:p>
        </p:txBody>
      </p:sp>
      <p:sp>
        <p:nvSpPr>
          <p:cNvPr id="4" name="Rectangle 3">
            <a:extLst>
              <a:ext uri="{FF2B5EF4-FFF2-40B4-BE49-F238E27FC236}">
                <a16:creationId xmlns:a16="http://schemas.microsoft.com/office/drawing/2014/main" id="{8D1C7D3A-ABCD-4609-9F77-2ECD71C41A7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M2 Failure Example: OCR Hint Followed Too Coarsely</a:t>
            </a:r>
          </a:p>
        </p:txBody>
      </p:sp>
      <p:sp>
        <p:nvSpPr>
          <p:cNvPr id="5" name="Rectangle 4">
            <a:extLst>
              <a:ext uri="{FF2B5EF4-FFF2-40B4-BE49-F238E27FC236}">
                <a16:creationId xmlns:a16="http://schemas.microsoft.com/office/drawing/2014/main" id="{26BC2582-9E1C-4F21-9D14-37E45F5814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9F7D7FB-5A67-4A30-80CB-6117BB541C7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20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64" name="Rounded Rectangle 63">
            <a:extLst>
              <a:ext uri="{FF2B5EF4-FFF2-40B4-BE49-F238E27FC236}">
                <a16:creationId xmlns:a16="http://schemas.microsoft.com/office/drawing/2014/main" id="{577B7B8B-7C02-425B-A043-4E5472E8A1F0}"/>
              </a:ext>
            </a:extLst>
          </p:cNvPr>
          <p:cNvSpPr>
            <a:spLocks noGrp="1"/>
          </p:cNvSpPr>
          <p:nvPr/>
        </p:nvSpPr>
        <p:spPr>
          <a:xfrm>
            <a:off x="647700" y="781050"/>
            <a:ext cx="723900" cy="228600"/>
          </a:xfrm>
          <a:prstGeom prst="roundRect">
            <a:avLst>
              <a:gd name="adj" fmla="val 8333"/>
            </a:avLst>
          </a:prstGeom>
          <a:solidFill>
            <a:srgbClr val="DFF3EF"/>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M2</a:t>
            </a:r>
          </a:p>
        </p:txBody>
      </p:sp>
      <p:sp>
        <p:nvSpPr>
          <p:cNvPr id="65" name="Rounded Rectangle 64">
            <a:extLst>
              <a:ext uri="{FF2B5EF4-FFF2-40B4-BE49-F238E27FC236}">
                <a16:creationId xmlns:a16="http://schemas.microsoft.com/office/drawing/2014/main" id="{D44B8995-883A-45BC-B2DB-943E087EC514}"/>
              </a:ext>
            </a:extLst>
          </p:cNvPr>
          <p:cNvSpPr>
            <a:spLocks noGrp="1"/>
          </p:cNvSpPr>
          <p:nvPr/>
        </p:nvSpPr>
        <p:spPr>
          <a:xfrm>
            <a:off x="1447800" y="781050"/>
            <a:ext cx="1545907" cy="228600"/>
          </a:xfrm>
          <a:prstGeom prst="roundRect">
            <a:avLst>
              <a:gd name="adj" fmla="val 8333"/>
            </a:avLst>
          </a:prstGeom>
          <a:solidFill>
            <a:srgbClr val="D9EDF7"/>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Noisy OCR Hint Followed</a:t>
            </a:r>
          </a:p>
        </p:txBody>
      </p:sp>
      <p:sp>
        <p:nvSpPr>
          <p:cNvPr id="66" name="Rectangle 65">
            <a:extLst>
              <a:ext uri="{FF2B5EF4-FFF2-40B4-BE49-F238E27FC236}">
                <a16:creationId xmlns:a16="http://schemas.microsoft.com/office/drawing/2014/main" id="{41DD92EA-E8B5-40CF-AA37-2861A59CB186}"/>
              </a:ext>
            </a:extLst>
          </p:cNvPr>
          <p:cNvSpPr>
            <a:spLocks noGrp="1"/>
          </p:cNvSpPr>
          <p:nvPr/>
        </p:nvSpPr>
        <p:spPr>
          <a:xfrm>
            <a:off x="647700" y="1057275"/>
            <a:ext cx="7239000" cy="247650"/>
          </a:xfrm>
          <a:prstGeom prst="rect">
            <a:avLst/>
          </a:prstGeom>
        </p:spPr>
        <p:txBody>
          <a:bodyPr anchor="t"/>
          <a:lstStyle/>
          <a:p>
            <a:pPr>
              <a:lnSpc>
                <a:spcPct val="108000"/>
              </a:lnSpc>
              <a:buNone/>
              <a:defRPr sz="1050" b="1">
                <a:solidFill>
                  <a:srgbClr val="264653"/>
                </a:solidFill>
              </a:defRPr>
            </a:pPr>
            <a:r>
              <a:rPr sz="1050" b="1">
                <a:solidFill>
                  <a:srgbClr val="264653"/>
                </a:solidFill>
              </a:rPr>
              <a:t>Children 2A_11_18-19 · Qwen3-VL-8B</a:t>
            </a:r>
          </a:p>
        </p:txBody>
      </p:sp>
      <p:sp>
        <p:nvSpPr>
          <p:cNvPr id="67" name="Rectangle 66">
            <a:extLst>
              <a:ext uri="{FF2B5EF4-FFF2-40B4-BE49-F238E27FC236}">
                <a16:creationId xmlns:a16="http://schemas.microsoft.com/office/drawing/2014/main" id="{F07B1F3C-0B23-41EF-983D-604CC616410B}"/>
              </a:ext>
            </a:extLst>
          </p:cNvPr>
          <p:cNvSpPr>
            <a:spLocks noGrp="1"/>
          </p:cNvSpPr>
          <p:nvPr/>
        </p:nvSpPr>
        <p:spPr>
          <a:xfrm>
            <a:off x="8020050" y="819150"/>
            <a:ext cx="3238500" cy="514350"/>
          </a:xfrm>
          <a:prstGeom prst="rect">
            <a:avLst/>
          </a:prstGeom>
        </p:spPr>
        <p:txBody>
          <a:bodyPr anchor="t"/>
          <a:lstStyle/>
          <a:p>
            <a:pPr algn="r">
              <a:lnSpc>
                <a:spcPct val="105000"/>
              </a:lnSpc>
              <a:buNone/>
              <a:defRPr sz="900" b="1">
                <a:solidFill>
                  <a:srgbClr val="596B6F"/>
                </a:solidFill>
              </a:defRPr>
            </a:pPr>
            <a:r>
              <a:rPr sz="900" b="1">
                <a:solidFill>
                  <a:srgbClr val="596B6F"/>
                </a:solidFill>
              </a:rPr>
              <a:t>Example 2/5</a:t>
            </a:r>
          </a:p>
          <a:p>
            <a:pPr algn="r">
              <a:lnSpc>
                <a:spcPct val="105000"/>
              </a:lnSpc>
              <a:buNone/>
              <a:defRPr sz="900" b="1">
                <a:solidFill>
                  <a:srgbClr val="596B6F"/>
                </a:solidFill>
              </a:defRPr>
            </a:pPr>
            <a:r>
              <a:rPr sz="900" b="1">
                <a:solidFill>
                  <a:srgbClr val="596B6F"/>
                </a:solidFill>
              </a:rPr>
              <a:t>Stored prediction excerpt</a:t>
            </a:r>
          </a:p>
        </p:txBody>
      </p:sp>
      <p:sp>
        <p:nvSpPr>
          <p:cNvPr id="68" name="Rounded Rectangle 67">
            <a:extLst>
              <a:ext uri="{FF2B5EF4-FFF2-40B4-BE49-F238E27FC236}">
                <a16:creationId xmlns:a16="http://schemas.microsoft.com/office/drawing/2014/main" id="{807D8704-F50C-4D15-9069-0B1C2267E27D}"/>
              </a:ext>
            </a:extLst>
          </p:cNvPr>
          <p:cNvSpPr>
            <a:spLocks noGrp="1"/>
          </p:cNvSpPr>
          <p:nvPr/>
        </p:nvSpPr>
        <p:spPr>
          <a:xfrm>
            <a:off x="628650"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69" name="Rectangle 68">
            <a:extLst>
              <a:ext uri="{FF2B5EF4-FFF2-40B4-BE49-F238E27FC236}">
                <a16:creationId xmlns:a16="http://schemas.microsoft.com/office/drawing/2014/main" id="{726CCCA6-2A8E-46EE-8AAE-07A53C64FA9A}"/>
              </a:ext>
            </a:extLst>
          </p:cNvPr>
          <p:cNvSpPr>
            <a:spLocks noGrp="1"/>
          </p:cNvSpPr>
          <p:nvPr/>
        </p:nvSpPr>
        <p:spPr>
          <a:xfrm>
            <a:off x="628650" y="1466850"/>
            <a:ext cx="5286375" cy="323850"/>
          </a:xfrm>
          <a:prstGeom prst="rect">
            <a:avLst/>
          </a:prstGeom>
          <a:solidFill>
            <a:srgbClr val="264653"/>
          </a:solidFill>
          <a:ln w="0">
            <a:solidFill>
              <a:srgbClr val="264653"/>
            </a:solidFill>
            <a:prstDash val="solid"/>
          </a:ln>
        </p:spPr>
        <p:txBody>
          <a:bodyPr/>
          <a:lstStyle/>
          <a:p>
            <a:endParaRPr/>
          </a:p>
        </p:txBody>
      </p:sp>
      <p:sp>
        <p:nvSpPr>
          <p:cNvPr id="70" name="Rectangle 69">
            <a:extLst>
              <a:ext uri="{FF2B5EF4-FFF2-40B4-BE49-F238E27FC236}">
                <a16:creationId xmlns:a16="http://schemas.microsoft.com/office/drawing/2014/main" id="{DB552220-6B17-4980-A3DC-29D86DA23005}"/>
              </a:ext>
            </a:extLst>
          </p:cNvPr>
          <p:cNvSpPr>
            <a:spLocks noGrp="1"/>
          </p:cNvSpPr>
          <p:nvPr/>
        </p:nvSpPr>
        <p:spPr>
          <a:xfrm>
            <a:off x="762000"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Ground truth has seven lines</a:t>
            </a:r>
          </a:p>
        </p:txBody>
      </p:sp>
      <p:sp>
        <p:nvSpPr>
          <p:cNvPr id="71" name="Rectangle 70">
            <a:extLst>
              <a:ext uri="{FF2B5EF4-FFF2-40B4-BE49-F238E27FC236}">
                <a16:creationId xmlns:a16="http://schemas.microsoft.com/office/drawing/2014/main" id="{4B08274A-7030-42BB-9C72-57EBD8C3D52C}"/>
              </a:ext>
            </a:extLst>
          </p:cNvPr>
          <p:cNvSpPr>
            <a:spLocks noGrp="1"/>
          </p:cNvSpPr>
          <p:nvPr/>
        </p:nvSpPr>
        <p:spPr>
          <a:xfrm>
            <a:off x="800100"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Ein grosses blaues waser</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L02: sit man. Der leuchttarm Jeuchtet.</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L03: Man siet auch eine insel.</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L04: Ein Kreps &amp; pakt den man</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L05: an den Oren und der man</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L06: sagt aaa aua und weint</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L07: fast un das so weetut.</a:t>
            </a:r>
          </a:p>
        </p:txBody>
      </p:sp>
      <p:sp>
        <p:nvSpPr>
          <p:cNvPr id="72" name="Rounded Rectangle 71">
            <a:extLst>
              <a:ext uri="{FF2B5EF4-FFF2-40B4-BE49-F238E27FC236}">
                <a16:creationId xmlns:a16="http://schemas.microsoft.com/office/drawing/2014/main" id="{18C02A0F-1F96-44D0-A274-988E18E47A93}"/>
              </a:ext>
            </a:extLst>
          </p:cNvPr>
          <p:cNvSpPr>
            <a:spLocks noGrp="1"/>
          </p:cNvSpPr>
          <p:nvPr/>
        </p:nvSpPr>
        <p:spPr>
          <a:xfrm>
            <a:off x="6276975"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73" name="Rectangle 72">
            <a:extLst>
              <a:ext uri="{FF2B5EF4-FFF2-40B4-BE49-F238E27FC236}">
                <a16:creationId xmlns:a16="http://schemas.microsoft.com/office/drawing/2014/main" id="{320BE9D3-CBA5-4073-B741-542A92FED936}"/>
              </a:ext>
            </a:extLst>
          </p:cNvPr>
          <p:cNvSpPr>
            <a:spLocks noGrp="1"/>
          </p:cNvSpPr>
          <p:nvPr/>
        </p:nvSpPr>
        <p:spPr>
          <a:xfrm>
            <a:off x="6276975" y="1466850"/>
            <a:ext cx="5286375" cy="323850"/>
          </a:xfrm>
          <a:prstGeom prst="rect">
            <a:avLst/>
          </a:prstGeom>
          <a:solidFill>
            <a:srgbClr val="E76F51"/>
          </a:solidFill>
          <a:ln w="0">
            <a:solidFill>
              <a:srgbClr val="E76F51"/>
            </a:solidFill>
            <a:prstDash val="solid"/>
          </a:ln>
        </p:spPr>
        <p:txBody>
          <a:bodyPr/>
          <a:lstStyle/>
          <a:p>
            <a:endParaRPr/>
          </a:p>
        </p:txBody>
      </p:sp>
      <p:sp>
        <p:nvSpPr>
          <p:cNvPr id="74" name="Rectangle 73">
            <a:extLst>
              <a:ext uri="{FF2B5EF4-FFF2-40B4-BE49-F238E27FC236}">
                <a16:creationId xmlns:a16="http://schemas.microsoft.com/office/drawing/2014/main" id="{EC266E53-43F5-4D4B-9450-248888883150}"/>
              </a:ext>
            </a:extLst>
          </p:cNvPr>
          <p:cNvSpPr>
            <a:spLocks noGrp="1"/>
          </p:cNvSpPr>
          <p:nvPr/>
        </p:nvSpPr>
        <p:spPr>
          <a:xfrm>
            <a:off x="6410325"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Actual M2 prediction collapses to one line</a:t>
            </a:r>
          </a:p>
        </p:txBody>
      </p:sp>
      <p:sp>
        <p:nvSpPr>
          <p:cNvPr id="75" name="Rectangle 74">
            <a:extLst>
              <a:ext uri="{FF2B5EF4-FFF2-40B4-BE49-F238E27FC236}">
                <a16:creationId xmlns:a16="http://schemas.microsoft.com/office/drawing/2014/main" id="{F2E20F67-FE1A-4A07-A7E6-86C4A9DADFA8}"/>
              </a:ext>
            </a:extLst>
          </p:cNvPr>
          <p:cNvSpPr>
            <a:spLocks noGrp="1"/>
          </p:cNvSpPr>
          <p:nvPr/>
        </p:nvSpPr>
        <p:spPr>
          <a:xfrm>
            <a:off x="6448425"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Ein grosses blaues waser sit man. Der leuchttarm Jeuchtet. Man siet auch eine insel. Ein Kreps &amp; pakt den man an den Oren und der man sagt aaa aua und weint fast un das so weetut.</a:t>
            </a:r>
          </a:p>
        </p:txBody>
      </p:sp>
      <p:sp>
        <p:nvSpPr>
          <p:cNvPr id="76" name="Rounded Rectangle 75">
            <a:extLst>
              <a:ext uri="{FF2B5EF4-FFF2-40B4-BE49-F238E27FC236}">
                <a16:creationId xmlns:a16="http://schemas.microsoft.com/office/drawing/2014/main" id="{B1BACC1E-27B6-4EB0-86C2-56AE3FBCA95E}"/>
              </a:ext>
            </a:extLst>
          </p:cNvPr>
          <p:cNvSpPr>
            <a:spLocks noGrp="1"/>
          </p:cNvSpPr>
          <p:nvPr/>
        </p:nvSpPr>
        <p:spPr>
          <a:xfrm>
            <a:off x="628650" y="4686300"/>
            <a:ext cx="5334000" cy="723900"/>
          </a:xfrm>
          <a:prstGeom prst="roundRect">
            <a:avLst>
              <a:gd name="adj" fmla="val 2632"/>
            </a:avLst>
          </a:prstGeom>
          <a:solidFill>
            <a:srgbClr val="F1ECE2"/>
          </a:solidFill>
          <a:ln w="9525">
            <a:solidFill>
              <a:srgbClr val="D8D0C2"/>
            </a:solidFill>
            <a:prstDash val="solid"/>
          </a:ln>
        </p:spPr>
        <p:txBody>
          <a:bodyPr/>
          <a:lstStyle/>
          <a:p>
            <a:endParaRPr/>
          </a:p>
        </p:txBody>
      </p:sp>
      <p:sp>
        <p:nvSpPr>
          <p:cNvPr id="77" name="Rectangle 76">
            <a:extLst>
              <a:ext uri="{FF2B5EF4-FFF2-40B4-BE49-F238E27FC236}">
                <a16:creationId xmlns:a16="http://schemas.microsoft.com/office/drawing/2014/main" id="{0CD564EE-F544-4AAE-A49D-D44D19F0514A}"/>
              </a:ext>
            </a:extLst>
          </p:cNvPr>
          <p:cNvSpPr>
            <a:spLocks noGrp="1"/>
          </p:cNvSpPr>
          <p:nvPr/>
        </p:nvSpPr>
        <p:spPr>
          <a:xfrm>
            <a:off x="800100" y="4857750"/>
            <a:ext cx="4991100" cy="400050"/>
          </a:xfrm>
          <a:prstGeom prst="rect">
            <a:avLst/>
          </a:prstGeom>
        </p:spPr>
        <p:txBody>
          <a:bodyPr anchor="ctr"/>
          <a:lstStyle/>
          <a:p>
            <a:pPr>
              <a:lnSpc>
                <a:spcPct val="108000"/>
              </a:lnSpc>
              <a:buNone/>
              <a:defRPr sz="1140" b="1">
                <a:solidFill>
                  <a:srgbClr val="223941"/>
                </a:solidFill>
              </a:defRPr>
            </a:pPr>
            <a:r>
              <a:rPr sz="1140" b="1">
                <a:solidFill>
                  <a:srgbClr val="223941"/>
                </a:solidFill>
              </a:rPr>
              <a:t>The same model is exact in M1, but M2 returns the whole text as one metric line.</a:t>
            </a:r>
          </a:p>
        </p:txBody>
      </p:sp>
      <p:sp>
        <p:nvSpPr>
          <p:cNvPr id="78" name="Rounded Rectangle 77">
            <a:extLst>
              <a:ext uri="{FF2B5EF4-FFF2-40B4-BE49-F238E27FC236}">
                <a16:creationId xmlns:a16="http://schemas.microsoft.com/office/drawing/2014/main" id="{BD652401-442D-49F1-B724-4921A15A48E9}"/>
              </a:ext>
            </a:extLst>
          </p:cNvPr>
          <p:cNvSpPr>
            <a:spLocks noGrp="1"/>
          </p:cNvSpPr>
          <p:nvPr/>
        </p:nvSpPr>
        <p:spPr>
          <a:xfrm>
            <a:off x="6229350" y="4686300"/>
            <a:ext cx="5334000" cy="723900"/>
          </a:xfrm>
          <a:prstGeom prst="roundRect">
            <a:avLst>
              <a:gd name="adj" fmla="val 2632"/>
            </a:avLst>
          </a:prstGeom>
          <a:solidFill>
            <a:srgbClr val="DFF3EF"/>
          </a:solidFill>
          <a:ln w="9525">
            <a:solidFill>
              <a:srgbClr val="2A9D8F"/>
            </a:solidFill>
            <a:prstDash val="solid"/>
          </a:ln>
        </p:spPr>
        <p:txBody>
          <a:bodyPr/>
          <a:lstStyle/>
          <a:p>
            <a:endParaRPr/>
          </a:p>
        </p:txBody>
      </p:sp>
      <p:sp>
        <p:nvSpPr>
          <p:cNvPr id="79" name="Rectangle 78">
            <a:extLst>
              <a:ext uri="{FF2B5EF4-FFF2-40B4-BE49-F238E27FC236}">
                <a16:creationId xmlns:a16="http://schemas.microsoft.com/office/drawing/2014/main" id="{21D5BA81-C617-453D-A5AB-4F137FE9B478}"/>
              </a:ext>
            </a:extLst>
          </p:cNvPr>
          <p:cNvSpPr>
            <a:spLocks noGrp="1"/>
          </p:cNvSpPr>
          <p:nvPr/>
        </p:nvSpPr>
        <p:spPr>
          <a:xfrm>
            <a:off x="6400800" y="4857750"/>
            <a:ext cx="4991100" cy="400050"/>
          </a:xfrm>
          <a:prstGeom prst="rect">
            <a:avLst/>
          </a:prstGeom>
        </p:spPr>
        <p:txBody>
          <a:bodyPr anchor="ctr"/>
          <a:lstStyle/>
          <a:p>
            <a:pPr>
              <a:lnSpc>
                <a:spcPct val="108000"/>
              </a:lnSpc>
              <a:buNone/>
              <a:defRPr sz="990">
                <a:solidFill>
                  <a:srgbClr val="223941"/>
                </a:solidFill>
              </a:defRPr>
            </a:pPr>
            <a:r>
              <a:rPr sz="990">
                <a:solidFill>
                  <a:srgbClr val="223941"/>
                </a:solidFill>
              </a:rPr>
              <a:t>M1 LAnorm+/- 1 vs M2 LAnorm+/- 0; M2 lines pred/gt 1/7.</a:t>
            </a:r>
          </a:p>
        </p:txBody>
      </p:sp>
      <p:sp>
        <p:nvSpPr>
          <p:cNvPr id="80" name="Rectangle 79">
            <a:extLst>
              <a:ext uri="{FF2B5EF4-FFF2-40B4-BE49-F238E27FC236}">
                <a16:creationId xmlns:a16="http://schemas.microsoft.com/office/drawing/2014/main" id="{4AF2E9A0-B7C0-48E1-B172-27E07BC1CC57}"/>
              </a:ext>
            </a:extLst>
          </p:cNvPr>
          <p:cNvSpPr>
            <a:spLocks noGrp="1"/>
          </p:cNvSpPr>
          <p:nvPr/>
        </p:nvSpPr>
        <p:spPr>
          <a:xfrm>
            <a:off x="685800" y="5581650"/>
            <a:ext cx="10591800" cy="285750"/>
          </a:xfrm>
          <a:prstGeom prst="rect">
            <a:avLst/>
          </a:prstGeom>
        </p:spPr>
        <p:txBody>
          <a:bodyPr anchor="t"/>
          <a:lstStyle/>
          <a:p>
            <a:pPr>
              <a:lnSpc>
                <a:spcPct val="108000"/>
              </a:lnSpc>
              <a:buNone/>
              <a:defRPr sz="885">
                <a:solidFill>
                  <a:srgbClr val="596B6F"/>
                </a:solidFill>
              </a:defRPr>
            </a:pPr>
            <a:r>
              <a:rPr sz="885">
                <a:solidFill>
                  <a:srgbClr val="596B6F"/>
                </a:solidFill>
              </a:rPr>
              <a:t>Short verbatim windows from retained predictions; examples illustrate mechanisms, not causal component ablations.</a:t>
            </a:r>
          </a:p>
        </p:txBody>
      </p:sp>
    </p:spTree>
    <p:extLst>
      <p:ext uri="{BB962C8B-B14F-4D97-AF65-F5344CB8AC3E}">
        <p14:creationId xmlns:p14="http://schemas.microsoft.com/office/powerpoint/2010/main" val="700841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484FFE-1672-4DD7-9A14-B735B335903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F3439A3-F1EE-4AA4-9F44-60B6DFCF0EF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50DCDD3-E684-4F4F-9FA8-6582988F9D52}"/>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Appendix A7</a:t>
            </a:r>
          </a:p>
        </p:txBody>
      </p:sp>
      <p:sp>
        <p:nvSpPr>
          <p:cNvPr id="4" name="Rectangle 3">
            <a:extLst>
              <a:ext uri="{FF2B5EF4-FFF2-40B4-BE49-F238E27FC236}">
                <a16:creationId xmlns:a16="http://schemas.microsoft.com/office/drawing/2014/main" id="{8D1C7D3A-ABCD-4609-9F77-2ECD71C41A7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M3 Failure Example: No Visual Correction</a:t>
            </a:r>
          </a:p>
        </p:txBody>
      </p:sp>
      <p:sp>
        <p:nvSpPr>
          <p:cNvPr id="5" name="Rectangle 4">
            <a:extLst>
              <a:ext uri="{FF2B5EF4-FFF2-40B4-BE49-F238E27FC236}">
                <a16:creationId xmlns:a16="http://schemas.microsoft.com/office/drawing/2014/main" id="{26BC2582-9E1C-4F21-9D14-37E45F5814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9F7D7FB-5A67-4A30-80CB-6117BB541C7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21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64" name="Rounded Rectangle 63">
            <a:extLst>
              <a:ext uri="{FF2B5EF4-FFF2-40B4-BE49-F238E27FC236}">
                <a16:creationId xmlns:a16="http://schemas.microsoft.com/office/drawing/2014/main" id="{3AE0F3F2-B4F2-4E11-AE70-BAC378D17FDB}"/>
              </a:ext>
            </a:extLst>
          </p:cNvPr>
          <p:cNvSpPr>
            <a:spLocks noGrp="1"/>
          </p:cNvSpPr>
          <p:nvPr/>
        </p:nvSpPr>
        <p:spPr>
          <a:xfrm>
            <a:off x="647700" y="781050"/>
            <a:ext cx="723900" cy="228600"/>
          </a:xfrm>
          <a:prstGeom prst="roundRect">
            <a:avLst>
              <a:gd name="adj" fmla="val 8333"/>
            </a:avLst>
          </a:prstGeom>
          <a:solidFill>
            <a:srgbClr val="DFF3EF"/>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M3</a:t>
            </a:r>
          </a:p>
        </p:txBody>
      </p:sp>
      <p:sp>
        <p:nvSpPr>
          <p:cNvPr id="65" name="Rounded Rectangle 64">
            <a:extLst>
              <a:ext uri="{FF2B5EF4-FFF2-40B4-BE49-F238E27FC236}">
                <a16:creationId xmlns:a16="http://schemas.microsoft.com/office/drawing/2014/main" id="{94676C02-C784-43CE-A87B-C9B602DDDB94}"/>
              </a:ext>
            </a:extLst>
          </p:cNvPr>
          <p:cNvSpPr>
            <a:spLocks noGrp="1"/>
          </p:cNvSpPr>
          <p:nvPr/>
        </p:nvSpPr>
        <p:spPr>
          <a:xfrm>
            <a:off x="1447800" y="781050"/>
            <a:ext cx="2010728" cy="228600"/>
          </a:xfrm>
          <a:prstGeom prst="roundRect">
            <a:avLst>
              <a:gd name="adj" fmla="val 8333"/>
            </a:avLst>
          </a:prstGeom>
          <a:solidFill>
            <a:srgbClr val="D9EDF7"/>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OCR/HTR-Only Under-Segmentation</a:t>
            </a:r>
          </a:p>
        </p:txBody>
      </p:sp>
      <p:sp>
        <p:nvSpPr>
          <p:cNvPr id="66" name="Rectangle 65">
            <a:extLst>
              <a:ext uri="{FF2B5EF4-FFF2-40B4-BE49-F238E27FC236}">
                <a16:creationId xmlns:a16="http://schemas.microsoft.com/office/drawing/2014/main" id="{EFBC3D2B-53EE-444E-AA90-F6097A3DE22A}"/>
              </a:ext>
            </a:extLst>
          </p:cNvPr>
          <p:cNvSpPr>
            <a:spLocks noGrp="1"/>
          </p:cNvSpPr>
          <p:nvPr/>
        </p:nvSpPr>
        <p:spPr>
          <a:xfrm>
            <a:off x="647700" y="1057275"/>
            <a:ext cx="7239000" cy="247650"/>
          </a:xfrm>
          <a:prstGeom prst="rect">
            <a:avLst/>
          </a:prstGeom>
        </p:spPr>
        <p:txBody>
          <a:bodyPr anchor="t"/>
          <a:lstStyle/>
          <a:p>
            <a:pPr>
              <a:lnSpc>
                <a:spcPct val="108000"/>
              </a:lnSpc>
              <a:buNone/>
              <a:defRPr sz="1050" b="1">
                <a:solidFill>
                  <a:srgbClr val="264653"/>
                </a:solidFill>
              </a:defRPr>
            </a:pPr>
            <a:r>
              <a:rPr sz="1050" b="1">
                <a:solidFill>
                  <a:srgbClr val="264653"/>
                </a:solidFill>
              </a:rPr>
              <a:t>Washington 304 · GPT-5.4-0305</a:t>
            </a:r>
          </a:p>
        </p:txBody>
      </p:sp>
      <p:sp>
        <p:nvSpPr>
          <p:cNvPr id="67" name="Rectangle 66">
            <a:extLst>
              <a:ext uri="{FF2B5EF4-FFF2-40B4-BE49-F238E27FC236}">
                <a16:creationId xmlns:a16="http://schemas.microsoft.com/office/drawing/2014/main" id="{A0FB51DC-0E77-4475-BF44-B69315002FE1}"/>
              </a:ext>
            </a:extLst>
          </p:cNvPr>
          <p:cNvSpPr>
            <a:spLocks noGrp="1"/>
          </p:cNvSpPr>
          <p:nvPr/>
        </p:nvSpPr>
        <p:spPr>
          <a:xfrm>
            <a:off x="8020050" y="819150"/>
            <a:ext cx="3238500" cy="514350"/>
          </a:xfrm>
          <a:prstGeom prst="rect">
            <a:avLst/>
          </a:prstGeom>
        </p:spPr>
        <p:txBody>
          <a:bodyPr anchor="t"/>
          <a:lstStyle/>
          <a:p>
            <a:pPr algn="r">
              <a:lnSpc>
                <a:spcPct val="105000"/>
              </a:lnSpc>
              <a:buNone/>
              <a:defRPr sz="900" b="1">
                <a:solidFill>
                  <a:srgbClr val="596B6F"/>
                </a:solidFill>
              </a:defRPr>
            </a:pPr>
            <a:r>
              <a:rPr sz="900" b="1">
                <a:solidFill>
                  <a:srgbClr val="596B6F"/>
                </a:solidFill>
              </a:rPr>
              <a:t>Example 3/5</a:t>
            </a:r>
          </a:p>
          <a:p>
            <a:pPr algn="r">
              <a:lnSpc>
                <a:spcPct val="105000"/>
              </a:lnSpc>
              <a:buNone/>
              <a:defRPr sz="900" b="1">
                <a:solidFill>
                  <a:srgbClr val="596B6F"/>
                </a:solidFill>
              </a:defRPr>
            </a:pPr>
            <a:r>
              <a:rPr sz="900" b="1">
                <a:solidFill>
                  <a:srgbClr val="596B6F"/>
                </a:solidFill>
              </a:rPr>
              <a:t>Stored prediction excerpt</a:t>
            </a:r>
          </a:p>
        </p:txBody>
      </p:sp>
      <p:sp>
        <p:nvSpPr>
          <p:cNvPr id="68" name="Rounded Rectangle 67">
            <a:extLst>
              <a:ext uri="{FF2B5EF4-FFF2-40B4-BE49-F238E27FC236}">
                <a16:creationId xmlns:a16="http://schemas.microsoft.com/office/drawing/2014/main" id="{2FCD88D1-1A6E-4429-A77A-873B2F74ABD9}"/>
              </a:ext>
            </a:extLst>
          </p:cNvPr>
          <p:cNvSpPr>
            <a:spLocks noGrp="1"/>
          </p:cNvSpPr>
          <p:nvPr/>
        </p:nvSpPr>
        <p:spPr>
          <a:xfrm>
            <a:off x="628650"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69" name="Rectangle 68">
            <a:extLst>
              <a:ext uri="{FF2B5EF4-FFF2-40B4-BE49-F238E27FC236}">
                <a16:creationId xmlns:a16="http://schemas.microsoft.com/office/drawing/2014/main" id="{DC8A8E51-BD39-4C7E-AF1F-EF9E302BE06E}"/>
              </a:ext>
            </a:extLst>
          </p:cNvPr>
          <p:cNvSpPr>
            <a:spLocks noGrp="1"/>
          </p:cNvSpPr>
          <p:nvPr/>
        </p:nvSpPr>
        <p:spPr>
          <a:xfrm>
            <a:off x="628650" y="1466850"/>
            <a:ext cx="5286375" cy="323850"/>
          </a:xfrm>
          <a:prstGeom prst="rect">
            <a:avLst/>
          </a:prstGeom>
          <a:solidFill>
            <a:srgbClr val="264653"/>
          </a:solidFill>
          <a:ln w="0">
            <a:solidFill>
              <a:srgbClr val="264653"/>
            </a:solidFill>
            <a:prstDash val="solid"/>
          </a:ln>
        </p:spPr>
        <p:txBody>
          <a:bodyPr/>
          <a:lstStyle/>
          <a:p>
            <a:endParaRPr/>
          </a:p>
        </p:txBody>
      </p:sp>
      <p:sp>
        <p:nvSpPr>
          <p:cNvPr id="70" name="Rectangle 69">
            <a:extLst>
              <a:ext uri="{FF2B5EF4-FFF2-40B4-BE49-F238E27FC236}">
                <a16:creationId xmlns:a16="http://schemas.microsoft.com/office/drawing/2014/main" id="{DA751431-403B-4C83-8351-E34AC7A99E2C}"/>
              </a:ext>
            </a:extLst>
          </p:cNvPr>
          <p:cNvSpPr>
            <a:spLocks noGrp="1"/>
          </p:cNvSpPr>
          <p:nvPr/>
        </p:nvSpPr>
        <p:spPr>
          <a:xfrm>
            <a:off x="762000"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Ground truth opening</a:t>
            </a:r>
          </a:p>
        </p:txBody>
      </p:sp>
      <p:sp>
        <p:nvSpPr>
          <p:cNvPr id="71" name="Rectangle 70">
            <a:extLst>
              <a:ext uri="{FF2B5EF4-FFF2-40B4-BE49-F238E27FC236}">
                <a16:creationId xmlns:a16="http://schemas.microsoft.com/office/drawing/2014/main" id="{57407541-8B64-411A-972D-55B14D471467}"/>
              </a:ext>
            </a:extLst>
          </p:cNvPr>
          <p:cNvSpPr>
            <a:spLocks noGrp="1"/>
          </p:cNvSpPr>
          <p:nvPr/>
        </p:nvSpPr>
        <p:spPr>
          <a:xfrm>
            <a:off x="800100"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304. Letters Orders and Instructions. December 1755.</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L02: be sure of idemnity. If your Honor would</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L03: be kind enough to intimate this to General</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L04: Shirley, or the Colonels of those Regiments,- it</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L05: would be of service to us: without leave we</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L06: dare not receive them. c.</a:t>
            </a:r>
          </a:p>
        </p:txBody>
      </p:sp>
      <p:sp>
        <p:nvSpPr>
          <p:cNvPr id="72" name="Rounded Rectangle 71">
            <a:extLst>
              <a:ext uri="{FF2B5EF4-FFF2-40B4-BE49-F238E27FC236}">
                <a16:creationId xmlns:a16="http://schemas.microsoft.com/office/drawing/2014/main" id="{5B709806-D5AD-4672-8132-E98DEEE9C6F8}"/>
              </a:ext>
            </a:extLst>
          </p:cNvPr>
          <p:cNvSpPr>
            <a:spLocks noGrp="1"/>
          </p:cNvSpPr>
          <p:nvPr/>
        </p:nvSpPr>
        <p:spPr>
          <a:xfrm>
            <a:off x="6276975"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73" name="Rectangle 72">
            <a:extLst>
              <a:ext uri="{FF2B5EF4-FFF2-40B4-BE49-F238E27FC236}">
                <a16:creationId xmlns:a16="http://schemas.microsoft.com/office/drawing/2014/main" id="{D6B93749-1E78-45AA-BA9A-2B9FE087D86F}"/>
              </a:ext>
            </a:extLst>
          </p:cNvPr>
          <p:cNvSpPr>
            <a:spLocks noGrp="1"/>
          </p:cNvSpPr>
          <p:nvPr/>
        </p:nvSpPr>
        <p:spPr>
          <a:xfrm>
            <a:off x="6276975" y="1466850"/>
            <a:ext cx="5286375" cy="323850"/>
          </a:xfrm>
          <a:prstGeom prst="rect">
            <a:avLst/>
          </a:prstGeom>
          <a:solidFill>
            <a:srgbClr val="E76F51"/>
          </a:solidFill>
          <a:ln w="0">
            <a:solidFill>
              <a:srgbClr val="E76F51"/>
            </a:solidFill>
            <a:prstDash val="solid"/>
          </a:ln>
        </p:spPr>
        <p:txBody>
          <a:bodyPr/>
          <a:lstStyle/>
          <a:p>
            <a:endParaRPr/>
          </a:p>
        </p:txBody>
      </p:sp>
      <p:sp>
        <p:nvSpPr>
          <p:cNvPr id="74" name="Rectangle 73">
            <a:extLst>
              <a:ext uri="{FF2B5EF4-FFF2-40B4-BE49-F238E27FC236}">
                <a16:creationId xmlns:a16="http://schemas.microsoft.com/office/drawing/2014/main" id="{52922351-8CBC-4C07-B62B-8DA70D765439}"/>
              </a:ext>
            </a:extLst>
          </p:cNvPr>
          <p:cNvSpPr>
            <a:spLocks noGrp="1"/>
          </p:cNvSpPr>
          <p:nvPr/>
        </p:nvSpPr>
        <p:spPr>
          <a:xfrm>
            <a:off x="6410325"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Actual M3 prediction opening</a:t>
            </a:r>
          </a:p>
        </p:txBody>
      </p:sp>
      <p:sp>
        <p:nvSpPr>
          <p:cNvPr id="75" name="Rectangle 74">
            <a:extLst>
              <a:ext uri="{FF2B5EF4-FFF2-40B4-BE49-F238E27FC236}">
                <a16:creationId xmlns:a16="http://schemas.microsoft.com/office/drawing/2014/main" id="{F45F77C7-6DC1-4F71-BF6B-ACEE638B5972}"/>
              </a:ext>
            </a:extLst>
          </p:cNvPr>
          <p:cNvSpPr>
            <a:spLocks noGrp="1"/>
          </p:cNvSpPr>
          <p:nvPr/>
        </p:nvSpPr>
        <p:spPr>
          <a:xfrm>
            <a:off x="6448425"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304. Letters Orders and Instructions. December 1755. be</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L02: sure of idemnity. If your Honor would be kind enough</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L03: to intimate this to General Shirley, or the Colonels</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L04: of those Regiments,- it would be of service to us:</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L05: without leave we dare not receive them. c. GW</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L06: Alexandria: December 5th. 1755.</a:t>
            </a:r>
          </a:p>
        </p:txBody>
      </p:sp>
      <p:sp>
        <p:nvSpPr>
          <p:cNvPr id="76" name="Rounded Rectangle 75">
            <a:extLst>
              <a:ext uri="{FF2B5EF4-FFF2-40B4-BE49-F238E27FC236}">
                <a16:creationId xmlns:a16="http://schemas.microsoft.com/office/drawing/2014/main" id="{20737148-3584-4D87-AEFD-E0FEE1AF44B4}"/>
              </a:ext>
            </a:extLst>
          </p:cNvPr>
          <p:cNvSpPr>
            <a:spLocks noGrp="1"/>
          </p:cNvSpPr>
          <p:nvPr/>
        </p:nvSpPr>
        <p:spPr>
          <a:xfrm>
            <a:off x="628650" y="4686300"/>
            <a:ext cx="5334000" cy="723900"/>
          </a:xfrm>
          <a:prstGeom prst="roundRect">
            <a:avLst>
              <a:gd name="adj" fmla="val 2632"/>
            </a:avLst>
          </a:prstGeom>
          <a:solidFill>
            <a:srgbClr val="F1ECE2"/>
          </a:solidFill>
          <a:ln w="9525">
            <a:solidFill>
              <a:srgbClr val="D8D0C2"/>
            </a:solidFill>
            <a:prstDash val="solid"/>
          </a:ln>
        </p:spPr>
        <p:txBody>
          <a:bodyPr/>
          <a:lstStyle/>
          <a:p>
            <a:endParaRPr/>
          </a:p>
        </p:txBody>
      </p:sp>
      <p:sp>
        <p:nvSpPr>
          <p:cNvPr id="77" name="Rectangle 76">
            <a:extLst>
              <a:ext uri="{FF2B5EF4-FFF2-40B4-BE49-F238E27FC236}">
                <a16:creationId xmlns:a16="http://schemas.microsoft.com/office/drawing/2014/main" id="{DFCBAD45-31CE-41F4-908A-328138E3023C}"/>
              </a:ext>
            </a:extLst>
          </p:cNvPr>
          <p:cNvSpPr>
            <a:spLocks noGrp="1"/>
          </p:cNvSpPr>
          <p:nvPr/>
        </p:nvSpPr>
        <p:spPr>
          <a:xfrm>
            <a:off x="800100" y="4857750"/>
            <a:ext cx="4991100" cy="400050"/>
          </a:xfrm>
          <a:prstGeom prst="rect">
            <a:avLst/>
          </a:prstGeom>
        </p:spPr>
        <p:txBody>
          <a:bodyPr anchor="ctr"/>
          <a:lstStyle/>
          <a:p>
            <a:pPr>
              <a:lnSpc>
                <a:spcPct val="108000"/>
              </a:lnSpc>
              <a:buNone/>
              <a:defRPr sz="1140" b="1">
                <a:solidFill>
                  <a:srgbClr val="223941"/>
                </a:solidFill>
              </a:defRPr>
            </a:pPr>
            <a:r>
              <a:rPr sz="1140" b="1">
                <a:solidFill>
                  <a:srgbClr val="223941"/>
                </a:solidFill>
              </a:rPr>
              <a:t>The text stream normalizes correctly, but opening boundaries are merged and shifted.</a:t>
            </a:r>
          </a:p>
        </p:txBody>
      </p:sp>
      <p:sp>
        <p:nvSpPr>
          <p:cNvPr id="78" name="Rounded Rectangle 77">
            <a:extLst>
              <a:ext uri="{FF2B5EF4-FFF2-40B4-BE49-F238E27FC236}">
                <a16:creationId xmlns:a16="http://schemas.microsoft.com/office/drawing/2014/main" id="{C2193163-BC58-4867-B064-6BA8E57EEB89}"/>
              </a:ext>
            </a:extLst>
          </p:cNvPr>
          <p:cNvSpPr>
            <a:spLocks noGrp="1"/>
          </p:cNvSpPr>
          <p:nvPr/>
        </p:nvSpPr>
        <p:spPr>
          <a:xfrm>
            <a:off x="6229350" y="4686300"/>
            <a:ext cx="5334000" cy="723900"/>
          </a:xfrm>
          <a:prstGeom prst="roundRect">
            <a:avLst>
              <a:gd name="adj" fmla="val 2632"/>
            </a:avLst>
          </a:prstGeom>
          <a:solidFill>
            <a:srgbClr val="DFF3EF"/>
          </a:solidFill>
          <a:ln w="9525">
            <a:solidFill>
              <a:srgbClr val="2A9D8F"/>
            </a:solidFill>
            <a:prstDash val="solid"/>
          </a:ln>
        </p:spPr>
        <p:txBody>
          <a:bodyPr/>
          <a:lstStyle/>
          <a:p>
            <a:endParaRPr/>
          </a:p>
        </p:txBody>
      </p:sp>
      <p:sp>
        <p:nvSpPr>
          <p:cNvPr id="79" name="Rectangle 78">
            <a:extLst>
              <a:ext uri="{FF2B5EF4-FFF2-40B4-BE49-F238E27FC236}">
                <a16:creationId xmlns:a16="http://schemas.microsoft.com/office/drawing/2014/main" id="{E9FCA8D1-0D79-4900-8977-2F2CC909A0E3}"/>
              </a:ext>
            </a:extLst>
          </p:cNvPr>
          <p:cNvSpPr>
            <a:spLocks noGrp="1"/>
          </p:cNvSpPr>
          <p:nvPr/>
        </p:nvSpPr>
        <p:spPr>
          <a:xfrm>
            <a:off x="6400800" y="4857750"/>
            <a:ext cx="4991100" cy="400050"/>
          </a:xfrm>
          <a:prstGeom prst="rect">
            <a:avLst/>
          </a:prstGeom>
        </p:spPr>
        <p:txBody>
          <a:bodyPr anchor="ctr"/>
          <a:lstStyle/>
          <a:p>
            <a:pPr>
              <a:lnSpc>
                <a:spcPct val="108000"/>
              </a:lnSpc>
              <a:buNone/>
              <a:defRPr sz="990">
                <a:solidFill>
                  <a:srgbClr val="223941"/>
                </a:solidFill>
              </a:defRPr>
            </a:pPr>
            <a:r>
              <a:rPr sz="990">
                <a:solidFill>
                  <a:srgbClr val="223941"/>
                </a:solidFill>
              </a:rPr>
              <a:t>CERnorm 0; LAnorm+/- 0; F1norm 0.708; 31/34 predicted lines.</a:t>
            </a:r>
          </a:p>
        </p:txBody>
      </p:sp>
      <p:sp>
        <p:nvSpPr>
          <p:cNvPr id="80" name="Rectangle 79">
            <a:extLst>
              <a:ext uri="{FF2B5EF4-FFF2-40B4-BE49-F238E27FC236}">
                <a16:creationId xmlns:a16="http://schemas.microsoft.com/office/drawing/2014/main" id="{4C63ABDB-0E7E-45F1-AAE0-9B5E716F406B}"/>
              </a:ext>
            </a:extLst>
          </p:cNvPr>
          <p:cNvSpPr>
            <a:spLocks noGrp="1"/>
          </p:cNvSpPr>
          <p:nvPr/>
        </p:nvSpPr>
        <p:spPr>
          <a:xfrm>
            <a:off x="685800" y="5581650"/>
            <a:ext cx="10591800" cy="285750"/>
          </a:xfrm>
          <a:prstGeom prst="rect">
            <a:avLst/>
          </a:prstGeom>
        </p:spPr>
        <p:txBody>
          <a:bodyPr anchor="t"/>
          <a:lstStyle/>
          <a:p>
            <a:pPr>
              <a:lnSpc>
                <a:spcPct val="108000"/>
              </a:lnSpc>
              <a:buNone/>
              <a:defRPr sz="885">
                <a:solidFill>
                  <a:srgbClr val="596B6F"/>
                </a:solidFill>
              </a:defRPr>
            </a:pPr>
            <a:r>
              <a:rPr sz="885">
                <a:solidFill>
                  <a:srgbClr val="596B6F"/>
                </a:solidFill>
              </a:rPr>
              <a:t>Short verbatim windows from retained predictions; examples illustrate mechanisms, not causal component ablations.</a:t>
            </a:r>
          </a:p>
        </p:txBody>
      </p:sp>
    </p:spTree>
    <p:extLst>
      <p:ext uri="{BB962C8B-B14F-4D97-AF65-F5344CB8AC3E}">
        <p14:creationId xmlns:p14="http://schemas.microsoft.com/office/powerpoint/2010/main" val="700841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484FFE-1672-4DD7-9A14-B735B335903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F3439A3-F1EE-4AA4-9F44-60B6DFCF0EF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50DCDD3-E684-4F4F-9FA8-6582988F9D52}"/>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Appendix A8</a:t>
            </a:r>
          </a:p>
        </p:txBody>
      </p:sp>
      <p:sp>
        <p:nvSpPr>
          <p:cNvPr id="4" name="Rectangle 3">
            <a:extLst>
              <a:ext uri="{FF2B5EF4-FFF2-40B4-BE49-F238E27FC236}">
                <a16:creationId xmlns:a16="http://schemas.microsoft.com/office/drawing/2014/main" id="{8D1C7D3A-ABCD-4609-9F77-2ECD71C41A7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M4 Failure Example: Correct Count, Wrong Boundary</a:t>
            </a:r>
          </a:p>
        </p:txBody>
      </p:sp>
      <p:sp>
        <p:nvSpPr>
          <p:cNvPr id="5" name="Rectangle 4">
            <a:extLst>
              <a:ext uri="{FF2B5EF4-FFF2-40B4-BE49-F238E27FC236}">
                <a16:creationId xmlns:a16="http://schemas.microsoft.com/office/drawing/2014/main" id="{26BC2582-9E1C-4F21-9D14-37E45F5814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9F7D7FB-5A67-4A30-80CB-6117BB541C7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22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64" name="Rounded Rectangle 63">
            <a:extLst>
              <a:ext uri="{FF2B5EF4-FFF2-40B4-BE49-F238E27FC236}">
                <a16:creationId xmlns:a16="http://schemas.microsoft.com/office/drawing/2014/main" id="{D0CF5231-47C4-42A0-9895-0E924D0C1EF7}"/>
              </a:ext>
            </a:extLst>
          </p:cNvPr>
          <p:cNvSpPr>
            <a:spLocks noGrp="1"/>
          </p:cNvSpPr>
          <p:nvPr/>
        </p:nvSpPr>
        <p:spPr>
          <a:xfrm>
            <a:off x="647700" y="781050"/>
            <a:ext cx="723900" cy="228600"/>
          </a:xfrm>
          <a:prstGeom prst="roundRect">
            <a:avLst>
              <a:gd name="adj" fmla="val 8333"/>
            </a:avLst>
          </a:prstGeom>
          <a:solidFill>
            <a:srgbClr val="DFF3EF"/>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M4</a:t>
            </a:r>
          </a:p>
        </p:txBody>
      </p:sp>
      <p:sp>
        <p:nvSpPr>
          <p:cNvPr id="65" name="Rounded Rectangle 64">
            <a:extLst>
              <a:ext uri="{FF2B5EF4-FFF2-40B4-BE49-F238E27FC236}">
                <a16:creationId xmlns:a16="http://schemas.microsoft.com/office/drawing/2014/main" id="{D765F81A-1DB8-427A-8D18-5A54602D9D34}"/>
              </a:ext>
            </a:extLst>
          </p:cNvPr>
          <p:cNvSpPr>
            <a:spLocks noGrp="1"/>
          </p:cNvSpPr>
          <p:nvPr/>
        </p:nvSpPr>
        <p:spPr>
          <a:xfrm>
            <a:off x="1447800" y="781050"/>
            <a:ext cx="1313497" cy="228600"/>
          </a:xfrm>
          <a:prstGeom prst="roundRect">
            <a:avLst>
              <a:gd name="adj" fmla="val 8333"/>
            </a:avLst>
          </a:prstGeom>
          <a:solidFill>
            <a:srgbClr val="D9EDF7"/>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Flawed OCR Scaffold</a:t>
            </a:r>
          </a:p>
        </p:txBody>
      </p:sp>
      <p:sp>
        <p:nvSpPr>
          <p:cNvPr id="66" name="Rectangle 65">
            <a:extLst>
              <a:ext uri="{FF2B5EF4-FFF2-40B4-BE49-F238E27FC236}">
                <a16:creationId xmlns:a16="http://schemas.microsoft.com/office/drawing/2014/main" id="{A940A320-571D-43AD-959D-EB640074E8C9}"/>
              </a:ext>
            </a:extLst>
          </p:cNvPr>
          <p:cNvSpPr>
            <a:spLocks noGrp="1"/>
          </p:cNvSpPr>
          <p:nvPr/>
        </p:nvSpPr>
        <p:spPr>
          <a:xfrm>
            <a:off x="647700" y="1057275"/>
            <a:ext cx="7239000" cy="247650"/>
          </a:xfrm>
          <a:prstGeom prst="rect">
            <a:avLst/>
          </a:prstGeom>
        </p:spPr>
        <p:txBody>
          <a:bodyPr anchor="t"/>
          <a:lstStyle/>
          <a:p>
            <a:pPr>
              <a:lnSpc>
                <a:spcPct val="108000"/>
              </a:lnSpc>
              <a:buNone/>
              <a:defRPr sz="1050" b="1">
                <a:solidFill>
                  <a:srgbClr val="264653"/>
                </a:solidFill>
              </a:defRPr>
            </a:pPr>
            <a:r>
              <a:rPr sz="1050" b="1">
                <a:solidFill>
                  <a:srgbClr val="264653"/>
                </a:solidFill>
              </a:rPr>
              <a:t>Washington 307 · GPT-5.4-0305</a:t>
            </a:r>
          </a:p>
        </p:txBody>
      </p:sp>
      <p:sp>
        <p:nvSpPr>
          <p:cNvPr id="67" name="Rectangle 66">
            <a:extLst>
              <a:ext uri="{FF2B5EF4-FFF2-40B4-BE49-F238E27FC236}">
                <a16:creationId xmlns:a16="http://schemas.microsoft.com/office/drawing/2014/main" id="{ED8FBEDB-E696-4AEA-9953-7F2D012127AC}"/>
              </a:ext>
            </a:extLst>
          </p:cNvPr>
          <p:cNvSpPr>
            <a:spLocks noGrp="1"/>
          </p:cNvSpPr>
          <p:nvPr/>
        </p:nvSpPr>
        <p:spPr>
          <a:xfrm>
            <a:off x="8020050" y="819150"/>
            <a:ext cx="3238500" cy="514350"/>
          </a:xfrm>
          <a:prstGeom prst="rect">
            <a:avLst/>
          </a:prstGeom>
        </p:spPr>
        <p:txBody>
          <a:bodyPr anchor="t"/>
          <a:lstStyle/>
          <a:p>
            <a:pPr algn="r">
              <a:lnSpc>
                <a:spcPct val="105000"/>
              </a:lnSpc>
              <a:buNone/>
              <a:defRPr sz="900" b="1">
                <a:solidFill>
                  <a:srgbClr val="596B6F"/>
                </a:solidFill>
              </a:defRPr>
            </a:pPr>
            <a:r>
              <a:rPr sz="900" b="1">
                <a:solidFill>
                  <a:srgbClr val="596B6F"/>
                </a:solidFill>
              </a:rPr>
              <a:t>Example 4/5</a:t>
            </a:r>
          </a:p>
          <a:p>
            <a:pPr algn="r">
              <a:lnSpc>
                <a:spcPct val="105000"/>
              </a:lnSpc>
              <a:buNone/>
              <a:defRPr sz="900" b="1">
                <a:solidFill>
                  <a:srgbClr val="596B6F"/>
                </a:solidFill>
              </a:defRPr>
            </a:pPr>
            <a:r>
              <a:rPr sz="900" b="1">
                <a:solidFill>
                  <a:srgbClr val="596B6F"/>
                </a:solidFill>
              </a:rPr>
              <a:t>Stored prediction excerpt</a:t>
            </a:r>
          </a:p>
        </p:txBody>
      </p:sp>
      <p:sp>
        <p:nvSpPr>
          <p:cNvPr id="68" name="Rounded Rectangle 67">
            <a:extLst>
              <a:ext uri="{FF2B5EF4-FFF2-40B4-BE49-F238E27FC236}">
                <a16:creationId xmlns:a16="http://schemas.microsoft.com/office/drawing/2014/main" id="{CDF4E236-AAE8-4D17-8BE2-73B7E8DEF88E}"/>
              </a:ext>
            </a:extLst>
          </p:cNvPr>
          <p:cNvSpPr>
            <a:spLocks noGrp="1"/>
          </p:cNvSpPr>
          <p:nvPr/>
        </p:nvSpPr>
        <p:spPr>
          <a:xfrm>
            <a:off x="628650"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69" name="Rectangle 68">
            <a:extLst>
              <a:ext uri="{FF2B5EF4-FFF2-40B4-BE49-F238E27FC236}">
                <a16:creationId xmlns:a16="http://schemas.microsoft.com/office/drawing/2014/main" id="{BFE41219-B5AA-4787-B64E-94B35B95D831}"/>
              </a:ext>
            </a:extLst>
          </p:cNvPr>
          <p:cNvSpPr>
            <a:spLocks noGrp="1"/>
          </p:cNvSpPr>
          <p:nvPr/>
        </p:nvSpPr>
        <p:spPr>
          <a:xfrm>
            <a:off x="628650" y="1466850"/>
            <a:ext cx="5286375" cy="323850"/>
          </a:xfrm>
          <a:prstGeom prst="rect">
            <a:avLst/>
          </a:prstGeom>
          <a:solidFill>
            <a:srgbClr val="264653"/>
          </a:solidFill>
          <a:ln w="0">
            <a:solidFill>
              <a:srgbClr val="264653"/>
            </a:solidFill>
            <a:prstDash val="solid"/>
          </a:ln>
        </p:spPr>
        <p:txBody>
          <a:bodyPr/>
          <a:lstStyle/>
          <a:p>
            <a:endParaRPr/>
          </a:p>
        </p:txBody>
      </p:sp>
      <p:sp>
        <p:nvSpPr>
          <p:cNvPr id="70" name="Rectangle 69">
            <a:extLst>
              <a:ext uri="{FF2B5EF4-FFF2-40B4-BE49-F238E27FC236}">
                <a16:creationId xmlns:a16="http://schemas.microsoft.com/office/drawing/2014/main" id="{CC0E73B4-41BB-4E34-ACE4-46F6C36240C1}"/>
              </a:ext>
            </a:extLst>
          </p:cNvPr>
          <p:cNvSpPr>
            <a:spLocks noGrp="1"/>
          </p:cNvSpPr>
          <p:nvPr/>
        </p:nvSpPr>
        <p:spPr>
          <a:xfrm>
            <a:off x="762000"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Ground truth header/date</a:t>
            </a:r>
          </a:p>
        </p:txBody>
      </p:sp>
      <p:sp>
        <p:nvSpPr>
          <p:cNvPr id="71" name="Rectangle 70">
            <a:extLst>
              <a:ext uri="{FF2B5EF4-FFF2-40B4-BE49-F238E27FC236}">
                <a16:creationId xmlns:a16="http://schemas.microsoft.com/office/drawing/2014/main" id="{36C8063B-CACE-46A8-9FD0-B86E5344C4FF}"/>
              </a:ext>
            </a:extLst>
          </p:cNvPr>
          <p:cNvSpPr>
            <a:spLocks noGrp="1"/>
          </p:cNvSpPr>
          <p:nvPr/>
        </p:nvSpPr>
        <p:spPr>
          <a:xfrm>
            <a:off x="800100"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Letters Orders and Instructions. December 1755.</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L02: 10th. Alexandria December 10th. 1755.</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L03: A Sergeant and twelve men, to be</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L04: in readiness to escort a waggon up to Winchester to-</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L05: morrow.</a:t>
            </a:r>
          </a:p>
        </p:txBody>
      </p:sp>
      <p:sp>
        <p:nvSpPr>
          <p:cNvPr id="72" name="Rounded Rectangle 71">
            <a:extLst>
              <a:ext uri="{FF2B5EF4-FFF2-40B4-BE49-F238E27FC236}">
                <a16:creationId xmlns:a16="http://schemas.microsoft.com/office/drawing/2014/main" id="{CB95A71D-4023-4254-96A2-BD97B2493C5A}"/>
              </a:ext>
            </a:extLst>
          </p:cNvPr>
          <p:cNvSpPr>
            <a:spLocks noGrp="1"/>
          </p:cNvSpPr>
          <p:nvPr/>
        </p:nvSpPr>
        <p:spPr>
          <a:xfrm>
            <a:off x="6276975"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73" name="Rectangle 72">
            <a:extLst>
              <a:ext uri="{FF2B5EF4-FFF2-40B4-BE49-F238E27FC236}">
                <a16:creationId xmlns:a16="http://schemas.microsoft.com/office/drawing/2014/main" id="{27967D80-514F-4E0A-943B-A0C4E9A67C83}"/>
              </a:ext>
            </a:extLst>
          </p:cNvPr>
          <p:cNvSpPr>
            <a:spLocks noGrp="1"/>
          </p:cNvSpPr>
          <p:nvPr/>
        </p:nvSpPr>
        <p:spPr>
          <a:xfrm>
            <a:off x="6276975" y="1466850"/>
            <a:ext cx="5286375" cy="323850"/>
          </a:xfrm>
          <a:prstGeom prst="rect">
            <a:avLst/>
          </a:prstGeom>
          <a:solidFill>
            <a:srgbClr val="E76F51"/>
          </a:solidFill>
          <a:ln w="0">
            <a:solidFill>
              <a:srgbClr val="E76F51"/>
            </a:solidFill>
            <a:prstDash val="solid"/>
          </a:ln>
        </p:spPr>
        <p:txBody>
          <a:bodyPr/>
          <a:lstStyle/>
          <a:p>
            <a:endParaRPr/>
          </a:p>
        </p:txBody>
      </p:sp>
      <p:sp>
        <p:nvSpPr>
          <p:cNvPr id="74" name="Rectangle 73">
            <a:extLst>
              <a:ext uri="{FF2B5EF4-FFF2-40B4-BE49-F238E27FC236}">
                <a16:creationId xmlns:a16="http://schemas.microsoft.com/office/drawing/2014/main" id="{7EA6C864-4401-462C-9EBD-B5493DE62780}"/>
              </a:ext>
            </a:extLst>
          </p:cNvPr>
          <p:cNvSpPr>
            <a:spLocks noGrp="1"/>
          </p:cNvSpPr>
          <p:nvPr/>
        </p:nvSpPr>
        <p:spPr>
          <a:xfrm>
            <a:off x="6410325"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Actual M4 projected prediction</a:t>
            </a:r>
          </a:p>
        </p:txBody>
      </p:sp>
      <p:sp>
        <p:nvSpPr>
          <p:cNvPr id="75" name="Rectangle 74">
            <a:extLst>
              <a:ext uri="{FF2B5EF4-FFF2-40B4-BE49-F238E27FC236}">
                <a16:creationId xmlns:a16="http://schemas.microsoft.com/office/drawing/2014/main" id="{190FB61C-18E3-4EF1-887B-8FB2F9F5DD9C}"/>
              </a:ext>
            </a:extLst>
          </p:cNvPr>
          <p:cNvSpPr>
            <a:spLocks noGrp="1"/>
          </p:cNvSpPr>
          <p:nvPr/>
        </p:nvSpPr>
        <p:spPr>
          <a:xfrm>
            <a:off x="6448425"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L01: Letters Orders and Instructions.</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L02:  December 1755.</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L03:  10th. Alexandria December 10th. 1755.</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L04:  A Sergeant and twelve men, to be</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L05:  in readiness to escort a waggon up to Winchester to-</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L06:  morrow.</a:t>
            </a:r>
          </a:p>
        </p:txBody>
      </p:sp>
      <p:sp>
        <p:nvSpPr>
          <p:cNvPr id="76" name="Rounded Rectangle 75">
            <a:extLst>
              <a:ext uri="{FF2B5EF4-FFF2-40B4-BE49-F238E27FC236}">
                <a16:creationId xmlns:a16="http://schemas.microsoft.com/office/drawing/2014/main" id="{74CABE10-1E69-4E7B-A5FF-B9C586849C72}"/>
              </a:ext>
            </a:extLst>
          </p:cNvPr>
          <p:cNvSpPr>
            <a:spLocks noGrp="1"/>
          </p:cNvSpPr>
          <p:nvPr/>
        </p:nvSpPr>
        <p:spPr>
          <a:xfrm>
            <a:off x="628650" y="4686300"/>
            <a:ext cx="5334000" cy="723900"/>
          </a:xfrm>
          <a:prstGeom prst="roundRect">
            <a:avLst>
              <a:gd name="adj" fmla="val 2632"/>
            </a:avLst>
          </a:prstGeom>
          <a:solidFill>
            <a:srgbClr val="F1ECE2"/>
          </a:solidFill>
          <a:ln w="9525">
            <a:solidFill>
              <a:srgbClr val="D8D0C2"/>
            </a:solidFill>
            <a:prstDash val="solid"/>
          </a:ln>
        </p:spPr>
        <p:txBody>
          <a:bodyPr/>
          <a:lstStyle/>
          <a:p>
            <a:endParaRPr/>
          </a:p>
        </p:txBody>
      </p:sp>
      <p:sp>
        <p:nvSpPr>
          <p:cNvPr id="77" name="Rectangle 76">
            <a:extLst>
              <a:ext uri="{FF2B5EF4-FFF2-40B4-BE49-F238E27FC236}">
                <a16:creationId xmlns:a16="http://schemas.microsoft.com/office/drawing/2014/main" id="{1F5CD5FE-B2EB-4177-8292-8835A78AE73E}"/>
              </a:ext>
            </a:extLst>
          </p:cNvPr>
          <p:cNvSpPr>
            <a:spLocks noGrp="1"/>
          </p:cNvSpPr>
          <p:nvPr/>
        </p:nvSpPr>
        <p:spPr>
          <a:xfrm>
            <a:off x="800100" y="4857750"/>
            <a:ext cx="4991100" cy="400050"/>
          </a:xfrm>
          <a:prstGeom prst="rect">
            <a:avLst/>
          </a:prstGeom>
        </p:spPr>
        <p:txBody>
          <a:bodyPr anchor="ctr"/>
          <a:lstStyle/>
          <a:p>
            <a:pPr>
              <a:lnSpc>
                <a:spcPct val="108000"/>
              </a:lnSpc>
              <a:buNone/>
              <a:defRPr sz="1140" b="1">
                <a:solidFill>
                  <a:srgbClr val="223941"/>
                </a:solidFill>
              </a:defRPr>
            </a:pPr>
            <a:r>
              <a:rPr sz="1140" b="1">
                <a:solidFill>
                  <a:srgbClr val="223941"/>
                </a:solidFill>
              </a:rPr>
              <a:t>M4 keeps the expected line count, but splits the opening header/date and shifts the sequence.</a:t>
            </a:r>
          </a:p>
        </p:txBody>
      </p:sp>
      <p:sp>
        <p:nvSpPr>
          <p:cNvPr id="78" name="Rounded Rectangle 77">
            <a:extLst>
              <a:ext uri="{FF2B5EF4-FFF2-40B4-BE49-F238E27FC236}">
                <a16:creationId xmlns:a16="http://schemas.microsoft.com/office/drawing/2014/main" id="{480A93DB-D56E-4459-9FB4-DC1276DA1316}"/>
              </a:ext>
            </a:extLst>
          </p:cNvPr>
          <p:cNvSpPr>
            <a:spLocks noGrp="1"/>
          </p:cNvSpPr>
          <p:nvPr/>
        </p:nvSpPr>
        <p:spPr>
          <a:xfrm>
            <a:off x="6229350" y="4686300"/>
            <a:ext cx="5334000" cy="723900"/>
          </a:xfrm>
          <a:prstGeom prst="roundRect">
            <a:avLst>
              <a:gd name="adj" fmla="val 2632"/>
            </a:avLst>
          </a:prstGeom>
          <a:solidFill>
            <a:srgbClr val="DFF3EF"/>
          </a:solidFill>
          <a:ln w="9525">
            <a:solidFill>
              <a:srgbClr val="2A9D8F"/>
            </a:solidFill>
            <a:prstDash val="solid"/>
          </a:ln>
        </p:spPr>
        <p:txBody>
          <a:bodyPr/>
          <a:lstStyle/>
          <a:p>
            <a:endParaRPr/>
          </a:p>
        </p:txBody>
      </p:sp>
      <p:sp>
        <p:nvSpPr>
          <p:cNvPr id="79" name="Rectangle 78">
            <a:extLst>
              <a:ext uri="{FF2B5EF4-FFF2-40B4-BE49-F238E27FC236}">
                <a16:creationId xmlns:a16="http://schemas.microsoft.com/office/drawing/2014/main" id="{60094C76-25AE-4519-B7B1-475BC23D87B4}"/>
              </a:ext>
            </a:extLst>
          </p:cNvPr>
          <p:cNvSpPr>
            <a:spLocks noGrp="1"/>
          </p:cNvSpPr>
          <p:nvPr/>
        </p:nvSpPr>
        <p:spPr>
          <a:xfrm>
            <a:off x="6400800" y="4857750"/>
            <a:ext cx="4991100" cy="400050"/>
          </a:xfrm>
          <a:prstGeom prst="rect">
            <a:avLst/>
          </a:prstGeom>
        </p:spPr>
        <p:txBody>
          <a:bodyPr anchor="ctr"/>
          <a:lstStyle/>
          <a:p>
            <a:pPr>
              <a:lnSpc>
                <a:spcPct val="108000"/>
              </a:lnSpc>
              <a:buNone/>
              <a:defRPr sz="990">
                <a:solidFill>
                  <a:srgbClr val="223941"/>
                </a:solidFill>
              </a:defRPr>
            </a:pPr>
            <a:r>
              <a:rPr sz="990">
                <a:solidFill>
                  <a:srgbClr val="223941"/>
                </a:solidFill>
              </a:rPr>
              <a:t>M3 exact; M4 LAnorm+/- 0 despite F1norm 0.839; M4 lines pred/gt 31/31.</a:t>
            </a:r>
          </a:p>
        </p:txBody>
      </p:sp>
      <p:sp>
        <p:nvSpPr>
          <p:cNvPr id="80" name="Rectangle 79">
            <a:extLst>
              <a:ext uri="{FF2B5EF4-FFF2-40B4-BE49-F238E27FC236}">
                <a16:creationId xmlns:a16="http://schemas.microsoft.com/office/drawing/2014/main" id="{137D029F-2B7D-4010-A6D5-46741F7D329F}"/>
              </a:ext>
            </a:extLst>
          </p:cNvPr>
          <p:cNvSpPr>
            <a:spLocks noGrp="1"/>
          </p:cNvSpPr>
          <p:nvPr/>
        </p:nvSpPr>
        <p:spPr>
          <a:xfrm>
            <a:off x="685800" y="5581650"/>
            <a:ext cx="10591800" cy="285750"/>
          </a:xfrm>
          <a:prstGeom prst="rect">
            <a:avLst/>
          </a:prstGeom>
        </p:spPr>
        <p:txBody>
          <a:bodyPr anchor="t"/>
          <a:lstStyle/>
          <a:p>
            <a:pPr>
              <a:lnSpc>
                <a:spcPct val="108000"/>
              </a:lnSpc>
              <a:buNone/>
              <a:defRPr sz="885">
                <a:solidFill>
                  <a:srgbClr val="596B6F"/>
                </a:solidFill>
              </a:defRPr>
            </a:pPr>
            <a:r>
              <a:rPr sz="885">
                <a:solidFill>
                  <a:srgbClr val="596B6F"/>
                </a:solidFill>
              </a:rPr>
              <a:t>Short verbatim windows from retained predictions; examples illustrate mechanisms, not causal component ablations.</a:t>
            </a:r>
          </a:p>
        </p:txBody>
      </p:sp>
    </p:spTree>
    <p:extLst>
      <p:ext uri="{BB962C8B-B14F-4D97-AF65-F5344CB8AC3E}">
        <p14:creationId xmlns:p14="http://schemas.microsoft.com/office/powerpoint/2010/main" val="700841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3484FFE-1672-4DD7-9A14-B735B3359032}"/>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F3439A3-F1EE-4AA4-9F44-60B6DFCF0EF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50DCDD3-E684-4F4F-9FA8-6582988F9D52}"/>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675" b="1">
                <a:solidFill>
                  <a:srgbClr val="D7EDE9"/>
                </a:solidFill>
                <a:latin typeface="Aptos"/>
                <a:ea typeface="Aptos"/>
                <a:cs typeface="Aptos"/>
              </a:rPr>
              <a:t>Appendix A9</a:t>
            </a:r>
          </a:p>
        </p:txBody>
      </p:sp>
      <p:sp>
        <p:nvSpPr>
          <p:cNvPr id="4" name="Rectangle 3">
            <a:extLst>
              <a:ext uri="{FF2B5EF4-FFF2-40B4-BE49-F238E27FC236}">
                <a16:creationId xmlns:a16="http://schemas.microsoft.com/office/drawing/2014/main" id="{8D1C7D3A-ABCD-4609-9F77-2ECD71C41A79}"/>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M5 Failure Example: Local Hyphen Boundary Shift</a:t>
            </a:r>
          </a:p>
        </p:txBody>
      </p:sp>
      <p:sp>
        <p:nvSpPr>
          <p:cNvPr id="5" name="Rectangle 4">
            <a:extLst>
              <a:ext uri="{FF2B5EF4-FFF2-40B4-BE49-F238E27FC236}">
                <a16:creationId xmlns:a16="http://schemas.microsoft.com/office/drawing/2014/main" id="{26BC2582-9E1C-4F21-9D14-37E45F58147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9F7D7FB-5A67-4A30-80CB-6117BB541C7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23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64" name="Rounded Rectangle 63">
            <a:extLst>
              <a:ext uri="{FF2B5EF4-FFF2-40B4-BE49-F238E27FC236}">
                <a16:creationId xmlns:a16="http://schemas.microsoft.com/office/drawing/2014/main" id="{1C23AA0B-0422-4DB2-AF4A-87E6AA6CA634}"/>
              </a:ext>
            </a:extLst>
          </p:cNvPr>
          <p:cNvSpPr>
            <a:spLocks noGrp="1"/>
          </p:cNvSpPr>
          <p:nvPr/>
        </p:nvSpPr>
        <p:spPr>
          <a:xfrm>
            <a:off x="647700" y="781050"/>
            <a:ext cx="723900" cy="228600"/>
          </a:xfrm>
          <a:prstGeom prst="roundRect">
            <a:avLst>
              <a:gd name="adj" fmla="val 8333"/>
            </a:avLst>
          </a:prstGeom>
          <a:solidFill>
            <a:srgbClr val="DFF3EF"/>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M5</a:t>
            </a:r>
          </a:p>
        </p:txBody>
      </p:sp>
      <p:sp>
        <p:nvSpPr>
          <p:cNvPr id="65" name="Rounded Rectangle 64">
            <a:extLst>
              <a:ext uri="{FF2B5EF4-FFF2-40B4-BE49-F238E27FC236}">
                <a16:creationId xmlns:a16="http://schemas.microsoft.com/office/drawing/2014/main" id="{A633FDF0-5DF1-4694-AB89-A460E47DED36}"/>
              </a:ext>
            </a:extLst>
          </p:cNvPr>
          <p:cNvSpPr>
            <a:spLocks noGrp="1"/>
          </p:cNvSpPr>
          <p:nvPr/>
        </p:nvSpPr>
        <p:spPr>
          <a:xfrm>
            <a:off x="1447800" y="781050"/>
            <a:ext cx="2301240" cy="228600"/>
          </a:xfrm>
          <a:prstGeom prst="roundRect">
            <a:avLst>
              <a:gd name="adj" fmla="val 8333"/>
            </a:avLst>
          </a:prstGeom>
          <a:solidFill>
            <a:srgbClr val="D9EDF7"/>
          </a:solidFill>
          <a:ln w="9525">
            <a:solidFill>
              <a:srgbClr val="2A9D8F"/>
            </a:solidFill>
            <a:prstDash val="solid"/>
          </a:ln>
        </p:spPr>
        <p:txBody>
          <a:bodyPr anchor="ctr"/>
          <a:lstStyle/>
          <a:p>
            <a:pPr algn="ctr">
              <a:buNone/>
              <a:defRPr sz="825" b="1">
                <a:solidFill>
                  <a:srgbClr val="264653"/>
                </a:solidFill>
              </a:defRPr>
            </a:pPr>
            <a:r>
              <a:rPr sz="825" b="1">
                <a:solidFill>
                  <a:srgbClr val="264653"/>
                </a:solidFill>
              </a:rPr>
              <a:t>Hard Local Boundary / Repair Context</a:t>
            </a:r>
          </a:p>
        </p:txBody>
      </p:sp>
      <p:sp>
        <p:nvSpPr>
          <p:cNvPr id="66" name="Rectangle 65">
            <a:extLst>
              <a:ext uri="{FF2B5EF4-FFF2-40B4-BE49-F238E27FC236}">
                <a16:creationId xmlns:a16="http://schemas.microsoft.com/office/drawing/2014/main" id="{6F371E8D-9351-45F2-8B9B-99F45842FA9D}"/>
              </a:ext>
            </a:extLst>
          </p:cNvPr>
          <p:cNvSpPr>
            <a:spLocks noGrp="1"/>
          </p:cNvSpPr>
          <p:nvPr/>
        </p:nvSpPr>
        <p:spPr>
          <a:xfrm>
            <a:off x="647700" y="1057275"/>
            <a:ext cx="7239000" cy="247650"/>
          </a:xfrm>
          <a:prstGeom prst="rect">
            <a:avLst/>
          </a:prstGeom>
        </p:spPr>
        <p:txBody>
          <a:bodyPr anchor="t"/>
          <a:lstStyle/>
          <a:p>
            <a:pPr>
              <a:lnSpc>
                <a:spcPct val="108000"/>
              </a:lnSpc>
              <a:buNone/>
              <a:defRPr sz="1050" b="1">
                <a:solidFill>
                  <a:srgbClr val="264653"/>
                </a:solidFill>
              </a:defRPr>
            </a:pPr>
            <a:r>
              <a:rPr sz="1050" b="1">
                <a:solidFill>
                  <a:srgbClr val="264653"/>
                </a:solidFill>
              </a:rPr>
              <a:t>Washington 270 · Qwen3-VL-32B</a:t>
            </a:r>
          </a:p>
        </p:txBody>
      </p:sp>
      <p:sp>
        <p:nvSpPr>
          <p:cNvPr id="67" name="Rectangle 66">
            <a:extLst>
              <a:ext uri="{FF2B5EF4-FFF2-40B4-BE49-F238E27FC236}">
                <a16:creationId xmlns:a16="http://schemas.microsoft.com/office/drawing/2014/main" id="{24864E60-082B-492E-8724-4CBC24695E75}"/>
              </a:ext>
            </a:extLst>
          </p:cNvPr>
          <p:cNvSpPr>
            <a:spLocks noGrp="1"/>
          </p:cNvSpPr>
          <p:nvPr/>
        </p:nvSpPr>
        <p:spPr>
          <a:xfrm>
            <a:off x="8020050" y="819150"/>
            <a:ext cx="3238500" cy="514350"/>
          </a:xfrm>
          <a:prstGeom prst="rect">
            <a:avLst/>
          </a:prstGeom>
        </p:spPr>
        <p:txBody>
          <a:bodyPr anchor="t"/>
          <a:lstStyle/>
          <a:p>
            <a:pPr algn="r">
              <a:lnSpc>
                <a:spcPct val="105000"/>
              </a:lnSpc>
              <a:buNone/>
              <a:defRPr sz="900" b="1">
                <a:solidFill>
                  <a:srgbClr val="596B6F"/>
                </a:solidFill>
              </a:defRPr>
            </a:pPr>
            <a:r>
              <a:rPr sz="900" b="1">
                <a:solidFill>
                  <a:srgbClr val="596B6F"/>
                </a:solidFill>
              </a:rPr>
              <a:t>Example 5/5</a:t>
            </a:r>
          </a:p>
          <a:p>
            <a:pPr algn="r">
              <a:lnSpc>
                <a:spcPct val="105000"/>
              </a:lnSpc>
              <a:buNone/>
              <a:defRPr sz="900" b="1">
                <a:solidFill>
                  <a:srgbClr val="596B6F"/>
                </a:solidFill>
              </a:defRPr>
            </a:pPr>
            <a:r>
              <a:rPr sz="900" b="1">
                <a:solidFill>
                  <a:srgbClr val="596B6F"/>
                </a:solidFill>
              </a:rPr>
              <a:t>Stored prediction excerpt</a:t>
            </a:r>
          </a:p>
        </p:txBody>
      </p:sp>
      <p:sp>
        <p:nvSpPr>
          <p:cNvPr id="68" name="Rounded Rectangle 67">
            <a:extLst>
              <a:ext uri="{FF2B5EF4-FFF2-40B4-BE49-F238E27FC236}">
                <a16:creationId xmlns:a16="http://schemas.microsoft.com/office/drawing/2014/main" id="{569693AF-D8F1-4D22-87EF-34AA1AD906E6}"/>
              </a:ext>
            </a:extLst>
          </p:cNvPr>
          <p:cNvSpPr>
            <a:spLocks noGrp="1"/>
          </p:cNvSpPr>
          <p:nvPr/>
        </p:nvSpPr>
        <p:spPr>
          <a:xfrm>
            <a:off x="628650"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69" name="Rectangle 68">
            <a:extLst>
              <a:ext uri="{FF2B5EF4-FFF2-40B4-BE49-F238E27FC236}">
                <a16:creationId xmlns:a16="http://schemas.microsoft.com/office/drawing/2014/main" id="{CFFC042E-630F-4AA7-90A5-717C705C2F43}"/>
              </a:ext>
            </a:extLst>
          </p:cNvPr>
          <p:cNvSpPr>
            <a:spLocks noGrp="1"/>
          </p:cNvSpPr>
          <p:nvPr/>
        </p:nvSpPr>
        <p:spPr>
          <a:xfrm>
            <a:off x="628650" y="1466850"/>
            <a:ext cx="5286375" cy="323850"/>
          </a:xfrm>
          <a:prstGeom prst="rect">
            <a:avLst/>
          </a:prstGeom>
          <a:solidFill>
            <a:srgbClr val="264653"/>
          </a:solidFill>
          <a:ln w="0">
            <a:solidFill>
              <a:srgbClr val="264653"/>
            </a:solidFill>
            <a:prstDash val="solid"/>
          </a:ln>
        </p:spPr>
        <p:txBody>
          <a:bodyPr/>
          <a:lstStyle/>
          <a:p>
            <a:endParaRPr/>
          </a:p>
        </p:txBody>
      </p:sp>
      <p:sp>
        <p:nvSpPr>
          <p:cNvPr id="70" name="Rectangle 69">
            <a:extLst>
              <a:ext uri="{FF2B5EF4-FFF2-40B4-BE49-F238E27FC236}">
                <a16:creationId xmlns:a16="http://schemas.microsoft.com/office/drawing/2014/main" id="{6E52676A-87D4-4029-A98E-93CC90CC92C6}"/>
              </a:ext>
            </a:extLst>
          </p:cNvPr>
          <p:cNvSpPr>
            <a:spLocks noGrp="1"/>
          </p:cNvSpPr>
          <p:nvPr/>
        </p:nvSpPr>
        <p:spPr>
          <a:xfrm>
            <a:off x="762000"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Ground truth hyphenated continuations</a:t>
            </a:r>
          </a:p>
        </p:txBody>
      </p:sp>
      <p:sp>
        <p:nvSpPr>
          <p:cNvPr id="71" name="Rectangle 70">
            <a:extLst>
              <a:ext uri="{FF2B5EF4-FFF2-40B4-BE49-F238E27FC236}">
                <a16:creationId xmlns:a16="http://schemas.microsoft.com/office/drawing/2014/main" id="{BEC86DBC-4B93-4F7C-A5A4-3D4B0E32BFC7}"/>
              </a:ext>
            </a:extLst>
          </p:cNvPr>
          <p:cNvSpPr>
            <a:spLocks noGrp="1"/>
          </p:cNvSpPr>
          <p:nvPr/>
        </p:nvSpPr>
        <p:spPr>
          <a:xfrm>
            <a:off x="800100"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L14: The Officers who came down</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L15: from Fort Cumberland with Colonel</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L16: Washington, are immediately to go Recrui-</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L17: ting; and they are allowed until the 1st. of De-</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L22: They are to wait upon the Aid de camp</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L23: at one of the Clock, to receive their Recrui-</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L24: ting Instructions. Each Officer present, to give</a:t>
            </a:r>
          </a:p>
        </p:txBody>
      </p:sp>
      <p:sp>
        <p:nvSpPr>
          <p:cNvPr id="72" name="Rounded Rectangle 71">
            <a:extLst>
              <a:ext uri="{FF2B5EF4-FFF2-40B4-BE49-F238E27FC236}">
                <a16:creationId xmlns:a16="http://schemas.microsoft.com/office/drawing/2014/main" id="{CB5996D2-E8CC-461C-B755-86DF7CECD57E}"/>
              </a:ext>
            </a:extLst>
          </p:cNvPr>
          <p:cNvSpPr>
            <a:spLocks noGrp="1"/>
          </p:cNvSpPr>
          <p:nvPr/>
        </p:nvSpPr>
        <p:spPr>
          <a:xfrm>
            <a:off x="6276975" y="1466850"/>
            <a:ext cx="5286375" cy="3009900"/>
          </a:xfrm>
          <a:prstGeom prst="roundRect">
            <a:avLst>
              <a:gd name="adj" fmla="val 633"/>
            </a:avLst>
          </a:prstGeom>
          <a:solidFill>
            <a:srgbClr val="FBF9F3"/>
          </a:solidFill>
          <a:ln w="9525">
            <a:solidFill>
              <a:srgbClr val="D8D0C2"/>
            </a:solidFill>
            <a:prstDash val="solid"/>
          </a:ln>
        </p:spPr>
        <p:txBody>
          <a:bodyPr/>
          <a:lstStyle/>
          <a:p>
            <a:endParaRPr/>
          </a:p>
        </p:txBody>
      </p:sp>
      <p:sp>
        <p:nvSpPr>
          <p:cNvPr id="73" name="Rectangle 72">
            <a:extLst>
              <a:ext uri="{FF2B5EF4-FFF2-40B4-BE49-F238E27FC236}">
                <a16:creationId xmlns:a16="http://schemas.microsoft.com/office/drawing/2014/main" id="{0B677B38-3436-4AF3-9811-9C6C78CA0004}"/>
              </a:ext>
            </a:extLst>
          </p:cNvPr>
          <p:cNvSpPr>
            <a:spLocks noGrp="1"/>
          </p:cNvSpPr>
          <p:nvPr/>
        </p:nvSpPr>
        <p:spPr>
          <a:xfrm>
            <a:off x="6276975" y="1466850"/>
            <a:ext cx="5286375" cy="323850"/>
          </a:xfrm>
          <a:prstGeom prst="rect">
            <a:avLst/>
          </a:prstGeom>
          <a:solidFill>
            <a:srgbClr val="E76F51"/>
          </a:solidFill>
          <a:ln w="0">
            <a:solidFill>
              <a:srgbClr val="E76F51"/>
            </a:solidFill>
            <a:prstDash val="solid"/>
          </a:ln>
        </p:spPr>
        <p:txBody>
          <a:bodyPr/>
          <a:lstStyle/>
          <a:p>
            <a:endParaRPr/>
          </a:p>
        </p:txBody>
      </p:sp>
      <p:sp>
        <p:nvSpPr>
          <p:cNvPr id="74" name="Rectangle 73">
            <a:extLst>
              <a:ext uri="{FF2B5EF4-FFF2-40B4-BE49-F238E27FC236}">
                <a16:creationId xmlns:a16="http://schemas.microsoft.com/office/drawing/2014/main" id="{E9B8EE07-5FB3-4844-ACF9-936A87E5FF00}"/>
              </a:ext>
            </a:extLst>
          </p:cNvPr>
          <p:cNvSpPr>
            <a:spLocks noGrp="1"/>
          </p:cNvSpPr>
          <p:nvPr/>
        </p:nvSpPr>
        <p:spPr>
          <a:xfrm>
            <a:off x="6410325" y="1543050"/>
            <a:ext cx="5019675" cy="171450"/>
          </a:xfrm>
          <a:prstGeom prst="rect">
            <a:avLst/>
          </a:prstGeom>
        </p:spPr>
        <p:txBody>
          <a:bodyPr anchor="t"/>
          <a:lstStyle/>
          <a:p>
            <a:pPr algn="ctr">
              <a:lnSpc>
                <a:spcPct val="108000"/>
              </a:lnSpc>
              <a:buNone/>
              <a:defRPr sz="938" b="1">
                <a:solidFill>
                  <a:srgbClr val="FFFFFF"/>
                </a:solidFill>
              </a:defRPr>
            </a:pPr>
            <a:r>
              <a:rPr sz="938" b="1">
                <a:solidFill>
                  <a:srgbClr val="FFFFFF"/>
                </a:solidFill>
              </a:rPr>
              <a:t>Actual M5 projected prediction</a:t>
            </a:r>
          </a:p>
        </p:txBody>
      </p:sp>
      <p:sp>
        <p:nvSpPr>
          <p:cNvPr id="75" name="Rectangle 74">
            <a:extLst>
              <a:ext uri="{FF2B5EF4-FFF2-40B4-BE49-F238E27FC236}">
                <a16:creationId xmlns:a16="http://schemas.microsoft.com/office/drawing/2014/main" id="{C6316296-F7A2-4D92-A705-184ABDF3B93C}"/>
              </a:ext>
            </a:extLst>
          </p:cNvPr>
          <p:cNvSpPr>
            <a:spLocks noGrp="1"/>
          </p:cNvSpPr>
          <p:nvPr/>
        </p:nvSpPr>
        <p:spPr>
          <a:xfrm>
            <a:off x="6448425" y="1943100"/>
            <a:ext cx="4943475" cy="2381250"/>
          </a:xfrm>
          <a:prstGeom prst="rect">
            <a:avLst/>
          </a:prstGeom>
        </p:spPr>
        <p:txBody>
          <a:bodyPr anchor="t"/>
          <a:lstStyle/>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L14:  The Officers who came down</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L15:  from Fort Cumberland with Colonel</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L16:  Washington, are immediately to go Recrui</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L17: - ting; and they are allowed until the 1st. of De-</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L22:  They are to wait upon the Aid de camp</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L23:  at one of the Clock, to receive their Recrui</a:t>
            </a:r>
          </a:p>
          <a:p>
            <a:pPr>
              <a:lnSpc>
                <a:spcPct val="110000"/>
              </a:lnSpc>
              <a:buNone/>
              <a:defRPr sz="907">
                <a:solidFill>
                  <a:srgbClr val="223941"/>
                </a:solidFill>
                <a:latin typeface="Aptos Mono"/>
                <a:ea typeface="Aptos Mono"/>
                <a:cs typeface="Aptos Mono"/>
              </a:defRPr>
            </a:pPr>
            <a:r>
              <a:rPr sz="907">
                <a:solidFill>
                  <a:srgbClr val="223941"/>
                </a:solidFill>
                <a:latin typeface="Aptos Mono"/>
                <a:ea typeface="Aptos Mono"/>
                <a:cs typeface="Aptos Mono"/>
              </a:rPr>
              <a:t>L24: - ting Instructions. Each Officer present, to give</a:t>
            </a:r>
          </a:p>
        </p:txBody>
      </p:sp>
      <p:sp>
        <p:nvSpPr>
          <p:cNvPr id="76" name="Rounded Rectangle 75">
            <a:extLst>
              <a:ext uri="{FF2B5EF4-FFF2-40B4-BE49-F238E27FC236}">
                <a16:creationId xmlns:a16="http://schemas.microsoft.com/office/drawing/2014/main" id="{273CDA75-6345-4F88-937E-771BC41315E1}"/>
              </a:ext>
            </a:extLst>
          </p:cNvPr>
          <p:cNvSpPr>
            <a:spLocks noGrp="1"/>
          </p:cNvSpPr>
          <p:nvPr/>
        </p:nvSpPr>
        <p:spPr>
          <a:xfrm>
            <a:off x="628650" y="4686300"/>
            <a:ext cx="5334000" cy="723900"/>
          </a:xfrm>
          <a:prstGeom prst="roundRect">
            <a:avLst>
              <a:gd name="adj" fmla="val 2632"/>
            </a:avLst>
          </a:prstGeom>
          <a:solidFill>
            <a:srgbClr val="F1ECE2"/>
          </a:solidFill>
          <a:ln w="9525">
            <a:solidFill>
              <a:srgbClr val="D8D0C2"/>
            </a:solidFill>
            <a:prstDash val="solid"/>
          </a:ln>
        </p:spPr>
        <p:txBody>
          <a:bodyPr/>
          <a:lstStyle/>
          <a:p>
            <a:endParaRPr/>
          </a:p>
        </p:txBody>
      </p:sp>
      <p:sp>
        <p:nvSpPr>
          <p:cNvPr id="77" name="Rectangle 76">
            <a:extLst>
              <a:ext uri="{FF2B5EF4-FFF2-40B4-BE49-F238E27FC236}">
                <a16:creationId xmlns:a16="http://schemas.microsoft.com/office/drawing/2014/main" id="{4702FBBD-0CB9-48B9-A7EC-F08AF257FBFC}"/>
              </a:ext>
            </a:extLst>
          </p:cNvPr>
          <p:cNvSpPr>
            <a:spLocks noGrp="1"/>
          </p:cNvSpPr>
          <p:nvPr/>
        </p:nvSpPr>
        <p:spPr>
          <a:xfrm>
            <a:off x="800100" y="4857750"/>
            <a:ext cx="4991100" cy="400050"/>
          </a:xfrm>
          <a:prstGeom prst="rect">
            <a:avLst/>
          </a:prstGeom>
        </p:spPr>
        <p:txBody>
          <a:bodyPr anchor="ctr"/>
          <a:lstStyle/>
          <a:p>
            <a:pPr>
              <a:lnSpc>
                <a:spcPct val="108000"/>
              </a:lnSpc>
              <a:buNone/>
              <a:defRPr sz="1140" b="1">
                <a:solidFill>
                  <a:srgbClr val="223941"/>
                </a:solidFill>
              </a:defRPr>
            </a:pPr>
            <a:r>
              <a:rPr sz="1140" b="1">
                <a:solidFill>
                  <a:srgbClr val="223941"/>
                </a:solidFill>
              </a:rPr>
              <a:t>The local split moves the hyphen from the end of “Recrui-” to the start of the next line.</a:t>
            </a:r>
          </a:p>
        </p:txBody>
      </p:sp>
      <p:sp>
        <p:nvSpPr>
          <p:cNvPr id="78" name="Rounded Rectangle 77">
            <a:extLst>
              <a:ext uri="{FF2B5EF4-FFF2-40B4-BE49-F238E27FC236}">
                <a16:creationId xmlns:a16="http://schemas.microsoft.com/office/drawing/2014/main" id="{0595AC17-2CFB-481A-B7A7-A34F638ADAEF}"/>
              </a:ext>
            </a:extLst>
          </p:cNvPr>
          <p:cNvSpPr>
            <a:spLocks noGrp="1"/>
          </p:cNvSpPr>
          <p:nvPr/>
        </p:nvSpPr>
        <p:spPr>
          <a:xfrm>
            <a:off x="6229350" y="4686300"/>
            <a:ext cx="5334000" cy="723900"/>
          </a:xfrm>
          <a:prstGeom prst="roundRect">
            <a:avLst>
              <a:gd name="adj" fmla="val 2632"/>
            </a:avLst>
          </a:prstGeom>
          <a:solidFill>
            <a:srgbClr val="DFF3EF"/>
          </a:solidFill>
          <a:ln w="9525">
            <a:solidFill>
              <a:srgbClr val="2A9D8F"/>
            </a:solidFill>
            <a:prstDash val="solid"/>
          </a:ln>
        </p:spPr>
        <p:txBody>
          <a:bodyPr/>
          <a:lstStyle/>
          <a:p>
            <a:endParaRPr/>
          </a:p>
        </p:txBody>
      </p:sp>
      <p:sp>
        <p:nvSpPr>
          <p:cNvPr id="79" name="Rectangle 78">
            <a:extLst>
              <a:ext uri="{FF2B5EF4-FFF2-40B4-BE49-F238E27FC236}">
                <a16:creationId xmlns:a16="http://schemas.microsoft.com/office/drawing/2014/main" id="{0613C8E1-4723-4941-BC72-540A3F453412}"/>
              </a:ext>
            </a:extLst>
          </p:cNvPr>
          <p:cNvSpPr>
            <a:spLocks noGrp="1"/>
          </p:cNvSpPr>
          <p:nvPr/>
        </p:nvSpPr>
        <p:spPr>
          <a:xfrm>
            <a:off x="6400800" y="4857750"/>
            <a:ext cx="4991100" cy="400050"/>
          </a:xfrm>
          <a:prstGeom prst="rect">
            <a:avLst/>
          </a:prstGeom>
        </p:spPr>
        <p:txBody>
          <a:bodyPr anchor="ctr"/>
          <a:lstStyle/>
          <a:p>
            <a:pPr>
              <a:lnSpc>
                <a:spcPct val="108000"/>
              </a:lnSpc>
              <a:buNone/>
              <a:defRPr sz="990">
                <a:solidFill>
                  <a:srgbClr val="223941"/>
                </a:solidFill>
              </a:defRPr>
            </a:pPr>
            <a:r>
              <a:rPr sz="990">
                <a:solidFill>
                  <a:srgbClr val="223941"/>
                </a:solidFill>
              </a:rPr>
              <a:t>M5 LAnorm+/- 0.871 vs M3 0.935; trace attempts: initial+repair; repair trigger “expected 31 lines but got 29”.</a:t>
            </a:r>
          </a:p>
        </p:txBody>
      </p:sp>
      <p:sp>
        <p:nvSpPr>
          <p:cNvPr id="80" name="Rectangle 79">
            <a:extLst>
              <a:ext uri="{FF2B5EF4-FFF2-40B4-BE49-F238E27FC236}">
                <a16:creationId xmlns:a16="http://schemas.microsoft.com/office/drawing/2014/main" id="{DFBCC8C3-DBFD-462C-8E8A-E850A88831B6}"/>
              </a:ext>
            </a:extLst>
          </p:cNvPr>
          <p:cNvSpPr>
            <a:spLocks noGrp="1"/>
          </p:cNvSpPr>
          <p:nvPr/>
        </p:nvSpPr>
        <p:spPr>
          <a:xfrm>
            <a:off x="685800" y="5581650"/>
            <a:ext cx="10591800" cy="285750"/>
          </a:xfrm>
          <a:prstGeom prst="rect">
            <a:avLst/>
          </a:prstGeom>
        </p:spPr>
        <p:txBody>
          <a:bodyPr anchor="t"/>
          <a:lstStyle/>
          <a:p>
            <a:pPr>
              <a:lnSpc>
                <a:spcPct val="108000"/>
              </a:lnSpc>
              <a:buNone/>
              <a:defRPr sz="885">
                <a:solidFill>
                  <a:srgbClr val="596B6F"/>
                </a:solidFill>
              </a:defRPr>
            </a:pPr>
            <a:r>
              <a:rPr sz="885">
                <a:solidFill>
                  <a:srgbClr val="596B6F"/>
                </a:solidFill>
              </a:rPr>
              <a:t>Short verbatim windows from retained predictions; examples illustrate mechanisms, not causal component ablations.</a:t>
            </a:r>
          </a:p>
        </p:txBody>
      </p:sp>
    </p:spTree>
    <p:extLst>
      <p:ext uri="{BB962C8B-B14F-4D97-AF65-F5344CB8AC3E}">
        <p14:creationId xmlns:p14="http://schemas.microsoft.com/office/powerpoint/2010/main" val="700841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4FA9148-43D0-4E2F-96B6-F8A403941385}"/>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05C1939A-E089-44B5-90D9-B748DBBED313}"/>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6A294741-C817-47DB-8F7D-5FAC75F4B37C}"/>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A10</a:t>
            </a:r>
          </a:p>
        </p:txBody>
      </p:sp>
      <p:sp>
        <p:nvSpPr>
          <p:cNvPr id="4" name="Rectangle 3">
            <a:extLst>
              <a:ext uri="{FF2B5EF4-FFF2-40B4-BE49-F238E27FC236}">
                <a16:creationId xmlns:a16="http://schemas.microsoft.com/office/drawing/2014/main" id="{F2369850-623B-436B-A409-C9032CAA6F8D}"/>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425" b="1">
                <a:solidFill>
                  <a:srgbClr val="F7F3EB"/>
                </a:solidFill>
                <a:latin typeface="Aptos Display"/>
                <a:ea typeface="Aptos Display"/>
                <a:cs typeface="Aptos Display"/>
              </a:defRPr>
            </a:pPr>
            <a:r>
              <a:rPr sz="1425" b="1">
                <a:solidFill>
                  <a:srgbClr val="F7F3EB"/>
                </a:solidFill>
                <a:latin typeface="Aptos Display"/>
                <a:ea typeface="Aptos Display"/>
                <a:cs typeface="Aptos Display"/>
              </a:rPr>
              <a:t>Metrics</a:t>
            </a:r>
          </a:p>
        </p:txBody>
      </p:sp>
      <p:sp>
        <p:nvSpPr>
          <p:cNvPr id="5" name="Rectangle 4">
            <a:extLst>
              <a:ext uri="{FF2B5EF4-FFF2-40B4-BE49-F238E27FC236}">
                <a16:creationId xmlns:a16="http://schemas.microsoft.com/office/drawing/2014/main" id="{4BB6DA03-8C40-42F2-8792-56C0BD4F75E9}"/>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5F2CF6FF-BEE7-401A-B036-620A3600E163}"/>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24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6BB5CE00-4600-494D-B9D9-2FBB7B234AFC}"/>
              </a:ext>
            </a:extLst>
          </p:cNvPr>
          <p:cNvSpPr>
            <a:spLocks noGrp="1"/>
          </p:cNvSpPr>
          <p:nvPr/>
        </p:nvSpPr>
        <p:spPr>
          <a:xfrm>
            <a:off x="800100" y="1504950"/>
            <a:ext cx="3238500" cy="2590800"/>
          </a:xfrm>
          <a:prstGeom prst="roundRect">
            <a:avLst>
              <a:gd name="adj" fmla="val 2206"/>
            </a:avLst>
          </a:prstGeom>
          <a:solidFill>
            <a:srgbClr val="DDEDE9"/>
          </a:solidFill>
          <a:ln w="9525">
            <a:solidFill>
              <a:srgbClr val="2A9D8F"/>
            </a:solidFill>
            <a:prstDash val="solid"/>
          </a:ln>
        </p:spPr>
        <p:txBody>
          <a:bodyPr/>
          <a:lstStyle/>
          <a:p>
            <a:endParaRPr/>
          </a:p>
        </p:txBody>
      </p:sp>
      <p:sp>
        <p:nvSpPr>
          <p:cNvPr id="8" name="Rectangle 7">
            <a:extLst>
              <a:ext uri="{FF2B5EF4-FFF2-40B4-BE49-F238E27FC236}">
                <a16:creationId xmlns:a16="http://schemas.microsoft.com/office/drawing/2014/main" id="{D818DE4C-6CB3-41A2-922B-09734B7A1626}"/>
              </a:ext>
            </a:extLst>
          </p:cNvPr>
          <p:cNvSpPr>
            <a:spLocks noGrp="1"/>
          </p:cNvSpPr>
          <p:nvPr/>
        </p:nvSpPr>
        <p:spPr>
          <a:xfrm>
            <a:off x="1123950" y="1943100"/>
            <a:ext cx="2590800" cy="2857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875" b="1">
                <a:solidFill>
                  <a:srgbClr val="2A9D8F"/>
                </a:solidFill>
                <a:latin typeface="Aptos Display"/>
                <a:ea typeface="Aptos Display"/>
                <a:cs typeface="Aptos Display"/>
              </a:defRPr>
            </a:pPr>
            <a:r>
              <a:rPr sz="1875" b="1">
                <a:solidFill>
                  <a:srgbClr val="2A9D8F"/>
                </a:solidFill>
                <a:latin typeface="Aptos Display"/>
                <a:ea typeface="Aptos Display"/>
                <a:cs typeface="Aptos Display"/>
              </a:rPr>
              <a:t>LAnorm+/-</a:t>
            </a:r>
          </a:p>
        </p:txBody>
      </p:sp>
      <p:sp>
        <p:nvSpPr>
          <p:cNvPr id="9" name="Rounded Rectangle 8">
            <a:extLst>
              <a:ext uri="{FF2B5EF4-FFF2-40B4-BE49-F238E27FC236}">
                <a16:creationId xmlns:a16="http://schemas.microsoft.com/office/drawing/2014/main" id="{F0F17EF9-21D2-4A42-BD7E-EF9109E66984}"/>
              </a:ext>
            </a:extLst>
          </p:cNvPr>
          <p:cNvSpPr>
            <a:spLocks noGrp="1"/>
          </p:cNvSpPr>
          <p:nvPr/>
        </p:nvSpPr>
        <p:spPr>
          <a:xfrm>
            <a:off x="1123950" y="2419350"/>
            <a:ext cx="990600" cy="247650"/>
          </a:xfrm>
          <a:prstGeom prst="roundRect">
            <a:avLst>
              <a:gd name="adj" fmla="val 23077"/>
            </a:avLst>
          </a:prstGeom>
          <a:solidFill>
            <a:srgbClr val="FFFDF7"/>
          </a:solidFill>
          <a:ln w="9525">
            <a:solidFill>
              <a:srgbClr val="B8DAD3"/>
            </a:solidFill>
            <a:prstDash val="solid"/>
          </a:ln>
        </p:spPr>
        <p:txBody>
          <a:bodyPr/>
          <a:lstStyle/>
          <a:p>
            <a:endParaRPr/>
          </a:p>
        </p:txBody>
      </p:sp>
      <p:sp>
        <p:nvSpPr>
          <p:cNvPr id="10" name="Rectangle 9">
            <a:extLst>
              <a:ext uri="{FF2B5EF4-FFF2-40B4-BE49-F238E27FC236}">
                <a16:creationId xmlns:a16="http://schemas.microsoft.com/office/drawing/2014/main" id="{D77D6D74-7D84-40CA-A6CC-B7BB0590435E}"/>
              </a:ext>
            </a:extLst>
          </p:cNvPr>
          <p:cNvSpPr>
            <a:spLocks noGrp="1"/>
          </p:cNvSpPr>
          <p:nvPr/>
        </p:nvSpPr>
        <p:spPr>
          <a:xfrm>
            <a:off x="1181100" y="2476500"/>
            <a:ext cx="876300" cy="1143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45" b="1">
                <a:solidFill>
                  <a:srgbClr val="264653"/>
                </a:solidFill>
                <a:latin typeface="Aptos"/>
                <a:ea typeface="Aptos"/>
                <a:cs typeface="Aptos"/>
              </a:defRPr>
            </a:pPr>
            <a:r>
              <a:rPr sz="645" b="1">
                <a:solidFill>
                  <a:srgbClr val="264653"/>
                </a:solidFill>
                <a:latin typeface="Aptos"/>
                <a:ea typeface="Aptos"/>
                <a:cs typeface="Aptos"/>
              </a:rPr>
              <a:t>primary</a:t>
            </a:r>
          </a:p>
        </p:txBody>
      </p:sp>
      <p:sp>
        <p:nvSpPr>
          <p:cNvPr id="11" name="Rectangle 10">
            <a:extLst>
              <a:ext uri="{FF2B5EF4-FFF2-40B4-BE49-F238E27FC236}">
                <a16:creationId xmlns:a16="http://schemas.microsoft.com/office/drawing/2014/main" id="{0CB96488-9E49-4FFE-9377-50E2E45EA4E4}"/>
              </a:ext>
            </a:extLst>
          </p:cNvPr>
          <p:cNvSpPr>
            <a:spLocks noGrp="1"/>
          </p:cNvSpPr>
          <p:nvPr/>
        </p:nvSpPr>
        <p:spPr>
          <a:xfrm>
            <a:off x="1123950" y="2971800"/>
            <a:ext cx="2590800" cy="8191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2000"/>
              </a:lnSpc>
              <a:buNone/>
              <a:defRPr sz="1155" b="0">
                <a:solidFill>
                  <a:srgbClr val="142026"/>
                </a:solidFill>
                <a:latin typeface="Aptos"/>
                <a:ea typeface="Aptos"/>
                <a:cs typeface="Aptos"/>
              </a:defRPr>
            </a:pPr>
            <a:r>
              <a:rPr sz="1155" b="0">
                <a:solidFill>
                  <a:srgbClr val="142026"/>
                </a:solidFill>
                <a:latin typeface="Aptos"/>
                <a:ea typeface="Aptos"/>
                <a:cs typeface="Aptos"/>
              </a:rPr>
              <a:t>Average of forward and reverse order-sensitive line accuracy after whitespace normalization.</a:t>
            </a:r>
          </a:p>
        </p:txBody>
      </p:sp>
      <p:sp>
        <p:nvSpPr>
          <p:cNvPr id="12" name="Rounded Rectangle 11">
            <a:extLst>
              <a:ext uri="{FF2B5EF4-FFF2-40B4-BE49-F238E27FC236}">
                <a16:creationId xmlns:a16="http://schemas.microsoft.com/office/drawing/2014/main" id="{63A2B899-C6B3-443B-A724-9E966C95EDE3}"/>
              </a:ext>
            </a:extLst>
          </p:cNvPr>
          <p:cNvSpPr>
            <a:spLocks noGrp="1"/>
          </p:cNvSpPr>
          <p:nvPr/>
        </p:nvSpPr>
        <p:spPr>
          <a:xfrm>
            <a:off x="4476750" y="1504950"/>
            <a:ext cx="3238500" cy="2590800"/>
          </a:xfrm>
          <a:prstGeom prst="roundRect">
            <a:avLst>
              <a:gd name="adj" fmla="val 2206"/>
            </a:avLst>
          </a:prstGeom>
          <a:solidFill>
            <a:srgbClr val="FFFDF7"/>
          </a:solidFill>
          <a:ln w="9525">
            <a:solidFill>
              <a:srgbClr val="CFC7B8"/>
            </a:solidFill>
            <a:prstDash val="solid"/>
          </a:ln>
        </p:spPr>
        <p:txBody>
          <a:bodyPr/>
          <a:lstStyle/>
          <a:p>
            <a:endParaRPr/>
          </a:p>
        </p:txBody>
      </p:sp>
      <p:sp>
        <p:nvSpPr>
          <p:cNvPr id="13" name="Rectangle 12">
            <a:extLst>
              <a:ext uri="{FF2B5EF4-FFF2-40B4-BE49-F238E27FC236}">
                <a16:creationId xmlns:a16="http://schemas.microsoft.com/office/drawing/2014/main" id="{8475AD4A-49F9-4E48-82E1-88F73D4D652A}"/>
              </a:ext>
            </a:extLst>
          </p:cNvPr>
          <p:cNvSpPr>
            <a:spLocks noGrp="1"/>
          </p:cNvSpPr>
          <p:nvPr/>
        </p:nvSpPr>
        <p:spPr>
          <a:xfrm>
            <a:off x="4800600" y="1943100"/>
            <a:ext cx="2590800" cy="2857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800" b="1">
                <a:solidFill>
                  <a:srgbClr val="264653"/>
                </a:solidFill>
                <a:latin typeface="Aptos Display"/>
                <a:ea typeface="Aptos Display"/>
                <a:cs typeface="Aptos Display"/>
              </a:defRPr>
            </a:pPr>
            <a:r>
              <a:rPr sz="1800" b="1">
                <a:solidFill>
                  <a:srgbClr val="264653"/>
                </a:solidFill>
                <a:latin typeface="Aptos Display"/>
                <a:ea typeface="Aptos Display"/>
                <a:cs typeface="Aptos Display"/>
              </a:rPr>
              <a:t>F1_line norm</a:t>
            </a:r>
          </a:p>
        </p:txBody>
      </p:sp>
      <p:sp>
        <p:nvSpPr>
          <p:cNvPr id="14" name="Rounded Rectangle 13">
            <a:extLst>
              <a:ext uri="{FF2B5EF4-FFF2-40B4-BE49-F238E27FC236}">
                <a16:creationId xmlns:a16="http://schemas.microsoft.com/office/drawing/2014/main" id="{7FE663A7-9EDC-4B82-A657-85C9D875C8AC}"/>
              </a:ext>
            </a:extLst>
          </p:cNvPr>
          <p:cNvSpPr>
            <a:spLocks noGrp="1"/>
          </p:cNvSpPr>
          <p:nvPr/>
        </p:nvSpPr>
        <p:spPr>
          <a:xfrm>
            <a:off x="4800600" y="2419350"/>
            <a:ext cx="990600" cy="247650"/>
          </a:xfrm>
          <a:prstGeom prst="roundRect">
            <a:avLst>
              <a:gd name="adj" fmla="val 23077"/>
            </a:avLst>
          </a:prstGeom>
          <a:solidFill>
            <a:srgbClr val="DDEDE9"/>
          </a:solidFill>
          <a:ln w="9525">
            <a:solidFill>
              <a:srgbClr val="B8DAD3"/>
            </a:solidFill>
            <a:prstDash val="solid"/>
          </a:ln>
        </p:spPr>
        <p:txBody>
          <a:bodyPr/>
          <a:lstStyle/>
          <a:p>
            <a:endParaRPr/>
          </a:p>
        </p:txBody>
      </p:sp>
      <p:sp>
        <p:nvSpPr>
          <p:cNvPr id="15" name="Rectangle 14">
            <a:extLst>
              <a:ext uri="{FF2B5EF4-FFF2-40B4-BE49-F238E27FC236}">
                <a16:creationId xmlns:a16="http://schemas.microsoft.com/office/drawing/2014/main" id="{569A52D3-938C-4773-A694-D7B3A6427942}"/>
              </a:ext>
            </a:extLst>
          </p:cNvPr>
          <p:cNvSpPr>
            <a:spLocks noGrp="1"/>
          </p:cNvSpPr>
          <p:nvPr/>
        </p:nvSpPr>
        <p:spPr>
          <a:xfrm>
            <a:off x="4857750" y="2476500"/>
            <a:ext cx="876300" cy="1143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45" b="1">
                <a:solidFill>
                  <a:srgbClr val="264653"/>
                </a:solidFill>
                <a:latin typeface="Aptos"/>
                <a:ea typeface="Aptos"/>
                <a:cs typeface="Aptos"/>
              </a:defRPr>
            </a:pPr>
            <a:r>
              <a:rPr sz="645" b="1">
                <a:solidFill>
                  <a:srgbClr val="264653"/>
                </a:solidFill>
                <a:latin typeface="Aptos"/>
                <a:ea typeface="Aptos"/>
                <a:cs typeface="Aptos"/>
              </a:rPr>
              <a:t>supporting</a:t>
            </a:r>
          </a:p>
        </p:txBody>
      </p:sp>
      <p:sp>
        <p:nvSpPr>
          <p:cNvPr id="16" name="Rectangle 15">
            <a:extLst>
              <a:ext uri="{FF2B5EF4-FFF2-40B4-BE49-F238E27FC236}">
                <a16:creationId xmlns:a16="http://schemas.microsoft.com/office/drawing/2014/main" id="{5D04D85F-C83A-4430-ADDB-D467589C4B26}"/>
              </a:ext>
            </a:extLst>
          </p:cNvPr>
          <p:cNvSpPr>
            <a:spLocks noGrp="1"/>
          </p:cNvSpPr>
          <p:nvPr/>
        </p:nvSpPr>
        <p:spPr>
          <a:xfrm>
            <a:off x="4800600" y="2971800"/>
            <a:ext cx="2590800" cy="8191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2000"/>
              </a:lnSpc>
              <a:buNone/>
              <a:defRPr sz="1155" b="0">
                <a:solidFill>
                  <a:srgbClr val="142026"/>
                </a:solidFill>
                <a:latin typeface="Aptos"/>
                <a:ea typeface="Aptos"/>
                <a:cs typeface="Aptos"/>
              </a:defRPr>
            </a:pPr>
            <a:r>
              <a:rPr sz="1155" b="0">
                <a:solidFill>
                  <a:srgbClr val="142026"/>
                </a:solidFill>
                <a:latin typeface="Aptos"/>
                <a:ea typeface="Aptos"/>
                <a:cs typeface="Aptos"/>
              </a:rPr>
              <a:t>Order-insensitive multiset exact-line matching; useful when many line strings are present but shifted.</a:t>
            </a:r>
          </a:p>
        </p:txBody>
      </p:sp>
      <p:sp>
        <p:nvSpPr>
          <p:cNvPr id="17" name="Rounded Rectangle 16">
            <a:extLst>
              <a:ext uri="{FF2B5EF4-FFF2-40B4-BE49-F238E27FC236}">
                <a16:creationId xmlns:a16="http://schemas.microsoft.com/office/drawing/2014/main" id="{24061785-6D9E-4225-A08E-C69F6A4B3BD1}"/>
              </a:ext>
            </a:extLst>
          </p:cNvPr>
          <p:cNvSpPr>
            <a:spLocks noGrp="1"/>
          </p:cNvSpPr>
          <p:nvPr/>
        </p:nvSpPr>
        <p:spPr>
          <a:xfrm>
            <a:off x="8153400" y="1504950"/>
            <a:ext cx="3238500" cy="2590800"/>
          </a:xfrm>
          <a:prstGeom prst="roundRect">
            <a:avLst>
              <a:gd name="adj" fmla="val 2206"/>
            </a:avLst>
          </a:prstGeom>
          <a:solidFill>
            <a:srgbClr val="FFFDF7"/>
          </a:solidFill>
          <a:ln w="9525">
            <a:solidFill>
              <a:srgbClr val="CFC7B8"/>
            </a:solidFill>
            <a:prstDash val="solid"/>
          </a:ln>
        </p:spPr>
        <p:txBody>
          <a:bodyPr/>
          <a:lstStyle/>
          <a:p>
            <a:endParaRPr/>
          </a:p>
        </p:txBody>
      </p:sp>
      <p:sp>
        <p:nvSpPr>
          <p:cNvPr id="18" name="Rectangle 17">
            <a:extLst>
              <a:ext uri="{FF2B5EF4-FFF2-40B4-BE49-F238E27FC236}">
                <a16:creationId xmlns:a16="http://schemas.microsoft.com/office/drawing/2014/main" id="{E05601C5-D5AA-4D7F-9FB2-6823841BD328}"/>
              </a:ext>
            </a:extLst>
          </p:cNvPr>
          <p:cNvSpPr>
            <a:spLocks noGrp="1"/>
          </p:cNvSpPr>
          <p:nvPr/>
        </p:nvSpPr>
        <p:spPr>
          <a:xfrm>
            <a:off x="8477250" y="1943100"/>
            <a:ext cx="2590800" cy="2857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800" b="1">
                <a:solidFill>
                  <a:srgbClr val="264653"/>
                </a:solidFill>
                <a:latin typeface="Aptos Display"/>
                <a:ea typeface="Aptos Display"/>
                <a:cs typeface="Aptos Display"/>
              </a:defRPr>
            </a:pPr>
            <a:r>
              <a:rPr sz="1800" b="1">
                <a:solidFill>
                  <a:srgbClr val="264653"/>
                </a:solidFill>
                <a:latin typeface="Aptos Display"/>
                <a:ea typeface="Aptos Display"/>
                <a:cs typeface="Aptos Display"/>
              </a:rPr>
              <a:t>CERnorm / WERnorm</a:t>
            </a:r>
          </a:p>
        </p:txBody>
      </p:sp>
      <p:sp>
        <p:nvSpPr>
          <p:cNvPr id="19" name="Rounded Rectangle 18">
            <a:extLst>
              <a:ext uri="{FF2B5EF4-FFF2-40B4-BE49-F238E27FC236}">
                <a16:creationId xmlns:a16="http://schemas.microsoft.com/office/drawing/2014/main" id="{F62109BA-4DF7-405C-8E10-2A850D38E249}"/>
              </a:ext>
            </a:extLst>
          </p:cNvPr>
          <p:cNvSpPr>
            <a:spLocks noGrp="1"/>
          </p:cNvSpPr>
          <p:nvPr/>
        </p:nvSpPr>
        <p:spPr>
          <a:xfrm>
            <a:off x="8477250" y="2419350"/>
            <a:ext cx="990600" cy="247650"/>
          </a:xfrm>
          <a:prstGeom prst="roundRect">
            <a:avLst>
              <a:gd name="adj" fmla="val 23077"/>
            </a:avLst>
          </a:prstGeom>
          <a:solidFill>
            <a:srgbClr val="DDEDE9"/>
          </a:solidFill>
          <a:ln w="9525">
            <a:solidFill>
              <a:srgbClr val="B8DAD3"/>
            </a:solidFill>
            <a:prstDash val="solid"/>
          </a:ln>
        </p:spPr>
        <p:txBody>
          <a:bodyPr/>
          <a:lstStyle/>
          <a:p>
            <a:endParaRPr/>
          </a:p>
        </p:txBody>
      </p:sp>
      <p:sp>
        <p:nvSpPr>
          <p:cNvPr id="20" name="Rectangle 19">
            <a:extLst>
              <a:ext uri="{FF2B5EF4-FFF2-40B4-BE49-F238E27FC236}">
                <a16:creationId xmlns:a16="http://schemas.microsoft.com/office/drawing/2014/main" id="{8C7EAE1F-B839-4BD1-99C8-B5B75B3184F3}"/>
              </a:ext>
            </a:extLst>
          </p:cNvPr>
          <p:cNvSpPr>
            <a:spLocks noGrp="1"/>
          </p:cNvSpPr>
          <p:nvPr/>
        </p:nvSpPr>
        <p:spPr>
          <a:xfrm>
            <a:off x="8534400" y="2476500"/>
            <a:ext cx="876300" cy="1143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45" b="1">
                <a:solidFill>
                  <a:srgbClr val="264653"/>
                </a:solidFill>
                <a:latin typeface="Aptos"/>
                <a:ea typeface="Aptos"/>
                <a:cs typeface="Aptos"/>
              </a:defRPr>
            </a:pPr>
            <a:r>
              <a:rPr sz="645" b="1">
                <a:solidFill>
                  <a:srgbClr val="264653"/>
                </a:solidFill>
                <a:latin typeface="Aptos"/>
                <a:ea typeface="Aptos"/>
                <a:cs typeface="Aptos"/>
              </a:rPr>
              <a:t>supporting</a:t>
            </a:r>
          </a:p>
        </p:txBody>
      </p:sp>
      <p:sp>
        <p:nvSpPr>
          <p:cNvPr id="21" name="Rectangle 20">
            <a:extLst>
              <a:ext uri="{FF2B5EF4-FFF2-40B4-BE49-F238E27FC236}">
                <a16:creationId xmlns:a16="http://schemas.microsoft.com/office/drawing/2014/main" id="{E90F57BE-E07C-44E4-A347-70ACA6F992FF}"/>
              </a:ext>
            </a:extLst>
          </p:cNvPr>
          <p:cNvSpPr>
            <a:spLocks noGrp="1"/>
          </p:cNvSpPr>
          <p:nvPr/>
        </p:nvSpPr>
        <p:spPr>
          <a:xfrm>
            <a:off x="8477250" y="2971800"/>
            <a:ext cx="2590800" cy="8191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2000"/>
              </a:lnSpc>
              <a:buNone/>
              <a:defRPr sz="1155" b="0">
                <a:solidFill>
                  <a:srgbClr val="142026"/>
                </a:solidFill>
                <a:latin typeface="Aptos"/>
                <a:ea typeface="Aptos"/>
                <a:cs typeface="Aptos"/>
              </a:defRPr>
            </a:pPr>
            <a:r>
              <a:rPr sz="1155" b="0">
                <a:solidFill>
                  <a:srgbClr val="142026"/>
                </a:solidFill>
                <a:latin typeface="Aptos"/>
                <a:ea typeface="Aptos"/>
                <a:cs typeface="Aptos"/>
              </a:rPr>
              <a:t>Sanity checks for residual character or word drift after full-text whitespace normalization.</a:t>
            </a:r>
          </a:p>
        </p:txBody>
      </p:sp>
    </p:spTree>
    <p:extLst>
      <p:ext uri="{BB962C8B-B14F-4D97-AF65-F5344CB8AC3E}">
        <p14:creationId xmlns:p14="http://schemas.microsoft.com/office/powerpoint/2010/main" val="346321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7D6592CF-CB69-4469-8414-6B404CDAE4BF}"/>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55082BEA-9048-4EA0-A316-24960409659A}"/>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3A3181A7-2BBF-4EE0-983F-30198E2F2E7B}"/>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A11</a:t>
            </a:r>
          </a:p>
        </p:txBody>
      </p:sp>
      <p:sp>
        <p:nvSpPr>
          <p:cNvPr id="4" name="Rectangle 3">
            <a:extLst>
              <a:ext uri="{FF2B5EF4-FFF2-40B4-BE49-F238E27FC236}">
                <a16:creationId xmlns:a16="http://schemas.microsoft.com/office/drawing/2014/main" id="{3E670589-93A5-44D6-88EB-4678E007ED25}"/>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Printed Results</a:t>
            </a:r>
          </a:p>
        </p:txBody>
      </p:sp>
      <p:sp>
        <p:nvSpPr>
          <p:cNvPr id="5" name="Rectangle 4">
            <a:extLst>
              <a:ext uri="{FF2B5EF4-FFF2-40B4-BE49-F238E27FC236}">
                <a16:creationId xmlns:a16="http://schemas.microsoft.com/office/drawing/2014/main" id="{8DB6116D-FB55-4281-B697-DFA193ADB303}"/>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12A0322D-4D34-404C-8113-C9CF65CBD5A6}"/>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25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CDB20D0A-01BC-448D-AAD4-A1DBE7690290}"/>
              </a:ext>
            </a:extLst>
          </p:cNvPr>
          <p:cNvSpPr>
            <a:spLocks noGrp="1"/>
          </p:cNvSpPr>
          <p:nvPr/>
        </p:nvSpPr>
        <p:spPr>
          <a:xfrm>
            <a:off x="2362200" y="1600200"/>
            <a:ext cx="2476500" cy="323850"/>
          </a:xfrm>
          <a:prstGeom prst="rect">
            <a:avLst/>
          </a:prstGeom>
          <a:solidFill>
            <a:srgbClr val="264653"/>
          </a:solidFill>
          <a:ln w="9525">
            <a:solidFill>
              <a:srgbClr val="264653"/>
            </a:solidFill>
            <a:prstDash val="solid"/>
          </a:ln>
        </p:spPr>
        <p:txBody>
          <a:bodyPr/>
          <a:lstStyle/>
          <a:p>
            <a:endParaRPr/>
          </a:p>
        </p:txBody>
      </p:sp>
      <p:sp>
        <p:nvSpPr>
          <p:cNvPr id="8" name="Rectangle 7">
            <a:extLst>
              <a:ext uri="{FF2B5EF4-FFF2-40B4-BE49-F238E27FC236}">
                <a16:creationId xmlns:a16="http://schemas.microsoft.com/office/drawing/2014/main" id="{364E420F-6B12-4EF2-8D64-47A418C1773D}"/>
              </a:ext>
            </a:extLst>
          </p:cNvPr>
          <p:cNvSpPr>
            <a:spLocks noGrp="1"/>
          </p:cNvSpPr>
          <p:nvPr/>
        </p:nvSpPr>
        <p:spPr>
          <a:xfrm>
            <a:off x="2362200" y="1600200"/>
            <a:ext cx="2476500" cy="32385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l">
              <a:buNone/>
              <a:defRPr sz="1035" b="1">
                <a:solidFill>
                  <a:srgbClr val="FFFFFF"/>
                </a:solidFill>
                <a:latin typeface="Aptos"/>
                <a:ea typeface="Aptos"/>
                <a:cs typeface="Aptos"/>
              </a:defRPr>
            </a:pPr>
            <a:r>
              <a:rPr sz="1035" b="1">
                <a:solidFill>
                  <a:srgbClr val="FFFFFF"/>
                </a:solidFill>
                <a:latin typeface="Aptos"/>
                <a:ea typeface="Aptos"/>
                <a:cs typeface="Aptos"/>
              </a:rPr>
              <a:t>Dataset</a:t>
            </a:r>
          </a:p>
        </p:txBody>
      </p:sp>
      <p:sp>
        <p:nvSpPr>
          <p:cNvPr id="9" name="Rectangle 8">
            <a:extLst>
              <a:ext uri="{FF2B5EF4-FFF2-40B4-BE49-F238E27FC236}">
                <a16:creationId xmlns:a16="http://schemas.microsoft.com/office/drawing/2014/main" id="{7E0CD752-96AE-452A-A9B9-D5933ECCB25F}"/>
              </a:ext>
            </a:extLst>
          </p:cNvPr>
          <p:cNvSpPr>
            <a:spLocks noGrp="1"/>
          </p:cNvSpPr>
          <p:nvPr/>
        </p:nvSpPr>
        <p:spPr>
          <a:xfrm>
            <a:off x="4838700" y="1600200"/>
            <a:ext cx="1143000" cy="323850"/>
          </a:xfrm>
          <a:prstGeom prst="rect">
            <a:avLst/>
          </a:prstGeom>
          <a:solidFill>
            <a:srgbClr val="264653"/>
          </a:solidFill>
          <a:ln w="9525">
            <a:solidFill>
              <a:srgbClr val="264653"/>
            </a:solidFill>
            <a:prstDash val="solid"/>
          </a:ln>
        </p:spPr>
        <p:txBody>
          <a:bodyPr/>
          <a:lstStyle/>
          <a:p>
            <a:endParaRPr/>
          </a:p>
        </p:txBody>
      </p:sp>
      <p:sp>
        <p:nvSpPr>
          <p:cNvPr id="10" name="Rectangle 9">
            <a:extLst>
              <a:ext uri="{FF2B5EF4-FFF2-40B4-BE49-F238E27FC236}">
                <a16:creationId xmlns:a16="http://schemas.microsoft.com/office/drawing/2014/main" id="{22FFEB87-53DE-49AE-8236-C6F19811B223}"/>
              </a:ext>
            </a:extLst>
          </p:cNvPr>
          <p:cNvSpPr>
            <a:spLocks noGrp="1"/>
          </p:cNvSpPr>
          <p:nvPr/>
        </p:nvSpPr>
        <p:spPr>
          <a:xfrm>
            <a:off x="4838700" y="1600200"/>
            <a:ext cx="1143000" cy="32385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035" b="1">
                <a:solidFill>
                  <a:srgbClr val="FFFFFF"/>
                </a:solidFill>
                <a:latin typeface="Aptos"/>
                <a:ea typeface="Aptos"/>
                <a:cs typeface="Aptos"/>
              </a:defRPr>
            </a:pPr>
            <a:r>
              <a:rPr sz="1035" b="1">
                <a:solidFill>
                  <a:srgbClr val="FFFFFF"/>
                </a:solidFill>
                <a:latin typeface="Aptos"/>
                <a:ea typeface="Aptos"/>
                <a:cs typeface="Aptos"/>
              </a:rPr>
              <a:t>Samples</a:t>
            </a:r>
          </a:p>
        </p:txBody>
      </p:sp>
      <p:sp>
        <p:nvSpPr>
          <p:cNvPr id="11" name="Rectangle 10">
            <a:extLst>
              <a:ext uri="{FF2B5EF4-FFF2-40B4-BE49-F238E27FC236}">
                <a16:creationId xmlns:a16="http://schemas.microsoft.com/office/drawing/2014/main" id="{2E6AF350-BCBB-470E-AEAF-1F747E814CC6}"/>
              </a:ext>
            </a:extLst>
          </p:cNvPr>
          <p:cNvSpPr>
            <a:spLocks noGrp="1"/>
          </p:cNvSpPr>
          <p:nvPr/>
        </p:nvSpPr>
        <p:spPr>
          <a:xfrm>
            <a:off x="5981700" y="1600200"/>
            <a:ext cx="1143000" cy="323850"/>
          </a:xfrm>
          <a:prstGeom prst="rect">
            <a:avLst/>
          </a:prstGeom>
          <a:solidFill>
            <a:srgbClr val="264653"/>
          </a:solidFill>
          <a:ln w="9525">
            <a:solidFill>
              <a:srgbClr val="264653"/>
            </a:solidFill>
            <a:prstDash val="solid"/>
          </a:ln>
        </p:spPr>
        <p:txBody>
          <a:bodyPr/>
          <a:lstStyle/>
          <a:p>
            <a:endParaRPr/>
          </a:p>
        </p:txBody>
      </p:sp>
      <p:sp>
        <p:nvSpPr>
          <p:cNvPr id="12" name="Rectangle 11">
            <a:extLst>
              <a:ext uri="{FF2B5EF4-FFF2-40B4-BE49-F238E27FC236}">
                <a16:creationId xmlns:a16="http://schemas.microsoft.com/office/drawing/2014/main" id="{8F5DBAEA-B001-4E4A-96F9-55D55962888A}"/>
              </a:ext>
            </a:extLst>
          </p:cNvPr>
          <p:cNvSpPr>
            <a:spLocks noGrp="1"/>
          </p:cNvSpPr>
          <p:nvPr/>
        </p:nvSpPr>
        <p:spPr>
          <a:xfrm>
            <a:off x="5981700" y="1600200"/>
            <a:ext cx="1143000" cy="32385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035" b="1">
                <a:solidFill>
                  <a:srgbClr val="FFFFFF"/>
                </a:solidFill>
                <a:latin typeface="Aptos"/>
                <a:ea typeface="Aptos"/>
                <a:cs typeface="Aptos"/>
              </a:defRPr>
            </a:pPr>
            <a:r>
              <a:rPr sz="1035" b="1">
                <a:solidFill>
                  <a:srgbClr val="FFFFFF"/>
                </a:solidFill>
                <a:latin typeface="Aptos"/>
                <a:ea typeface="Aptos"/>
                <a:cs typeface="Aptos"/>
              </a:rPr>
              <a:t>M1</a:t>
            </a:r>
          </a:p>
        </p:txBody>
      </p:sp>
      <p:sp>
        <p:nvSpPr>
          <p:cNvPr id="13" name="Rectangle 12">
            <a:extLst>
              <a:ext uri="{FF2B5EF4-FFF2-40B4-BE49-F238E27FC236}">
                <a16:creationId xmlns:a16="http://schemas.microsoft.com/office/drawing/2014/main" id="{C36A40A4-F54D-441C-AEE5-8FEE14B7BFCB}"/>
              </a:ext>
            </a:extLst>
          </p:cNvPr>
          <p:cNvSpPr>
            <a:spLocks noGrp="1"/>
          </p:cNvSpPr>
          <p:nvPr/>
        </p:nvSpPr>
        <p:spPr>
          <a:xfrm>
            <a:off x="7124700" y="1600200"/>
            <a:ext cx="1143000" cy="323850"/>
          </a:xfrm>
          <a:prstGeom prst="rect">
            <a:avLst/>
          </a:prstGeom>
          <a:solidFill>
            <a:srgbClr val="264653"/>
          </a:solidFill>
          <a:ln w="9525">
            <a:solidFill>
              <a:srgbClr val="264653"/>
            </a:solidFill>
            <a:prstDash val="solid"/>
          </a:ln>
        </p:spPr>
        <p:txBody>
          <a:bodyPr/>
          <a:lstStyle/>
          <a:p>
            <a:endParaRPr/>
          </a:p>
        </p:txBody>
      </p:sp>
      <p:sp>
        <p:nvSpPr>
          <p:cNvPr id="14" name="Rectangle 13">
            <a:extLst>
              <a:ext uri="{FF2B5EF4-FFF2-40B4-BE49-F238E27FC236}">
                <a16:creationId xmlns:a16="http://schemas.microsoft.com/office/drawing/2014/main" id="{C7048198-9239-4496-AC7C-02AC7546313F}"/>
              </a:ext>
            </a:extLst>
          </p:cNvPr>
          <p:cNvSpPr>
            <a:spLocks noGrp="1"/>
          </p:cNvSpPr>
          <p:nvPr/>
        </p:nvSpPr>
        <p:spPr>
          <a:xfrm>
            <a:off x="7124700" y="1600200"/>
            <a:ext cx="1143000" cy="32385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035" b="1">
                <a:solidFill>
                  <a:srgbClr val="FFFFFF"/>
                </a:solidFill>
                <a:latin typeface="Aptos"/>
                <a:ea typeface="Aptos"/>
                <a:cs typeface="Aptos"/>
              </a:defRPr>
            </a:pPr>
            <a:r>
              <a:rPr sz="1035" b="1">
                <a:solidFill>
                  <a:srgbClr val="FFFFFF"/>
                </a:solidFill>
                <a:latin typeface="Aptos"/>
                <a:ea typeface="Aptos"/>
                <a:cs typeface="Aptos"/>
              </a:rPr>
              <a:t>M2</a:t>
            </a:r>
          </a:p>
        </p:txBody>
      </p:sp>
      <p:sp>
        <p:nvSpPr>
          <p:cNvPr id="15" name="Rectangle 14">
            <a:extLst>
              <a:ext uri="{FF2B5EF4-FFF2-40B4-BE49-F238E27FC236}">
                <a16:creationId xmlns:a16="http://schemas.microsoft.com/office/drawing/2014/main" id="{227C8843-1125-4482-8EE4-6BF95401AF38}"/>
              </a:ext>
            </a:extLst>
          </p:cNvPr>
          <p:cNvSpPr>
            <a:spLocks noGrp="1"/>
          </p:cNvSpPr>
          <p:nvPr/>
        </p:nvSpPr>
        <p:spPr>
          <a:xfrm>
            <a:off x="8267700" y="1600200"/>
            <a:ext cx="1143000" cy="323850"/>
          </a:xfrm>
          <a:prstGeom prst="rect">
            <a:avLst/>
          </a:prstGeom>
          <a:solidFill>
            <a:srgbClr val="264653"/>
          </a:solidFill>
          <a:ln w="9525">
            <a:solidFill>
              <a:srgbClr val="264653"/>
            </a:solidFill>
            <a:prstDash val="solid"/>
          </a:ln>
        </p:spPr>
        <p:txBody>
          <a:bodyPr/>
          <a:lstStyle/>
          <a:p>
            <a:endParaRPr/>
          </a:p>
        </p:txBody>
      </p:sp>
      <p:sp>
        <p:nvSpPr>
          <p:cNvPr id="16" name="Rectangle 15">
            <a:extLst>
              <a:ext uri="{FF2B5EF4-FFF2-40B4-BE49-F238E27FC236}">
                <a16:creationId xmlns:a16="http://schemas.microsoft.com/office/drawing/2014/main" id="{BDB779A8-2D1C-4C28-A770-820119B8C6DF}"/>
              </a:ext>
            </a:extLst>
          </p:cNvPr>
          <p:cNvSpPr>
            <a:spLocks noGrp="1"/>
          </p:cNvSpPr>
          <p:nvPr/>
        </p:nvSpPr>
        <p:spPr>
          <a:xfrm>
            <a:off x="8267700" y="1600200"/>
            <a:ext cx="1143000" cy="32385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035" b="1">
                <a:solidFill>
                  <a:srgbClr val="FFFFFF"/>
                </a:solidFill>
                <a:latin typeface="Aptos"/>
                <a:ea typeface="Aptos"/>
                <a:cs typeface="Aptos"/>
              </a:defRPr>
            </a:pPr>
            <a:r>
              <a:rPr sz="1035" b="1">
                <a:solidFill>
                  <a:srgbClr val="FFFFFF"/>
                </a:solidFill>
                <a:latin typeface="Aptos"/>
                <a:ea typeface="Aptos"/>
                <a:cs typeface="Aptos"/>
              </a:rPr>
              <a:t>M3</a:t>
            </a:r>
          </a:p>
        </p:txBody>
      </p:sp>
      <p:sp>
        <p:nvSpPr>
          <p:cNvPr id="17" name="Rectangle 16">
            <a:extLst>
              <a:ext uri="{FF2B5EF4-FFF2-40B4-BE49-F238E27FC236}">
                <a16:creationId xmlns:a16="http://schemas.microsoft.com/office/drawing/2014/main" id="{D2EE51B9-153E-4313-B856-BD154C3ED688}"/>
              </a:ext>
            </a:extLst>
          </p:cNvPr>
          <p:cNvSpPr>
            <a:spLocks noGrp="1"/>
          </p:cNvSpPr>
          <p:nvPr/>
        </p:nvSpPr>
        <p:spPr>
          <a:xfrm>
            <a:off x="2362200" y="1924050"/>
            <a:ext cx="2476500" cy="647700"/>
          </a:xfrm>
          <a:prstGeom prst="rect">
            <a:avLst/>
          </a:prstGeom>
          <a:solidFill>
            <a:srgbClr val="FFFDF7"/>
          </a:solidFill>
          <a:ln w="9525">
            <a:solidFill>
              <a:srgbClr val="CFC7B8"/>
            </a:solidFill>
            <a:prstDash val="solid"/>
          </a:ln>
        </p:spPr>
        <p:txBody>
          <a:bodyPr/>
          <a:lstStyle/>
          <a:p>
            <a:endParaRPr/>
          </a:p>
        </p:txBody>
      </p:sp>
      <p:sp>
        <p:nvSpPr>
          <p:cNvPr id="18" name="Rectangle 17">
            <a:extLst>
              <a:ext uri="{FF2B5EF4-FFF2-40B4-BE49-F238E27FC236}">
                <a16:creationId xmlns:a16="http://schemas.microsoft.com/office/drawing/2014/main" id="{6F111089-64C9-4F5E-A48F-B3BDF4663E43}"/>
              </a:ext>
            </a:extLst>
          </p:cNvPr>
          <p:cNvSpPr>
            <a:spLocks noGrp="1"/>
          </p:cNvSpPr>
          <p:nvPr/>
        </p:nvSpPr>
        <p:spPr>
          <a:xfrm>
            <a:off x="2362200" y="1924050"/>
            <a:ext cx="24765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l">
              <a:buNone/>
              <a:defRPr sz="1170" b="0">
                <a:solidFill>
                  <a:srgbClr val="142026"/>
                </a:solidFill>
                <a:latin typeface="Aptos"/>
                <a:ea typeface="Aptos"/>
                <a:cs typeface="Aptos"/>
              </a:defRPr>
            </a:pPr>
            <a:r>
              <a:rPr sz="1170" b="0">
                <a:solidFill>
                  <a:srgbClr val="142026"/>
                </a:solidFill>
                <a:latin typeface="Aptos"/>
                <a:ea typeface="Aptos"/>
                <a:cs typeface="Aptos"/>
              </a:rPr>
              <a:t>Bullinger Print</a:t>
            </a:r>
          </a:p>
        </p:txBody>
      </p:sp>
      <p:sp>
        <p:nvSpPr>
          <p:cNvPr id="19" name="Rectangle 18">
            <a:extLst>
              <a:ext uri="{FF2B5EF4-FFF2-40B4-BE49-F238E27FC236}">
                <a16:creationId xmlns:a16="http://schemas.microsoft.com/office/drawing/2014/main" id="{8BCEA8AE-EC2D-4B9C-B570-4E986963043D}"/>
              </a:ext>
            </a:extLst>
          </p:cNvPr>
          <p:cNvSpPr>
            <a:spLocks noGrp="1"/>
          </p:cNvSpPr>
          <p:nvPr/>
        </p:nvSpPr>
        <p:spPr>
          <a:xfrm>
            <a:off x="4838700" y="1924050"/>
            <a:ext cx="1143000" cy="647700"/>
          </a:xfrm>
          <a:prstGeom prst="rect">
            <a:avLst/>
          </a:prstGeom>
          <a:solidFill>
            <a:srgbClr val="FFFDF7"/>
          </a:solidFill>
          <a:ln w="9525">
            <a:solidFill>
              <a:srgbClr val="CFC7B8"/>
            </a:solidFill>
            <a:prstDash val="solid"/>
          </a:ln>
        </p:spPr>
        <p:txBody>
          <a:bodyPr/>
          <a:lstStyle/>
          <a:p>
            <a:endParaRPr/>
          </a:p>
        </p:txBody>
      </p:sp>
      <p:sp>
        <p:nvSpPr>
          <p:cNvPr id="20" name="Rectangle 19">
            <a:extLst>
              <a:ext uri="{FF2B5EF4-FFF2-40B4-BE49-F238E27FC236}">
                <a16:creationId xmlns:a16="http://schemas.microsoft.com/office/drawing/2014/main" id="{5D9DA565-A871-480C-B542-FC6CDBDFD908}"/>
              </a:ext>
            </a:extLst>
          </p:cNvPr>
          <p:cNvSpPr>
            <a:spLocks noGrp="1"/>
          </p:cNvSpPr>
          <p:nvPr/>
        </p:nvSpPr>
        <p:spPr>
          <a:xfrm>
            <a:off x="4838700" y="19240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10</a:t>
            </a:r>
          </a:p>
        </p:txBody>
      </p:sp>
      <p:sp>
        <p:nvSpPr>
          <p:cNvPr id="21" name="Rectangle 20">
            <a:extLst>
              <a:ext uri="{FF2B5EF4-FFF2-40B4-BE49-F238E27FC236}">
                <a16:creationId xmlns:a16="http://schemas.microsoft.com/office/drawing/2014/main" id="{CBF5A5DC-009A-4A46-960E-0FE0D5F880E4}"/>
              </a:ext>
            </a:extLst>
          </p:cNvPr>
          <p:cNvSpPr>
            <a:spLocks noGrp="1"/>
          </p:cNvSpPr>
          <p:nvPr/>
        </p:nvSpPr>
        <p:spPr>
          <a:xfrm>
            <a:off x="5981700" y="1924050"/>
            <a:ext cx="1143000" cy="647700"/>
          </a:xfrm>
          <a:prstGeom prst="rect">
            <a:avLst/>
          </a:prstGeom>
          <a:solidFill>
            <a:srgbClr val="FFFDF7"/>
          </a:solidFill>
          <a:ln w="9525">
            <a:solidFill>
              <a:srgbClr val="CFC7B8"/>
            </a:solidFill>
            <a:prstDash val="solid"/>
          </a:ln>
        </p:spPr>
        <p:txBody>
          <a:bodyPr/>
          <a:lstStyle/>
          <a:p>
            <a:endParaRPr/>
          </a:p>
        </p:txBody>
      </p:sp>
      <p:sp>
        <p:nvSpPr>
          <p:cNvPr id="22" name="Rectangle 21">
            <a:extLst>
              <a:ext uri="{FF2B5EF4-FFF2-40B4-BE49-F238E27FC236}">
                <a16:creationId xmlns:a16="http://schemas.microsoft.com/office/drawing/2014/main" id="{2D24EDD1-4058-4216-B69D-362401E2169D}"/>
              </a:ext>
            </a:extLst>
          </p:cNvPr>
          <p:cNvSpPr>
            <a:spLocks noGrp="1"/>
          </p:cNvSpPr>
          <p:nvPr/>
        </p:nvSpPr>
        <p:spPr>
          <a:xfrm>
            <a:off x="5981700" y="19240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0.594</a:t>
            </a:r>
          </a:p>
        </p:txBody>
      </p:sp>
      <p:sp>
        <p:nvSpPr>
          <p:cNvPr id="23" name="Rectangle 22">
            <a:extLst>
              <a:ext uri="{FF2B5EF4-FFF2-40B4-BE49-F238E27FC236}">
                <a16:creationId xmlns:a16="http://schemas.microsoft.com/office/drawing/2014/main" id="{4E1A8AF8-62B0-4E8D-A5EB-2B7893DB505C}"/>
              </a:ext>
            </a:extLst>
          </p:cNvPr>
          <p:cNvSpPr>
            <a:spLocks noGrp="1"/>
          </p:cNvSpPr>
          <p:nvPr/>
        </p:nvSpPr>
        <p:spPr>
          <a:xfrm>
            <a:off x="7124700" y="1924050"/>
            <a:ext cx="1143000" cy="647700"/>
          </a:xfrm>
          <a:prstGeom prst="rect">
            <a:avLst/>
          </a:prstGeom>
          <a:solidFill>
            <a:srgbClr val="FFFDF7"/>
          </a:solidFill>
          <a:ln w="9525">
            <a:solidFill>
              <a:srgbClr val="CFC7B8"/>
            </a:solidFill>
            <a:prstDash val="solid"/>
          </a:ln>
        </p:spPr>
        <p:txBody>
          <a:bodyPr/>
          <a:lstStyle/>
          <a:p>
            <a:endParaRPr/>
          </a:p>
        </p:txBody>
      </p:sp>
      <p:sp>
        <p:nvSpPr>
          <p:cNvPr id="24" name="Rectangle 23">
            <a:extLst>
              <a:ext uri="{FF2B5EF4-FFF2-40B4-BE49-F238E27FC236}">
                <a16:creationId xmlns:a16="http://schemas.microsoft.com/office/drawing/2014/main" id="{EA8E919B-129B-4F1F-ACDB-4AFF3AE90606}"/>
              </a:ext>
            </a:extLst>
          </p:cNvPr>
          <p:cNvSpPr>
            <a:spLocks noGrp="1"/>
          </p:cNvSpPr>
          <p:nvPr/>
        </p:nvSpPr>
        <p:spPr>
          <a:xfrm>
            <a:off x="7124700" y="19240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0.566</a:t>
            </a:r>
          </a:p>
        </p:txBody>
      </p:sp>
      <p:sp>
        <p:nvSpPr>
          <p:cNvPr id="25" name="Rectangle 24">
            <a:extLst>
              <a:ext uri="{FF2B5EF4-FFF2-40B4-BE49-F238E27FC236}">
                <a16:creationId xmlns:a16="http://schemas.microsoft.com/office/drawing/2014/main" id="{3594E29B-C122-4FEC-9BA2-DC34E9482A27}"/>
              </a:ext>
            </a:extLst>
          </p:cNvPr>
          <p:cNvSpPr>
            <a:spLocks noGrp="1"/>
          </p:cNvSpPr>
          <p:nvPr/>
        </p:nvSpPr>
        <p:spPr>
          <a:xfrm>
            <a:off x="8267700" y="1924050"/>
            <a:ext cx="1143000" cy="647700"/>
          </a:xfrm>
          <a:prstGeom prst="rect">
            <a:avLst/>
          </a:prstGeom>
          <a:solidFill>
            <a:srgbClr val="FFFDF7"/>
          </a:solidFill>
          <a:ln w="9525">
            <a:solidFill>
              <a:srgbClr val="CFC7B8"/>
            </a:solidFill>
            <a:prstDash val="solid"/>
          </a:ln>
        </p:spPr>
        <p:txBody>
          <a:bodyPr/>
          <a:lstStyle/>
          <a:p>
            <a:endParaRPr/>
          </a:p>
        </p:txBody>
      </p:sp>
      <p:sp>
        <p:nvSpPr>
          <p:cNvPr id="26" name="Rectangle 25">
            <a:extLst>
              <a:ext uri="{FF2B5EF4-FFF2-40B4-BE49-F238E27FC236}">
                <a16:creationId xmlns:a16="http://schemas.microsoft.com/office/drawing/2014/main" id="{3F05488D-54BB-4E89-AA9E-89AF114AEB87}"/>
              </a:ext>
            </a:extLst>
          </p:cNvPr>
          <p:cNvSpPr>
            <a:spLocks noGrp="1"/>
          </p:cNvSpPr>
          <p:nvPr/>
        </p:nvSpPr>
        <p:spPr>
          <a:xfrm>
            <a:off x="8267700" y="19240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0.115</a:t>
            </a:r>
          </a:p>
        </p:txBody>
      </p:sp>
      <p:sp>
        <p:nvSpPr>
          <p:cNvPr id="27" name="Rectangle 26">
            <a:extLst>
              <a:ext uri="{FF2B5EF4-FFF2-40B4-BE49-F238E27FC236}">
                <a16:creationId xmlns:a16="http://schemas.microsoft.com/office/drawing/2014/main" id="{D50D8862-8618-42F2-9E5A-3FF4F4C5AFDF}"/>
              </a:ext>
            </a:extLst>
          </p:cNvPr>
          <p:cNvSpPr>
            <a:spLocks noGrp="1"/>
          </p:cNvSpPr>
          <p:nvPr/>
        </p:nvSpPr>
        <p:spPr>
          <a:xfrm>
            <a:off x="2362200" y="2571750"/>
            <a:ext cx="2476500" cy="647700"/>
          </a:xfrm>
          <a:prstGeom prst="rect">
            <a:avLst/>
          </a:prstGeom>
          <a:solidFill>
            <a:srgbClr val="F8F5EA"/>
          </a:solidFill>
          <a:ln w="9525">
            <a:solidFill>
              <a:srgbClr val="CFC7B8"/>
            </a:solidFill>
            <a:prstDash val="solid"/>
          </a:ln>
        </p:spPr>
        <p:txBody>
          <a:bodyPr/>
          <a:lstStyle/>
          <a:p>
            <a:endParaRPr/>
          </a:p>
        </p:txBody>
      </p:sp>
      <p:sp>
        <p:nvSpPr>
          <p:cNvPr id="28" name="Rectangle 27">
            <a:extLst>
              <a:ext uri="{FF2B5EF4-FFF2-40B4-BE49-F238E27FC236}">
                <a16:creationId xmlns:a16="http://schemas.microsoft.com/office/drawing/2014/main" id="{E41900BA-694C-4C95-93B7-F4F48FFF8A8B}"/>
              </a:ext>
            </a:extLst>
          </p:cNvPr>
          <p:cNvSpPr>
            <a:spLocks noGrp="1"/>
          </p:cNvSpPr>
          <p:nvPr/>
        </p:nvSpPr>
        <p:spPr>
          <a:xfrm>
            <a:off x="2362200" y="2571750"/>
            <a:ext cx="24765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l">
              <a:buNone/>
              <a:defRPr sz="1170" b="0">
                <a:solidFill>
                  <a:srgbClr val="142026"/>
                </a:solidFill>
                <a:latin typeface="Aptos"/>
                <a:ea typeface="Aptos"/>
                <a:cs typeface="Aptos"/>
              </a:defRPr>
            </a:pPr>
            <a:r>
              <a:rPr sz="1170" b="0">
                <a:solidFill>
                  <a:srgbClr val="142026"/>
                </a:solidFill>
                <a:latin typeface="Aptos"/>
                <a:ea typeface="Aptos"/>
                <a:cs typeface="Aptos"/>
              </a:rPr>
              <a:t>IAM Print</a:t>
            </a:r>
          </a:p>
        </p:txBody>
      </p:sp>
      <p:sp>
        <p:nvSpPr>
          <p:cNvPr id="29" name="Rectangle 28">
            <a:extLst>
              <a:ext uri="{FF2B5EF4-FFF2-40B4-BE49-F238E27FC236}">
                <a16:creationId xmlns:a16="http://schemas.microsoft.com/office/drawing/2014/main" id="{7C400C3E-B7E0-4DDC-9268-885973C90167}"/>
              </a:ext>
            </a:extLst>
          </p:cNvPr>
          <p:cNvSpPr>
            <a:spLocks noGrp="1"/>
          </p:cNvSpPr>
          <p:nvPr/>
        </p:nvSpPr>
        <p:spPr>
          <a:xfrm>
            <a:off x="4838700" y="2571750"/>
            <a:ext cx="1143000" cy="647700"/>
          </a:xfrm>
          <a:prstGeom prst="rect">
            <a:avLst/>
          </a:prstGeom>
          <a:solidFill>
            <a:srgbClr val="F8F5EA"/>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AC96CD79-8F77-4807-89A6-D0BD2764D6EC}"/>
              </a:ext>
            </a:extLst>
          </p:cNvPr>
          <p:cNvSpPr>
            <a:spLocks noGrp="1"/>
          </p:cNvSpPr>
          <p:nvPr/>
        </p:nvSpPr>
        <p:spPr>
          <a:xfrm>
            <a:off x="4838700" y="25717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30</a:t>
            </a:r>
          </a:p>
        </p:txBody>
      </p:sp>
      <p:sp>
        <p:nvSpPr>
          <p:cNvPr id="31" name="Rectangle 30">
            <a:extLst>
              <a:ext uri="{FF2B5EF4-FFF2-40B4-BE49-F238E27FC236}">
                <a16:creationId xmlns:a16="http://schemas.microsoft.com/office/drawing/2014/main" id="{C6EE853D-5DBE-4F70-9704-82C1F423909C}"/>
              </a:ext>
            </a:extLst>
          </p:cNvPr>
          <p:cNvSpPr>
            <a:spLocks noGrp="1"/>
          </p:cNvSpPr>
          <p:nvPr/>
        </p:nvSpPr>
        <p:spPr>
          <a:xfrm>
            <a:off x="5981700" y="2571750"/>
            <a:ext cx="1143000" cy="647700"/>
          </a:xfrm>
          <a:prstGeom prst="rect">
            <a:avLst/>
          </a:prstGeom>
          <a:solidFill>
            <a:srgbClr val="F8F5EA"/>
          </a:solidFill>
          <a:ln w="9525">
            <a:solidFill>
              <a:srgbClr val="CFC7B8"/>
            </a:solidFill>
            <a:prstDash val="solid"/>
          </a:ln>
        </p:spPr>
        <p:txBody>
          <a:bodyPr/>
          <a:lstStyle/>
          <a:p>
            <a:endParaRPr/>
          </a:p>
        </p:txBody>
      </p:sp>
      <p:sp>
        <p:nvSpPr>
          <p:cNvPr id="32" name="Rectangle 31">
            <a:extLst>
              <a:ext uri="{FF2B5EF4-FFF2-40B4-BE49-F238E27FC236}">
                <a16:creationId xmlns:a16="http://schemas.microsoft.com/office/drawing/2014/main" id="{A5BD45C9-1B3B-4082-8C68-22079EB76F3B}"/>
              </a:ext>
            </a:extLst>
          </p:cNvPr>
          <p:cNvSpPr>
            <a:spLocks noGrp="1"/>
          </p:cNvSpPr>
          <p:nvPr/>
        </p:nvSpPr>
        <p:spPr>
          <a:xfrm>
            <a:off x="5981700" y="25717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0.917</a:t>
            </a:r>
          </a:p>
        </p:txBody>
      </p:sp>
      <p:sp>
        <p:nvSpPr>
          <p:cNvPr id="33" name="Rectangle 32">
            <a:extLst>
              <a:ext uri="{FF2B5EF4-FFF2-40B4-BE49-F238E27FC236}">
                <a16:creationId xmlns:a16="http://schemas.microsoft.com/office/drawing/2014/main" id="{CB8AACD5-2B63-4E89-9A7D-1D718AEBBB71}"/>
              </a:ext>
            </a:extLst>
          </p:cNvPr>
          <p:cNvSpPr>
            <a:spLocks noGrp="1"/>
          </p:cNvSpPr>
          <p:nvPr/>
        </p:nvSpPr>
        <p:spPr>
          <a:xfrm>
            <a:off x="7124700" y="2571750"/>
            <a:ext cx="1143000" cy="647700"/>
          </a:xfrm>
          <a:prstGeom prst="rect">
            <a:avLst/>
          </a:prstGeom>
          <a:solidFill>
            <a:srgbClr val="F8F5EA"/>
          </a:solidFill>
          <a:ln w="9525">
            <a:solidFill>
              <a:srgbClr val="CFC7B8"/>
            </a:solidFill>
            <a:prstDash val="solid"/>
          </a:ln>
        </p:spPr>
        <p:txBody>
          <a:bodyPr/>
          <a:lstStyle/>
          <a:p>
            <a:endParaRPr/>
          </a:p>
        </p:txBody>
      </p:sp>
      <p:sp>
        <p:nvSpPr>
          <p:cNvPr id="34" name="Rectangle 33">
            <a:extLst>
              <a:ext uri="{FF2B5EF4-FFF2-40B4-BE49-F238E27FC236}">
                <a16:creationId xmlns:a16="http://schemas.microsoft.com/office/drawing/2014/main" id="{93BEAF14-9EB6-41A6-B675-40574C22A3DA}"/>
              </a:ext>
            </a:extLst>
          </p:cNvPr>
          <p:cNvSpPr>
            <a:spLocks noGrp="1"/>
          </p:cNvSpPr>
          <p:nvPr/>
        </p:nvSpPr>
        <p:spPr>
          <a:xfrm>
            <a:off x="7124700" y="25717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0.896</a:t>
            </a:r>
          </a:p>
        </p:txBody>
      </p:sp>
      <p:sp>
        <p:nvSpPr>
          <p:cNvPr id="35" name="Rectangle 34">
            <a:extLst>
              <a:ext uri="{FF2B5EF4-FFF2-40B4-BE49-F238E27FC236}">
                <a16:creationId xmlns:a16="http://schemas.microsoft.com/office/drawing/2014/main" id="{EEE34363-8DA5-4B0A-953E-24FD52C9FFFB}"/>
              </a:ext>
            </a:extLst>
          </p:cNvPr>
          <p:cNvSpPr>
            <a:spLocks noGrp="1"/>
          </p:cNvSpPr>
          <p:nvPr/>
        </p:nvSpPr>
        <p:spPr>
          <a:xfrm>
            <a:off x="8267700" y="2571750"/>
            <a:ext cx="1143000" cy="647700"/>
          </a:xfrm>
          <a:prstGeom prst="rect">
            <a:avLst/>
          </a:prstGeom>
          <a:solidFill>
            <a:srgbClr val="F8F5EA"/>
          </a:solidFill>
          <a:ln w="9525">
            <a:solidFill>
              <a:srgbClr val="CFC7B8"/>
            </a:solidFill>
            <a:prstDash val="solid"/>
          </a:ln>
        </p:spPr>
        <p:txBody>
          <a:bodyPr/>
          <a:lstStyle/>
          <a:p>
            <a:endParaRPr/>
          </a:p>
        </p:txBody>
      </p:sp>
      <p:sp>
        <p:nvSpPr>
          <p:cNvPr id="36" name="Rectangle 35">
            <a:extLst>
              <a:ext uri="{FF2B5EF4-FFF2-40B4-BE49-F238E27FC236}">
                <a16:creationId xmlns:a16="http://schemas.microsoft.com/office/drawing/2014/main" id="{9880660E-3484-4101-8DCC-253EB03D206F}"/>
              </a:ext>
            </a:extLst>
          </p:cNvPr>
          <p:cNvSpPr>
            <a:spLocks noGrp="1"/>
          </p:cNvSpPr>
          <p:nvPr/>
        </p:nvSpPr>
        <p:spPr>
          <a:xfrm>
            <a:off x="8267700" y="2571750"/>
            <a:ext cx="1143000" cy="647700"/>
          </a:xfrm>
          <a:prstGeom prst="rect">
            <a:avLst/>
          </a:prstGeom>
          <a:solidFill>
            <a:srgbClr val="000000">
              <a:alpha val="0"/>
            </a:srgbClr>
          </a:solidFill>
          <a:ln w="9525">
            <a:solidFill>
              <a:srgbClr val="000000">
                <a:alpha val="0"/>
              </a:srgbClr>
            </a:solidFill>
            <a:prstDash val="solid"/>
          </a:ln>
        </p:spPr>
        <p:txBody>
          <a:bodyPr wrap="square" lIns="57150" tIns="0" rIns="57150" bIns="0" anchor="ctr"/>
          <a:lstStyle/>
          <a:p>
            <a:pPr algn="ctr">
              <a:buNone/>
              <a:defRPr sz="1155" b="0">
                <a:solidFill>
                  <a:srgbClr val="142026"/>
                </a:solidFill>
                <a:latin typeface="Aptos"/>
                <a:ea typeface="Aptos"/>
                <a:cs typeface="Aptos"/>
              </a:defRPr>
            </a:pPr>
            <a:r>
              <a:rPr sz="1155" b="0">
                <a:solidFill>
                  <a:srgbClr val="142026"/>
                </a:solidFill>
                <a:latin typeface="Aptos"/>
                <a:ea typeface="Aptos"/>
                <a:cs typeface="Aptos"/>
              </a:rPr>
              <a:t>0.934</a:t>
            </a:r>
          </a:p>
        </p:txBody>
      </p:sp>
      <p:sp>
        <p:nvSpPr>
          <p:cNvPr id="37" name="Rounded Rectangle 36">
            <a:extLst>
              <a:ext uri="{FF2B5EF4-FFF2-40B4-BE49-F238E27FC236}">
                <a16:creationId xmlns:a16="http://schemas.microsoft.com/office/drawing/2014/main" id="{75224A7B-62F4-48DF-8989-A13B5BC40AB1}"/>
              </a:ext>
            </a:extLst>
          </p:cNvPr>
          <p:cNvSpPr>
            <a:spLocks noGrp="1"/>
          </p:cNvSpPr>
          <p:nvPr/>
        </p:nvSpPr>
        <p:spPr>
          <a:xfrm>
            <a:off x="2647950" y="4038600"/>
            <a:ext cx="6896100" cy="514350"/>
          </a:xfrm>
          <a:prstGeom prst="roundRect">
            <a:avLst>
              <a:gd name="adj" fmla="val 11111"/>
            </a:avLst>
          </a:prstGeom>
          <a:solidFill>
            <a:srgbClr val="FFF5F0"/>
          </a:solidFill>
          <a:ln w="9525">
            <a:solidFill>
              <a:srgbClr val="E76F51"/>
            </a:solidFill>
            <a:prstDash val="solid"/>
          </a:ln>
        </p:spPr>
        <p:txBody>
          <a:bodyPr/>
          <a:lstStyle/>
          <a:p>
            <a:endParaRPr/>
          </a:p>
        </p:txBody>
      </p:sp>
      <p:sp>
        <p:nvSpPr>
          <p:cNvPr id="38" name="Rectangle 37">
            <a:extLst>
              <a:ext uri="{FF2B5EF4-FFF2-40B4-BE49-F238E27FC236}">
                <a16:creationId xmlns:a16="http://schemas.microsoft.com/office/drawing/2014/main" id="{598EE4DD-626B-434C-AD29-FF6926B1200D}"/>
              </a:ext>
            </a:extLst>
          </p:cNvPr>
          <p:cNvSpPr>
            <a:spLocks noGrp="1"/>
          </p:cNvSpPr>
          <p:nvPr/>
        </p:nvSpPr>
        <p:spPr>
          <a:xfrm>
            <a:off x="2895600" y="4210050"/>
            <a:ext cx="6400800" cy="1524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43" b="1">
                <a:solidFill>
                  <a:srgbClr val="E76F51"/>
                </a:solidFill>
                <a:latin typeface="Aptos"/>
                <a:ea typeface="Aptos"/>
                <a:cs typeface="Aptos"/>
              </a:defRPr>
            </a:pPr>
            <a:r>
              <a:rPr sz="1043" b="1">
                <a:solidFill>
                  <a:srgbClr val="E76F51"/>
                </a:solidFill>
                <a:latin typeface="Aptos"/>
                <a:ea typeface="Aptos"/>
                <a:cs typeface="Aptos"/>
              </a:rPr>
              <a:t>Printed results are M1–M3 only.</a:t>
            </a:r>
          </a:p>
        </p:txBody>
      </p:sp>
      <p:sp>
        <p:nvSpPr>
          <p:cNvPr id="40" name="slide25-title-cover">
            <a:extLst>
              <a:ext uri="{FF2B5EF4-FFF2-40B4-BE49-F238E27FC236}">
                <a16:creationId xmlns:a16="http://schemas.microsoft.com/office/drawing/2014/main" id="{CEEC9474-451C-4661-A686-F0E0FFD41665}"/>
              </a:ext>
            </a:extLst>
          </p:cNvPr>
          <p:cNvSpPr>
            <a:spLocks noGrp="1"/>
          </p:cNvSpPr>
          <p:nvPr/>
        </p:nvSpPr>
        <p:spPr>
          <a:xfrm>
            <a:off x="1714500" y="76200"/>
            <a:ext cx="8953500" cy="419100"/>
          </a:xfrm>
          <a:prstGeom prst="rect">
            <a:avLst/>
          </a:prstGeom>
          <a:solidFill>
            <a:srgbClr val="244B57"/>
          </a:solidFill>
          <a:ln w="0">
            <a:solidFill>
              <a:srgbClr val="244B57"/>
            </a:solidFill>
            <a:prstDash val="solid"/>
          </a:ln>
        </p:spPr>
        <p:txBody>
          <a:bodyPr/>
          <a:lstStyle/>
          <a:p>
            <a:endParaRPr/>
          </a:p>
        </p:txBody>
      </p:sp>
      <p:sp>
        <p:nvSpPr>
          <p:cNvPr id="41" name="Rectangle 40">
            <a:extLst>
              <a:ext uri="{FF2B5EF4-FFF2-40B4-BE49-F238E27FC236}">
                <a16:creationId xmlns:a16="http://schemas.microsoft.com/office/drawing/2014/main" id="{5E301A35-16EC-4DB4-AD8C-BE7B913C2D6F}"/>
              </a:ext>
            </a:extLst>
          </p:cNvPr>
          <p:cNvSpPr>
            <a:spLocks noGrp="1"/>
          </p:cNvSpPr>
          <p:nvPr/>
        </p:nvSpPr>
        <p:spPr>
          <a:xfrm>
            <a:off x="1809750" y="123825"/>
            <a:ext cx="8763000" cy="323850"/>
          </a:xfrm>
          <a:prstGeom prst="rect">
            <a:avLst/>
          </a:prstGeom>
          <a:noFill/>
          <a:ln w="0">
            <a:noFill/>
            <a:prstDash val="solid"/>
          </a:ln>
        </p:spPr>
        <p:txBody>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Printed vs Handwritten Support</a:t>
            </a:r>
          </a:p>
        </p:txBody>
      </p:sp>
      <p:sp>
        <p:nvSpPr>
          <p:cNvPr id="42" name="slide25-body-cover">
            <a:extLst>
              <a:ext uri="{FF2B5EF4-FFF2-40B4-BE49-F238E27FC236}">
                <a16:creationId xmlns:a16="http://schemas.microsoft.com/office/drawing/2014/main" id="{633A206D-286A-441D-8EB4-4A657E2F5BAD}"/>
              </a:ext>
            </a:extLst>
          </p:cNvPr>
          <p:cNvSpPr>
            <a:spLocks noGrp="1"/>
          </p:cNvSpPr>
          <p:nvPr/>
        </p:nvSpPr>
        <p:spPr>
          <a:xfrm>
            <a:off x="514350" y="1219200"/>
            <a:ext cx="11182350" cy="4953000"/>
          </a:xfrm>
          <a:prstGeom prst="rect">
            <a:avLst/>
          </a:prstGeom>
          <a:solidFill>
            <a:srgbClr val="F8F2EA"/>
          </a:solidFill>
          <a:ln w="0">
            <a:solidFill>
              <a:srgbClr val="F8F2EA"/>
            </a:solidFill>
            <a:prstDash val="solid"/>
          </a:ln>
        </p:spPr>
        <p:txBody>
          <a:bodyPr/>
          <a:lstStyle/>
          <a:p>
            <a:endParaRPr/>
          </a:p>
        </p:txBody>
      </p:sp>
      <p:sp>
        <p:nvSpPr>
          <p:cNvPr id="43" name="Rectangle 42">
            <a:extLst>
              <a:ext uri="{FF2B5EF4-FFF2-40B4-BE49-F238E27FC236}">
                <a16:creationId xmlns:a16="http://schemas.microsoft.com/office/drawing/2014/main" id="{00A0B09E-2102-488D-ADCF-9AE45B94F5A8}"/>
              </a:ext>
            </a:extLst>
          </p:cNvPr>
          <p:cNvSpPr>
            <a:spLocks noGrp="1"/>
          </p:cNvSpPr>
          <p:nvPr/>
        </p:nvSpPr>
        <p:spPr>
          <a:xfrm>
            <a:off x="781050" y="1162050"/>
            <a:ext cx="8096250" cy="285750"/>
          </a:xfrm>
          <a:prstGeom prst="rect">
            <a:avLst/>
          </a:prstGeom>
          <a:noFill/>
          <a:ln w="0">
            <a:noFill/>
            <a:prstDash val="solid"/>
          </a:ln>
        </p:spPr>
        <p:txBody>
          <a:bodyPr/>
          <a:lstStyle/>
          <a:p>
            <a:pPr>
              <a:buNone/>
              <a:defRPr sz="1350" b="1">
                <a:solidFill>
                  <a:srgbClr val="3E4C59"/>
                </a:solidFill>
                <a:latin typeface="Aptos"/>
                <a:ea typeface="Aptos"/>
                <a:cs typeface="Aptos"/>
              </a:defRPr>
            </a:pPr>
            <a:r>
              <a:rPr sz="1350" b="1">
                <a:solidFill>
                  <a:srgbClr val="3E4C59"/>
                </a:solidFill>
                <a:latin typeface="Aptos"/>
                <a:ea typeface="Aptos"/>
                <a:cs typeface="Aptos"/>
              </a:rPr>
              <a:t>Diagnostic matched-support comparison: whitespace-normalized LAnorm+/-</a:t>
            </a:r>
          </a:p>
        </p:txBody>
      </p:sp>
      <p:sp>
        <p:nvSpPr>
          <p:cNvPr id="44" name="Rectangle 43">
            <a:extLst>
              <a:ext uri="{FF2B5EF4-FFF2-40B4-BE49-F238E27FC236}">
                <a16:creationId xmlns:a16="http://schemas.microsoft.com/office/drawing/2014/main" id="{0ACA206F-D5AC-45DF-9A5C-2170CB8E7E36}"/>
              </a:ext>
            </a:extLst>
          </p:cNvPr>
          <p:cNvSpPr>
            <a:spLocks noGrp="1"/>
          </p:cNvSpPr>
          <p:nvPr/>
        </p:nvSpPr>
        <p:spPr>
          <a:xfrm>
            <a:off x="781050" y="1600200"/>
            <a:ext cx="1504950" cy="419100"/>
          </a:xfrm>
          <a:prstGeom prst="rect">
            <a:avLst/>
          </a:prstGeom>
          <a:solidFill>
            <a:srgbClr val="243447"/>
          </a:solidFill>
          <a:ln w="9525">
            <a:solidFill>
              <a:srgbClr val="D7D1C7"/>
            </a:solidFill>
            <a:prstDash val="solid"/>
          </a:ln>
        </p:spPr>
        <p:txBody>
          <a:bodyPr/>
          <a:lstStyle/>
          <a:p>
            <a:pPr algn="l">
              <a:buNone/>
              <a:defRPr sz="1125" b="1">
                <a:solidFill>
                  <a:srgbClr val="FFFFFF"/>
                </a:solidFill>
                <a:latin typeface="Aptos"/>
                <a:ea typeface="Aptos"/>
                <a:cs typeface="Aptos"/>
              </a:defRPr>
            </a:pPr>
            <a:r>
              <a:rPr sz="1125" b="1">
                <a:solidFill>
                  <a:srgbClr val="FFFFFF"/>
                </a:solidFill>
                <a:latin typeface="Aptos"/>
                <a:ea typeface="Aptos"/>
                <a:cs typeface="Aptos"/>
              </a:rPr>
              <a:t>Dataset</a:t>
            </a:r>
          </a:p>
        </p:txBody>
      </p:sp>
      <p:sp>
        <p:nvSpPr>
          <p:cNvPr id="45" name="Rectangle 44">
            <a:extLst>
              <a:ext uri="{FF2B5EF4-FFF2-40B4-BE49-F238E27FC236}">
                <a16:creationId xmlns:a16="http://schemas.microsoft.com/office/drawing/2014/main" id="{FF11318A-F306-4A51-9EBB-293AC07CBAD3}"/>
              </a:ext>
            </a:extLst>
          </p:cNvPr>
          <p:cNvSpPr>
            <a:spLocks noGrp="1"/>
          </p:cNvSpPr>
          <p:nvPr/>
        </p:nvSpPr>
        <p:spPr>
          <a:xfrm>
            <a:off x="2286000" y="1600200"/>
            <a:ext cx="628650" cy="419100"/>
          </a:xfrm>
          <a:prstGeom prst="rect">
            <a:avLst/>
          </a:prstGeom>
          <a:solidFill>
            <a:srgbClr val="243447"/>
          </a:solidFill>
          <a:ln w="9525">
            <a:solidFill>
              <a:srgbClr val="D7D1C7"/>
            </a:solidFill>
            <a:prstDash val="solid"/>
          </a:ln>
        </p:spPr>
        <p:txBody>
          <a:bodyP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n</a:t>
            </a:r>
          </a:p>
        </p:txBody>
      </p:sp>
      <p:sp>
        <p:nvSpPr>
          <p:cNvPr id="46" name="Rectangle 45">
            <a:extLst>
              <a:ext uri="{FF2B5EF4-FFF2-40B4-BE49-F238E27FC236}">
                <a16:creationId xmlns:a16="http://schemas.microsoft.com/office/drawing/2014/main" id="{80E8D655-A942-4204-B1E1-9F40FAB2FB80}"/>
              </a:ext>
            </a:extLst>
          </p:cNvPr>
          <p:cNvSpPr>
            <a:spLocks noGrp="1"/>
          </p:cNvSpPr>
          <p:nvPr/>
        </p:nvSpPr>
        <p:spPr>
          <a:xfrm>
            <a:off x="2914650" y="1600200"/>
            <a:ext cx="1314450" cy="419100"/>
          </a:xfrm>
          <a:prstGeom prst="rect">
            <a:avLst/>
          </a:prstGeom>
          <a:solidFill>
            <a:srgbClr val="243447"/>
          </a:solidFill>
          <a:ln w="9525">
            <a:solidFill>
              <a:srgbClr val="D7D1C7"/>
            </a:solidFill>
            <a:prstDash val="solid"/>
          </a:ln>
        </p:spPr>
        <p:txBody>
          <a:bodyP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M1 HW</a:t>
            </a:r>
          </a:p>
        </p:txBody>
      </p:sp>
      <p:sp>
        <p:nvSpPr>
          <p:cNvPr id="47" name="Rectangle 46">
            <a:extLst>
              <a:ext uri="{FF2B5EF4-FFF2-40B4-BE49-F238E27FC236}">
                <a16:creationId xmlns:a16="http://schemas.microsoft.com/office/drawing/2014/main" id="{A12C30FC-D26F-4378-A018-723CC891A7A4}"/>
              </a:ext>
            </a:extLst>
          </p:cNvPr>
          <p:cNvSpPr>
            <a:spLocks noGrp="1"/>
          </p:cNvSpPr>
          <p:nvPr/>
        </p:nvSpPr>
        <p:spPr>
          <a:xfrm>
            <a:off x="4229100" y="1600200"/>
            <a:ext cx="1314450" cy="419100"/>
          </a:xfrm>
          <a:prstGeom prst="rect">
            <a:avLst/>
          </a:prstGeom>
          <a:solidFill>
            <a:srgbClr val="243447"/>
          </a:solidFill>
          <a:ln w="9525">
            <a:solidFill>
              <a:srgbClr val="D7D1C7"/>
            </a:solidFill>
            <a:prstDash val="solid"/>
          </a:ln>
        </p:spPr>
        <p:txBody>
          <a:bodyP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M1 Print</a:t>
            </a:r>
          </a:p>
        </p:txBody>
      </p:sp>
      <p:sp>
        <p:nvSpPr>
          <p:cNvPr id="48" name="Rectangle 47">
            <a:extLst>
              <a:ext uri="{FF2B5EF4-FFF2-40B4-BE49-F238E27FC236}">
                <a16:creationId xmlns:a16="http://schemas.microsoft.com/office/drawing/2014/main" id="{0E347CC9-5F97-40F7-B4D3-99039F354F81}"/>
              </a:ext>
            </a:extLst>
          </p:cNvPr>
          <p:cNvSpPr>
            <a:spLocks noGrp="1"/>
          </p:cNvSpPr>
          <p:nvPr/>
        </p:nvSpPr>
        <p:spPr>
          <a:xfrm>
            <a:off x="5543550" y="1600200"/>
            <a:ext cx="1314450" cy="419100"/>
          </a:xfrm>
          <a:prstGeom prst="rect">
            <a:avLst/>
          </a:prstGeom>
          <a:solidFill>
            <a:srgbClr val="243447"/>
          </a:solidFill>
          <a:ln w="9525">
            <a:solidFill>
              <a:srgbClr val="D7D1C7"/>
            </a:solidFill>
            <a:prstDash val="solid"/>
          </a:ln>
        </p:spPr>
        <p:txBody>
          <a:bodyP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M2 HW</a:t>
            </a:r>
          </a:p>
        </p:txBody>
      </p:sp>
      <p:sp>
        <p:nvSpPr>
          <p:cNvPr id="49" name="Rectangle 48">
            <a:extLst>
              <a:ext uri="{FF2B5EF4-FFF2-40B4-BE49-F238E27FC236}">
                <a16:creationId xmlns:a16="http://schemas.microsoft.com/office/drawing/2014/main" id="{5FC22B68-AF58-4A74-B5D7-528ED9DBFA41}"/>
              </a:ext>
            </a:extLst>
          </p:cNvPr>
          <p:cNvSpPr>
            <a:spLocks noGrp="1"/>
          </p:cNvSpPr>
          <p:nvPr/>
        </p:nvSpPr>
        <p:spPr>
          <a:xfrm>
            <a:off x="6858000" y="1600200"/>
            <a:ext cx="1314450" cy="419100"/>
          </a:xfrm>
          <a:prstGeom prst="rect">
            <a:avLst/>
          </a:prstGeom>
          <a:solidFill>
            <a:srgbClr val="243447"/>
          </a:solidFill>
          <a:ln w="9525">
            <a:solidFill>
              <a:srgbClr val="D7D1C7"/>
            </a:solidFill>
            <a:prstDash val="solid"/>
          </a:ln>
        </p:spPr>
        <p:txBody>
          <a:bodyP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M2 Print</a:t>
            </a:r>
          </a:p>
        </p:txBody>
      </p:sp>
      <p:sp>
        <p:nvSpPr>
          <p:cNvPr id="50" name="Rectangle 49">
            <a:extLst>
              <a:ext uri="{FF2B5EF4-FFF2-40B4-BE49-F238E27FC236}">
                <a16:creationId xmlns:a16="http://schemas.microsoft.com/office/drawing/2014/main" id="{982C8B97-BEA2-4003-8BF1-482E2F3852CE}"/>
              </a:ext>
            </a:extLst>
          </p:cNvPr>
          <p:cNvSpPr>
            <a:spLocks noGrp="1"/>
          </p:cNvSpPr>
          <p:nvPr/>
        </p:nvSpPr>
        <p:spPr>
          <a:xfrm>
            <a:off x="8172450" y="1600200"/>
            <a:ext cx="1314450" cy="419100"/>
          </a:xfrm>
          <a:prstGeom prst="rect">
            <a:avLst/>
          </a:prstGeom>
          <a:solidFill>
            <a:srgbClr val="243447"/>
          </a:solidFill>
          <a:ln w="9525">
            <a:solidFill>
              <a:srgbClr val="D7D1C7"/>
            </a:solidFill>
            <a:prstDash val="solid"/>
          </a:ln>
        </p:spPr>
        <p:txBody>
          <a:bodyP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M3 HW</a:t>
            </a:r>
          </a:p>
        </p:txBody>
      </p:sp>
      <p:sp>
        <p:nvSpPr>
          <p:cNvPr id="51" name="Rectangle 50">
            <a:extLst>
              <a:ext uri="{FF2B5EF4-FFF2-40B4-BE49-F238E27FC236}">
                <a16:creationId xmlns:a16="http://schemas.microsoft.com/office/drawing/2014/main" id="{F74D9CE9-2BD4-4CE7-A298-49D249E7E808}"/>
              </a:ext>
            </a:extLst>
          </p:cNvPr>
          <p:cNvSpPr>
            <a:spLocks noGrp="1"/>
          </p:cNvSpPr>
          <p:nvPr/>
        </p:nvSpPr>
        <p:spPr>
          <a:xfrm>
            <a:off x="9486900" y="1600200"/>
            <a:ext cx="1314450" cy="419100"/>
          </a:xfrm>
          <a:prstGeom prst="rect">
            <a:avLst/>
          </a:prstGeom>
          <a:solidFill>
            <a:srgbClr val="243447"/>
          </a:solidFill>
          <a:ln w="9525">
            <a:solidFill>
              <a:srgbClr val="D7D1C7"/>
            </a:solidFill>
            <a:prstDash val="solid"/>
          </a:ln>
        </p:spPr>
        <p:txBody>
          <a:bodyP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M3 Print</a:t>
            </a:r>
          </a:p>
        </p:txBody>
      </p:sp>
      <p:sp>
        <p:nvSpPr>
          <p:cNvPr id="52" name="Rectangle 51">
            <a:extLst>
              <a:ext uri="{FF2B5EF4-FFF2-40B4-BE49-F238E27FC236}">
                <a16:creationId xmlns:a16="http://schemas.microsoft.com/office/drawing/2014/main" id="{B48C341F-FB56-48CD-ACA0-914EF155AF64}"/>
              </a:ext>
            </a:extLst>
          </p:cNvPr>
          <p:cNvSpPr>
            <a:spLocks noGrp="1"/>
          </p:cNvSpPr>
          <p:nvPr/>
        </p:nvSpPr>
        <p:spPr>
          <a:xfrm>
            <a:off x="781050" y="2019300"/>
            <a:ext cx="1504950" cy="400050"/>
          </a:xfrm>
          <a:prstGeom prst="rect">
            <a:avLst/>
          </a:prstGeom>
          <a:solidFill>
            <a:srgbClr val="E8DDD0"/>
          </a:solidFill>
          <a:ln w="9525">
            <a:solidFill>
              <a:srgbClr val="D7D1C7"/>
            </a:solidFill>
            <a:prstDash val="solid"/>
          </a:ln>
        </p:spPr>
        <p:txBody>
          <a:bodyPr/>
          <a:lstStyle/>
          <a:p>
            <a:pPr algn="l">
              <a:buNone/>
              <a:defRPr sz="900" b="0">
                <a:solidFill>
                  <a:srgbClr val="6A5848"/>
                </a:solidFill>
                <a:latin typeface="Aptos"/>
                <a:ea typeface="Aptos"/>
                <a:cs typeface="Aptos"/>
              </a:defRPr>
            </a:pPr>
            <a:r>
              <a:rPr sz="900" b="0">
                <a:solidFill>
                  <a:srgbClr val="6A5848"/>
                </a:solidFill>
                <a:latin typeface="Aptos"/>
                <a:ea typeface="Aptos"/>
                <a:cs typeface="Aptos"/>
              </a:rPr>
              <a:t>support slice</a:t>
            </a:r>
          </a:p>
        </p:txBody>
      </p:sp>
      <p:sp>
        <p:nvSpPr>
          <p:cNvPr id="53" name="Rectangle 52">
            <a:extLst>
              <a:ext uri="{FF2B5EF4-FFF2-40B4-BE49-F238E27FC236}">
                <a16:creationId xmlns:a16="http://schemas.microsoft.com/office/drawing/2014/main" id="{C9585BE2-9EF0-4AA0-B5F0-F1150AE74697}"/>
              </a:ext>
            </a:extLst>
          </p:cNvPr>
          <p:cNvSpPr>
            <a:spLocks noGrp="1"/>
          </p:cNvSpPr>
          <p:nvPr/>
        </p:nvSpPr>
        <p:spPr>
          <a:xfrm>
            <a:off x="2286000" y="2019300"/>
            <a:ext cx="628650" cy="400050"/>
          </a:xfrm>
          <a:prstGeom prst="rect">
            <a:avLst/>
          </a:prstGeom>
          <a:solidFill>
            <a:srgbClr val="E8DDD0"/>
          </a:solidFill>
          <a:ln w="9525">
            <a:solidFill>
              <a:srgbClr val="D7D1C7"/>
            </a:solidFill>
            <a:prstDash val="solid"/>
          </a:ln>
        </p:spPr>
        <p:txBody>
          <a:bodyPr/>
          <a:lstStyle/>
          <a:p>
            <a:endParaRPr/>
          </a:p>
        </p:txBody>
      </p:sp>
      <p:sp>
        <p:nvSpPr>
          <p:cNvPr id="54" name="Rectangle 53">
            <a:extLst>
              <a:ext uri="{FF2B5EF4-FFF2-40B4-BE49-F238E27FC236}">
                <a16:creationId xmlns:a16="http://schemas.microsoft.com/office/drawing/2014/main" id="{EFF4DD31-E3FB-4758-803B-24A47D6213DE}"/>
              </a:ext>
            </a:extLst>
          </p:cNvPr>
          <p:cNvSpPr>
            <a:spLocks noGrp="1"/>
          </p:cNvSpPr>
          <p:nvPr/>
        </p:nvSpPr>
        <p:spPr>
          <a:xfrm>
            <a:off x="2914650" y="2019300"/>
            <a:ext cx="1314450" cy="400050"/>
          </a:xfrm>
          <a:prstGeom prst="rect">
            <a:avLst/>
          </a:prstGeom>
          <a:solidFill>
            <a:srgbClr val="E8DDD0"/>
          </a:solidFill>
          <a:ln w="9525">
            <a:solidFill>
              <a:srgbClr val="D7D1C7"/>
            </a:solidFill>
            <a:prstDash val="solid"/>
          </a:ln>
        </p:spPr>
        <p:txBody>
          <a:bodyPr/>
          <a:lstStyle/>
          <a:p>
            <a:pPr algn="ctr">
              <a:buNone/>
              <a:defRPr sz="900" b="0">
                <a:solidFill>
                  <a:srgbClr val="6A5848"/>
                </a:solidFill>
                <a:latin typeface="Aptos"/>
                <a:ea typeface="Aptos"/>
                <a:cs typeface="Aptos"/>
              </a:defRPr>
            </a:pPr>
            <a:r>
              <a:rPr sz="900" b="0">
                <a:solidFill>
                  <a:srgbClr val="6A5848"/>
                </a:solidFill>
                <a:latin typeface="Aptos"/>
                <a:ea typeface="Aptos"/>
                <a:cs typeface="Aptos"/>
              </a:rPr>
              <a:t>LAnorm+/-</a:t>
            </a:r>
          </a:p>
        </p:txBody>
      </p:sp>
      <p:sp>
        <p:nvSpPr>
          <p:cNvPr id="55" name="Rectangle 54">
            <a:extLst>
              <a:ext uri="{FF2B5EF4-FFF2-40B4-BE49-F238E27FC236}">
                <a16:creationId xmlns:a16="http://schemas.microsoft.com/office/drawing/2014/main" id="{A2EB019E-FE7D-4378-BC18-DD50AA143E9A}"/>
              </a:ext>
            </a:extLst>
          </p:cNvPr>
          <p:cNvSpPr>
            <a:spLocks noGrp="1"/>
          </p:cNvSpPr>
          <p:nvPr/>
        </p:nvSpPr>
        <p:spPr>
          <a:xfrm>
            <a:off x="4229100" y="2019300"/>
            <a:ext cx="1314450" cy="400050"/>
          </a:xfrm>
          <a:prstGeom prst="rect">
            <a:avLst/>
          </a:prstGeom>
          <a:solidFill>
            <a:srgbClr val="E8DDD0"/>
          </a:solidFill>
          <a:ln w="9525">
            <a:solidFill>
              <a:srgbClr val="D7D1C7"/>
            </a:solidFill>
            <a:prstDash val="solid"/>
          </a:ln>
        </p:spPr>
        <p:txBody>
          <a:bodyPr/>
          <a:lstStyle/>
          <a:p>
            <a:pPr algn="ctr">
              <a:buNone/>
              <a:defRPr sz="900" b="0">
                <a:solidFill>
                  <a:srgbClr val="6A5848"/>
                </a:solidFill>
                <a:latin typeface="Aptos"/>
                <a:ea typeface="Aptos"/>
                <a:cs typeface="Aptos"/>
              </a:defRPr>
            </a:pPr>
            <a:r>
              <a:rPr sz="900" b="0">
                <a:solidFill>
                  <a:srgbClr val="6A5848"/>
                </a:solidFill>
                <a:latin typeface="Aptos"/>
                <a:ea typeface="Aptos"/>
                <a:cs typeface="Aptos"/>
              </a:rPr>
              <a:t>LAnorm+/-</a:t>
            </a:r>
          </a:p>
        </p:txBody>
      </p:sp>
      <p:sp>
        <p:nvSpPr>
          <p:cNvPr id="56" name="Rectangle 55">
            <a:extLst>
              <a:ext uri="{FF2B5EF4-FFF2-40B4-BE49-F238E27FC236}">
                <a16:creationId xmlns:a16="http://schemas.microsoft.com/office/drawing/2014/main" id="{548B67F3-1465-4EC4-AB7D-6114B9448FAC}"/>
              </a:ext>
            </a:extLst>
          </p:cNvPr>
          <p:cNvSpPr>
            <a:spLocks noGrp="1"/>
          </p:cNvSpPr>
          <p:nvPr/>
        </p:nvSpPr>
        <p:spPr>
          <a:xfrm>
            <a:off x="5543550" y="2019300"/>
            <a:ext cx="1314450" cy="400050"/>
          </a:xfrm>
          <a:prstGeom prst="rect">
            <a:avLst/>
          </a:prstGeom>
          <a:solidFill>
            <a:srgbClr val="E8DDD0"/>
          </a:solidFill>
          <a:ln w="9525">
            <a:solidFill>
              <a:srgbClr val="D7D1C7"/>
            </a:solidFill>
            <a:prstDash val="solid"/>
          </a:ln>
        </p:spPr>
        <p:txBody>
          <a:bodyPr/>
          <a:lstStyle/>
          <a:p>
            <a:pPr algn="ctr">
              <a:buNone/>
              <a:defRPr sz="900" b="0">
                <a:solidFill>
                  <a:srgbClr val="6A5848"/>
                </a:solidFill>
                <a:latin typeface="Aptos"/>
                <a:ea typeface="Aptos"/>
                <a:cs typeface="Aptos"/>
              </a:defRPr>
            </a:pPr>
            <a:r>
              <a:rPr sz="900" b="0">
                <a:solidFill>
                  <a:srgbClr val="6A5848"/>
                </a:solidFill>
                <a:latin typeface="Aptos"/>
                <a:ea typeface="Aptos"/>
                <a:cs typeface="Aptos"/>
              </a:rPr>
              <a:t>LAnorm+/-</a:t>
            </a:r>
          </a:p>
        </p:txBody>
      </p:sp>
      <p:sp>
        <p:nvSpPr>
          <p:cNvPr id="57" name="Rectangle 56">
            <a:extLst>
              <a:ext uri="{FF2B5EF4-FFF2-40B4-BE49-F238E27FC236}">
                <a16:creationId xmlns:a16="http://schemas.microsoft.com/office/drawing/2014/main" id="{57450A0A-8E0B-413E-92E6-31ED7C03858F}"/>
              </a:ext>
            </a:extLst>
          </p:cNvPr>
          <p:cNvSpPr>
            <a:spLocks noGrp="1"/>
          </p:cNvSpPr>
          <p:nvPr/>
        </p:nvSpPr>
        <p:spPr>
          <a:xfrm>
            <a:off x="6858000" y="2019300"/>
            <a:ext cx="1314450" cy="400050"/>
          </a:xfrm>
          <a:prstGeom prst="rect">
            <a:avLst/>
          </a:prstGeom>
          <a:solidFill>
            <a:srgbClr val="E8DDD0"/>
          </a:solidFill>
          <a:ln w="9525">
            <a:solidFill>
              <a:srgbClr val="D7D1C7"/>
            </a:solidFill>
            <a:prstDash val="solid"/>
          </a:ln>
        </p:spPr>
        <p:txBody>
          <a:bodyPr/>
          <a:lstStyle/>
          <a:p>
            <a:pPr algn="ctr">
              <a:buNone/>
              <a:defRPr sz="900" b="0">
                <a:solidFill>
                  <a:srgbClr val="6A5848"/>
                </a:solidFill>
                <a:latin typeface="Aptos"/>
                <a:ea typeface="Aptos"/>
                <a:cs typeface="Aptos"/>
              </a:defRPr>
            </a:pPr>
            <a:r>
              <a:rPr sz="900" b="0">
                <a:solidFill>
                  <a:srgbClr val="6A5848"/>
                </a:solidFill>
                <a:latin typeface="Aptos"/>
                <a:ea typeface="Aptos"/>
                <a:cs typeface="Aptos"/>
              </a:rPr>
              <a:t>LAnorm+/-</a:t>
            </a:r>
          </a:p>
        </p:txBody>
      </p:sp>
      <p:sp>
        <p:nvSpPr>
          <p:cNvPr id="58" name="Rectangle 57">
            <a:extLst>
              <a:ext uri="{FF2B5EF4-FFF2-40B4-BE49-F238E27FC236}">
                <a16:creationId xmlns:a16="http://schemas.microsoft.com/office/drawing/2014/main" id="{653BA722-5019-4249-9DBD-97E91ACED8C4}"/>
              </a:ext>
            </a:extLst>
          </p:cNvPr>
          <p:cNvSpPr>
            <a:spLocks noGrp="1"/>
          </p:cNvSpPr>
          <p:nvPr/>
        </p:nvSpPr>
        <p:spPr>
          <a:xfrm>
            <a:off x="8172450" y="2019300"/>
            <a:ext cx="1314450" cy="400050"/>
          </a:xfrm>
          <a:prstGeom prst="rect">
            <a:avLst/>
          </a:prstGeom>
          <a:solidFill>
            <a:srgbClr val="E8DDD0"/>
          </a:solidFill>
          <a:ln w="9525">
            <a:solidFill>
              <a:srgbClr val="D7D1C7"/>
            </a:solidFill>
            <a:prstDash val="solid"/>
          </a:ln>
        </p:spPr>
        <p:txBody>
          <a:bodyPr/>
          <a:lstStyle/>
          <a:p>
            <a:pPr algn="ctr">
              <a:buNone/>
              <a:defRPr sz="900" b="0">
                <a:solidFill>
                  <a:srgbClr val="6A5848"/>
                </a:solidFill>
                <a:latin typeface="Aptos"/>
                <a:ea typeface="Aptos"/>
                <a:cs typeface="Aptos"/>
              </a:defRPr>
            </a:pPr>
            <a:r>
              <a:rPr sz="900" b="0">
                <a:solidFill>
                  <a:srgbClr val="6A5848"/>
                </a:solidFill>
                <a:latin typeface="Aptos"/>
                <a:ea typeface="Aptos"/>
                <a:cs typeface="Aptos"/>
              </a:rPr>
              <a:t>LAnorm+/-</a:t>
            </a:r>
          </a:p>
        </p:txBody>
      </p:sp>
      <p:sp>
        <p:nvSpPr>
          <p:cNvPr id="59" name="Rectangle 58">
            <a:extLst>
              <a:ext uri="{FF2B5EF4-FFF2-40B4-BE49-F238E27FC236}">
                <a16:creationId xmlns:a16="http://schemas.microsoft.com/office/drawing/2014/main" id="{294477C4-099D-4AFF-8C61-307822C14727}"/>
              </a:ext>
            </a:extLst>
          </p:cNvPr>
          <p:cNvSpPr>
            <a:spLocks noGrp="1"/>
          </p:cNvSpPr>
          <p:nvPr/>
        </p:nvSpPr>
        <p:spPr>
          <a:xfrm>
            <a:off x="9486900" y="2019300"/>
            <a:ext cx="1314450" cy="400050"/>
          </a:xfrm>
          <a:prstGeom prst="rect">
            <a:avLst/>
          </a:prstGeom>
          <a:solidFill>
            <a:srgbClr val="E8DDD0"/>
          </a:solidFill>
          <a:ln w="9525">
            <a:solidFill>
              <a:srgbClr val="D7D1C7"/>
            </a:solidFill>
            <a:prstDash val="solid"/>
          </a:ln>
        </p:spPr>
        <p:txBody>
          <a:bodyPr/>
          <a:lstStyle/>
          <a:p>
            <a:pPr algn="ctr">
              <a:buNone/>
              <a:defRPr sz="900" b="0">
                <a:solidFill>
                  <a:srgbClr val="6A5848"/>
                </a:solidFill>
                <a:latin typeface="Aptos"/>
                <a:ea typeface="Aptos"/>
                <a:cs typeface="Aptos"/>
              </a:defRPr>
            </a:pPr>
            <a:r>
              <a:rPr sz="900" b="0">
                <a:solidFill>
                  <a:srgbClr val="6A5848"/>
                </a:solidFill>
                <a:latin typeface="Aptos"/>
                <a:ea typeface="Aptos"/>
                <a:cs typeface="Aptos"/>
              </a:rPr>
              <a:t>LAnorm+/-</a:t>
            </a:r>
          </a:p>
        </p:txBody>
      </p:sp>
      <p:sp>
        <p:nvSpPr>
          <p:cNvPr id="60" name="Rectangle 59">
            <a:extLst>
              <a:ext uri="{FF2B5EF4-FFF2-40B4-BE49-F238E27FC236}">
                <a16:creationId xmlns:a16="http://schemas.microsoft.com/office/drawing/2014/main" id="{B58CF81D-CD83-435A-B747-971E5984C28F}"/>
              </a:ext>
            </a:extLst>
          </p:cNvPr>
          <p:cNvSpPr>
            <a:spLocks noGrp="1"/>
          </p:cNvSpPr>
          <p:nvPr/>
        </p:nvSpPr>
        <p:spPr>
          <a:xfrm>
            <a:off x="781050" y="2419350"/>
            <a:ext cx="1504950" cy="552450"/>
          </a:xfrm>
          <a:prstGeom prst="rect">
            <a:avLst/>
          </a:prstGeom>
          <a:solidFill>
            <a:srgbClr val="FFF8EF"/>
          </a:solidFill>
          <a:ln w="9525">
            <a:solidFill>
              <a:srgbClr val="D7D1C7"/>
            </a:solidFill>
            <a:prstDash val="solid"/>
          </a:ln>
        </p:spPr>
        <p:txBody>
          <a:bodyPr/>
          <a:lstStyle/>
          <a:p>
            <a:pPr algn="l">
              <a:buNone/>
              <a:defRPr sz="1350" b="1">
                <a:solidFill>
                  <a:srgbClr val="1F2933"/>
                </a:solidFill>
                <a:latin typeface="Aptos"/>
                <a:ea typeface="Aptos"/>
                <a:cs typeface="Aptos"/>
              </a:defRPr>
            </a:pPr>
            <a:r>
              <a:rPr sz="1350" b="1">
                <a:solidFill>
                  <a:srgbClr val="1F2933"/>
                </a:solidFill>
                <a:latin typeface="Aptos"/>
                <a:ea typeface="Aptos"/>
                <a:cs typeface="Aptos"/>
              </a:rPr>
              <a:t>Bullinger</a:t>
            </a:r>
          </a:p>
        </p:txBody>
      </p:sp>
      <p:sp>
        <p:nvSpPr>
          <p:cNvPr id="61" name="Rectangle 60">
            <a:extLst>
              <a:ext uri="{FF2B5EF4-FFF2-40B4-BE49-F238E27FC236}">
                <a16:creationId xmlns:a16="http://schemas.microsoft.com/office/drawing/2014/main" id="{734F4450-4B13-459C-B7E7-03DDA060BB79}"/>
              </a:ext>
            </a:extLst>
          </p:cNvPr>
          <p:cNvSpPr>
            <a:spLocks noGrp="1"/>
          </p:cNvSpPr>
          <p:nvPr/>
        </p:nvSpPr>
        <p:spPr>
          <a:xfrm>
            <a:off x="2286000" y="2419350"/>
            <a:ext cx="6286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10</a:t>
            </a:r>
          </a:p>
        </p:txBody>
      </p:sp>
      <p:sp>
        <p:nvSpPr>
          <p:cNvPr id="62" name="Rectangle 61">
            <a:extLst>
              <a:ext uri="{FF2B5EF4-FFF2-40B4-BE49-F238E27FC236}">
                <a16:creationId xmlns:a16="http://schemas.microsoft.com/office/drawing/2014/main" id="{B42FE855-ADC4-436F-BD3B-DEDA2B8108FD}"/>
              </a:ext>
            </a:extLst>
          </p:cNvPr>
          <p:cNvSpPr>
            <a:spLocks noGrp="1"/>
          </p:cNvSpPr>
          <p:nvPr/>
        </p:nvSpPr>
        <p:spPr>
          <a:xfrm>
            <a:off x="2914650" y="2419350"/>
            <a:ext cx="1314450" cy="552450"/>
          </a:xfrm>
          <a:prstGeom prst="rect">
            <a:avLst/>
          </a:prstGeom>
          <a:solidFill>
            <a:srgbClr val="F2F6F8"/>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0.148</a:t>
            </a:r>
          </a:p>
        </p:txBody>
      </p:sp>
      <p:sp>
        <p:nvSpPr>
          <p:cNvPr id="63" name="Rectangle 62">
            <a:extLst>
              <a:ext uri="{FF2B5EF4-FFF2-40B4-BE49-F238E27FC236}">
                <a16:creationId xmlns:a16="http://schemas.microsoft.com/office/drawing/2014/main" id="{05B16657-A738-4C41-9653-3E50891BDAB8}"/>
              </a:ext>
            </a:extLst>
          </p:cNvPr>
          <p:cNvSpPr>
            <a:spLocks noGrp="1"/>
          </p:cNvSpPr>
          <p:nvPr/>
        </p:nvSpPr>
        <p:spPr>
          <a:xfrm>
            <a:off x="4229100" y="2419350"/>
            <a:ext cx="13144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0.594</a:t>
            </a:r>
          </a:p>
        </p:txBody>
      </p:sp>
      <p:sp>
        <p:nvSpPr>
          <p:cNvPr id="64" name="Rectangle 63">
            <a:extLst>
              <a:ext uri="{FF2B5EF4-FFF2-40B4-BE49-F238E27FC236}">
                <a16:creationId xmlns:a16="http://schemas.microsoft.com/office/drawing/2014/main" id="{47DB8705-0C59-4288-A0F0-704F86B3B797}"/>
              </a:ext>
            </a:extLst>
          </p:cNvPr>
          <p:cNvSpPr>
            <a:spLocks noGrp="1"/>
          </p:cNvSpPr>
          <p:nvPr/>
        </p:nvSpPr>
        <p:spPr>
          <a:xfrm>
            <a:off x="5543550" y="2419350"/>
            <a:ext cx="1314450" cy="552450"/>
          </a:xfrm>
          <a:prstGeom prst="rect">
            <a:avLst/>
          </a:prstGeom>
          <a:solidFill>
            <a:srgbClr val="F2F6F8"/>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0.083</a:t>
            </a:r>
          </a:p>
        </p:txBody>
      </p:sp>
      <p:sp>
        <p:nvSpPr>
          <p:cNvPr id="65" name="Rectangle 64">
            <a:extLst>
              <a:ext uri="{FF2B5EF4-FFF2-40B4-BE49-F238E27FC236}">
                <a16:creationId xmlns:a16="http://schemas.microsoft.com/office/drawing/2014/main" id="{33E441E5-33EF-401B-ACA6-539A5F1802F5}"/>
              </a:ext>
            </a:extLst>
          </p:cNvPr>
          <p:cNvSpPr>
            <a:spLocks noGrp="1"/>
          </p:cNvSpPr>
          <p:nvPr/>
        </p:nvSpPr>
        <p:spPr>
          <a:xfrm>
            <a:off x="6858000" y="2419350"/>
            <a:ext cx="13144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0.566</a:t>
            </a:r>
          </a:p>
        </p:txBody>
      </p:sp>
      <p:sp>
        <p:nvSpPr>
          <p:cNvPr id="66" name="Rectangle 65">
            <a:extLst>
              <a:ext uri="{FF2B5EF4-FFF2-40B4-BE49-F238E27FC236}">
                <a16:creationId xmlns:a16="http://schemas.microsoft.com/office/drawing/2014/main" id="{0DD633C5-487E-4918-A53B-9E9376B7B56F}"/>
              </a:ext>
            </a:extLst>
          </p:cNvPr>
          <p:cNvSpPr>
            <a:spLocks noGrp="1"/>
          </p:cNvSpPr>
          <p:nvPr/>
        </p:nvSpPr>
        <p:spPr>
          <a:xfrm>
            <a:off x="8172450" y="2419350"/>
            <a:ext cx="1314450" cy="552450"/>
          </a:xfrm>
          <a:prstGeom prst="rect">
            <a:avLst/>
          </a:prstGeom>
          <a:solidFill>
            <a:srgbClr val="F2F6F8"/>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0.066</a:t>
            </a:r>
          </a:p>
        </p:txBody>
      </p:sp>
      <p:sp>
        <p:nvSpPr>
          <p:cNvPr id="67" name="Rectangle 66">
            <a:extLst>
              <a:ext uri="{FF2B5EF4-FFF2-40B4-BE49-F238E27FC236}">
                <a16:creationId xmlns:a16="http://schemas.microsoft.com/office/drawing/2014/main" id="{C68FA836-78EB-4130-AAC1-2C719BEDE434}"/>
              </a:ext>
            </a:extLst>
          </p:cNvPr>
          <p:cNvSpPr>
            <a:spLocks noGrp="1"/>
          </p:cNvSpPr>
          <p:nvPr/>
        </p:nvSpPr>
        <p:spPr>
          <a:xfrm>
            <a:off x="9486900" y="2419350"/>
            <a:ext cx="13144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0.115</a:t>
            </a:r>
          </a:p>
        </p:txBody>
      </p:sp>
      <p:sp>
        <p:nvSpPr>
          <p:cNvPr id="68" name="Rectangle 67">
            <a:extLst>
              <a:ext uri="{FF2B5EF4-FFF2-40B4-BE49-F238E27FC236}">
                <a16:creationId xmlns:a16="http://schemas.microsoft.com/office/drawing/2014/main" id="{B16CE899-4F84-4B3A-ACFD-E4C2D51FEF98}"/>
              </a:ext>
            </a:extLst>
          </p:cNvPr>
          <p:cNvSpPr>
            <a:spLocks noGrp="1"/>
          </p:cNvSpPr>
          <p:nvPr/>
        </p:nvSpPr>
        <p:spPr>
          <a:xfrm>
            <a:off x="781050" y="2971800"/>
            <a:ext cx="1504950" cy="552450"/>
          </a:xfrm>
          <a:prstGeom prst="rect">
            <a:avLst/>
          </a:prstGeom>
          <a:solidFill>
            <a:srgbClr val="FFF8EF"/>
          </a:solidFill>
          <a:ln w="9525">
            <a:solidFill>
              <a:srgbClr val="D7D1C7"/>
            </a:solidFill>
            <a:prstDash val="solid"/>
          </a:ln>
        </p:spPr>
        <p:txBody>
          <a:bodyPr/>
          <a:lstStyle/>
          <a:p>
            <a:pPr algn="l">
              <a:buNone/>
              <a:defRPr sz="1350" b="1">
                <a:solidFill>
                  <a:srgbClr val="1F2933"/>
                </a:solidFill>
                <a:latin typeface="Aptos"/>
                <a:ea typeface="Aptos"/>
                <a:cs typeface="Aptos"/>
              </a:defRPr>
            </a:pPr>
            <a:r>
              <a:rPr sz="1350" b="1">
                <a:solidFill>
                  <a:srgbClr val="1F2933"/>
                </a:solidFill>
                <a:latin typeface="Aptos"/>
                <a:ea typeface="Aptos"/>
                <a:cs typeface="Aptos"/>
              </a:rPr>
              <a:t>IAM</a:t>
            </a:r>
          </a:p>
        </p:txBody>
      </p:sp>
      <p:sp>
        <p:nvSpPr>
          <p:cNvPr id="69" name="Rectangle 68">
            <a:extLst>
              <a:ext uri="{FF2B5EF4-FFF2-40B4-BE49-F238E27FC236}">
                <a16:creationId xmlns:a16="http://schemas.microsoft.com/office/drawing/2014/main" id="{1B1D7BDB-B36B-4A7F-A6BA-AF9C9138A4C4}"/>
              </a:ext>
            </a:extLst>
          </p:cNvPr>
          <p:cNvSpPr>
            <a:spLocks noGrp="1"/>
          </p:cNvSpPr>
          <p:nvPr/>
        </p:nvSpPr>
        <p:spPr>
          <a:xfrm>
            <a:off x="2286000" y="2971800"/>
            <a:ext cx="6286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30</a:t>
            </a:r>
          </a:p>
        </p:txBody>
      </p:sp>
      <p:sp>
        <p:nvSpPr>
          <p:cNvPr id="70" name="Rectangle 69">
            <a:extLst>
              <a:ext uri="{FF2B5EF4-FFF2-40B4-BE49-F238E27FC236}">
                <a16:creationId xmlns:a16="http://schemas.microsoft.com/office/drawing/2014/main" id="{9811E61E-AADC-465A-96F8-92182F962CAC}"/>
              </a:ext>
            </a:extLst>
          </p:cNvPr>
          <p:cNvSpPr>
            <a:spLocks noGrp="1"/>
          </p:cNvSpPr>
          <p:nvPr/>
        </p:nvSpPr>
        <p:spPr>
          <a:xfrm>
            <a:off x="2914650" y="2971800"/>
            <a:ext cx="1314450" cy="552450"/>
          </a:xfrm>
          <a:prstGeom prst="rect">
            <a:avLst/>
          </a:prstGeom>
          <a:solidFill>
            <a:srgbClr val="F2F6F8"/>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0.959</a:t>
            </a:r>
          </a:p>
        </p:txBody>
      </p:sp>
      <p:sp>
        <p:nvSpPr>
          <p:cNvPr id="71" name="Rectangle 70">
            <a:extLst>
              <a:ext uri="{FF2B5EF4-FFF2-40B4-BE49-F238E27FC236}">
                <a16:creationId xmlns:a16="http://schemas.microsoft.com/office/drawing/2014/main" id="{CA60AFEC-07E3-4595-87BD-E8727B0E6BE9}"/>
              </a:ext>
            </a:extLst>
          </p:cNvPr>
          <p:cNvSpPr>
            <a:spLocks noGrp="1"/>
          </p:cNvSpPr>
          <p:nvPr/>
        </p:nvSpPr>
        <p:spPr>
          <a:xfrm>
            <a:off x="4229100" y="2971800"/>
            <a:ext cx="13144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0.917</a:t>
            </a:r>
          </a:p>
        </p:txBody>
      </p:sp>
      <p:sp>
        <p:nvSpPr>
          <p:cNvPr id="72" name="Rectangle 71">
            <a:extLst>
              <a:ext uri="{FF2B5EF4-FFF2-40B4-BE49-F238E27FC236}">
                <a16:creationId xmlns:a16="http://schemas.microsoft.com/office/drawing/2014/main" id="{03A22F51-1C2D-4999-ABB6-DB0179B5D169}"/>
              </a:ext>
            </a:extLst>
          </p:cNvPr>
          <p:cNvSpPr>
            <a:spLocks noGrp="1"/>
          </p:cNvSpPr>
          <p:nvPr/>
        </p:nvSpPr>
        <p:spPr>
          <a:xfrm>
            <a:off x="5543550" y="2971800"/>
            <a:ext cx="1314450" cy="552450"/>
          </a:xfrm>
          <a:prstGeom prst="rect">
            <a:avLst/>
          </a:prstGeom>
          <a:solidFill>
            <a:srgbClr val="F2F6F8"/>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0.912</a:t>
            </a:r>
          </a:p>
        </p:txBody>
      </p:sp>
      <p:sp>
        <p:nvSpPr>
          <p:cNvPr id="73" name="Rectangle 72">
            <a:extLst>
              <a:ext uri="{FF2B5EF4-FFF2-40B4-BE49-F238E27FC236}">
                <a16:creationId xmlns:a16="http://schemas.microsoft.com/office/drawing/2014/main" id="{9753BA92-648A-4FC4-98A7-ECB2CFAFD599}"/>
              </a:ext>
            </a:extLst>
          </p:cNvPr>
          <p:cNvSpPr>
            <a:spLocks noGrp="1"/>
          </p:cNvSpPr>
          <p:nvPr/>
        </p:nvSpPr>
        <p:spPr>
          <a:xfrm>
            <a:off x="6858000" y="2971800"/>
            <a:ext cx="13144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0.896</a:t>
            </a:r>
          </a:p>
        </p:txBody>
      </p:sp>
      <p:sp>
        <p:nvSpPr>
          <p:cNvPr id="74" name="Rectangle 73">
            <a:extLst>
              <a:ext uri="{FF2B5EF4-FFF2-40B4-BE49-F238E27FC236}">
                <a16:creationId xmlns:a16="http://schemas.microsoft.com/office/drawing/2014/main" id="{71F526C3-0133-4EAD-A43C-61EFA935438E}"/>
              </a:ext>
            </a:extLst>
          </p:cNvPr>
          <p:cNvSpPr>
            <a:spLocks noGrp="1"/>
          </p:cNvSpPr>
          <p:nvPr/>
        </p:nvSpPr>
        <p:spPr>
          <a:xfrm>
            <a:off x="8172450" y="2971800"/>
            <a:ext cx="1314450" cy="552450"/>
          </a:xfrm>
          <a:prstGeom prst="rect">
            <a:avLst/>
          </a:prstGeom>
          <a:solidFill>
            <a:srgbClr val="F2F6F8"/>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0.802</a:t>
            </a:r>
          </a:p>
        </p:txBody>
      </p:sp>
      <p:sp>
        <p:nvSpPr>
          <p:cNvPr id="75" name="Rectangle 74">
            <a:extLst>
              <a:ext uri="{FF2B5EF4-FFF2-40B4-BE49-F238E27FC236}">
                <a16:creationId xmlns:a16="http://schemas.microsoft.com/office/drawing/2014/main" id="{5AAD1645-6AB4-4B89-9862-EC0C3DD1173B}"/>
              </a:ext>
            </a:extLst>
          </p:cNvPr>
          <p:cNvSpPr>
            <a:spLocks noGrp="1"/>
          </p:cNvSpPr>
          <p:nvPr/>
        </p:nvSpPr>
        <p:spPr>
          <a:xfrm>
            <a:off x="9486900" y="2971800"/>
            <a:ext cx="1314450" cy="552450"/>
          </a:xfrm>
          <a:prstGeom prst="rect">
            <a:avLst/>
          </a:prstGeom>
          <a:solidFill>
            <a:srgbClr val="FFF8EF"/>
          </a:solidFill>
          <a:ln w="9525">
            <a:solidFill>
              <a:srgbClr val="D7D1C7"/>
            </a:solidFill>
            <a:prstDash val="solid"/>
          </a:ln>
        </p:spPr>
        <p:txBody>
          <a:bodyPr/>
          <a:lstStyle/>
          <a:p>
            <a:pPr algn="ctr">
              <a:buNone/>
              <a:defRPr sz="1350" b="0">
                <a:solidFill>
                  <a:srgbClr val="1F2933"/>
                </a:solidFill>
                <a:latin typeface="Aptos"/>
                <a:ea typeface="Aptos"/>
                <a:cs typeface="Aptos"/>
              </a:defRPr>
            </a:pPr>
            <a:r>
              <a:rPr sz="1350" b="0">
                <a:solidFill>
                  <a:srgbClr val="1F2933"/>
                </a:solidFill>
                <a:latin typeface="Aptos"/>
                <a:ea typeface="Aptos"/>
                <a:cs typeface="Aptos"/>
              </a:rPr>
              <a:t>0.934</a:t>
            </a:r>
          </a:p>
        </p:txBody>
      </p:sp>
      <p:sp>
        <p:nvSpPr>
          <p:cNvPr id="77" name="Rectangle 76">
            <a:extLst>
              <a:ext uri="{FF2B5EF4-FFF2-40B4-BE49-F238E27FC236}">
                <a16:creationId xmlns:a16="http://schemas.microsoft.com/office/drawing/2014/main" id="{7284072E-A416-4CF6-AA81-EDD73AADAAA0}"/>
              </a:ext>
            </a:extLst>
          </p:cNvPr>
          <p:cNvSpPr>
            <a:spLocks noGrp="1"/>
          </p:cNvSpPr>
          <p:nvPr/>
        </p:nvSpPr>
        <p:spPr>
          <a:xfrm>
            <a:off x="781050" y="4876800"/>
            <a:ext cx="8382000" cy="323850"/>
          </a:xfrm>
          <a:prstGeom prst="rect">
            <a:avLst/>
          </a:prstGeom>
          <a:noFill/>
          <a:ln w="0">
            <a:noFill/>
            <a:prstDash val="solid"/>
          </a:ln>
        </p:spPr>
        <p:txBody>
          <a:bodyPr/>
          <a:lstStyle/>
          <a:p>
            <a:pPr>
              <a:buNone/>
              <a:defRPr sz="1125" b="1">
                <a:solidFill>
                  <a:srgbClr val="7A3B2E"/>
                </a:solidFill>
                <a:latin typeface="Aptos"/>
                <a:ea typeface="Aptos"/>
                <a:cs typeface="Aptos"/>
              </a:defRPr>
            </a:pPr>
            <a:r>
              <a:rPr sz="1125" b="1">
                <a:solidFill>
                  <a:srgbClr val="7A3B2E"/>
                </a:solidFill>
                <a:latin typeface="Aptos"/>
                <a:ea typeface="Aptos"/>
                <a:cs typeface="Aptos"/>
              </a:rPr>
              <a:t>Printed scope remains M1-M3 only; no printed M4, M5, or NNTP rows were run.</a:t>
            </a:r>
          </a:p>
        </p:txBody>
      </p:sp>
    </p:spTree>
    <p:extLst>
      <p:ext uri="{BB962C8B-B14F-4D97-AF65-F5344CB8AC3E}">
        <p14:creationId xmlns:p14="http://schemas.microsoft.com/office/powerpoint/2010/main" val="1557067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D3A09E10-5EAD-45CF-8EFC-B1722EAE7E99}"/>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AC28F689-5D08-4505-A256-1E4F53701424}"/>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2DDC5928-B4A6-41CC-A00B-14E2A7981D7A}"/>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A12</a:t>
            </a:r>
          </a:p>
        </p:txBody>
      </p:sp>
      <p:sp>
        <p:nvSpPr>
          <p:cNvPr id="4" name="Rectangle 3">
            <a:extLst>
              <a:ext uri="{FF2B5EF4-FFF2-40B4-BE49-F238E27FC236}">
                <a16:creationId xmlns:a16="http://schemas.microsoft.com/office/drawing/2014/main" id="{6B25493A-CB66-4DEC-93E6-8D911D14AC7F}"/>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One-Shot Results</a:t>
            </a:r>
          </a:p>
        </p:txBody>
      </p:sp>
      <p:sp>
        <p:nvSpPr>
          <p:cNvPr id="5" name="Rectangle 4">
            <a:extLst>
              <a:ext uri="{FF2B5EF4-FFF2-40B4-BE49-F238E27FC236}">
                <a16:creationId xmlns:a16="http://schemas.microsoft.com/office/drawing/2014/main" id="{B076C4EE-DE34-4EDC-9470-B47DA288646A}"/>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1C518ED5-DFC5-4570-8217-304C1F824B03}"/>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26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945B9A6D-1B28-4C69-8761-D046A8D68CEB}"/>
              </a:ext>
            </a:extLst>
          </p:cNvPr>
          <p:cNvSpPr>
            <a:spLocks noGrp="1"/>
          </p:cNvSpPr>
          <p:nvPr/>
        </p:nvSpPr>
        <p:spPr>
          <a:xfrm>
            <a:off x="2857500" y="1638300"/>
            <a:ext cx="2476500" cy="323850"/>
          </a:xfrm>
          <a:prstGeom prst="rect">
            <a:avLst/>
          </a:prstGeom>
          <a:solidFill>
            <a:srgbClr val="264653"/>
          </a:solidFill>
          <a:ln w="9525">
            <a:solidFill>
              <a:srgbClr val="264653"/>
            </a:solidFill>
            <a:prstDash val="solid"/>
          </a:ln>
        </p:spPr>
        <p:txBody>
          <a:bodyPr/>
          <a:lstStyle/>
          <a:p>
            <a:endParaRPr/>
          </a:p>
        </p:txBody>
      </p:sp>
      <p:sp>
        <p:nvSpPr>
          <p:cNvPr id="8" name="Rectangle 7">
            <a:extLst>
              <a:ext uri="{FF2B5EF4-FFF2-40B4-BE49-F238E27FC236}">
                <a16:creationId xmlns:a16="http://schemas.microsoft.com/office/drawing/2014/main" id="{63E55CF7-DDD6-4533-BB1D-7326A49DB1A6}"/>
              </a:ext>
            </a:extLst>
          </p:cNvPr>
          <p:cNvSpPr>
            <a:spLocks noGrp="1"/>
          </p:cNvSpPr>
          <p:nvPr/>
        </p:nvSpPr>
        <p:spPr>
          <a:xfrm>
            <a:off x="2914650" y="1724025"/>
            <a:ext cx="2362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200" b="1">
                <a:solidFill>
                  <a:srgbClr val="FFFFFF"/>
                </a:solidFill>
                <a:latin typeface="Aptos"/>
                <a:ea typeface="Aptos"/>
                <a:cs typeface="Aptos"/>
              </a:defRPr>
            </a:pPr>
            <a:r>
              <a:rPr sz="1200" b="1">
                <a:solidFill>
                  <a:srgbClr val="FFFFFF"/>
                </a:solidFill>
                <a:latin typeface="Aptos"/>
                <a:ea typeface="Aptos"/>
                <a:cs typeface="Aptos"/>
              </a:rPr>
              <a:t>Model</a:t>
            </a:r>
          </a:p>
        </p:txBody>
      </p:sp>
      <p:sp>
        <p:nvSpPr>
          <p:cNvPr id="9" name="Rectangle 8">
            <a:extLst>
              <a:ext uri="{FF2B5EF4-FFF2-40B4-BE49-F238E27FC236}">
                <a16:creationId xmlns:a16="http://schemas.microsoft.com/office/drawing/2014/main" id="{5814F215-3277-492E-9287-EE7D7C1B2EBB}"/>
              </a:ext>
            </a:extLst>
          </p:cNvPr>
          <p:cNvSpPr>
            <a:spLocks noGrp="1"/>
          </p:cNvSpPr>
          <p:nvPr/>
        </p:nvSpPr>
        <p:spPr>
          <a:xfrm>
            <a:off x="5334000" y="1638300"/>
            <a:ext cx="1333500" cy="323850"/>
          </a:xfrm>
          <a:prstGeom prst="rect">
            <a:avLst/>
          </a:prstGeom>
          <a:solidFill>
            <a:srgbClr val="264653"/>
          </a:solidFill>
          <a:ln w="9525">
            <a:solidFill>
              <a:srgbClr val="264653"/>
            </a:solidFill>
            <a:prstDash val="solid"/>
          </a:ln>
        </p:spPr>
        <p:txBody>
          <a:bodyPr/>
          <a:lstStyle/>
          <a:p>
            <a:endParaRPr/>
          </a:p>
        </p:txBody>
      </p:sp>
      <p:sp>
        <p:nvSpPr>
          <p:cNvPr id="10" name="Rectangle 9">
            <a:extLst>
              <a:ext uri="{FF2B5EF4-FFF2-40B4-BE49-F238E27FC236}">
                <a16:creationId xmlns:a16="http://schemas.microsoft.com/office/drawing/2014/main" id="{53DA0A76-9B29-4C5B-9941-D44C9C247A5B}"/>
              </a:ext>
            </a:extLst>
          </p:cNvPr>
          <p:cNvSpPr>
            <a:spLocks noGrp="1"/>
          </p:cNvSpPr>
          <p:nvPr/>
        </p:nvSpPr>
        <p:spPr>
          <a:xfrm>
            <a:off x="5391150" y="1724025"/>
            <a:ext cx="1219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M1</a:t>
            </a:r>
          </a:p>
        </p:txBody>
      </p:sp>
      <p:sp>
        <p:nvSpPr>
          <p:cNvPr id="11" name="Rectangle 10">
            <a:extLst>
              <a:ext uri="{FF2B5EF4-FFF2-40B4-BE49-F238E27FC236}">
                <a16:creationId xmlns:a16="http://schemas.microsoft.com/office/drawing/2014/main" id="{A1F7DF73-3ED3-49CC-B4BD-6C00F9A667E8}"/>
              </a:ext>
            </a:extLst>
          </p:cNvPr>
          <p:cNvSpPr>
            <a:spLocks noGrp="1"/>
          </p:cNvSpPr>
          <p:nvPr/>
        </p:nvSpPr>
        <p:spPr>
          <a:xfrm>
            <a:off x="6667500" y="1638300"/>
            <a:ext cx="1333500" cy="323850"/>
          </a:xfrm>
          <a:prstGeom prst="rect">
            <a:avLst/>
          </a:prstGeom>
          <a:solidFill>
            <a:srgbClr val="264653"/>
          </a:solidFill>
          <a:ln w="9525">
            <a:solidFill>
              <a:srgbClr val="264653"/>
            </a:solidFill>
            <a:prstDash val="solid"/>
          </a:ln>
        </p:spPr>
        <p:txBody>
          <a:bodyPr/>
          <a:lstStyle/>
          <a:p>
            <a:endParaRPr/>
          </a:p>
        </p:txBody>
      </p:sp>
      <p:sp>
        <p:nvSpPr>
          <p:cNvPr id="12" name="Rectangle 11">
            <a:extLst>
              <a:ext uri="{FF2B5EF4-FFF2-40B4-BE49-F238E27FC236}">
                <a16:creationId xmlns:a16="http://schemas.microsoft.com/office/drawing/2014/main" id="{43156B0C-5E2F-4447-ACF6-6C190FEE9B46}"/>
              </a:ext>
            </a:extLst>
          </p:cNvPr>
          <p:cNvSpPr>
            <a:spLocks noGrp="1"/>
          </p:cNvSpPr>
          <p:nvPr/>
        </p:nvSpPr>
        <p:spPr>
          <a:xfrm>
            <a:off x="6724650" y="1724025"/>
            <a:ext cx="1219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M2</a:t>
            </a:r>
          </a:p>
        </p:txBody>
      </p:sp>
      <p:sp>
        <p:nvSpPr>
          <p:cNvPr id="13" name="Rectangle 12">
            <a:extLst>
              <a:ext uri="{FF2B5EF4-FFF2-40B4-BE49-F238E27FC236}">
                <a16:creationId xmlns:a16="http://schemas.microsoft.com/office/drawing/2014/main" id="{C6F5BC42-16F7-4C74-85D7-9D6AA8F14A94}"/>
              </a:ext>
            </a:extLst>
          </p:cNvPr>
          <p:cNvSpPr>
            <a:spLocks noGrp="1"/>
          </p:cNvSpPr>
          <p:nvPr/>
        </p:nvSpPr>
        <p:spPr>
          <a:xfrm>
            <a:off x="8001000" y="1638300"/>
            <a:ext cx="1333500" cy="323850"/>
          </a:xfrm>
          <a:prstGeom prst="rect">
            <a:avLst/>
          </a:prstGeom>
          <a:solidFill>
            <a:srgbClr val="264653"/>
          </a:solidFill>
          <a:ln w="9525">
            <a:solidFill>
              <a:srgbClr val="264653"/>
            </a:solidFill>
            <a:prstDash val="solid"/>
          </a:ln>
        </p:spPr>
        <p:txBody>
          <a:bodyPr/>
          <a:lstStyle/>
          <a:p>
            <a:endParaRPr/>
          </a:p>
        </p:txBody>
      </p:sp>
      <p:sp>
        <p:nvSpPr>
          <p:cNvPr id="14" name="Rectangle 13">
            <a:extLst>
              <a:ext uri="{FF2B5EF4-FFF2-40B4-BE49-F238E27FC236}">
                <a16:creationId xmlns:a16="http://schemas.microsoft.com/office/drawing/2014/main" id="{80665AC5-5A29-474D-B2CA-E77452AFEB3C}"/>
              </a:ext>
            </a:extLst>
          </p:cNvPr>
          <p:cNvSpPr>
            <a:spLocks noGrp="1"/>
          </p:cNvSpPr>
          <p:nvPr/>
        </p:nvSpPr>
        <p:spPr>
          <a:xfrm>
            <a:off x="8058150" y="1724025"/>
            <a:ext cx="1219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M3</a:t>
            </a:r>
          </a:p>
        </p:txBody>
      </p:sp>
      <p:sp>
        <p:nvSpPr>
          <p:cNvPr id="15" name="Rectangle 14">
            <a:extLst>
              <a:ext uri="{FF2B5EF4-FFF2-40B4-BE49-F238E27FC236}">
                <a16:creationId xmlns:a16="http://schemas.microsoft.com/office/drawing/2014/main" id="{A89B277F-C7F7-4067-BA27-FAD5B3EC212B}"/>
              </a:ext>
            </a:extLst>
          </p:cNvPr>
          <p:cNvSpPr>
            <a:spLocks noGrp="1"/>
          </p:cNvSpPr>
          <p:nvPr/>
        </p:nvSpPr>
        <p:spPr>
          <a:xfrm>
            <a:off x="2857500" y="1962150"/>
            <a:ext cx="2476500" cy="647700"/>
          </a:xfrm>
          <a:prstGeom prst="rect">
            <a:avLst/>
          </a:prstGeom>
          <a:solidFill>
            <a:srgbClr val="FFFDF7"/>
          </a:solidFill>
          <a:ln w="9525">
            <a:solidFill>
              <a:srgbClr val="CFC7B8"/>
            </a:solidFill>
            <a:prstDash val="solid"/>
          </a:ln>
        </p:spPr>
        <p:txBody>
          <a:bodyPr/>
          <a:lstStyle/>
          <a:p>
            <a:endParaRPr/>
          </a:p>
        </p:txBody>
      </p:sp>
      <p:sp>
        <p:nvSpPr>
          <p:cNvPr id="16" name="Rectangle 15">
            <a:extLst>
              <a:ext uri="{FF2B5EF4-FFF2-40B4-BE49-F238E27FC236}">
                <a16:creationId xmlns:a16="http://schemas.microsoft.com/office/drawing/2014/main" id="{C8EF97F7-3FDA-479D-9C10-CD2E725791C5}"/>
              </a:ext>
            </a:extLst>
          </p:cNvPr>
          <p:cNvSpPr>
            <a:spLocks noGrp="1"/>
          </p:cNvSpPr>
          <p:nvPr/>
        </p:nvSpPr>
        <p:spPr>
          <a:xfrm>
            <a:off x="2914650" y="2038350"/>
            <a:ext cx="2362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350" b="0">
                <a:solidFill>
                  <a:srgbClr val="142026"/>
                </a:solidFill>
                <a:latin typeface="Aptos"/>
                <a:ea typeface="Aptos"/>
                <a:cs typeface="Aptos"/>
              </a:defRPr>
            </a:pPr>
            <a:r>
              <a:rPr sz="1350" b="0">
                <a:solidFill>
                  <a:srgbClr val="142026"/>
                </a:solidFill>
                <a:latin typeface="Aptos"/>
                <a:ea typeface="Aptos"/>
                <a:cs typeface="Aptos"/>
              </a:rPr>
              <a:t>GPT-5.2</a:t>
            </a:r>
          </a:p>
        </p:txBody>
      </p:sp>
      <p:sp>
        <p:nvSpPr>
          <p:cNvPr id="17" name="Rectangle 16">
            <a:extLst>
              <a:ext uri="{FF2B5EF4-FFF2-40B4-BE49-F238E27FC236}">
                <a16:creationId xmlns:a16="http://schemas.microsoft.com/office/drawing/2014/main" id="{F5A05C66-09FE-404A-B985-89A58F91466A}"/>
              </a:ext>
            </a:extLst>
          </p:cNvPr>
          <p:cNvSpPr>
            <a:spLocks noGrp="1"/>
          </p:cNvSpPr>
          <p:nvPr/>
        </p:nvSpPr>
        <p:spPr>
          <a:xfrm>
            <a:off x="5334000" y="1962150"/>
            <a:ext cx="1333500" cy="647700"/>
          </a:xfrm>
          <a:prstGeom prst="rect">
            <a:avLst/>
          </a:prstGeom>
          <a:solidFill>
            <a:srgbClr val="FFFDF7"/>
          </a:solidFill>
          <a:ln w="9525">
            <a:solidFill>
              <a:srgbClr val="CFC7B8"/>
            </a:solidFill>
            <a:prstDash val="solid"/>
          </a:ln>
        </p:spPr>
        <p:txBody>
          <a:bodyPr/>
          <a:lstStyle/>
          <a:p>
            <a:endParaRPr/>
          </a:p>
        </p:txBody>
      </p:sp>
      <p:sp>
        <p:nvSpPr>
          <p:cNvPr id="18" name="Rectangle 17">
            <a:extLst>
              <a:ext uri="{FF2B5EF4-FFF2-40B4-BE49-F238E27FC236}">
                <a16:creationId xmlns:a16="http://schemas.microsoft.com/office/drawing/2014/main" id="{4BC23FAE-E19C-4966-BA8F-F82611E1B895}"/>
              </a:ext>
            </a:extLst>
          </p:cNvPr>
          <p:cNvSpPr>
            <a:spLocks noGrp="1"/>
          </p:cNvSpPr>
          <p:nvPr/>
        </p:nvSpPr>
        <p:spPr>
          <a:xfrm>
            <a:off x="5391150" y="2038350"/>
            <a:ext cx="1219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0">
                <a:solidFill>
                  <a:srgbClr val="142026"/>
                </a:solidFill>
                <a:latin typeface="Aptos"/>
                <a:ea typeface="Aptos"/>
                <a:cs typeface="Aptos"/>
              </a:defRPr>
            </a:pPr>
            <a:r>
              <a:rPr sz="1350" b="0">
                <a:solidFill>
                  <a:srgbClr val="142026"/>
                </a:solidFill>
                <a:latin typeface="Aptos"/>
                <a:ea typeface="Aptos"/>
                <a:cs typeface="Aptos"/>
              </a:rPr>
              <a:t>-0.042</a:t>
            </a:r>
          </a:p>
        </p:txBody>
      </p:sp>
      <p:sp>
        <p:nvSpPr>
          <p:cNvPr id="19" name="Rectangle 18">
            <a:extLst>
              <a:ext uri="{FF2B5EF4-FFF2-40B4-BE49-F238E27FC236}">
                <a16:creationId xmlns:a16="http://schemas.microsoft.com/office/drawing/2014/main" id="{F655CE83-2015-43B7-9D2B-0905046A62DD}"/>
              </a:ext>
            </a:extLst>
          </p:cNvPr>
          <p:cNvSpPr>
            <a:spLocks noGrp="1"/>
          </p:cNvSpPr>
          <p:nvPr/>
        </p:nvSpPr>
        <p:spPr>
          <a:xfrm>
            <a:off x="6667500" y="1962150"/>
            <a:ext cx="1333500" cy="647700"/>
          </a:xfrm>
          <a:prstGeom prst="rect">
            <a:avLst/>
          </a:prstGeom>
          <a:solidFill>
            <a:srgbClr val="FFFDF7"/>
          </a:solidFill>
          <a:ln w="9525">
            <a:solidFill>
              <a:srgbClr val="CFC7B8"/>
            </a:solidFill>
            <a:prstDash val="solid"/>
          </a:ln>
        </p:spPr>
        <p:txBody>
          <a:bodyPr/>
          <a:lstStyle/>
          <a:p>
            <a:endParaRPr/>
          </a:p>
        </p:txBody>
      </p:sp>
      <p:sp>
        <p:nvSpPr>
          <p:cNvPr id="20" name="Rectangle 19">
            <a:extLst>
              <a:ext uri="{FF2B5EF4-FFF2-40B4-BE49-F238E27FC236}">
                <a16:creationId xmlns:a16="http://schemas.microsoft.com/office/drawing/2014/main" id="{8C5E6D25-6205-4408-8C01-79ED9979A0D1}"/>
              </a:ext>
            </a:extLst>
          </p:cNvPr>
          <p:cNvSpPr>
            <a:spLocks noGrp="1"/>
          </p:cNvSpPr>
          <p:nvPr/>
        </p:nvSpPr>
        <p:spPr>
          <a:xfrm>
            <a:off x="6724650" y="2038350"/>
            <a:ext cx="1219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0">
                <a:solidFill>
                  <a:srgbClr val="142026"/>
                </a:solidFill>
                <a:latin typeface="Aptos"/>
                <a:ea typeface="Aptos"/>
                <a:cs typeface="Aptos"/>
              </a:defRPr>
            </a:pPr>
            <a:r>
              <a:rPr sz="1350" b="0">
                <a:solidFill>
                  <a:srgbClr val="142026"/>
                </a:solidFill>
                <a:latin typeface="Aptos"/>
                <a:ea typeface="Aptos"/>
                <a:cs typeface="Aptos"/>
              </a:rPr>
              <a:t>-0.122</a:t>
            </a:r>
          </a:p>
        </p:txBody>
      </p:sp>
      <p:sp>
        <p:nvSpPr>
          <p:cNvPr id="21" name="Rectangle 20">
            <a:extLst>
              <a:ext uri="{FF2B5EF4-FFF2-40B4-BE49-F238E27FC236}">
                <a16:creationId xmlns:a16="http://schemas.microsoft.com/office/drawing/2014/main" id="{76DB6136-2E59-46D3-A10B-3601BC751754}"/>
              </a:ext>
            </a:extLst>
          </p:cNvPr>
          <p:cNvSpPr>
            <a:spLocks noGrp="1"/>
          </p:cNvSpPr>
          <p:nvPr/>
        </p:nvSpPr>
        <p:spPr>
          <a:xfrm>
            <a:off x="8001000" y="1962150"/>
            <a:ext cx="1333500" cy="647700"/>
          </a:xfrm>
          <a:prstGeom prst="rect">
            <a:avLst/>
          </a:prstGeom>
          <a:solidFill>
            <a:srgbClr val="FFFDF7"/>
          </a:solidFill>
          <a:ln w="9525">
            <a:solidFill>
              <a:srgbClr val="CFC7B8"/>
            </a:solidFill>
            <a:prstDash val="solid"/>
          </a:ln>
        </p:spPr>
        <p:txBody>
          <a:bodyPr/>
          <a:lstStyle/>
          <a:p>
            <a:endParaRPr/>
          </a:p>
        </p:txBody>
      </p:sp>
      <p:sp>
        <p:nvSpPr>
          <p:cNvPr id="22" name="Rectangle 21">
            <a:extLst>
              <a:ext uri="{FF2B5EF4-FFF2-40B4-BE49-F238E27FC236}">
                <a16:creationId xmlns:a16="http://schemas.microsoft.com/office/drawing/2014/main" id="{FA329EBC-D0D1-460F-9DC8-4ADFB1150FF7}"/>
              </a:ext>
            </a:extLst>
          </p:cNvPr>
          <p:cNvSpPr>
            <a:spLocks noGrp="1"/>
          </p:cNvSpPr>
          <p:nvPr/>
        </p:nvSpPr>
        <p:spPr>
          <a:xfrm>
            <a:off x="8058150" y="2038350"/>
            <a:ext cx="1219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0">
                <a:solidFill>
                  <a:srgbClr val="142026"/>
                </a:solidFill>
                <a:latin typeface="Aptos"/>
                <a:ea typeface="Aptos"/>
                <a:cs typeface="Aptos"/>
              </a:defRPr>
            </a:pPr>
            <a:r>
              <a:rPr sz="1350" b="0">
                <a:solidFill>
                  <a:srgbClr val="142026"/>
                </a:solidFill>
                <a:latin typeface="Aptos"/>
                <a:ea typeface="Aptos"/>
                <a:cs typeface="Aptos"/>
              </a:rPr>
              <a:t>+0.039</a:t>
            </a:r>
          </a:p>
        </p:txBody>
      </p:sp>
      <p:sp>
        <p:nvSpPr>
          <p:cNvPr id="23" name="Rectangle 22">
            <a:extLst>
              <a:ext uri="{FF2B5EF4-FFF2-40B4-BE49-F238E27FC236}">
                <a16:creationId xmlns:a16="http://schemas.microsoft.com/office/drawing/2014/main" id="{24541F9D-03BE-42AD-9E30-996F21BD31E1}"/>
              </a:ext>
            </a:extLst>
          </p:cNvPr>
          <p:cNvSpPr>
            <a:spLocks noGrp="1"/>
          </p:cNvSpPr>
          <p:nvPr/>
        </p:nvSpPr>
        <p:spPr>
          <a:xfrm>
            <a:off x="2857500" y="2609850"/>
            <a:ext cx="2476500" cy="647700"/>
          </a:xfrm>
          <a:prstGeom prst="rect">
            <a:avLst/>
          </a:prstGeom>
          <a:solidFill>
            <a:srgbClr val="F8F5EA"/>
          </a:solidFill>
          <a:ln w="9525">
            <a:solidFill>
              <a:srgbClr val="CFC7B8"/>
            </a:solidFill>
            <a:prstDash val="solid"/>
          </a:ln>
        </p:spPr>
        <p:txBody>
          <a:bodyPr/>
          <a:lstStyle/>
          <a:p>
            <a:endParaRPr/>
          </a:p>
        </p:txBody>
      </p:sp>
      <p:sp>
        <p:nvSpPr>
          <p:cNvPr id="24" name="Rectangle 23">
            <a:extLst>
              <a:ext uri="{FF2B5EF4-FFF2-40B4-BE49-F238E27FC236}">
                <a16:creationId xmlns:a16="http://schemas.microsoft.com/office/drawing/2014/main" id="{9CBFDCB5-6C9C-4D6A-8891-5153A47334C3}"/>
              </a:ext>
            </a:extLst>
          </p:cNvPr>
          <p:cNvSpPr>
            <a:spLocks noGrp="1"/>
          </p:cNvSpPr>
          <p:nvPr/>
        </p:nvSpPr>
        <p:spPr>
          <a:xfrm>
            <a:off x="2914650" y="2686050"/>
            <a:ext cx="2362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350" b="0">
                <a:solidFill>
                  <a:srgbClr val="142026"/>
                </a:solidFill>
                <a:latin typeface="Aptos"/>
                <a:ea typeface="Aptos"/>
                <a:cs typeface="Aptos"/>
              </a:defRPr>
            </a:pPr>
            <a:r>
              <a:rPr sz="1350" b="0">
                <a:solidFill>
                  <a:srgbClr val="142026"/>
                </a:solidFill>
                <a:latin typeface="Aptos"/>
                <a:ea typeface="Aptos"/>
                <a:cs typeface="Aptos"/>
              </a:rPr>
              <a:t>Qwen3-VL-8B</a:t>
            </a:r>
          </a:p>
        </p:txBody>
      </p:sp>
      <p:sp>
        <p:nvSpPr>
          <p:cNvPr id="25" name="Rectangle 24">
            <a:extLst>
              <a:ext uri="{FF2B5EF4-FFF2-40B4-BE49-F238E27FC236}">
                <a16:creationId xmlns:a16="http://schemas.microsoft.com/office/drawing/2014/main" id="{AAA08103-5173-4538-B699-1729C5D9CE8B}"/>
              </a:ext>
            </a:extLst>
          </p:cNvPr>
          <p:cNvSpPr>
            <a:spLocks noGrp="1"/>
          </p:cNvSpPr>
          <p:nvPr/>
        </p:nvSpPr>
        <p:spPr>
          <a:xfrm>
            <a:off x="5334000" y="2609850"/>
            <a:ext cx="1333500" cy="647700"/>
          </a:xfrm>
          <a:prstGeom prst="rect">
            <a:avLst/>
          </a:prstGeom>
          <a:solidFill>
            <a:srgbClr val="F8F5EA"/>
          </a:solidFill>
          <a:ln w="9525">
            <a:solidFill>
              <a:srgbClr val="CFC7B8"/>
            </a:solidFill>
            <a:prstDash val="solid"/>
          </a:ln>
        </p:spPr>
        <p:txBody>
          <a:bodyPr/>
          <a:lstStyle/>
          <a:p>
            <a:endParaRPr/>
          </a:p>
        </p:txBody>
      </p:sp>
      <p:sp>
        <p:nvSpPr>
          <p:cNvPr id="26" name="Rectangle 25">
            <a:extLst>
              <a:ext uri="{FF2B5EF4-FFF2-40B4-BE49-F238E27FC236}">
                <a16:creationId xmlns:a16="http://schemas.microsoft.com/office/drawing/2014/main" id="{94AB753D-C7B9-46DF-B2E9-A3FA963DF7E4}"/>
              </a:ext>
            </a:extLst>
          </p:cNvPr>
          <p:cNvSpPr>
            <a:spLocks noGrp="1"/>
          </p:cNvSpPr>
          <p:nvPr/>
        </p:nvSpPr>
        <p:spPr>
          <a:xfrm>
            <a:off x="5391150" y="2686050"/>
            <a:ext cx="1219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0">
                <a:solidFill>
                  <a:srgbClr val="142026"/>
                </a:solidFill>
                <a:latin typeface="Aptos"/>
                <a:ea typeface="Aptos"/>
                <a:cs typeface="Aptos"/>
              </a:defRPr>
            </a:pPr>
            <a:r>
              <a:rPr sz="1350" b="0">
                <a:solidFill>
                  <a:srgbClr val="142026"/>
                </a:solidFill>
                <a:latin typeface="Aptos"/>
                <a:ea typeface="Aptos"/>
                <a:cs typeface="Aptos"/>
              </a:rPr>
              <a:t>+0.037</a:t>
            </a:r>
          </a:p>
        </p:txBody>
      </p:sp>
      <p:sp>
        <p:nvSpPr>
          <p:cNvPr id="27" name="Rectangle 26">
            <a:extLst>
              <a:ext uri="{FF2B5EF4-FFF2-40B4-BE49-F238E27FC236}">
                <a16:creationId xmlns:a16="http://schemas.microsoft.com/office/drawing/2014/main" id="{CACE5585-A6F7-4C00-B874-62D5B0F18498}"/>
              </a:ext>
            </a:extLst>
          </p:cNvPr>
          <p:cNvSpPr>
            <a:spLocks noGrp="1"/>
          </p:cNvSpPr>
          <p:nvPr/>
        </p:nvSpPr>
        <p:spPr>
          <a:xfrm>
            <a:off x="6667500" y="2609850"/>
            <a:ext cx="1333500" cy="647700"/>
          </a:xfrm>
          <a:prstGeom prst="rect">
            <a:avLst/>
          </a:prstGeom>
          <a:solidFill>
            <a:srgbClr val="F8F5EA"/>
          </a:solidFill>
          <a:ln w="9525">
            <a:solidFill>
              <a:srgbClr val="CFC7B8"/>
            </a:solidFill>
            <a:prstDash val="solid"/>
          </a:ln>
        </p:spPr>
        <p:txBody>
          <a:bodyPr/>
          <a:lstStyle/>
          <a:p>
            <a:endParaRPr/>
          </a:p>
        </p:txBody>
      </p:sp>
      <p:sp>
        <p:nvSpPr>
          <p:cNvPr id="28" name="Rectangle 27">
            <a:extLst>
              <a:ext uri="{FF2B5EF4-FFF2-40B4-BE49-F238E27FC236}">
                <a16:creationId xmlns:a16="http://schemas.microsoft.com/office/drawing/2014/main" id="{6310916A-13BC-4939-A030-E0C571A71C0B}"/>
              </a:ext>
            </a:extLst>
          </p:cNvPr>
          <p:cNvSpPr>
            <a:spLocks noGrp="1"/>
          </p:cNvSpPr>
          <p:nvPr/>
        </p:nvSpPr>
        <p:spPr>
          <a:xfrm>
            <a:off x="6724650" y="2686050"/>
            <a:ext cx="1219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0">
                <a:solidFill>
                  <a:srgbClr val="142026"/>
                </a:solidFill>
                <a:latin typeface="Aptos"/>
                <a:ea typeface="Aptos"/>
                <a:cs typeface="Aptos"/>
              </a:defRPr>
            </a:pPr>
            <a:r>
              <a:rPr sz="1350" b="0">
                <a:solidFill>
                  <a:srgbClr val="142026"/>
                </a:solidFill>
                <a:latin typeface="Aptos"/>
                <a:ea typeface="Aptos"/>
                <a:cs typeface="Aptos"/>
              </a:rPr>
              <a:t>+0.027</a:t>
            </a:r>
          </a:p>
        </p:txBody>
      </p:sp>
      <p:sp>
        <p:nvSpPr>
          <p:cNvPr id="29" name="Rectangle 28">
            <a:extLst>
              <a:ext uri="{FF2B5EF4-FFF2-40B4-BE49-F238E27FC236}">
                <a16:creationId xmlns:a16="http://schemas.microsoft.com/office/drawing/2014/main" id="{BE1B09F8-B2C6-49BB-9CA1-58ACC3D215B9}"/>
              </a:ext>
            </a:extLst>
          </p:cNvPr>
          <p:cNvSpPr>
            <a:spLocks noGrp="1"/>
          </p:cNvSpPr>
          <p:nvPr/>
        </p:nvSpPr>
        <p:spPr>
          <a:xfrm>
            <a:off x="8001000" y="2609850"/>
            <a:ext cx="1333500" cy="647700"/>
          </a:xfrm>
          <a:prstGeom prst="rect">
            <a:avLst/>
          </a:prstGeom>
          <a:solidFill>
            <a:srgbClr val="F8F5EA"/>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4B9DDA40-9DFD-493B-BB88-222F4AE5800A}"/>
              </a:ext>
            </a:extLst>
          </p:cNvPr>
          <p:cNvSpPr>
            <a:spLocks noGrp="1"/>
          </p:cNvSpPr>
          <p:nvPr/>
        </p:nvSpPr>
        <p:spPr>
          <a:xfrm>
            <a:off x="8058150" y="2686050"/>
            <a:ext cx="1219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0">
                <a:solidFill>
                  <a:srgbClr val="142026"/>
                </a:solidFill>
                <a:latin typeface="Aptos"/>
                <a:ea typeface="Aptos"/>
                <a:cs typeface="Aptos"/>
              </a:defRPr>
            </a:pPr>
            <a:r>
              <a:rPr sz="1350" b="0">
                <a:solidFill>
                  <a:srgbClr val="142026"/>
                </a:solidFill>
                <a:latin typeface="Aptos"/>
                <a:ea typeface="Aptos"/>
                <a:cs typeface="Aptos"/>
              </a:rPr>
              <a:t>+0.078</a:t>
            </a:r>
          </a:p>
        </p:txBody>
      </p:sp>
      <p:sp>
        <p:nvSpPr>
          <p:cNvPr id="31" name="Rectangle 30">
            <a:extLst>
              <a:ext uri="{FF2B5EF4-FFF2-40B4-BE49-F238E27FC236}">
                <a16:creationId xmlns:a16="http://schemas.microsoft.com/office/drawing/2014/main" id="{83DFF9B5-CFF9-4488-B4DB-703AD68B00C1}"/>
              </a:ext>
            </a:extLst>
          </p:cNvPr>
          <p:cNvSpPr>
            <a:spLocks noGrp="1"/>
          </p:cNvSpPr>
          <p:nvPr/>
        </p:nvSpPr>
        <p:spPr>
          <a:xfrm>
            <a:off x="2209800" y="4095750"/>
            <a:ext cx="7772400" cy="4000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350" b="1">
                <a:solidFill>
                  <a:srgbClr val="264653"/>
                </a:solidFill>
                <a:latin typeface="Aptos"/>
                <a:ea typeface="Aptos"/>
                <a:cs typeface="Aptos"/>
              </a:defRPr>
            </a:pPr>
            <a:r>
              <a:rPr sz="1350" b="1">
                <a:solidFill>
                  <a:srgbClr val="264653"/>
                </a:solidFill>
                <a:latin typeface="Aptos"/>
                <a:ea typeface="Aptos"/>
                <a:cs typeface="Aptos"/>
              </a:rPr>
              <a:t>Exploratory early check: one example can help, do nothing, or hurt depending on model and method.</a:t>
            </a:r>
          </a:p>
        </p:txBody>
      </p:sp>
    </p:spTree>
    <p:extLst>
      <p:ext uri="{BB962C8B-B14F-4D97-AF65-F5344CB8AC3E}">
        <p14:creationId xmlns:p14="http://schemas.microsoft.com/office/powerpoint/2010/main" val="20206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15FB654C-E0D1-4536-8482-4F5C09189A23}"/>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E3B77DF1-17B7-457F-873E-F81388F0A472}"/>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4A0F7C32-1BFE-4CE1-BADF-F4B7583CBA59}"/>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A13</a:t>
            </a:r>
          </a:p>
        </p:txBody>
      </p:sp>
      <p:sp>
        <p:nvSpPr>
          <p:cNvPr id="4" name="Rectangle 3">
            <a:extLst>
              <a:ext uri="{FF2B5EF4-FFF2-40B4-BE49-F238E27FC236}">
                <a16:creationId xmlns:a16="http://schemas.microsoft.com/office/drawing/2014/main" id="{7FB88958-182F-458A-9E24-650557AF196C}"/>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Bullinger Subset Comparison</a:t>
            </a:r>
          </a:p>
        </p:txBody>
      </p:sp>
      <p:sp>
        <p:nvSpPr>
          <p:cNvPr id="5" name="Rectangle 4">
            <a:extLst>
              <a:ext uri="{FF2B5EF4-FFF2-40B4-BE49-F238E27FC236}">
                <a16:creationId xmlns:a16="http://schemas.microsoft.com/office/drawing/2014/main" id="{F9E5938D-454F-4502-8689-DEC4CCE12878}"/>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2F9632EE-505E-440C-9D76-2FD33F00B942}"/>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27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1D22ADFF-D471-4C7D-A96B-314B75FDEE42}"/>
              </a:ext>
            </a:extLst>
          </p:cNvPr>
          <p:cNvSpPr>
            <a:spLocks noGrp="1"/>
          </p:cNvSpPr>
          <p:nvPr/>
        </p:nvSpPr>
        <p:spPr>
          <a:xfrm>
            <a:off x="1485900" y="1562100"/>
            <a:ext cx="1809750" cy="323850"/>
          </a:xfrm>
          <a:prstGeom prst="rect">
            <a:avLst/>
          </a:prstGeom>
          <a:solidFill>
            <a:srgbClr val="264653"/>
          </a:solidFill>
          <a:ln w="9525">
            <a:solidFill>
              <a:srgbClr val="264653"/>
            </a:solidFill>
            <a:prstDash val="solid"/>
          </a:ln>
        </p:spPr>
        <p:txBody>
          <a:bodyPr/>
          <a:lstStyle/>
          <a:p>
            <a:endParaRPr/>
          </a:p>
        </p:txBody>
      </p:sp>
      <p:sp>
        <p:nvSpPr>
          <p:cNvPr id="8" name="Rectangle 7">
            <a:extLst>
              <a:ext uri="{FF2B5EF4-FFF2-40B4-BE49-F238E27FC236}">
                <a16:creationId xmlns:a16="http://schemas.microsoft.com/office/drawing/2014/main" id="{18BB6D55-666D-4E07-AF73-1E2976F5DD9F}"/>
              </a:ext>
            </a:extLst>
          </p:cNvPr>
          <p:cNvSpPr>
            <a:spLocks noGrp="1"/>
          </p:cNvSpPr>
          <p:nvPr/>
        </p:nvSpPr>
        <p:spPr>
          <a:xfrm>
            <a:off x="1543050" y="1647825"/>
            <a:ext cx="16954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1">
                <a:solidFill>
                  <a:srgbClr val="FFFFFF"/>
                </a:solidFill>
                <a:latin typeface="Aptos"/>
                <a:ea typeface="Aptos"/>
                <a:cs typeface="Aptos"/>
              </a:defRPr>
            </a:pPr>
            <a:r>
              <a:rPr sz="1050" b="1">
                <a:solidFill>
                  <a:srgbClr val="FFFFFF"/>
                </a:solidFill>
                <a:latin typeface="Aptos"/>
                <a:ea typeface="Aptos"/>
                <a:cs typeface="Aptos"/>
              </a:rPr>
              <a:t>Subset</a:t>
            </a:r>
          </a:p>
        </p:txBody>
      </p:sp>
      <p:sp>
        <p:nvSpPr>
          <p:cNvPr id="9" name="Rectangle 8">
            <a:extLst>
              <a:ext uri="{FF2B5EF4-FFF2-40B4-BE49-F238E27FC236}">
                <a16:creationId xmlns:a16="http://schemas.microsoft.com/office/drawing/2014/main" id="{865C030C-EA91-4DBF-9F9E-2689684516F5}"/>
              </a:ext>
            </a:extLst>
          </p:cNvPr>
          <p:cNvSpPr>
            <a:spLocks noGrp="1"/>
          </p:cNvSpPr>
          <p:nvPr/>
        </p:nvSpPr>
        <p:spPr>
          <a:xfrm>
            <a:off x="3295650" y="1562100"/>
            <a:ext cx="2095500" cy="323850"/>
          </a:xfrm>
          <a:prstGeom prst="rect">
            <a:avLst/>
          </a:prstGeom>
          <a:solidFill>
            <a:srgbClr val="264653"/>
          </a:solidFill>
          <a:ln w="9525">
            <a:solidFill>
              <a:srgbClr val="264653"/>
            </a:solidFill>
            <a:prstDash val="solid"/>
          </a:ln>
        </p:spPr>
        <p:txBody>
          <a:bodyPr/>
          <a:lstStyle/>
          <a:p>
            <a:endParaRPr/>
          </a:p>
        </p:txBody>
      </p:sp>
      <p:sp>
        <p:nvSpPr>
          <p:cNvPr id="10" name="Rectangle 9">
            <a:extLst>
              <a:ext uri="{FF2B5EF4-FFF2-40B4-BE49-F238E27FC236}">
                <a16:creationId xmlns:a16="http://schemas.microsoft.com/office/drawing/2014/main" id="{6FD2EB84-C4CB-4510-A9A2-F94D9B017D8C}"/>
              </a:ext>
            </a:extLst>
          </p:cNvPr>
          <p:cNvSpPr>
            <a:spLocks noGrp="1"/>
          </p:cNvSpPr>
          <p:nvPr/>
        </p:nvSpPr>
        <p:spPr>
          <a:xfrm>
            <a:off x="3352800" y="1647825"/>
            <a:ext cx="1981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1">
                <a:solidFill>
                  <a:srgbClr val="FFFFFF"/>
                </a:solidFill>
                <a:latin typeface="Aptos"/>
                <a:ea typeface="Aptos"/>
                <a:cs typeface="Aptos"/>
              </a:defRPr>
            </a:pPr>
            <a:r>
              <a:rPr sz="1050" b="1">
                <a:solidFill>
                  <a:srgbClr val="FFFFFF"/>
                </a:solidFill>
                <a:latin typeface="Aptos"/>
                <a:ea typeface="Aptos"/>
                <a:cs typeface="Aptos"/>
              </a:rPr>
              <a:t>Thesis M5 raw LA-&gt;</a:t>
            </a:r>
          </a:p>
        </p:txBody>
      </p:sp>
      <p:sp>
        <p:nvSpPr>
          <p:cNvPr id="11" name="Rectangle 10">
            <a:extLst>
              <a:ext uri="{FF2B5EF4-FFF2-40B4-BE49-F238E27FC236}">
                <a16:creationId xmlns:a16="http://schemas.microsoft.com/office/drawing/2014/main" id="{62658A9D-863C-4A3F-BD98-B01199DE2C6E}"/>
              </a:ext>
            </a:extLst>
          </p:cNvPr>
          <p:cNvSpPr>
            <a:spLocks noGrp="1"/>
          </p:cNvSpPr>
          <p:nvPr/>
        </p:nvSpPr>
        <p:spPr>
          <a:xfrm>
            <a:off x="5391150" y="1562100"/>
            <a:ext cx="2286000" cy="323850"/>
          </a:xfrm>
          <a:prstGeom prst="rect">
            <a:avLst/>
          </a:prstGeom>
          <a:solidFill>
            <a:srgbClr val="264653"/>
          </a:solidFill>
          <a:ln w="9525">
            <a:solidFill>
              <a:srgbClr val="264653"/>
            </a:solidFill>
            <a:prstDash val="solid"/>
          </a:ln>
        </p:spPr>
        <p:txBody>
          <a:bodyPr/>
          <a:lstStyle/>
          <a:p>
            <a:endParaRPr/>
          </a:p>
        </p:txBody>
      </p:sp>
      <p:sp>
        <p:nvSpPr>
          <p:cNvPr id="12" name="Rectangle 11">
            <a:extLst>
              <a:ext uri="{FF2B5EF4-FFF2-40B4-BE49-F238E27FC236}">
                <a16:creationId xmlns:a16="http://schemas.microsoft.com/office/drawing/2014/main" id="{23D66F14-206E-46B1-864E-AF202C68C558}"/>
              </a:ext>
            </a:extLst>
          </p:cNvPr>
          <p:cNvSpPr>
            <a:spLocks noGrp="1"/>
          </p:cNvSpPr>
          <p:nvPr/>
        </p:nvSpPr>
        <p:spPr>
          <a:xfrm>
            <a:off x="5448300" y="1647825"/>
            <a:ext cx="21717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1">
                <a:solidFill>
                  <a:srgbClr val="FFFFFF"/>
                </a:solidFill>
                <a:latin typeface="Aptos"/>
                <a:ea typeface="Aptos"/>
                <a:cs typeface="Aptos"/>
              </a:defRPr>
            </a:pPr>
            <a:r>
              <a:rPr sz="1050" b="1">
                <a:solidFill>
                  <a:srgbClr val="FFFFFF"/>
                </a:solidFill>
                <a:latin typeface="Aptos"/>
                <a:ea typeface="Aptos"/>
                <a:cs typeface="Aptos"/>
              </a:rPr>
              <a:t>Published NNTP raw LA-&gt;</a:t>
            </a:r>
          </a:p>
        </p:txBody>
      </p:sp>
      <p:sp>
        <p:nvSpPr>
          <p:cNvPr id="13" name="Rectangle 12">
            <a:extLst>
              <a:ext uri="{FF2B5EF4-FFF2-40B4-BE49-F238E27FC236}">
                <a16:creationId xmlns:a16="http://schemas.microsoft.com/office/drawing/2014/main" id="{01DD4C31-C177-4B4A-AB6F-245583F8FA05}"/>
              </a:ext>
            </a:extLst>
          </p:cNvPr>
          <p:cNvSpPr>
            <a:spLocks noGrp="1"/>
          </p:cNvSpPr>
          <p:nvPr/>
        </p:nvSpPr>
        <p:spPr>
          <a:xfrm>
            <a:off x="7677150" y="1562100"/>
            <a:ext cx="3314700" cy="323850"/>
          </a:xfrm>
          <a:prstGeom prst="rect">
            <a:avLst/>
          </a:prstGeom>
          <a:solidFill>
            <a:srgbClr val="264653"/>
          </a:solidFill>
          <a:ln w="9525">
            <a:solidFill>
              <a:srgbClr val="264653"/>
            </a:solidFill>
            <a:prstDash val="solid"/>
          </a:ln>
        </p:spPr>
        <p:txBody>
          <a:bodyPr/>
          <a:lstStyle/>
          <a:p>
            <a:endParaRPr/>
          </a:p>
        </p:txBody>
      </p:sp>
      <p:sp>
        <p:nvSpPr>
          <p:cNvPr id="14" name="Rectangle 13">
            <a:extLst>
              <a:ext uri="{FF2B5EF4-FFF2-40B4-BE49-F238E27FC236}">
                <a16:creationId xmlns:a16="http://schemas.microsoft.com/office/drawing/2014/main" id="{694AC6AC-4789-41E3-880E-6B2EBA4AF28F}"/>
              </a:ext>
            </a:extLst>
          </p:cNvPr>
          <p:cNvSpPr>
            <a:spLocks noGrp="1"/>
          </p:cNvSpPr>
          <p:nvPr/>
        </p:nvSpPr>
        <p:spPr>
          <a:xfrm>
            <a:off x="7734300" y="1647825"/>
            <a:ext cx="32004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1">
                <a:solidFill>
                  <a:srgbClr val="FFFFFF"/>
                </a:solidFill>
                <a:latin typeface="Aptos"/>
                <a:ea typeface="Aptos"/>
                <a:cs typeface="Aptos"/>
              </a:defRPr>
            </a:pPr>
            <a:r>
              <a:rPr sz="1050" b="1">
                <a:solidFill>
                  <a:srgbClr val="FFFFFF"/>
                </a:solidFill>
                <a:latin typeface="Aptos"/>
                <a:ea typeface="Aptos"/>
                <a:cs typeface="Aptos"/>
              </a:rPr>
              <a:t>Interpretation</a:t>
            </a:r>
          </a:p>
        </p:txBody>
      </p:sp>
      <p:sp>
        <p:nvSpPr>
          <p:cNvPr id="15" name="Rectangle 14">
            <a:extLst>
              <a:ext uri="{FF2B5EF4-FFF2-40B4-BE49-F238E27FC236}">
                <a16:creationId xmlns:a16="http://schemas.microsoft.com/office/drawing/2014/main" id="{446DA369-1927-47C8-9246-A30187D0B8C1}"/>
              </a:ext>
            </a:extLst>
          </p:cNvPr>
          <p:cNvSpPr>
            <a:spLocks noGrp="1"/>
          </p:cNvSpPr>
          <p:nvPr/>
        </p:nvSpPr>
        <p:spPr>
          <a:xfrm>
            <a:off x="1485900" y="1885950"/>
            <a:ext cx="1809750" cy="647700"/>
          </a:xfrm>
          <a:prstGeom prst="rect">
            <a:avLst/>
          </a:prstGeom>
          <a:solidFill>
            <a:srgbClr val="FFFDF7"/>
          </a:solidFill>
          <a:ln w="9525">
            <a:solidFill>
              <a:srgbClr val="CFC7B8"/>
            </a:solidFill>
            <a:prstDash val="solid"/>
          </a:ln>
        </p:spPr>
        <p:txBody>
          <a:bodyPr/>
          <a:lstStyle/>
          <a:p>
            <a:endParaRPr/>
          </a:p>
        </p:txBody>
      </p:sp>
      <p:sp>
        <p:nvSpPr>
          <p:cNvPr id="16" name="Rectangle 15">
            <a:extLst>
              <a:ext uri="{FF2B5EF4-FFF2-40B4-BE49-F238E27FC236}">
                <a16:creationId xmlns:a16="http://schemas.microsoft.com/office/drawing/2014/main" id="{39B2F940-F71A-4773-9D55-C61898092BE0}"/>
              </a:ext>
            </a:extLst>
          </p:cNvPr>
          <p:cNvSpPr>
            <a:spLocks noGrp="1"/>
          </p:cNvSpPr>
          <p:nvPr/>
        </p:nvSpPr>
        <p:spPr>
          <a:xfrm>
            <a:off x="1543050" y="1962150"/>
            <a:ext cx="169545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200" b="0">
                <a:solidFill>
                  <a:srgbClr val="142026"/>
                </a:solidFill>
                <a:latin typeface="Aptos"/>
                <a:ea typeface="Aptos"/>
                <a:cs typeface="Aptos"/>
              </a:defRPr>
            </a:pPr>
            <a:r>
              <a:rPr sz="1200" b="0">
                <a:solidFill>
                  <a:srgbClr val="142026"/>
                </a:solidFill>
                <a:latin typeface="Aptos"/>
                <a:ea typeface="Aptos"/>
                <a:cs typeface="Aptos"/>
              </a:rPr>
              <a:t>Subset 1</a:t>
            </a:r>
          </a:p>
        </p:txBody>
      </p:sp>
      <p:sp>
        <p:nvSpPr>
          <p:cNvPr id="17" name="Rectangle 16">
            <a:extLst>
              <a:ext uri="{FF2B5EF4-FFF2-40B4-BE49-F238E27FC236}">
                <a16:creationId xmlns:a16="http://schemas.microsoft.com/office/drawing/2014/main" id="{EEBC0A93-0338-4596-B038-6392E12A1D7D}"/>
              </a:ext>
            </a:extLst>
          </p:cNvPr>
          <p:cNvSpPr>
            <a:spLocks noGrp="1"/>
          </p:cNvSpPr>
          <p:nvPr/>
        </p:nvSpPr>
        <p:spPr>
          <a:xfrm>
            <a:off x="3295650" y="1885950"/>
            <a:ext cx="2095500" cy="647700"/>
          </a:xfrm>
          <a:prstGeom prst="rect">
            <a:avLst/>
          </a:prstGeom>
          <a:solidFill>
            <a:srgbClr val="FFFDF7"/>
          </a:solidFill>
          <a:ln w="9525">
            <a:solidFill>
              <a:srgbClr val="CFC7B8"/>
            </a:solidFill>
            <a:prstDash val="solid"/>
          </a:ln>
        </p:spPr>
        <p:txBody>
          <a:bodyPr/>
          <a:lstStyle/>
          <a:p>
            <a:endParaRPr/>
          </a:p>
        </p:txBody>
      </p:sp>
      <p:sp>
        <p:nvSpPr>
          <p:cNvPr id="18" name="Rectangle 17">
            <a:extLst>
              <a:ext uri="{FF2B5EF4-FFF2-40B4-BE49-F238E27FC236}">
                <a16:creationId xmlns:a16="http://schemas.microsoft.com/office/drawing/2014/main" id="{98652C06-75CF-459F-AB61-65B9837BAF11}"/>
              </a:ext>
            </a:extLst>
          </p:cNvPr>
          <p:cNvSpPr>
            <a:spLocks noGrp="1"/>
          </p:cNvSpPr>
          <p:nvPr/>
        </p:nvSpPr>
        <p:spPr>
          <a:xfrm>
            <a:off x="3352800" y="1962150"/>
            <a:ext cx="1981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0">
                <a:solidFill>
                  <a:srgbClr val="142026"/>
                </a:solidFill>
                <a:latin typeface="Aptos"/>
                <a:ea typeface="Aptos"/>
                <a:cs typeface="Aptos"/>
              </a:defRPr>
            </a:pPr>
            <a:r>
              <a:rPr sz="1200" b="0">
                <a:solidFill>
                  <a:srgbClr val="142026"/>
                </a:solidFill>
                <a:latin typeface="Aptos"/>
                <a:ea typeface="Aptos"/>
                <a:cs typeface="Aptos"/>
              </a:rPr>
              <a:t>0.821</a:t>
            </a:r>
          </a:p>
        </p:txBody>
      </p:sp>
      <p:sp>
        <p:nvSpPr>
          <p:cNvPr id="19" name="Rectangle 18">
            <a:extLst>
              <a:ext uri="{FF2B5EF4-FFF2-40B4-BE49-F238E27FC236}">
                <a16:creationId xmlns:a16="http://schemas.microsoft.com/office/drawing/2014/main" id="{335EFC1A-35F8-444B-9AFE-0056F00D3E07}"/>
              </a:ext>
            </a:extLst>
          </p:cNvPr>
          <p:cNvSpPr>
            <a:spLocks noGrp="1"/>
          </p:cNvSpPr>
          <p:nvPr/>
        </p:nvSpPr>
        <p:spPr>
          <a:xfrm>
            <a:off x="5391150" y="1885950"/>
            <a:ext cx="2286000" cy="647700"/>
          </a:xfrm>
          <a:prstGeom prst="rect">
            <a:avLst/>
          </a:prstGeom>
          <a:solidFill>
            <a:srgbClr val="FFFDF7"/>
          </a:solidFill>
          <a:ln w="9525">
            <a:solidFill>
              <a:srgbClr val="CFC7B8"/>
            </a:solidFill>
            <a:prstDash val="solid"/>
          </a:ln>
        </p:spPr>
        <p:txBody>
          <a:bodyPr/>
          <a:lstStyle/>
          <a:p>
            <a:endParaRPr/>
          </a:p>
        </p:txBody>
      </p:sp>
      <p:sp>
        <p:nvSpPr>
          <p:cNvPr id="20" name="Rectangle 19">
            <a:extLst>
              <a:ext uri="{FF2B5EF4-FFF2-40B4-BE49-F238E27FC236}">
                <a16:creationId xmlns:a16="http://schemas.microsoft.com/office/drawing/2014/main" id="{D02D95C5-6B37-475B-B7B0-89805628820A}"/>
              </a:ext>
            </a:extLst>
          </p:cNvPr>
          <p:cNvSpPr>
            <a:spLocks noGrp="1"/>
          </p:cNvSpPr>
          <p:nvPr/>
        </p:nvSpPr>
        <p:spPr>
          <a:xfrm>
            <a:off x="5448300" y="1962150"/>
            <a:ext cx="21717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0">
                <a:solidFill>
                  <a:srgbClr val="142026"/>
                </a:solidFill>
                <a:latin typeface="Aptos"/>
                <a:ea typeface="Aptos"/>
                <a:cs typeface="Aptos"/>
              </a:defRPr>
            </a:pPr>
            <a:r>
              <a:rPr sz="1200" b="0">
                <a:solidFill>
                  <a:srgbClr val="142026"/>
                </a:solidFill>
                <a:latin typeface="Aptos"/>
                <a:ea typeface="Aptos"/>
                <a:cs typeface="Aptos"/>
              </a:rPr>
              <a:t>0.861</a:t>
            </a:r>
          </a:p>
        </p:txBody>
      </p:sp>
      <p:sp>
        <p:nvSpPr>
          <p:cNvPr id="21" name="Rectangle 20">
            <a:extLst>
              <a:ext uri="{FF2B5EF4-FFF2-40B4-BE49-F238E27FC236}">
                <a16:creationId xmlns:a16="http://schemas.microsoft.com/office/drawing/2014/main" id="{915AA343-F1A7-4B8F-B3AC-CB47A92C41EE}"/>
              </a:ext>
            </a:extLst>
          </p:cNvPr>
          <p:cNvSpPr>
            <a:spLocks noGrp="1"/>
          </p:cNvSpPr>
          <p:nvPr/>
        </p:nvSpPr>
        <p:spPr>
          <a:xfrm>
            <a:off x="7677150" y="1885950"/>
            <a:ext cx="3314700" cy="647700"/>
          </a:xfrm>
          <a:prstGeom prst="rect">
            <a:avLst/>
          </a:prstGeom>
          <a:solidFill>
            <a:srgbClr val="FFFDF7"/>
          </a:solidFill>
          <a:ln w="9525">
            <a:solidFill>
              <a:srgbClr val="CFC7B8"/>
            </a:solidFill>
            <a:prstDash val="solid"/>
          </a:ln>
        </p:spPr>
        <p:txBody>
          <a:bodyPr/>
          <a:lstStyle/>
          <a:p>
            <a:endParaRPr/>
          </a:p>
        </p:txBody>
      </p:sp>
      <p:sp>
        <p:nvSpPr>
          <p:cNvPr id="22" name="Rectangle 21">
            <a:extLst>
              <a:ext uri="{FF2B5EF4-FFF2-40B4-BE49-F238E27FC236}">
                <a16:creationId xmlns:a16="http://schemas.microsoft.com/office/drawing/2014/main" id="{AD9B1ED4-7239-466E-97F1-58B9D2971F35}"/>
              </a:ext>
            </a:extLst>
          </p:cNvPr>
          <p:cNvSpPr>
            <a:spLocks noGrp="1"/>
          </p:cNvSpPr>
          <p:nvPr/>
        </p:nvSpPr>
        <p:spPr>
          <a:xfrm>
            <a:off x="7734300" y="1962150"/>
            <a:ext cx="32004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0">
                <a:solidFill>
                  <a:srgbClr val="142026"/>
                </a:solidFill>
                <a:latin typeface="Aptos"/>
                <a:ea typeface="Aptos"/>
                <a:cs typeface="Aptos"/>
              </a:defRPr>
            </a:pPr>
            <a:r>
              <a:rPr sz="1200" b="0">
                <a:solidFill>
                  <a:srgbClr val="142026"/>
                </a:solidFill>
                <a:latin typeface="Aptos"/>
                <a:ea typeface="Aptos"/>
                <a:cs typeface="Aptos"/>
              </a:rPr>
              <a:t>direct; published NNTP higher</a:t>
            </a:r>
          </a:p>
        </p:txBody>
      </p:sp>
      <p:sp>
        <p:nvSpPr>
          <p:cNvPr id="23" name="Rectangle 22">
            <a:extLst>
              <a:ext uri="{FF2B5EF4-FFF2-40B4-BE49-F238E27FC236}">
                <a16:creationId xmlns:a16="http://schemas.microsoft.com/office/drawing/2014/main" id="{4403BA0E-AD24-43AD-B9D8-1F6596217EFC}"/>
              </a:ext>
            </a:extLst>
          </p:cNvPr>
          <p:cNvSpPr>
            <a:spLocks noGrp="1"/>
          </p:cNvSpPr>
          <p:nvPr/>
        </p:nvSpPr>
        <p:spPr>
          <a:xfrm>
            <a:off x="1485900" y="2533650"/>
            <a:ext cx="1809750" cy="647700"/>
          </a:xfrm>
          <a:prstGeom prst="rect">
            <a:avLst/>
          </a:prstGeom>
          <a:solidFill>
            <a:srgbClr val="F8F5EA"/>
          </a:solidFill>
          <a:ln w="9525">
            <a:solidFill>
              <a:srgbClr val="CFC7B8"/>
            </a:solidFill>
            <a:prstDash val="solid"/>
          </a:ln>
        </p:spPr>
        <p:txBody>
          <a:bodyPr/>
          <a:lstStyle/>
          <a:p>
            <a:endParaRPr/>
          </a:p>
        </p:txBody>
      </p:sp>
      <p:sp>
        <p:nvSpPr>
          <p:cNvPr id="24" name="Rectangle 23">
            <a:extLst>
              <a:ext uri="{FF2B5EF4-FFF2-40B4-BE49-F238E27FC236}">
                <a16:creationId xmlns:a16="http://schemas.microsoft.com/office/drawing/2014/main" id="{E74090BA-F3D0-49F3-A512-7A2674E48F0E}"/>
              </a:ext>
            </a:extLst>
          </p:cNvPr>
          <p:cNvSpPr>
            <a:spLocks noGrp="1"/>
          </p:cNvSpPr>
          <p:nvPr/>
        </p:nvSpPr>
        <p:spPr>
          <a:xfrm>
            <a:off x="1543050" y="2609850"/>
            <a:ext cx="169545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200" b="0">
                <a:solidFill>
                  <a:srgbClr val="142026"/>
                </a:solidFill>
                <a:latin typeface="Aptos"/>
                <a:ea typeface="Aptos"/>
                <a:cs typeface="Aptos"/>
              </a:defRPr>
            </a:pPr>
            <a:r>
              <a:rPr sz="1200" b="0">
                <a:solidFill>
                  <a:srgbClr val="142026"/>
                </a:solidFill>
                <a:latin typeface="Aptos"/>
                <a:ea typeface="Aptos"/>
                <a:cs typeface="Aptos"/>
              </a:rPr>
              <a:t>Subset 2</a:t>
            </a:r>
          </a:p>
        </p:txBody>
      </p:sp>
      <p:sp>
        <p:nvSpPr>
          <p:cNvPr id="25" name="Rectangle 24">
            <a:extLst>
              <a:ext uri="{FF2B5EF4-FFF2-40B4-BE49-F238E27FC236}">
                <a16:creationId xmlns:a16="http://schemas.microsoft.com/office/drawing/2014/main" id="{1057D13D-FA6D-4704-9063-19410660EBDA}"/>
              </a:ext>
            </a:extLst>
          </p:cNvPr>
          <p:cNvSpPr>
            <a:spLocks noGrp="1"/>
          </p:cNvSpPr>
          <p:nvPr/>
        </p:nvSpPr>
        <p:spPr>
          <a:xfrm>
            <a:off x="3295650" y="2533650"/>
            <a:ext cx="2095500" cy="647700"/>
          </a:xfrm>
          <a:prstGeom prst="rect">
            <a:avLst/>
          </a:prstGeom>
          <a:solidFill>
            <a:srgbClr val="F8F5EA"/>
          </a:solidFill>
          <a:ln w="9525">
            <a:solidFill>
              <a:srgbClr val="CFC7B8"/>
            </a:solidFill>
            <a:prstDash val="solid"/>
          </a:ln>
        </p:spPr>
        <p:txBody>
          <a:bodyPr/>
          <a:lstStyle/>
          <a:p>
            <a:endParaRPr/>
          </a:p>
        </p:txBody>
      </p:sp>
      <p:sp>
        <p:nvSpPr>
          <p:cNvPr id="26" name="Rectangle 25">
            <a:extLst>
              <a:ext uri="{FF2B5EF4-FFF2-40B4-BE49-F238E27FC236}">
                <a16:creationId xmlns:a16="http://schemas.microsoft.com/office/drawing/2014/main" id="{E6904361-A117-41CD-99C0-C32BA7A358DF}"/>
              </a:ext>
            </a:extLst>
          </p:cNvPr>
          <p:cNvSpPr>
            <a:spLocks noGrp="1"/>
          </p:cNvSpPr>
          <p:nvPr/>
        </p:nvSpPr>
        <p:spPr>
          <a:xfrm>
            <a:off x="3352800" y="2609850"/>
            <a:ext cx="19812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0">
                <a:solidFill>
                  <a:srgbClr val="142026"/>
                </a:solidFill>
                <a:latin typeface="Aptos"/>
                <a:ea typeface="Aptos"/>
                <a:cs typeface="Aptos"/>
              </a:defRPr>
            </a:pPr>
            <a:r>
              <a:rPr sz="1200" b="0">
                <a:solidFill>
                  <a:srgbClr val="142026"/>
                </a:solidFill>
                <a:latin typeface="Aptos"/>
                <a:ea typeface="Aptos"/>
                <a:cs typeface="Aptos"/>
              </a:rPr>
              <a:t>0.865</a:t>
            </a:r>
          </a:p>
        </p:txBody>
      </p:sp>
      <p:sp>
        <p:nvSpPr>
          <p:cNvPr id="27" name="Rectangle 26">
            <a:extLst>
              <a:ext uri="{FF2B5EF4-FFF2-40B4-BE49-F238E27FC236}">
                <a16:creationId xmlns:a16="http://schemas.microsoft.com/office/drawing/2014/main" id="{CE7C2C7B-C439-4E1E-891A-2DBC51BCE924}"/>
              </a:ext>
            </a:extLst>
          </p:cNvPr>
          <p:cNvSpPr>
            <a:spLocks noGrp="1"/>
          </p:cNvSpPr>
          <p:nvPr/>
        </p:nvSpPr>
        <p:spPr>
          <a:xfrm>
            <a:off x="5391150" y="2533650"/>
            <a:ext cx="2286000" cy="647700"/>
          </a:xfrm>
          <a:prstGeom prst="rect">
            <a:avLst/>
          </a:prstGeom>
          <a:solidFill>
            <a:srgbClr val="F8F5EA"/>
          </a:solidFill>
          <a:ln w="9525">
            <a:solidFill>
              <a:srgbClr val="CFC7B8"/>
            </a:solidFill>
            <a:prstDash val="solid"/>
          </a:ln>
        </p:spPr>
        <p:txBody>
          <a:bodyPr/>
          <a:lstStyle/>
          <a:p>
            <a:endParaRPr/>
          </a:p>
        </p:txBody>
      </p:sp>
      <p:sp>
        <p:nvSpPr>
          <p:cNvPr id="28" name="Rectangle 27">
            <a:extLst>
              <a:ext uri="{FF2B5EF4-FFF2-40B4-BE49-F238E27FC236}">
                <a16:creationId xmlns:a16="http://schemas.microsoft.com/office/drawing/2014/main" id="{3C420D83-43E9-4B13-8D57-A909B4C5E28C}"/>
              </a:ext>
            </a:extLst>
          </p:cNvPr>
          <p:cNvSpPr>
            <a:spLocks noGrp="1"/>
          </p:cNvSpPr>
          <p:nvPr/>
        </p:nvSpPr>
        <p:spPr>
          <a:xfrm>
            <a:off x="5448300" y="2609850"/>
            <a:ext cx="21717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0">
                <a:solidFill>
                  <a:srgbClr val="142026"/>
                </a:solidFill>
                <a:latin typeface="Aptos"/>
                <a:ea typeface="Aptos"/>
                <a:cs typeface="Aptos"/>
              </a:defRPr>
            </a:pPr>
            <a:r>
              <a:rPr sz="1200" b="0">
                <a:solidFill>
                  <a:srgbClr val="142026"/>
                </a:solidFill>
                <a:latin typeface="Aptos"/>
                <a:ea typeface="Aptos"/>
                <a:cs typeface="Aptos"/>
              </a:rPr>
              <a:t>0.773</a:t>
            </a:r>
          </a:p>
        </p:txBody>
      </p:sp>
      <p:sp>
        <p:nvSpPr>
          <p:cNvPr id="29" name="Rectangle 28">
            <a:extLst>
              <a:ext uri="{FF2B5EF4-FFF2-40B4-BE49-F238E27FC236}">
                <a16:creationId xmlns:a16="http://schemas.microsoft.com/office/drawing/2014/main" id="{473AC514-3350-45AE-AAD9-3E6A5C3C5301}"/>
              </a:ext>
            </a:extLst>
          </p:cNvPr>
          <p:cNvSpPr>
            <a:spLocks noGrp="1"/>
          </p:cNvSpPr>
          <p:nvPr/>
        </p:nvSpPr>
        <p:spPr>
          <a:xfrm>
            <a:off x="7677150" y="2533650"/>
            <a:ext cx="3314700" cy="647700"/>
          </a:xfrm>
          <a:prstGeom prst="rect">
            <a:avLst/>
          </a:prstGeom>
          <a:solidFill>
            <a:srgbClr val="F8F5EA"/>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3B912BA7-46ED-4568-85A2-98FD8DFDEC4E}"/>
              </a:ext>
            </a:extLst>
          </p:cNvPr>
          <p:cNvSpPr>
            <a:spLocks noGrp="1"/>
          </p:cNvSpPr>
          <p:nvPr/>
        </p:nvSpPr>
        <p:spPr>
          <a:xfrm>
            <a:off x="7734300" y="2609850"/>
            <a:ext cx="3200400" cy="552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200" b="0">
                <a:solidFill>
                  <a:srgbClr val="142026"/>
                </a:solidFill>
                <a:latin typeface="Aptos"/>
                <a:ea typeface="Aptos"/>
                <a:cs typeface="Aptos"/>
              </a:defRPr>
            </a:pPr>
            <a:r>
              <a:rPr sz="1200" b="0">
                <a:solidFill>
                  <a:srgbClr val="142026"/>
                </a:solidFill>
                <a:latin typeface="Aptos"/>
                <a:ea typeface="Aptos"/>
                <a:cs typeface="Aptos"/>
              </a:rPr>
              <a:t>contextual; inventories differ</a:t>
            </a:r>
          </a:p>
        </p:txBody>
      </p:sp>
      <p:sp>
        <p:nvSpPr>
          <p:cNvPr id="31" name="Rounded Rectangle 30">
            <a:extLst>
              <a:ext uri="{FF2B5EF4-FFF2-40B4-BE49-F238E27FC236}">
                <a16:creationId xmlns:a16="http://schemas.microsoft.com/office/drawing/2014/main" id="{77BA3D8A-52E1-4972-A523-D77F4AE915D6}"/>
              </a:ext>
            </a:extLst>
          </p:cNvPr>
          <p:cNvSpPr>
            <a:spLocks noGrp="1"/>
          </p:cNvSpPr>
          <p:nvPr/>
        </p:nvSpPr>
        <p:spPr>
          <a:xfrm>
            <a:off x="2705100" y="4057650"/>
            <a:ext cx="6781800" cy="476250"/>
          </a:xfrm>
          <a:prstGeom prst="roundRect">
            <a:avLst>
              <a:gd name="adj" fmla="val 12000"/>
            </a:avLst>
          </a:prstGeom>
          <a:solidFill>
            <a:srgbClr val="FFF5F0"/>
          </a:solidFill>
          <a:ln w="9525">
            <a:solidFill>
              <a:srgbClr val="E76F51"/>
            </a:solidFill>
            <a:prstDash val="solid"/>
          </a:ln>
        </p:spPr>
        <p:txBody>
          <a:bodyPr/>
          <a:lstStyle/>
          <a:p>
            <a:endParaRPr/>
          </a:p>
        </p:txBody>
      </p:sp>
      <p:sp>
        <p:nvSpPr>
          <p:cNvPr id="32" name="Rectangle 31">
            <a:extLst>
              <a:ext uri="{FF2B5EF4-FFF2-40B4-BE49-F238E27FC236}">
                <a16:creationId xmlns:a16="http://schemas.microsoft.com/office/drawing/2014/main" id="{C2A53F62-BE07-4528-B845-940B7DCAB96C}"/>
              </a:ext>
            </a:extLst>
          </p:cNvPr>
          <p:cNvSpPr>
            <a:spLocks noGrp="1"/>
          </p:cNvSpPr>
          <p:nvPr/>
        </p:nvSpPr>
        <p:spPr>
          <a:xfrm>
            <a:off x="2914650" y="4210050"/>
            <a:ext cx="6362700" cy="17145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200" b="1">
                <a:solidFill>
                  <a:srgbClr val="E76F51"/>
                </a:solidFill>
                <a:latin typeface="Aptos"/>
                <a:ea typeface="Aptos"/>
                <a:cs typeface="Aptos"/>
              </a:defRPr>
            </a:pPr>
            <a:r>
              <a:rPr sz="1200" b="1">
                <a:solidFill>
                  <a:srgbClr val="E76F51"/>
                </a:solidFill>
                <a:latin typeface="Aptos"/>
                <a:ea typeface="Aptos"/>
                <a:cs typeface="Aptos"/>
              </a:rPr>
              <a:t>Not a full-dataset M5-vs-NNTP winner claim.</a:t>
            </a:r>
          </a:p>
        </p:txBody>
      </p:sp>
    </p:spTree>
    <p:extLst>
      <p:ext uri="{BB962C8B-B14F-4D97-AF65-F5344CB8AC3E}">
        <p14:creationId xmlns:p14="http://schemas.microsoft.com/office/powerpoint/2010/main" val="404151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D58807AA-51C8-4DF8-85BB-3DD59F5EBB44}"/>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EE4D3A8A-92B9-4760-91EE-15565C31BFED}"/>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64975BD7-E84D-49CD-8AA6-F2485A1AC6B3}"/>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A14</a:t>
            </a:r>
          </a:p>
        </p:txBody>
      </p:sp>
      <p:sp>
        <p:nvSpPr>
          <p:cNvPr id="4" name="Rectangle 3">
            <a:extLst>
              <a:ext uri="{FF2B5EF4-FFF2-40B4-BE49-F238E27FC236}">
                <a16:creationId xmlns:a16="http://schemas.microsoft.com/office/drawing/2014/main" id="{3E7F1B6F-18C7-4088-BFAD-8AE0264E14D5}"/>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Exact OpenAI Control</a:t>
            </a:r>
          </a:p>
        </p:txBody>
      </p:sp>
      <p:sp>
        <p:nvSpPr>
          <p:cNvPr id="5" name="Rectangle 4">
            <a:extLst>
              <a:ext uri="{FF2B5EF4-FFF2-40B4-BE49-F238E27FC236}">
                <a16:creationId xmlns:a16="http://schemas.microsoft.com/office/drawing/2014/main" id="{64913DF5-A82D-4CFE-99E4-46B57F18BD0C}"/>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5637327E-382A-4014-A37B-CCB8C202440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28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C038FD23-752A-4447-9F2E-437FE2EEB3D6}"/>
              </a:ext>
            </a:extLst>
          </p:cNvPr>
          <p:cNvSpPr>
            <a:spLocks noGrp="1"/>
          </p:cNvSpPr>
          <p:nvPr/>
        </p:nvSpPr>
        <p:spPr>
          <a:xfrm>
            <a:off x="552450" y="9906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8" name="Rectangle 7">
            <a:extLst>
              <a:ext uri="{FF2B5EF4-FFF2-40B4-BE49-F238E27FC236}">
                <a16:creationId xmlns:a16="http://schemas.microsoft.com/office/drawing/2014/main" id="{9C0572F1-298B-4F0A-AAFF-6ABA48AADB8D}"/>
              </a:ext>
            </a:extLst>
          </p:cNvPr>
          <p:cNvSpPr>
            <a:spLocks noGrp="1"/>
          </p:cNvSpPr>
          <p:nvPr/>
        </p:nvSpPr>
        <p:spPr>
          <a:xfrm>
            <a:off x="685800" y="10858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Bullinger</a:t>
            </a:r>
          </a:p>
        </p:txBody>
      </p:sp>
      <p:sp>
        <p:nvSpPr>
          <p:cNvPr id="9" name="Rectangle 8">
            <a:extLst>
              <a:ext uri="{FF2B5EF4-FFF2-40B4-BE49-F238E27FC236}">
                <a16:creationId xmlns:a16="http://schemas.microsoft.com/office/drawing/2014/main" id="{06DA75FF-F146-4A7B-A0F1-7AD001BE35AB}"/>
              </a:ext>
            </a:extLst>
          </p:cNvPr>
          <p:cNvSpPr>
            <a:spLocks noGrp="1"/>
          </p:cNvSpPr>
          <p:nvPr/>
        </p:nvSpPr>
        <p:spPr>
          <a:xfrm>
            <a:off x="876300" y="27051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10" name="Rectangle 9">
            <a:extLst>
              <a:ext uri="{FF2B5EF4-FFF2-40B4-BE49-F238E27FC236}">
                <a16:creationId xmlns:a16="http://schemas.microsoft.com/office/drawing/2014/main" id="{3A105797-8AC8-432D-A06E-29CBD498D9BE}"/>
              </a:ext>
            </a:extLst>
          </p:cNvPr>
          <p:cNvSpPr>
            <a:spLocks noGrp="1"/>
          </p:cNvSpPr>
          <p:nvPr/>
        </p:nvSpPr>
        <p:spPr>
          <a:xfrm>
            <a:off x="876300" y="21050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11" name="Rectangle 10">
            <a:extLst>
              <a:ext uri="{FF2B5EF4-FFF2-40B4-BE49-F238E27FC236}">
                <a16:creationId xmlns:a16="http://schemas.microsoft.com/office/drawing/2014/main" id="{EFEEE21B-8DE5-43C5-8472-BE8CA7B8660E}"/>
              </a:ext>
            </a:extLst>
          </p:cNvPr>
          <p:cNvSpPr>
            <a:spLocks noGrp="1"/>
          </p:cNvSpPr>
          <p:nvPr/>
        </p:nvSpPr>
        <p:spPr>
          <a:xfrm>
            <a:off x="876300" y="15049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12" name="Rectangle 11">
            <a:extLst>
              <a:ext uri="{FF2B5EF4-FFF2-40B4-BE49-F238E27FC236}">
                <a16:creationId xmlns:a16="http://schemas.microsoft.com/office/drawing/2014/main" id="{43243629-B56A-4058-8BEC-66B43B25F1BD}"/>
              </a:ext>
            </a:extLst>
          </p:cNvPr>
          <p:cNvSpPr>
            <a:spLocks noGrp="1"/>
          </p:cNvSpPr>
          <p:nvPr/>
        </p:nvSpPr>
        <p:spPr>
          <a:xfrm>
            <a:off x="647700" y="14573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13" name="Rectangle 12">
            <a:extLst>
              <a:ext uri="{FF2B5EF4-FFF2-40B4-BE49-F238E27FC236}">
                <a16:creationId xmlns:a16="http://schemas.microsoft.com/office/drawing/2014/main" id="{43650606-519E-470A-BDCE-DB22F1BE0009}"/>
              </a:ext>
            </a:extLst>
          </p:cNvPr>
          <p:cNvSpPr>
            <a:spLocks noGrp="1"/>
          </p:cNvSpPr>
          <p:nvPr/>
        </p:nvSpPr>
        <p:spPr>
          <a:xfrm>
            <a:off x="647700" y="26479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14" name="Rounded Rectangle 13">
            <a:extLst>
              <a:ext uri="{FF2B5EF4-FFF2-40B4-BE49-F238E27FC236}">
                <a16:creationId xmlns:a16="http://schemas.microsoft.com/office/drawing/2014/main" id="{E65025CF-3D89-4895-9DA8-83E42231B70F}"/>
              </a:ext>
            </a:extLst>
          </p:cNvPr>
          <p:cNvSpPr>
            <a:spLocks noGrp="1"/>
          </p:cNvSpPr>
          <p:nvPr/>
        </p:nvSpPr>
        <p:spPr>
          <a:xfrm>
            <a:off x="876300" y="2345055"/>
            <a:ext cx="868680" cy="360045"/>
          </a:xfrm>
          <a:prstGeom prst="roundRect">
            <a:avLst>
              <a:gd name="adj" fmla="val 7937"/>
            </a:avLst>
          </a:prstGeom>
          <a:solidFill>
            <a:srgbClr val="D5CDBE"/>
          </a:solidFill>
          <a:ln w="0">
            <a:solidFill>
              <a:srgbClr val="000000">
                <a:alpha val="0"/>
              </a:srgbClr>
            </a:solidFill>
            <a:prstDash val="solid"/>
          </a:ln>
        </p:spPr>
        <p:txBody>
          <a:bodyPr/>
          <a:lstStyle/>
          <a:p>
            <a:endParaRPr/>
          </a:p>
        </p:txBody>
      </p:sp>
      <p:sp>
        <p:nvSpPr>
          <p:cNvPr id="15" name="Rectangle 14">
            <a:extLst>
              <a:ext uri="{FF2B5EF4-FFF2-40B4-BE49-F238E27FC236}">
                <a16:creationId xmlns:a16="http://schemas.microsoft.com/office/drawing/2014/main" id="{2896D8DF-1D56-49BE-B80B-2C6CF4C7DF40}"/>
              </a:ext>
            </a:extLst>
          </p:cNvPr>
          <p:cNvSpPr>
            <a:spLocks noGrp="1"/>
          </p:cNvSpPr>
          <p:nvPr/>
        </p:nvSpPr>
        <p:spPr>
          <a:xfrm>
            <a:off x="838200" y="2183130"/>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0.300</a:t>
            </a:r>
          </a:p>
        </p:txBody>
      </p:sp>
      <p:sp>
        <p:nvSpPr>
          <p:cNvPr id="16" name="Rectangle 15">
            <a:extLst>
              <a:ext uri="{FF2B5EF4-FFF2-40B4-BE49-F238E27FC236}">
                <a16:creationId xmlns:a16="http://schemas.microsoft.com/office/drawing/2014/main" id="{AFE546B7-A9B5-4F00-BEF1-06D5FF265FAB}"/>
              </a:ext>
            </a:extLst>
          </p:cNvPr>
          <p:cNvSpPr>
            <a:spLocks noGrp="1"/>
          </p:cNvSpPr>
          <p:nvPr/>
        </p:nvSpPr>
        <p:spPr>
          <a:xfrm>
            <a:off x="85725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17" name="Rounded Rectangle 16">
            <a:extLst>
              <a:ext uri="{FF2B5EF4-FFF2-40B4-BE49-F238E27FC236}">
                <a16:creationId xmlns:a16="http://schemas.microsoft.com/office/drawing/2014/main" id="{CFFAE178-7004-4E1D-9AC2-F545B254E015}"/>
              </a:ext>
            </a:extLst>
          </p:cNvPr>
          <p:cNvSpPr>
            <a:spLocks noGrp="1"/>
          </p:cNvSpPr>
          <p:nvPr/>
        </p:nvSpPr>
        <p:spPr>
          <a:xfrm>
            <a:off x="1840230" y="2561082"/>
            <a:ext cx="868680" cy="144018"/>
          </a:xfrm>
          <a:prstGeom prst="roundRect">
            <a:avLst>
              <a:gd name="adj" fmla="val 19841"/>
            </a:avLst>
          </a:prstGeom>
          <a:solidFill>
            <a:srgbClr val="D5CDBE"/>
          </a:solidFill>
          <a:ln w="0">
            <a:solidFill>
              <a:srgbClr val="000000">
                <a:alpha val="0"/>
              </a:srgbClr>
            </a:solidFill>
            <a:prstDash val="solid"/>
          </a:ln>
        </p:spPr>
        <p:txBody>
          <a:bodyPr/>
          <a:lstStyle/>
          <a:p>
            <a:endParaRPr/>
          </a:p>
        </p:txBody>
      </p:sp>
      <p:sp>
        <p:nvSpPr>
          <p:cNvPr id="18" name="Rectangle 17">
            <a:extLst>
              <a:ext uri="{FF2B5EF4-FFF2-40B4-BE49-F238E27FC236}">
                <a16:creationId xmlns:a16="http://schemas.microsoft.com/office/drawing/2014/main" id="{119802C4-6C6A-45F0-9241-F871442A6706}"/>
              </a:ext>
            </a:extLst>
          </p:cNvPr>
          <p:cNvSpPr>
            <a:spLocks noGrp="1"/>
          </p:cNvSpPr>
          <p:nvPr/>
        </p:nvSpPr>
        <p:spPr>
          <a:xfrm>
            <a:off x="1802130" y="2399157"/>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0.120</a:t>
            </a:r>
          </a:p>
        </p:txBody>
      </p:sp>
      <p:sp>
        <p:nvSpPr>
          <p:cNvPr id="19" name="Rectangle 18">
            <a:extLst>
              <a:ext uri="{FF2B5EF4-FFF2-40B4-BE49-F238E27FC236}">
                <a16:creationId xmlns:a16="http://schemas.microsoft.com/office/drawing/2014/main" id="{79117A83-3B3B-4B7A-9984-B5D1581F9F74}"/>
              </a:ext>
            </a:extLst>
          </p:cNvPr>
          <p:cNvSpPr>
            <a:spLocks noGrp="1"/>
          </p:cNvSpPr>
          <p:nvPr/>
        </p:nvSpPr>
        <p:spPr>
          <a:xfrm>
            <a:off x="182118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20" name="Rounded Rectangle 19">
            <a:extLst>
              <a:ext uri="{FF2B5EF4-FFF2-40B4-BE49-F238E27FC236}">
                <a16:creationId xmlns:a16="http://schemas.microsoft.com/office/drawing/2014/main" id="{6574F1D3-4BC2-45E4-A331-89360502B31C}"/>
              </a:ext>
            </a:extLst>
          </p:cNvPr>
          <p:cNvSpPr>
            <a:spLocks noGrp="1"/>
          </p:cNvSpPr>
          <p:nvPr/>
        </p:nvSpPr>
        <p:spPr>
          <a:xfrm>
            <a:off x="2804160" y="2348655"/>
            <a:ext cx="868680" cy="356445"/>
          </a:xfrm>
          <a:prstGeom prst="roundRect">
            <a:avLst>
              <a:gd name="adj" fmla="val 8017"/>
            </a:avLst>
          </a:prstGeom>
          <a:solidFill>
            <a:srgbClr val="D5CDBE"/>
          </a:solidFill>
          <a:ln w="0">
            <a:solidFill>
              <a:srgbClr val="000000">
                <a:alpha val="0"/>
              </a:srgbClr>
            </a:solidFill>
            <a:prstDash val="solid"/>
          </a:ln>
        </p:spPr>
        <p:txBody>
          <a:bodyPr/>
          <a:lstStyle/>
          <a:p>
            <a:endParaRPr/>
          </a:p>
        </p:txBody>
      </p:sp>
      <p:sp>
        <p:nvSpPr>
          <p:cNvPr id="21" name="Rectangle 20">
            <a:extLst>
              <a:ext uri="{FF2B5EF4-FFF2-40B4-BE49-F238E27FC236}">
                <a16:creationId xmlns:a16="http://schemas.microsoft.com/office/drawing/2014/main" id="{05518916-CACC-488C-A080-4920192D8804}"/>
              </a:ext>
            </a:extLst>
          </p:cNvPr>
          <p:cNvSpPr>
            <a:spLocks noGrp="1"/>
          </p:cNvSpPr>
          <p:nvPr/>
        </p:nvSpPr>
        <p:spPr>
          <a:xfrm>
            <a:off x="2766060" y="2186730"/>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0.297</a:t>
            </a:r>
          </a:p>
        </p:txBody>
      </p:sp>
      <p:sp>
        <p:nvSpPr>
          <p:cNvPr id="22" name="Rectangle 21">
            <a:extLst>
              <a:ext uri="{FF2B5EF4-FFF2-40B4-BE49-F238E27FC236}">
                <a16:creationId xmlns:a16="http://schemas.microsoft.com/office/drawing/2014/main" id="{E550DDA7-77F0-41AD-AA83-4E0246AD9E56}"/>
              </a:ext>
            </a:extLst>
          </p:cNvPr>
          <p:cNvSpPr>
            <a:spLocks noGrp="1"/>
          </p:cNvSpPr>
          <p:nvPr/>
        </p:nvSpPr>
        <p:spPr>
          <a:xfrm>
            <a:off x="278511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23" name="Rounded Rectangle 22">
            <a:extLst>
              <a:ext uri="{FF2B5EF4-FFF2-40B4-BE49-F238E27FC236}">
                <a16:creationId xmlns:a16="http://schemas.microsoft.com/office/drawing/2014/main" id="{3C110495-CD60-47A6-B928-51BBA5AE8F81}"/>
              </a:ext>
            </a:extLst>
          </p:cNvPr>
          <p:cNvSpPr>
            <a:spLocks noGrp="1"/>
          </p:cNvSpPr>
          <p:nvPr/>
        </p:nvSpPr>
        <p:spPr>
          <a:xfrm>
            <a:off x="3768090" y="2217839"/>
            <a:ext cx="868680" cy="487261"/>
          </a:xfrm>
          <a:prstGeom prst="roundRect">
            <a:avLst>
              <a:gd name="adj" fmla="val 5864"/>
            </a:avLst>
          </a:prstGeom>
          <a:solidFill>
            <a:srgbClr val="D5CDBE"/>
          </a:solidFill>
          <a:ln w="0">
            <a:solidFill>
              <a:srgbClr val="000000">
                <a:alpha val="0"/>
              </a:srgbClr>
            </a:solidFill>
            <a:prstDash val="solid"/>
          </a:ln>
        </p:spPr>
        <p:txBody>
          <a:bodyPr/>
          <a:lstStyle/>
          <a:p>
            <a:endParaRPr/>
          </a:p>
        </p:txBody>
      </p:sp>
      <p:sp>
        <p:nvSpPr>
          <p:cNvPr id="24" name="Rectangle 23">
            <a:extLst>
              <a:ext uri="{FF2B5EF4-FFF2-40B4-BE49-F238E27FC236}">
                <a16:creationId xmlns:a16="http://schemas.microsoft.com/office/drawing/2014/main" id="{C50B54F1-B99F-4D74-9150-1421F60F04EA}"/>
              </a:ext>
            </a:extLst>
          </p:cNvPr>
          <p:cNvSpPr>
            <a:spLocks noGrp="1"/>
          </p:cNvSpPr>
          <p:nvPr/>
        </p:nvSpPr>
        <p:spPr>
          <a:xfrm>
            <a:off x="3729990" y="2055914"/>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0.406</a:t>
            </a:r>
          </a:p>
        </p:txBody>
      </p:sp>
      <p:sp>
        <p:nvSpPr>
          <p:cNvPr id="25" name="Rectangle 24">
            <a:extLst>
              <a:ext uri="{FF2B5EF4-FFF2-40B4-BE49-F238E27FC236}">
                <a16:creationId xmlns:a16="http://schemas.microsoft.com/office/drawing/2014/main" id="{5832C120-19D0-4B81-A52E-042B50D9BB55}"/>
              </a:ext>
            </a:extLst>
          </p:cNvPr>
          <p:cNvSpPr>
            <a:spLocks noGrp="1"/>
          </p:cNvSpPr>
          <p:nvPr/>
        </p:nvSpPr>
        <p:spPr>
          <a:xfrm>
            <a:off x="374904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26" name="Rounded Rectangle 25">
            <a:extLst>
              <a:ext uri="{FF2B5EF4-FFF2-40B4-BE49-F238E27FC236}">
                <a16:creationId xmlns:a16="http://schemas.microsoft.com/office/drawing/2014/main" id="{FBA4CFD3-FCC7-4BFB-B090-E439916CF648}"/>
              </a:ext>
            </a:extLst>
          </p:cNvPr>
          <p:cNvSpPr>
            <a:spLocks noGrp="1"/>
          </p:cNvSpPr>
          <p:nvPr/>
        </p:nvSpPr>
        <p:spPr>
          <a:xfrm>
            <a:off x="4732020" y="1693374"/>
            <a:ext cx="868680" cy="1011726"/>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27" name="Rectangle 26">
            <a:extLst>
              <a:ext uri="{FF2B5EF4-FFF2-40B4-BE49-F238E27FC236}">
                <a16:creationId xmlns:a16="http://schemas.microsoft.com/office/drawing/2014/main" id="{1F52C2B8-DC30-4FAB-8920-FF812C6E25DD}"/>
              </a:ext>
            </a:extLst>
          </p:cNvPr>
          <p:cNvSpPr>
            <a:spLocks noGrp="1"/>
          </p:cNvSpPr>
          <p:nvPr/>
        </p:nvSpPr>
        <p:spPr>
          <a:xfrm>
            <a:off x="4693920" y="1531449"/>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0.843</a:t>
            </a:r>
          </a:p>
        </p:txBody>
      </p:sp>
      <p:sp>
        <p:nvSpPr>
          <p:cNvPr id="28" name="Rectangle 27">
            <a:extLst>
              <a:ext uri="{FF2B5EF4-FFF2-40B4-BE49-F238E27FC236}">
                <a16:creationId xmlns:a16="http://schemas.microsoft.com/office/drawing/2014/main" id="{ACB9D9DA-795A-4543-902D-E20A5446D7E7}"/>
              </a:ext>
            </a:extLst>
          </p:cNvPr>
          <p:cNvSpPr>
            <a:spLocks noGrp="1"/>
          </p:cNvSpPr>
          <p:nvPr/>
        </p:nvSpPr>
        <p:spPr>
          <a:xfrm>
            <a:off x="471297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29" name="Rounded Rectangle 28">
            <a:extLst>
              <a:ext uri="{FF2B5EF4-FFF2-40B4-BE49-F238E27FC236}">
                <a16:creationId xmlns:a16="http://schemas.microsoft.com/office/drawing/2014/main" id="{8B3762D9-C3FA-4C9F-99F4-DC704E0D6AE4}"/>
              </a:ext>
            </a:extLst>
          </p:cNvPr>
          <p:cNvSpPr>
            <a:spLocks noGrp="1"/>
          </p:cNvSpPr>
          <p:nvPr/>
        </p:nvSpPr>
        <p:spPr>
          <a:xfrm>
            <a:off x="6381750" y="9906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C41E6CFC-6B53-4268-92DB-5A27E42837E2}"/>
              </a:ext>
            </a:extLst>
          </p:cNvPr>
          <p:cNvSpPr>
            <a:spLocks noGrp="1"/>
          </p:cNvSpPr>
          <p:nvPr/>
        </p:nvSpPr>
        <p:spPr>
          <a:xfrm>
            <a:off x="6515100" y="10858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Children</a:t>
            </a:r>
          </a:p>
        </p:txBody>
      </p:sp>
      <p:sp>
        <p:nvSpPr>
          <p:cNvPr id="31" name="Rectangle 30">
            <a:extLst>
              <a:ext uri="{FF2B5EF4-FFF2-40B4-BE49-F238E27FC236}">
                <a16:creationId xmlns:a16="http://schemas.microsoft.com/office/drawing/2014/main" id="{F210FF97-90BC-4C65-886D-979DE4B2CB00}"/>
              </a:ext>
            </a:extLst>
          </p:cNvPr>
          <p:cNvSpPr>
            <a:spLocks noGrp="1"/>
          </p:cNvSpPr>
          <p:nvPr/>
        </p:nvSpPr>
        <p:spPr>
          <a:xfrm>
            <a:off x="6705600" y="27051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32" name="Rectangle 31">
            <a:extLst>
              <a:ext uri="{FF2B5EF4-FFF2-40B4-BE49-F238E27FC236}">
                <a16:creationId xmlns:a16="http://schemas.microsoft.com/office/drawing/2014/main" id="{5941D57F-6B1C-48BB-9943-68FEEC92BE99}"/>
              </a:ext>
            </a:extLst>
          </p:cNvPr>
          <p:cNvSpPr>
            <a:spLocks noGrp="1"/>
          </p:cNvSpPr>
          <p:nvPr/>
        </p:nvSpPr>
        <p:spPr>
          <a:xfrm>
            <a:off x="6705600" y="21050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33" name="Rectangle 32">
            <a:extLst>
              <a:ext uri="{FF2B5EF4-FFF2-40B4-BE49-F238E27FC236}">
                <a16:creationId xmlns:a16="http://schemas.microsoft.com/office/drawing/2014/main" id="{510993D4-729A-4EAE-960A-0DDAA7C80F0E}"/>
              </a:ext>
            </a:extLst>
          </p:cNvPr>
          <p:cNvSpPr>
            <a:spLocks noGrp="1"/>
          </p:cNvSpPr>
          <p:nvPr/>
        </p:nvSpPr>
        <p:spPr>
          <a:xfrm>
            <a:off x="6705600" y="15049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34" name="Rectangle 33">
            <a:extLst>
              <a:ext uri="{FF2B5EF4-FFF2-40B4-BE49-F238E27FC236}">
                <a16:creationId xmlns:a16="http://schemas.microsoft.com/office/drawing/2014/main" id="{7658117E-5A75-4D58-ACD6-DC53FBD04F24}"/>
              </a:ext>
            </a:extLst>
          </p:cNvPr>
          <p:cNvSpPr>
            <a:spLocks noGrp="1"/>
          </p:cNvSpPr>
          <p:nvPr/>
        </p:nvSpPr>
        <p:spPr>
          <a:xfrm>
            <a:off x="6477000" y="14573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35" name="Rectangle 34">
            <a:extLst>
              <a:ext uri="{FF2B5EF4-FFF2-40B4-BE49-F238E27FC236}">
                <a16:creationId xmlns:a16="http://schemas.microsoft.com/office/drawing/2014/main" id="{591B86C1-9537-4A3D-8556-07136C6704AE}"/>
              </a:ext>
            </a:extLst>
          </p:cNvPr>
          <p:cNvSpPr>
            <a:spLocks noGrp="1"/>
          </p:cNvSpPr>
          <p:nvPr/>
        </p:nvSpPr>
        <p:spPr>
          <a:xfrm>
            <a:off x="6477000" y="26479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36" name="Rounded Rectangle 35">
            <a:extLst>
              <a:ext uri="{FF2B5EF4-FFF2-40B4-BE49-F238E27FC236}">
                <a16:creationId xmlns:a16="http://schemas.microsoft.com/office/drawing/2014/main" id="{6BAB0761-DA09-4AEA-9B53-8CDC01AA9CBF}"/>
              </a:ext>
            </a:extLst>
          </p:cNvPr>
          <p:cNvSpPr>
            <a:spLocks noGrp="1"/>
          </p:cNvSpPr>
          <p:nvPr/>
        </p:nvSpPr>
        <p:spPr>
          <a:xfrm>
            <a:off x="6705600" y="1740179"/>
            <a:ext cx="868680" cy="964921"/>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37" name="Rectangle 36">
            <a:extLst>
              <a:ext uri="{FF2B5EF4-FFF2-40B4-BE49-F238E27FC236}">
                <a16:creationId xmlns:a16="http://schemas.microsoft.com/office/drawing/2014/main" id="{2D0946F0-A119-42E1-9892-F923DF10B7C7}"/>
              </a:ext>
            </a:extLst>
          </p:cNvPr>
          <p:cNvSpPr>
            <a:spLocks noGrp="1"/>
          </p:cNvSpPr>
          <p:nvPr/>
        </p:nvSpPr>
        <p:spPr>
          <a:xfrm>
            <a:off x="6667500" y="1578254"/>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0.804</a:t>
            </a:r>
          </a:p>
        </p:txBody>
      </p:sp>
      <p:sp>
        <p:nvSpPr>
          <p:cNvPr id="38" name="Rectangle 37">
            <a:extLst>
              <a:ext uri="{FF2B5EF4-FFF2-40B4-BE49-F238E27FC236}">
                <a16:creationId xmlns:a16="http://schemas.microsoft.com/office/drawing/2014/main" id="{B0242D53-77F1-43B6-AB2B-83CD73613808}"/>
              </a:ext>
            </a:extLst>
          </p:cNvPr>
          <p:cNvSpPr>
            <a:spLocks noGrp="1"/>
          </p:cNvSpPr>
          <p:nvPr/>
        </p:nvSpPr>
        <p:spPr>
          <a:xfrm>
            <a:off x="668655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39" name="Rounded Rectangle 38">
            <a:extLst>
              <a:ext uri="{FF2B5EF4-FFF2-40B4-BE49-F238E27FC236}">
                <a16:creationId xmlns:a16="http://schemas.microsoft.com/office/drawing/2014/main" id="{BA4F5C23-2EFB-4D6C-BBC8-50E1C16C84BB}"/>
              </a:ext>
            </a:extLst>
          </p:cNvPr>
          <p:cNvSpPr>
            <a:spLocks noGrp="1"/>
          </p:cNvSpPr>
          <p:nvPr/>
        </p:nvSpPr>
        <p:spPr>
          <a:xfrm>
            <a:off x="7669530" y="1772583"/>
            <a:ext cx="868680" cy="932517"/>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40" name="Rectangle 39">
            <a:extLst>
              <a:ext uri="{FF2B5EF4-FFF2-40B4-BE49-F238E27FC236}">
                <a16:creationId xmlns:a16="http://schemas.microsoft.com/office/drawing/2014/main" id="{8843F622-CD19-48EB-98A0-6212C20F717C}"/>
              </a:ext>
            </a:extLst>
          </p:cNvPr>
          <p:cNvSpPr>
            <a:spLocks noGrp="1"/>
          </p:cNvSpPr>
          <p:nvPr/>
        </p:nvSpPr>
        <p:spPr>
          <a:xfrm>
            <a:off x="7631430" y="1610658"/>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0.777</a:t>
            </a:r>
          </a:p>
        </p:txBody>
      </p:sp>
      <p:sp>
        <p:nvSpPr>
          <p:cNvPr id="41" name="Rectangle 40">
            <a:extLst>
              <a:ext uri="{FF2B5EF4-FFF2-40B4-BE49-F238E27FC236}">
                <a16:creationId xmlns:a16="http://schemas.microsoft.com/office/drawing/2014/main" id="{348CC8C9-4A59-47B3-B793-2281B7AFC561}"/>
              </a:ext>
            </a:extLst>
          </p:cNvPr>
          <p:cNvSpPr>
            <a:spLocks noGrp="1"/>
          </p:cNvSpPr>
          <p:nvPr/>
        </p:nvSpPr>
        <p:spPr>
          <a:xfrm>
            <a:off x="765048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42" name="Rounded Rectangle 41">
            <a:extLst>
              <a:ext uri="{FF2B5EF4-FFF2-40B4-BE49-F238E27FC236}">
                <a16:creationId xmlns:a16="http://schemas.microsoft.com/office/drawing/2014/main" id="{A6D5C63B-4D84-4A0F-9C43-AB407295A605}"/>
              </a:ext>
            </a:extLst>
          </p:cNvPr>
          <p:cNvSpPr>
            <a:spLocks noGrp="1"/>
          </p:cNvSpPr>
          <p:nvPr/>
        </p:nvSpPr>
        <p:spPr>
          <a:xfrm>
            <a:off x="8633460" y="1674171"/>
            <a:ext cx="868680" cy="1030929"/>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43" name="Rectangle 42">
            <a:extLst>
              <a:ext uri="{FF2B5EF4-FFF2-40B4-BE49-F238E27FC236}">
                <a16:creationId xmlns:a16="http://schemas.microsoft.com/office/drawing/2014/main" id="{AF4BEAC8-B216-48F3-B978-AAB7F89E40A7}"/>
              </a:ext>
            </a:extLst>
          </p:cNvPr>
          <p:cNvSpPr>
            <a:spLocks noGrp="1"/>
          </p:cNvSpPr>
          <p:nvPr/>
        </p:nvSpPr>
        <p:spPr>
          <a:xfrm>
            <a:off x="8595360" y="1512246"/>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0.859</a:t>
            </a:r>
          </a:p>
        </p:txBody>
      </p:sp>
      <p:sp>
        <p:nvSpPr>
          <p:cNvPr id="44" name="Rectangle 43">
            <a:extLst>
              <a:ext uri="{FF2B5EF4-FFF2-40B4-BE49-F238E27FC236}">
                <a16:creationId xmlns:a16="http://schemas.microsoft.com/office/drawing/2014/main" id="{D89BFB1A-7005-4A28-BA3C-5E62ABC7400C}"/>
              </a:ext>
            </a:extLst>
          </p:cNvPr>
          <p:cNvSpPr>
            <a:spLocks noGrp="1"/>
          </p:cNvSpPr>
          <p:nvPr/>
        </p:nvSpPr>
        <p:spPr>
          <a:xfrm>
            <a:off x="861441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45" name="Rounded Rectangle 44">
            <a:extLst>
              <a:ext uri="{FF2B5EF4-FFF2-40B4-BE49-F238E27FC236}">
                <a16:creationId xmlns:a16="http://schemas.microsoft.com/office/drawing/2014/main" id="{9F9D85D2-B4BC-4BCB-BF47-9E8646F6AE00}"/>
              </a:ext>
            </a:extLst>
          </p:cNvPr>
          <p:cNvSpPr>
            <a:spLocks noGrp="1"/>
          </p:cNvSpPr>
          <p:nvPr/>
        </p:nvSpPr>
        <p:spPr>
          <a:xfrm>
            <a:off x="9597390" y="1718577"/>
            <a:ext cx="868680" cy="986523"/>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46" name="Rectangle 45">
            <a:extLst>
              <a:ext uri="{FF2B5EF4-FFF2-40B4-BE49-F238E27FC236}">
                <a16:creationId xmlns:a16="http://schemas.microsoft.com/office/drawing/2014/main" id="{E2CF40AE-3E0B-4A2C-89C6-531B4B012574}"/>
              </a:ext>
            </a:extLst>
          </p:cNvPr>
          <p:cNvSpPr>
            <a:spLocks noGrp="1"/>
          </p:cNvSpPr>
          <p:nvPr/>
        </p:nvSpPr>
        <p:spPr>
          <a:xfrm>
            <a:off x="9559290" y="1556652"/>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0.822</a:t>
            </a:r>
          </a:p>
        </p:txBody>
      </p:sp>
      <p:sp>
        <p:nvSpPr>
          <p:cNvPr id="47" name="Rectangle 46">
            <a:extLst>
              <a:ext uri="{FF2B5EF4-FFF2-40B4-BE49-F238E27FC236}">
                <a16:creationId xmlns:a16="http://schemas.microsoft.com/office/drawing/2014/main" id="{19C3D76D-24BC-4E3F-9A0C-4F3A1EC3D35D}"/>
              </a:ext>
            </a:extLst>
          </p:cNvPr>
          <p:cNvSpPr>
            <a:spLocks noGrp="1"/>
          </p:cNvSpPr>
          <p:nvPr/>
        </p:nvSpPr>
        <p:spPr>
          <a:xfrm>
            <a:off x="957834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48" name="Rounded Rectangle 47">
            <a:extLst>
              <a:ext uri="{FF2B5EF4-FFF2-40B4-BE49-F238E27FC236}">
                <a16:creationId xmlns:a16="http://schemas.microsoft.com/office/drawing/2014/main" id="{260A7B12-CFBC-47EE-80AA-0DF498E9A908}"/>
              </a:ext>
            </a:extLst>
          </p:cNvPr>
          <p:cNvSpPr>
            <a:spLocks noGrp="1"/>
          </p:cNvSpPr>
          <p:nvPr/>
        </p:nvSpPr>
        <p:spPr>
          <a:xfrm>
            <a:off x="10561320" y="1567358"/>
            <a:ext cx="868680" cy="1137742"/>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49" name="Rectangle 48">
            <a:extLst>
              <a:ext uri="{FF2B5EF4-FFF2-40B4-BE49-F238E27FC236}">
                <a16:creationId xmlns:a16="http://schemas.microsoft.com/office/drawing/2014/main" id="{D0724E3D-DA3D-4A0F-A78E-ECE0BA2BEB74}"/>
              </a:ext>
            </a:extLst>
          </p:cNvPr>
          <p:cNvSpPr>
            <a:spLocks noGrp="1"/>
          </p:cNvSpPr>
          <p:nvPr/>
        </p:nvSpPr>
        <p:spPr>
          <a:xfrm>
            <a:off x="10523220" y="1405433"/>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0.948</a:t>
            </a:r>
          </a:p>
        </p:txBody>
      </p:sp>
      <p:sp>
        <p:nvSpPr>
          <p:cNvPr id="50" name="Rectangle 49">
            <a:extLst>
              <a:ext uri="{FF2B5EF4-FFF2-40B4-BE49-F238E27FC236}">
                <a16:creationId xmlns:a16="http://schemas.microsoft.com/office/drawing/2014/main" id="{A9FDACFE-AE54-4B88-A519-816D1560B13A}"/>
              </a:ext>
            </a:extLst>
          </p:cNvPr>
          <p:cNvSpPr>
            <a:spLocks noGrp="1"/>
          </p:cNvSpPr>
          <p:nvPr/>
        </p:nvSpPr>
        <p:spPr>
          <a:xfrm>
            <a:off x="10542270" y="28003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51" name="Rounded Rectangle 50">
            <a:extLst>
              <a:ext uri="{FF2B5EF4-FFF2-40B4-BE49-F238E27FC236}">
                <a16:creationId xmlns:a16="http://schemas.microsoft.com/office/drawing/2014/main" id="{69FB5A98-7482-4A06-BEF2-D07356AF2CF8}"/>
              </a:ext>
            </a:extLst>
          </p:cNvPr>
          <p:cNvSpPr>
            <a:spLocks noGrp="1"/>
          </p:cNvSpPr>
          <p:nvPr/>
        </p:nvSpPr>
        <p:spPr>
          <a:xfrm>
            <a:off x="552450" y="33147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52" name="Rectangle 51">
            <a:extLst>
              <a:ext uri="{FF2B5EF4-FFF2-40B4-BE49-F238E27FC236}">
                <a16:creationId xmlns:a16="http://schemas.microsoft.com/office/drawing/2014/main" id="{24CC4F88-7347-46C7-B64D-09B8D83EB3AD}"/>
              </a:ext>
            </a:extLst>
          </p:cNvPr>
          <p:cNvSpPr>
            <a:spLocks noGrp="1"/>
          </p:cNvSpPr>
          <p:nvPr/>
        </p:nvSpPr>
        <p:spPr>
          <a:xfrm>
            <a:off x="685800" y="34099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IAM</a:t>
            </a:r>
          </a:p>
        </p:txBody>
      </p:sp>
      <p:sp>
        <p:nvSpPr>
          <p:cNvPr id="53" name="Rectangle 52">
            <a:extLst>
              <a:ext uri="{FF2B5EF4-FFF2-40B4-BE49-F238E27FC236}">
                <a16:creationId xmlns:a16="http://schemas.microsoft.com/office/drawing/2014/main" id="{B02DCDF7-8DD1-4952-A6C5-682A9B749C70}"/>
              </a:ext>
            </a:extLst>
          </p:cNvPr>
          <p:cNvSpPr>
            <a:spLocks noGrp="1"/>
          </p:cNvSpPr>
          <p:nvPr/>
        </p:nvSpPr>
        <p:spPr>
          <a:xfrm>
            <a:off x="876300" y="50292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54" name="Rectangle 53">
            <a:extLst>
              <a:ext uri="{FF2B5EF4-FFF2-40B4-BE49-F238E27FC236}">
                <a16:creationId xmlns:a16="http://schemas.microsoft.com/office/drawing/2014/main" id="{47958DD0-3BFA-4C7B-9743-8BEE30E3E44E}"/>
              </a:ext>
            </a:extLst>
          </p:cNvPr>
          <p:cNvSpPr>
            <a:spLocks noGrp="1"/>
          </p:cNvSpPr>
          <p:nvPr/>
        </p:nvSpPr>
        <p:spPr>
          <a:xfrm>
            <a:off x="876300" y="44291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55" name="Rectangle 54">
            <a:extLst>
              <a:ext uri="{FF2B5EF4-FFF2-40B4-BE49-F238E27FC236}">
                <a16:creationId xmlns:a16="http://schemas.microsoft.com/office/drawing/2014/main" id="{3E3F58FB-6166-4842-8650-0F0C47893F8B}"/>
              </a:ext>
            </a:extLst>
          </p:cNvPr>
          <p:cNvSpPr>
            <a:spLocks noGrp="1"/>
          </p:cNvSpPr>
          <p:nvPr/>
        </p:nvSpPr>
        <p:spPr>
          <a:xfrm>
            <a:off x="876300" y="38290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56" name="Rectangle 55">
            <a:extLst>
              <a:ext uri="{FF2B5EF4-FFF2-40B4-BE49-F238E27FC236}">
                <a16:creationId xmlns:a16="http://schemas.microsoft.com/office/drawing/2014/main" id="{3AD1B18C-93E9-4B01-945A-7D0907DA2C94}"/>
              </a:ext>
            </a:extLst>
          </p:cNvPr>
          <p:cNvSpPr>
            <a:spLocks noGrp="1"/>
          </p:cNvSpPr>
          <p:nvPr/>
        </p:nvSpPr>
        <p:spPr>
          <a:xfrm>
            <a:off x="647700" y="37814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57" name="Rectangle 56">
            <a:extLst>
              <a:ext uri="{FF2B5EF4-FFF2-40B4-BE49-F238E27FC236}">
                <a16:creationId xmlns:a16="http://schemas.microsoft.com/office/drawing/2014/main" id="{8B505849-4D31-4D4C-8BFC-C86DA720E194}"/>
              </a:ext>
            </a:extLst>
          </p:cNvPr>
          <p:cNvSpPr>
            <a:spLocks noGrp="1"/>
          </p:cNvSpPr>
          <p:nvPr/>
        </p:nvSpPr>
        <p:spPr>
          <a:xfrm>
            <a:off x="647700" y="49720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58" name="Rounded Rectangle 57">
            <a:extLst>
              <a:ext uri="{FF2B5EF4-FFF2-40B4-BE49-F238E27FC236}">
                <a16:creationId xmlns:a16="http://schemas.microsoft.com/office/drawing/2014/main" id="{8C4C81B8-3C95-4BE1-9D66-CB94C1D8F07B}"/>
              </a:ext>
            </a:extLst>
          </p:cNvPr>
          <p:cNvSpPr>
            <a:spLocks noGrp="1"/>
          </p:cNvSpPr>
          <p:nvPr/>
        </p:nvSpPr>
        <p:spPr>
          <a:xfrm>
            <a:off x="876300" y="4479531"/>
            <a:ext cx="868680" cy="549669"/>
          </a:xfrm>
          <a:prstGeom prst="roundRect">
            <a:avLst>
              <a:gd name="adj" fmla="val 5199"/>
            </a:avLst>
          </a:prstGeom>
          <a:solidFill>
            <a:srgbClr val="D5CDBE"/>
          </a:solidFill>
          <a:ln w="0">
            <a:solidFill>
              <a:srgbClr val="000000">
                <a:alpha val="0"/>
              </a:srgbClr>
            </a:solidFill>
            <a:prstDash val="solid"/>
          </a:ln>
        </p:spPr>
        <p:txBody>
          <a:bodyPr/>
          <a:lstStyle/>
          <a:p>
            <a:endParaRPr/>
          </a:p>
        </p:txBody>
      </p:sp>
      <p:sp>
        <p:nvSpPr>
          <p:cNvPr id="59" name="Rectangle 58">
            <a:extLst>
              <a:ext uri="{FF2B5EF4-FFF2-40B4-BE49-F238E27FC236}">
                <a16:creationId xmlns:a16="http://schemas.microsoft.com/office/drawing/2014/main" id="{E184469B-6DA1-4D19-87DF-A850322E84A8}"/>
              </a:ext>
            </a:extLst>
          </p:cNvPr>
          <p:cNvSpPr>
            <a:spLocks noGrp="1"/>
          </p:cNvSpPr>
          <p:nvPr/>
        </p:nvSpPr>
        <p:spPr>
          <a:xfrm>
            <a:off x="838200" y="4317606"/>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0.458</a:t>
            </a:r>
          </a:p>
        </p:txBody>
      </p:sp>
      <p:sp>
        <p:nvSpPr>
          <p:cNvPr id="60" name="Rectangle 59">
            <a:extLst>
              <a:ext uri="{FF2B5EF4-FFF2-40B4-BE49-F238E27FC236}">
                <a16:creationId xmlns:a16="http://schemas.microsoft.com/office/drawing/2014/main" id="{C6139A71-C31A-4AA3-848C-B371B998A337}"/>
              </a:ext>
            </a:extLst>
          </p:cNvPr>
          <p:cNvSpPr>
            <a:spLocks noGrp="1"/>
          </p:cNvSpPr>
          <p:nvPr/>
        </p:nvSpPr>
        <p:spPr>
          <a:xfrm>
            <a:off x="85725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61" name="Rounded Rectangle 60">
            <a:extLst>
              <a:ext uri="{FF2B5EF4-FFF2-40B4-BE49-F238E27FC236}">
                <a16:creationId xmlns:a16="http://schemas.microsoft.com/office/drawing/2014/main" id="{124EFFFC-AD63-4073-9AEC-583FBDD373FB}"/>
              </a:ext>
            </a:extLst>
          </p:cNvPr>
          <p:cNvSpPr>
            <a:spLocks noGrp="1"/>
          </p:cNvSpPr>
          <p:nvPr/>
        </p:nvSpPr>
        <p:spPr>
          <a:xfrm>
            <a:off x="1840230" y="4126687"/>
            <a:ext cx="868680" cy="902513"/>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62" name="Rectangle 61">
            <a:extLst>
              <a:ext uri="{FF2B5EF4-FFF2-40B4-BE49-F238E27FC236}">
                <a16:creationId xmlns:a16="http://schemas.microsoft.com/office/drawing/2014/main" id="{F3DBAFE1-C6DF-4A17-83C2-F595979BF56A}"/>
              </a:ext>
            </a:extLst>
          </p:cNvPr>
          <p:cNvSpPr>
            <a:spLocks noGrp="1"/>
          </p:cNvSpPr>
          <p:nvPr/>
        </p:nvSpPr>
        <p:spPr>
          <a:xfrm>
            <a:off x="1802130" y="3964762"/>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0.752</a:t>
            </a:r>
          </a:p>
        </p:txBody>
      </p:sp>
      <p:sp>
        <p:nvSpPr>
          <p:cNvPr id="63" name="Rectangle 62">
            <a:extLst>
              <a:ext uri="{FF2B5EF4-FFF2-40B4-BE49-F238E27FC236}">
                <a16:creationId xmlns:a16="http://schemas.microsoft.com/office/drawing/2014/main" id="{661D925C-69F3-46D5-A068-9453617861DE}"/>
              </a:ext>
            </a:extLst>
          </p:cNvPr>
          <p:cNvSpPr>
            <a:spLocks noGrp="1"/>
          </p:cNvSpPr>
          <p:nvPr/>
        </p:nvSpPr>
        <p:spPr>
          <a:xfrm>
            <a:off x="182118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64" name="Rounded Rectangle 63">
            <a:extLst>
              <a:ext uri="{FF2B5EF4-FFF2-40B4-BE49-F238E27FC236}">
                <a16:creationId xmlns:a16="http://schemas.microsoft.com/office/drawing/2014/main" id="{86E82F94-0A96-478D-A896-288FCE61E6B4}"/>
              </a:ext>
            </a:extLst>
          </p:cNvPr>
          <p:cNvSpPr>
            <a:spLocks noGrp="1"/>
          </p:cNvSpPr>
          <p:nvPr/>
        </p:nvSpPr>
        <p:spPr>
          <a:xfrm>
            <a:off x="2804160" y="3891458"/>
            <a:ext cx="868680" cy="1137742"/>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65" name="Rectangle 64">
            <a:extLst>
              <a:ext uri="{FF2B5EF4-FFF2-40B4-BE49-F238E27FC236}">
                <a16:creationId xmlns:a16="http://schemas.microsoft.com/office/drawing/2014/main" id="{C4D52CA1-2142-45C0-B00F-280BD3373B46}"/>
              </a:ext>
            </a:extLst>
          </p:cNvPr>
          <p:cNvSpPr>
            <a:spLocks noGrp="1"/>
          </p:cNvSpPr>
          <p:nvPr/>
        </p:nvSpPr>
        <p:spPr>
          <a:xfrm>
            <a:off x="2766060" y="3729533"/>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0.948</a:t>
            </a:r>
          </a:p>
        </p:txBody>
      </p:sp>
      <p:sp>
        <p:nvSpPr>
          <p:cNvPr id="66" name="Rectangle 65">
            <a:extLst>
              <a:ext uri="{FF2B5EF4-FFF2-40B4-BE49-F238E27FC236}">
                <a16:creationId xmlns:a16="http://schemas.microsoft.com/office/drawing/2014/main" id="{B97D68EE-CD7E-4EE2-8941-5D95AB950D86}"/>
              </a:ext>
            </a:extLst>
          </p:cNvPr>
          <p:cNvSpPr>
            <a:spLocks noGrp="1"/>
          </p:cNvSpPr>
          <p:nvPr/>
        </p:nvSpPr>
        <p:spPr>
          <a:xfrm>
            <a:off x="278511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67" name="Rounded Rectangle 66">
            <a:extLst>
              <a:ext uri="{FF2B5EF4-FFF2-40B4-BE49-F238E27FC236}">
                <a16:creationId xmlns:a16="http://schemas.microsoft.com/office/drawing/2014/main" id="{DC6BB852-4188-47CB-B4D7-557BF787CB35}"/>
              </a:ext>
            </a:extLst>
          </p:cNvPr>
          <p:cNvSpPr>
            <a:spLocks noGrp="1"/>
          </p:cNvSpPr>
          <p:nvPr/>
        </p:nvSpPr>
        <p:spPr>
          <a:xfrm>
            <a:off x="3768090" y="4003072"/>
            <a:ext cx="868680" cy="1026128"/>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68" name="Rectangle 67">
            <a:extLst>
              <a:ext uri="{FF2B5EF4-FFF2-40B4-BE49-F238E27FC236}">
                <a16:creationId xmlns:a16="http://schemas.microsoft.com/office/drawing/2014/main" id="{AF53113C-FB99-40D4-8BDC-F96863E178E0}"/>
              </a:ext>
            </a:extLst>
          </p:cNvPr>
          <p:cNvSpPr>
            <a:spLocks noGrp="1"/>
          </p:cNvSpPr>
          <p:nvPr/>
        </p:nvSpPr>
        <p:spPr>
          <a:xfrm>
            <a:off x="3729990" y="3841147"/>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0.855</a:t>
            </a:r>
          </a:p>
        </p:txBody>
      </p:sp>
      <p:sp>
        <p:nvSpPr>
          <p:cNvPr id="69" name="Rectangle 68">
            <a:extLst>
              <a:ext uri="{FF2B5EF4-FFF2-40B4-BE49-F238E27FC236}">
                <a16:creationId xmlns:a16="http://schemas.microsoft.com/office/drawing/2014/main" id="{FD01A7FC-2908-4F39-9DC7-09044E2B057A}"/>
              </a:ext>
            </a:extLst>
          </p:cNvPr>
          <p:cNvSpPr>
            <a:spLocks noGrp="1"/>
          </p:cNvSpPr>
          <p:nvPr/>
        </p:nvSpPr>
        <p:spPr>
          <a:xfrm>
            <a:off x="374904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70" name="Rounded Rectangle 69">
            <a:extLst>
              <a:ext uri="{FF2B5EF4-FFF2-40B4-BE49-F238E27FC236}">
                <a16:creationId xmlns:a16="http://schemas.microsoft.com/office/drawing/2014/main" id="{67FE5A91-AA00-478F-B54C-BF26FB21A976}"/>
              </a:ext>
            </a:extLst>
          </p:cNvPr>
          <p:cNvSpPr>
            <a:spLocks noGrp="1"/>
          </p:cNvSpPr>
          <p:nvPr/>
        </p:nvSpPr>
        <p:spPr>
          <a:xfrm>
            <a:off x="4732020" y="3829050"/>
            <a:ext cx="868680" cy="1200150"/>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71" name="Rectangle 70">
            <a:extLst>
              <a:ext uri="{FF2B5EF4-FFF2-40B4-BE49-F238E27FC236}">
                <a16:creationId xmlns:a16="http://schemas.microsoft.com/office/drawing/2014/main" id="{570F426F-D394-44F2-B879-95B0F2CB9CAE}"/>
              </a:ext>
            </a:extLst>
          </p:cNvPr>
          <p:cNvSpPr>
            <a:spLocks noGrp="1"/>
          </p:cNvSpPr>
          <p:nvPr/>
        </p:nvSpPr>
        <p:spPr>
          <a:xfrm>
            <a:off x="4693920" y="3667125"/>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1.000</a:t>
            </a:r>
          </a:p>
        </p:txBody>
      </p:sp>
      <p:sp>
        <p:nvSpPr>
          <p:cNvPr id="72" name="Rectangle 71">
            <a:extLst>
              <a:ext uri="{FF2B5EF4-FFF2-40B4-BE49-F238E27FC236}">
                <a16:creationId xmlns:a16="http://schemas.microsoft.com/office/drawing/2014/main" id="{FCBB4A76-2C6E-4383-9E38-58A4CD322E86}"/>
              </a:ext>
            </a:extLst>
          </p:cNvPr>
          <p:cNvSpPr>
            <a:spLocks noGrp="1"/>
          </p:cNvSpPr>
          <p:nvPr/>
        </p:nvSpPr>
        <p:spPr>
          <a:xfrm>
            <a:off x="471297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73" name="Rounded Rectangle 72">
            <a:extLst>
              <a:ext uri="{FF2B5EF4-FFF2-40B4-BE49-F238E27FC236}">
                <a16:creationId xmlns:a16="http://schemas.microsoft.com/office/drawing/2014/main" id="{17656FEC-6BBC-4F3E-AF7C-46978AC6D154}"/>
              </a:ext>
            </a:extLst>
          </p:cNvPr>
          <p:cNvSpPr>
            <a:spLocks noGrp="1"/>
          </p:cNvSpPr>
          <p:nvPr/>
        </p:nvSpPr>
        <p:spPr>
          <a:xfrm>
            <a:off x="6381750" y="3314700"/>
            <a:ext cx="5257800" cy="2076450"/>
          </a:xfrm>
          <a:prstGeom prst="roundRect">
            <a:avLst>
              <a:gd name="adj" fmla="val 2752"/>
            </a:avLst>
          </a:prstGeom>
          <a:solidFill>
            <a:srgbClr val="FFFDF7"/>
          </a:solidFill>
          <a:ln w="9525">
            <a:solidFill>
              <a:srgbClr val="CFC7B8"/>
            </a:solidFill>
            <a:prstDash val="solid"/>
          </a:ln>
        </p:spPr>
        <p:txBody>
          <a:bodyPr/>
          <a:lstStyle/>
          <a:p>
            <a:endParaRPr/>
          </a:p>
        </p:txBody>
      </p:sp>
      <p:sp>
        <p:nvSpPr>
          <p:cNvPr id="74" name="Rectangle 73">
            <a:extLst>
              <a:ext uri="{FF2B5EF4-FFF2-40B4-BE49-F238E27FC236}">
                <a16:creationId xmlns:a16="http://schemas.microsoft.com/office/drawing/2014/main" id="{11048AB3-30BE-4CF5-8357-6DECE359D243}"/>
              </a:ext>
            </a:extLst>
          </p:cNvPr>
          <p:cNvSpPr>
            <a:spLocks noGrp="1"/>
          </p:cNvSpPr>
          <p:nvPr/>
        </p:nvSpPr>
        <p:spPr>
          <a:xfrm>
            <a:off x="6515100" y="3409950"/>
            <a:ext cx="4991100" cy="2286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25" b="1">
                <a:solidFill>
                  <a:srgbClr val="264653"/>
                </a:solidFill>
                <a:latin typeface="Aptos Display"/>
                <a:ea typeface="Aptos Display"/>
                <a:cs typeface="Aptos Display"/>
              </a:defRPr>
            </a:pPr>
            <a:r>
              <a:rPr sz="1125" b="1">
                <a:solidFill>
                  <a:srgbClr val="264653"/>
                </a:solidFill>
                <a:latin typeface="Aptos Display"/>
                <a:ea typeface="Aptos Display"/>
                <a:cs typeface="Aptos Display"/>
              </a:rPr>
              <a:t>Washington</a:t>
            </a:r>
          </a:p>
        </p:txBody>
      </p:sp>
      <p:sp>
        <p:nvSpPr>
          <p:cNvPr id="75" name="Rectangle 74">
            <a:extLst>
              <a:ext uri="{FF2B5EF4-FFF2-40B4-BE49-F238E27FC236}">
                <a16:creationId xmlns:a16="http://schemas.microsoft.com/office/drawing/2014/main" id="{82DA06C6-A6D8-4869-8E3F-F19417B67B3E}"/>
              </a:ext>
            </a:extLst>
          </p:cNvPr>
          <p:cNvSpPr>
            <a:spLocks noGrp="1"/>
          </p:cNvSpPr>
          <p:nvPr/>
        </p:nvSpPr>
        <p:spPr>
          <a:xfrm>
            <a:off x="6705600" y="502920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76" name="Rectangle 75">
            <a:extLst>
              <a:ext uri="{FF2B5EF4-FFF2-40B4-BE49-F238E27FC236}">
                <a16:creationId xmlns:a16="http://schemas.microsoft.com/office/drawing/2014/main" id="{04AF2F54-ECCF-48D1-87A8-A3777DC0E31C}"/>
              </a:ext>
            </a:extLst>
          </p:cNvPr>
          <p:cNvSpPr>
            <a:spLocks noGrp="1"/>
          </p:cNvSpPr>
          <p:nvPr/>
        </p:nvSpPr>
        <p:spPr>
          <a:xfrm>
            <a:off x="6705600" y="4429125"/>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77" name="Rectangle 76">
            <a:extLst>
              <a:ext uri="{FF2B5EF4-FFF2-40B4-BE49-F238E27FC236}">
                <a16:creationId xmlns:a16="http://schemas.microsoft.com/office/drawing/2014/main" id="{53F07990-6997-4A4D-BA4C-354A048B03B4}"/>
              </a:ext>
            </a:extLst>
          </p:cNvPr>
          <p:cNvSpPr>
            <a:spLocks noGrp="1"/>
          </p:cNvSpPr>
          <p:nvPr/>
        </p:nvSpPr>
        <p:spPr>
          <a:xfrm>
            <a:off x="6705600" y="3829050"/>
            <a:ext cx="4724400" cy="9525"/>
          </a:xfrm>
          <a:prstGeom prst="rect">
            <a:avLst/>
          </a:prstGeom>
          <a:solidFill>
            <a:srgbClr val="DED8CB"/>
          </a:solidFill>
          <a:ln w="0">
            <a:solidFill>
              <a:srgbClr val="000000">
                <a:alpha val="0"/>
              </a:srgbClr>
            </a:solidFill>
            <a:prstDash val="solid"/>
          </a:ln>
        </p:spPr>
        <p:txBody>
          <a:bodyPr/>
          <a:lstStyle/>
          <a:p>
            <a:endParaRPr/>
          </a:p>
        </p:txBody>
      </p:sp>
      <p:sp>
        <p:nvSpPr>
          <p:cNvPr id="78" name="Rectangle 77">
            <a:extLst>
              <a:ext uri="{FF2B5EF4-FFF2-40B4-BE49-F238E27FC236}">
                <a16:creationId xmlns:a16="http://schemas.microsoft.com/office/drawing/2014/main" id="{A9AC0D5A-205A-4978-A015-C824F9F809AC}"/>
              </a:ext>
            </a:extLst>
          </p:cNvPr>
          <p:cNvSpPr>
            <a:spLocks noGrp="1"/>
          </p:cNvSpPr>
          <p:nvPr/>
        </p:nvSpPr>
        <p:spPr>
          <a:xfrm>
            <a:off x="6477000" y="3781425"/>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1</a:t>
            </a:r>
          </a:p>
        </p:txBody>
      </p:sp>
      <p:sp>
        <p:nvSpPr>
          <p:cNvPr id="79" name="Rectangle 78">
            <a:extLst>
              <a:ext uri="{FF2B5EF4-FFF2-40B4-BE49-F238E27FC236}">
                <a16:creationId xmlns:a16="http://schemas.microsoft.com/office/drawing/2014/main" id="{762AE729-42BC-47C0-A352-33858D734C9A}"/>
              </a:ext>
            </a:extLst>
          </p:cNvPr>
          <p:cNvSpPr>
            <a:spLocks noGrp="1"/>
          </p:cNvSpPr>
          <p:nvPr/>
        </p:nvSpPr>
        <p:spPr>
          <a:xfrm>
            <a:off x="6477000" y="4972050"/>
            <a:ext cx="190500" cy="1143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l">
              <a:buNone/>
              <a:defRPr sz="675" b="0">
                <a:solidFill>
                  <a:srgbClr val="5C686B"/>
                </a:solidFill>
                <a:latin typeface="Aptos"/>
                <a:ea typeface="Aptos"/>
                <a:cs typeface="Aptos"/>
              </a:defRPr>
            </a:pPr>
            <a:r>
              <a:rPr sz="675" b="0">
                <a:solidFill>
                  <a:srgbClr val="5C686B"/>
                </a:solidFill>
                <a:latin typeface="Aptos"/>
                <a:ea typeface="Aptos"/>
                <a:cs typeface="Aptos"/>
              </a:rPr>
              <a:t>0</a:t>
            </a:r>
          </a:p>
        </p:txBody>
      </p:sp>
      <p:sp>
        <p:nvSpPr>
          <p:cNvPr id="80" name="Rounded Rectangle 79">
            <a:extLst>
              <a:ext uri="{FF2B5EF4-FFF2-40B4-BE49-F238E27FC236}">
                <a16:creationId xmlns:a16="http://schemas.microsoft.com/office/drawing/2014/main" id="{97088A59-001B-4FB8-8354-00FB5E73B238}"/>
              </a:ext>
            </a:extLst>
          </p:cNvPr>
          <p:cNvSpPr>
            <a:spLocks noGrp="1"/>
          </p:cNvSpPr>
          <p:nvPr/>
        </p:nvSpPr>
        <p:spPr>
          <a:xfrm>
            <a:off x="6705600" y="4245502"/>
            <a:ext cx="868680" cy="783698"/>
          </a:xfrm>
          <a:prstGeom prst="roundRect">
            <a:avLst>
              <a:gd name="adj" fmla="val 3646"/>
            </a:avLst>
          </a:prstGeom>
          <a:solidFill>
            <a:srgbClr val="D5CDBE"/>
          </a:solidFill>
          <a:ln w="0">
            <a:solidFill>
              <a:srgbClr val="000000">
                <a:alpha val="0"/>
              </a:srgbClr>
            </a:solidFill>
            <a:prstDash val="solid"/>
          </a:ln>
        </p:spPr>
        <p:txBody>
          <a:bodyPr/>
          <a:lstStyle/>
          <a:p>
            <a:endParaRPr/>
          </a:p>
        </p:txBody>
      </p:sp>
      <p:sp>
        <p:nvSpPr>
          <p:cNvPr id="81" name="Rectangle 80">
            <a:extLst>
              <a:ext uri="{FF2B5EF4-FFF2-40B4-BE49-F238E27FC236}">
                <a16:creationId xmlns:a16="http://schemas.microsoft.com/office/drawing/2014/main" id="{07D1DF44-3704-45C0-8E1A-08138C73FB25}"/>
              </a:ext>
            </a:extLst>
          </p:cNvPr>
          <p:cNvSpPr>
            <a:spLocks noGrp="1"/>
          </p:cNvSpPr>
          <p:nvPr/>
        </p:nvSpPr>
        <p:spPr>
          <a:xfrm>
            <a:off x="6667500" y="4083577"/>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0.653</a:t>
            </a:r>
          </a:p>
        </p:txBody>
      </p:sp>
      <p:sp>
        <p:nvSpPr>
          <p:cNvPr id="82" name="Rectangle 81">
            <a:extLst>
              <a:ext uri="{FF2B5EF4-FFF2-40B4-BE49-F238E27FC236}">
                <a16:creationId xmlns:a16="http://schemas.microsoft.com/office/drawing/2014/main" id="{008ACE80-892B-4E6B-81C6-77E903D5692A}"/>
              </a:ext>
            </a:extLst>
          </p:cNvPr>
          <p:cNvSpPr>
            <a:spLocks noGrp="1"/>
          </p:cNvSpPr>
          <p:nvPr/>
        </p:nvSpPr>
        <p:spPr>
          <a:xfrm>
            <a:off x="668655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M1</a:t>
            </a:r>
          </a:p>
        </p:txBody>
      </p:sp>
      <p:sp>
        <p:nvSpPr>
          <p:cNvPr id="83" name="Rounded Rectangle 82">
            <a:extLst>
              <a:ext uri="{FF2B5EF4-FFF2-40B4-BE49-F238E27FC236}">
                <a16:creationId xmlns:a16="http://schemas.microsoft.com/office/drawing/2014/main" id="{74B6F197-A62F-479D-BC2E-7A3B64C6688E}"/>
              </a:ext>
            </a:extLst>
          </p:cNvPr>
          <p:cNvSpPr>
            <a:spLocks noGrp="1"/>
          </p:cNvSpPr>
          <p:nvPr/>
        </p:nvSpPr>
        <p:spPr>
          <a:xfrm>
            <a:off x="7669530" y="4175893"/>
            <a:ext cx="868680" cy="853307"/>
          </a:xfrm>
          <a:prstGeom prst="roundRect">
            <a:avLst>
              <a:gd name="adj" fmla="val 3349"/>
            </a:avLst>
          </a:prstGeom>
          <a:solidFill>
            <a:srgbClr val="D5CDBE"/>
          </a:solidFill>
          <a:ln w="0">
            <a:solidFill>
              <a:srgbClr val="000000">
                <a:alpha val="0"/>
              </a:srgbClr>
            </a:solidFill>
            <a:prstDash val="solid"/>
          </a:ln>
        </p:spPr>
        <p:txBody>
          <a:bodyPr/>
          <a:lstStyle/>
          <a:p>
            <a:endParaRPr/>
          </a:p>
        </p:txBody>
      </p:sp>
      <p:sp>
        <p:nvSpPr>
          <p:cNvPr id="84" name="Rectangle 83">
            <a:extLst>
              <a:ext uri="{FF2B5EF4-FFF2-40B4-BE49-F238E27FC236}">
                <a16:creationId xmlns:a16="http://schemas.microsoft.com/office/drawing/2014/main" id="{99229656-3ADD-44EB-991C-F590B3B2C473}"/>
              </a:ext>
            </a:extLst>
          </p:cNvPr>
          <p:cNvSpPr>
            <a:spLocks noGrp="1"/>
          </p:cNvSpPr>
          <p:nvPr/>
        </p:nvSpPr>
        <p:spPr>
          <a:xfrm>
            <a:off x="7631430" y="4013968"/>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0.711</a:t>
            </a:r>
          </a:p>
        </p:txBody>
      </p:sp>
      <p:sp>
        <p:nvSpPr>
          <p:cNvPr id="85" name="Rectangle 84">
            <a:extLst>
              <a:ext uri="{FF2B5EF4-FFF2-40B4-BE49-F238E27FC236}">
                <a16:creationId xmlns:a16="http://schemas.microsoft.com/office/drawing/2014/main" id="{B97942DB-0A4B-4536-98FB-39E46B9829CA}"/>
              </a:ext>
            </a:extLst>
          </p:cNvPr>
          <p:cNvSpPr>
            <a:spLocks noGrp="1"/>
          </p:cNvSpPr>
          <p:nvPr/>
        </p:nvSpPr>
        <p:spPr>
          <a:xfrm>
            <a:off x="765048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M2</a:t>
            </a:r>
          </a:p>
        </p:txBody>
      </p:sp>
      <p:sp>
        <p:nvSpPr>
          <p:cNvPr id="86" name="Rounded Rectangle 85">
            <a:extLst>
              <a:ext uri="{FF2B5EF4-FFF2-40B4-BE49-F238E27FC236}">
                <a16:creationId xmlns:a16="http://schemas.microsoft.com/office/drawing/2014/main" id="{246E5DA3-8192-400D-AF0C-BFB9EAE2A3E4}"/>
              </a:ext>
            </a:extLst>
          </p:cNvPr>
          <p:cNvSpPr>
            <a:spLocks noGrp="1"/>
          </p:cNvSpPr>
          <p:nvPr/>
        </p:nvSpPr>
        <p:spPr>
          <a:xfrm>
            <a:off x="8633460" y="4048677"/>
            <a:ext cx="868680" cy="980523"/>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87" name="Rectangle 86">
            <a:extLst>
              <a:ext uri="{FF2B5EF4-FFF2-40B4-BE49-F238E27FC236}">
                <a16:creationId xmlns:a16="http://schemas.microsoft.com/office/drawing/2014/main" id="{092A4EC9-E5E2-49B9-A29F-CDB3A6287491}"/>
              </a:ext>
            </a:extLst>
          </p:cNvPr>
          <p:cNvSpPr>
            <a:spLocks noGrp="1"/>
          </p:cNvSpPr>
          <p:nvPr/>
        </p:nvSpPr>
        <p:spPr>
          <a:xfrm>
            <a:off x="8595360" y="3886752"/>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0.817</a:t>
            </a:r>
          </a:p>
        </p:txBody>
      </p:sp>
      <p:sp>
        <p:nvSpPr>
          <p:cNvPr id="88" name="Rectangle 87">
            <a:extLst>
              <a:ext uri="{FF2B5EF4-FFF2-40B4-BE49-F238E27FC236}">
                <a16:creationId xmlns:a16="http://schemas.microsoft.com/office/drawing/2014/main" id="{9E73153E-8B47-4304-B672-983EF7D0DAC7}"/>
              </a:ext>
            </a:extLst>
          </p:cNvPr>
          <p:cNvSpPr>
            <a:spLocks noGrp="1"/>
          </p:cNvSpPr>
          <p:nvPr/>
        </p:nvSpPr>
        <p:spPr>
          <a:xfrm>
            <a:off x="861441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M3</a:t>
            </a:r>
          </a:p>
        </p:txBody>
      </p:sp>
      <p:sp>
        <p:nvSpPr>
          <p:cNvPr id="89" name="Rounded Rectangle 88">
            <a:extLst>
              <a:ext uri="{FF2B5EF4-FFF2-40B4-BE49-F238E27FC236}">
                <a16:creationId xmlns:a16="http://schemas.microsoft.com/office/drawing/2014/main" id="{0A1DFDFE-E082-44D2-B88B-AAFA14256AD1}"/>
              </a:ext>
            </a:extLst>
          </p:cNvPr>
          <p:cNvSpPr>
            <a:spLocks noGrp="1"/>
          </p:cNvSpPr>
          <p:nvPr/>
        </p:nvSpPr>
        <p:spPr>
          <a:xfrm>
            <a:off x="9597390" y="4144689"/>
            <a:ext cx="868680" cy="884511"/>
          </a:xfrm>
          <a:prstGeom prst="roundRect">
            <a:avLst>
              <a:gd name="adj" fmla="val 3289"/>
            </a:avLst>
          </a:prstGeom>
          <a:solidFill>
            <a:srgbClr val="D5CDBE"/>
          </a:solidFill>
          <a:ln w="0">
            <a:solidFill>
              <a:srgbClr val="000000">
                <a:alpha val="0"/>
              </a:srgbClr>
            </a:solidFill>
            <a:prstDash val="solid"/>
          </a:ln>
        </p:spPr>
        <p:txBody>
          <a:bodyPr/>
          <a:lstStyle/>
          <a:p>
            <a:endParaRPr/>
          </a:p>
        </p:txBody>
      </p:sp>
      <p:sp>
        <p:nvSpPr>
          <p:cNvPr id="90" name="Rectangle 89">
            <a:extLst>
              <a:ext uri="{FF2B5EF4-FFF2-40B4-BE49-F238E27FC236}">
                <a16:creationId xmlns:a16="http://schemas.microsoft.com/office/drawing/2014/main" id="{2FB588D6-6F96-457E-A0D2-2F780168942F}"/>
              </a:ext>
            </a:extLst>
          </p:cNvPr>
          <p:cNvSpPr>
            <a:spLocks noGrp="1"/>
          </p:cNvSpPr>
          <p:nvPr/>
        </p:nvSpPr>
        <p:spPr>
          <a:xfrm>
            <a:off x="9559290" y="3982764"/>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0">
                <a:solidFill>
                  <a:srgbClr val="5C686B"/>
                </a:solidFill>
                <a:latin typeface="Aptos"/>
                <a:ea typeface="Aptos"/>
                <a:cs typeface="Aptos"/>
              </a:defRPr>
            </a:pPr>
            <a:r>
              <a:rPr sz="638" b="0">
                <a:solidFill>
                  <a:srgbClr val="5C686B"/>
                </a:solidFill>
                <a:latin typeface="Aptos"/>
                <a:ea typeface="Aptos"/>
                <a:cs typeface="Aptos"/>
              </a:rPr>
              <a:t>0.737</a:t>
            </a:r>
          </a:p>
        </p:txBody>
      </p:sp>
      <p:sp>
        <p:nvSpPr>
          <p:cNvPr id="91" name="Rectangle 90">
            <a:extLst>
              <a:ext uri="{FF2B5EF4-FFF2-40B4-BE49-F238E27FC236}">
                <a16:creationId xmlns:a16="http://schemas.microsoft.com/office/drawing/2014/main" id="{BFB030B7-7B06-417F-8607-3E943917C3FA}"/>
              </a:ext>
            </a:extLst>
          </p:cNvPr>
          <p:cNvSpPr>
            <a:spLocks noGrp="1"/>
          </p:cNvSpPr>
          <p:nvPr/>
        </p:nvSpPr>
        <p:spPr>
          <a:xfrm>
            <a:off x="957834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0">
                <a:solidFill>
                  <a:srgbClr val="5C686B"/>
                </a:solidFill>
                <a:latin typeface="Aptos"/>
                <a:ea typeface="Aptos"/>
                <a:cs typeface="Aptos"/>
              </a:defRPr>
            </a:pPr>
            <a:r>
              <a:rPr sz="750" b="0">
                <a:solidFill>
                  <a:srgbClr val="5C686B"/>
                </a:solidFill>
                <a:latin typeface="Aptos"/>
                <a:ea typeface="Aptos"/>
                <a:cs typeface="Aptos"/>
              </a:rPr>
              <a:t>M4</a:t>
            </a:r>
          </a:p>
        </p:txBody>
      </p:sp>
      <p:sp>
        <p:nvSpPr>
          <p:cNvPr id="92" name="Rounded Rectangle 91">
            <a:extLst>
              <a:ext uri="{FF2B5EF4-FFF2-40B4-BE49-F238E27FC236}">
                <a16:creationId xmlns:a16="http://schemas.microsoft.com/office/drawing/2014/main" id="{B0A30343-19F6-4344-9979-F6F8DE61E131}"/>
              </a:ext>
            </a:extLst>
          </p:cNvPr>
          <p:cNvSpPr>
            <a:spLocks noGrp="1"/>
          </p:cNvSpPr>
          <p:nvPr/>
        </p:nvSpPr>
        <p:spPr>
          <a:xfrm>
            <a:off x="10561320" y="3865054"/>
            <a:ext cx="868680" cy="1164146"/>
          </a:xfrm>
          <a:prstGeom prst="roundRect">
            <a:avLst>
              <a:gd name="adj" fmla="val 3289"/>
            </a:avLst>
          </a:prstGeom>
          <a:solidFill>
            <a:srgbClr val="2A9D8F"/>
          </a:solidFill>
          <a:ln w="0">
            <a:solidFill>
              <a:srgbClr val="000000">
                <a:alpha val="0"/>
              </a:srgbClr>
            </a:solidFill>
            <a:prstDash val="solid"/>
          </a:ln>
        </p:spPr>
        <p:txBody>
          <a:bodyPr/>
          <a:lstStyle/>
          <a:p>
            <a:endParaRPr/>
          </a:p>
        </p:txBody>
      </p:sp>
      <p:sp>
        <p:nvSpPr>
          <p:cNvPr id="93" name="Rectangle 92">
            <a:extLst>
              <a:ext uri="{FF2B5EF4-FFF2-40B4-BE49-F238E27FC236}">
                <a16:creationId xmlns:a16="http://schemas.microsoft.com/office/drawing/2014/main" id="{65F01246-8853-4BAA-A82A-7CB62E30B9D0}"/>
              </a:ext>
            </a:extLst>
          </p:cNvPr>
          <p:cNvSpPr>
            <a:spLocks noGrp="1"/>
          </p:cNvSpPr>
          <p:nvPr/>
        </p:nvSpPr>
        <p:spPr>
          <a:xfrm>
            <a:off x="10523220" y="3703129"/>
            <a:ext cx="9448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638" b="1">
                <a:solidFill>
                  <a:srgbClr val="264653"/>
                </a:solidFill>
                <a:latin typeface="Aptos"/>
                <a:ea typeface="Aptos"/>
                <a:cs typeface="Aptos"/>
              </a:defRPr>
            </a:pPr>
            <a:r>
              <a:rPr sz="638" b="1">
                <a:solidFill>
                  <a:srgbClr val="264653"/>
                </a:solidFill>
                <a:latin typeface="Aptos"/>
                <a:ea typeface="Aptos"/>
                <a:cs typeface="Aptos"/>
              </a:rPr>
              <a:t>0.970</a:t>
            </a:r>
          </a:p>
        </p:txBody>
      </p:sp>
      <p:sp>
        <p:nvSpPr>
          <p:cNvPr id="94" name="Rectangle 93">
            <a:extLst>
              <a:ext uri="{FF2B5EF4-FFF2-40B4-BE49-F238E27FC236}">
                <a16:creationId xmlns:a16="http://schemas.microsoft.com/office/drawing/2014/main" id="{F024D61E-3D23-4338-85B3-EE417725B40E}"/>
              </a:ext>
            </a:extLst>
          </p:cNvPr>
          <p:cNvSpPr>
            <a:spLocks noGrp="1"/>
          </p:cNvSpPr>
          <p:nvPr/>
        </p:nvSpPr>
        <p:spPr>
          <a:xfrm>
            <a:off x="10542270" y="5124450"/>
            <a:ext cx="90678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750" b="1">
                <a:solidFill>
                  <a:srgbClr val="264653"/>
                </a:solidFill>
                <a:latin typeface="Aptos"/>
                <a:ea typeface="Aptos"/>
                <a:cs typeface="Aptos"/>
              </a:defRPr>
            </a:pPr>
            <a:r>
              <a:rPr sz="750" b="1">
                <a:solidFill>
                  <a:srgbClr val="264653"/>
                </a:solidFill>
                <a:latin typeface="Aptos"/>
                <a:ea typeface="Aptos"/>
                <a:cs typeface="Aptos"/>
              </a:rPr>
              <a:t>M5</a:t>
            </a:r>
          </a:p>
        </p:txBody>
      </p:sp>
      <p:sp>
        <p:nvSpPr>
          <p:cNvPr id="97" name="Rectangle 96">
            <a:extLst>
              <a:ext uri="{FF2B5EF4-FFF2-40B4-BE49-F238E27FC236}">
                <a16:creationId xmlns:a16="http://schemas.microsoft.com/office/drawing/2014/main" id="{176220FE-0C65-4ABC-94A1-B99CE4A0C255}"/>
              </a:ext>
            </a:extLst>
          </p:cNvPr>
          <p:cNvSpPr>
            <a:spLocks noGrp="1"/>
          </p:cNvSpPr>
          <p:nvPr/>
        </p:nvSpPr>
        <p:spPr>
          <a:xfrm>
            <a:off x="742950" y="5562600"/>
            <a:ext cx="1619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88" b="1">
                <a:solidFill>
                  <a:srgbClr val="5C686B"/>
                </a:solidFill>
                <a:latin typeface="Aptos"/>
                <a:ea typeface="Aptos"/>
                <a:cs typeface="Aptos"/>
              </a:defRPr>
            </a:pPr>
            <a:r>
              <a:rPr sz="825" b="1">
                <a:solidFill>
                  <a:srgbClr val="5C686B"/>
                </a:solidFill>
                <a:latin typeface="Aptos"/>
                <a:ea typeface="Aptos"/>
                <a:cs typeface="Aptos"/>
              </a:rPr>
              <a:t>Metric: LAnorm±</a:t>
            </a:r>
          </a:p>
        </p:txBody>
      </p:sp>
      <p:sp>
        <p:nvSpPr>
          <p:cNvPr id="98" name="Rounded Rectangle 97">
            <a:extLst>
              <a:ext uri="{FF2B5EF4-FFF2-40B4-BE49-F238E27FC236}">
                <a16:creationId xmlns:a16="http://schemas.microsoft.com/office/drawing/2014/main" id="{97BEA9DD-CD13-46EF-9D95-BE798DCA9E2D}"/>
              </a:ext>
            </a:extLst>
          </p:cNvPr>
          <p:cNvSpPr>
            <a:spLocks noGrp="1"/>
          </p:cNvSpPr>
          <p:nvPr/>
        </p:nvSpPr>
        <p:spPr>
          <a:xfrm>
            <a:off x="7239000" y="5524500"/>
            <a:ext cx="4000500" cy="400050"/>
          </a:xfrm>
          <a:prstGeom prst="roundRect">
            <a:avLst>
              <a:gd name="adj" fmla="val 14286"/>
            </a:avLst>
          </a:prstGeom>
          <a:solidFill>
            <a:srgbClr val="DDEDE9"/>
          </a:solidFill>
          <a:ln w="9525">
            <a:solidFill>
              <a:srgbClr val="2A9D8F"/>
            </a:solidFill>
            <a:prstDash val="solid"/>
          </a:ln>
        </p:spPr>
        <p:txBody>
          <a:bodyPr/>
          <a:lstStyle/>
          <a:p>
            <a:endParaRPr/>
          </a:p>
        </p:txBody>
      </p:sp>
      <p:sp>
        <p:nvSpPr>
          <p:cNvPr id="99" name="Rectangle 98">
            <a:extLst>
              <a:ext uri="{FF2B5EF4-FFF2-40B4-BE49-F238E27FC236}">
                <a16:creationId xmlns:a16="http://schemas.microsoft.com/office/drawing/2014/main" id="{3850C82C-3782-4183-9555-157077373CA4}"/>
              </a:ext>
            </a:extLst>
          </p:cNvPr>
          <p:cNvSpPr>
            <a:spLocks noGrp="1"/>
          </p:cNvSpPr>
          <p:nvPr/>
        </p:nvSpPr>
        <p:spPr>
          <a:xfrm>
            <a:off x="7067550" y="5638800"/>
            <a:ext cx="4191000" cy="26670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013" b="1">
                <a:solidFill>
                  <a:srgbClr val="264653"/>
                </a:solidFill>
                <a:latin typeface="Aptos"/>
                <a:ea typeface="Aptos"/>
                <a:cs typeface="Aptos"/>
              </a:defRPr>
            </a:pPr>
            <a:r>
              <a:rPr sz="900" b="1">
                <a:solidFill>
                  <a:srgbClr val="264653"/>
                </a:solidFill>
                <a:latin typeface="Aptos"/>
                <a:ea typeface="Aptos"/>
                <a:cs typeface="Aptos"/>
              </a:rPr>
              <a:t>Backup Evidence: Single OpenAI Configuration; M5 Is Highest-Scoring In Each Dataset.</a:t>
            </a:r>
          </a:p>
        </p:txBody>
      </p:sp>
    </p:spTree>
    <p:extLst>
      <p:ext uri="{BB962C8B-B14F-4D97-AF65-F5344CB8AC3E}">
        <p14:creationId xmlns:p14="http://schemas.microsoft.com/office/powerpoint/2010/main" val="1541412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104" name="Rectangle 103">
            <a:extLst>
              <a:ext uri="{FF2B5EF4-FFF2-40B4-BE49-F238E27FC236}">
                <a16:creationId xmlns:a16="http://schemas.microsoft.com/office/drawing/2014/main" id="{32B9687B-25D7-4DDC-B605-C6E041382667}"/>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9734C931-6602-4259-B55E-B9161756FD70}"/>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6F41DCC3-54F8-423F-BD22-BE5732A0494E}"/>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A15</a:t>
            </a:r>
          </a:p>
        </p:txBody>
      </p:sp>
      <p:sp>
        <p:nvSpPr>
          <p:cNvPr id="4" name="Rectangle 3">
            <a:extLst>
              <a:ext uri="{FF2B5EF4-FFF2-40B4-BE49-F238E27FC236}">
                <a16:creationId xmlns:a16="http://schemas.microsoft.com/office/drawing/2014/main" id="{A141AF7E-7F19-4640-916F-62D4FBAA8123}"/>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M5 Trace</a:t>
            </a:r>
          </a:p>
        </p:txBody>
      </p:sp>
      <p:sp>
        <p:nvSpPr>
          <p:cNvPr id="5" name="Rectangle 4">
            <a:extLst>
              <a:ext uri="{FF2B5EF4-FFF2-40B4-BE49-F238E27FC236}">
                <a16:creationId xmlns:a16="http://schemas.microsoft.com/office/drawing/2014/main" id="{8BD609E8-B0BB-4B41-BC32-D03C2EB4B2FF}"/>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F4A7A20B-DF48-4348-8838-22FDF3C16B1A}"/>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29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2E375819-1639-461D-B256-47B63B62E5BD}"/>
              </a:ext>
            </a:extLst>
          </p:cNvPr>
          <p:cNvSpPr>
            <a:spLocks noGrp="1"/>
          </p:cNvSpPr>
          <p:nvPr/>
        </p:nvSpPr>
        <p:spPr>
          <a:xfrm>
            <a:off x="819150" y="1257300"/>
            <a:ext cx="1809750" cy="323850"/>
          </a:xfrm>
          <a:prstGeom prst="rect">
            <a:avLst/>
          </a:prstGeom>
          <a:solidFill>
            <a:srgbClr val="264653"/>
          </a:solidFill>
          <a:ln w="9525">
            <a:solidFill>
              <a:srgbClr val="264653"/>
            </a:solidFill>
            <a:prstDash val="solid"/>
          </a:ln>
        </p:spPr>
        <p:txBody>
          <a:bodyPr/>
          <a:lstStyle/>
          <a:p>
            <a:endParaRPr/>
          </a:p>
        </p:txBody>
      </p:sp>
      <p:sp>
        <p:nvSpPr>
          <p:cNvPr id="8" name="Rectangle 7">
            <a:extLst>
              <a:ext uri="{FF2B5EF4-FFF2-40B4-BE49-F238E27FC236}">
                <a16:creationId xmlns:a16="http://schemas.microsoft.com/office/drawing/2014/main" id="{C82E70D6-E1F5-44FF-AEED-D1F1719BBC01}"/>
              </a:ext>
            </a:extLst>
          </p:cNvPr>
          <p:cNvSpPr>
            <a:spLocks noGrp="1"/>
          </p:cNvSpPr>
          <p:nvPr/>
        </p:nvSpPr>
        <p:spPr>
          <a:xfrm>
            <a:off x="876300" y="1343025"/>
            <a:ext cx="16954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900" b="1">
                <a:solidFill>
                  <a:srgbClr val="FFFFFF"/>
                </a:solidFill>
                <a:latin typeface="Aptos"/>
                <a:ea typeface="Aptos"/>
                <a:cs typeface="Aptos"/>
              </a:defRPr>
            </a:pPr>
            <a:r>
              <a:rPr sz="1050" b="1">
                <a:solidFill>
                  <a:srgbClr val="FFFFFF"/>
                </a:solidFill>
                <a:latin typeface="Aptos"/>
                <a:ea typeface="Aptos"/>
                <a:cs typeface="Aptos"/>
              </a:rPr>
              <a:t>Dataset</a:t>
            </a:r>
          </a:p>
        </p:txBody>
      </p:sp>
      <p:sp>
        <p:nvSpPr>
          <p:cNvPr id="9" name="Rectangle 8">
            <a:extLst>
              <a:ext uri="{FF2B5EF4-FFF2-40B4-BE49-F238E27FC236}">
                <a16:creationId xmlns:a16="http://schemas.microsoft.com/office/drawing/2014/main" id="{0A40BFA0-DEFA-4CD7-84D7-15CEA0DFCB06}"/>
              </a:ext>
            </a:extLst>
          </p:cNvPr>
          <p:cNvSpPr>
            <a:spLocks noGrp="1"/>
          </p:cNvSpPr>
          <p:nvPr/>
        </p:nvSpPr>
        <p:spPr>
          <a:xfrm>
            <a:off x="2628900" y="1257300"/>
            <a:ext cx="952500" cy="323850"/>
          </a:xfrm>
          <a:prstGeom prst="rect">
            <a:avLst/>
          </a:prstGeom>
          <a:solidFill>
            <a:srgbClr val="264653"/>
          </a:solidFill>
          <a:ln w="9525">
            <a:solidFill>
              <a:srgbClr val="264653"/>
            </a:solidFill>
            <a:prstDash val="solid"/>
          </a:ln>
        </p:spPr>
        <p:txBody>
          <a:bodyPr/>
          <a:lstStyle/>
          <a:p>
            <a:endParaRPr/>
          </a:p>
        </p:txBody>
      </p:sp>
      <p:sp>
        <p:nvSpPr>
          <p:cNvPr id="10" name="Rectangle 9">
            <a:extLst>
              <a:ext uri="{FF2B5EF4-FFF2-40B4-BE49-F238E27FC236}">
                <a16:creationId xmlns:a16="http://schemas.microsoft.com/office/drawing/2014/main" id="{7AB33A7D-CEF8-4DC3-A5A0-EA8882397442}"/>
              </a:ext>
            </a:extLst>
          </p:cNvPr>
          <p:cNvSpPr>
            <a:spLocks noGrp="1"/>
          </p:cNvSpPr>
          <p:nvPr/>
        </p:nvSpPr>
        <p:spPr>
          <a:xfrm>
            <a:off x="2686050" y="1343025"/>
            <a:ext cx="8382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Samples</a:t>
            </a:r>
          </a:p>
        </p:txBody>
      </p:sp>
      <p:sp>
        <p:nvSpPr>
          <p:cNvPr id="11" name="Rectangle 10">
            <a:extLst>
              <a:ext uri="{FF2B5EF4-FFF2-40B4-BE49-F238E27FC236}">
                <a16:creationId xmlns:a16="http://schemas.microsoft.com/office/drawing/2014/main" id="{484CF5DD-BE44-4F5A-AC77-9DFCA0C0866B}"/>
              </a:ext>
            </a:extLst>
          </p:cNvPr>
          <p:cNvSpPr>
            <a:spLocks noGrp="1"/>
          </p:cNvSpPr>
          <p:nvPr/>
        </p:nvSpPr>
        <p:spPr>
          <a:xfrm>
            <a:off x="3581400" y="1257300"/>
            <a:ext cx="1047750" cy="323850"/>
          </a:xfrm>
          <a:prstGeom prst="rect">
            <a:avLst/>
          </a:prstGeom>
          <a:solidFill>
            <a:srgbClr val="264653"/>
          </a:solidFill>
          <a:ln w="9525">
            <a:solidFill>
              <a:srgbClr val="264653"/>
            </a:solidFill>
            <a:prstDash val="solid"/>
          </a:ln>
        </p:spPr>
        <p:txBody>
          <a:bodyPr/>
          <a:lstStyle/>
          <a:p>
            <a:endParaRPr/>
          </a:p>
        </p:txBody>
      </p:sp>
      <p:sp>
        <p:nvSpPr>
          <p:cNvPr id="12" name="Rectangle 11">
            <a:extLst>
              <a:ext uri="{FF2B5EF4-FFF2-40B4-BE49-F238E27FC236}">
                <a16:creationId xmlns:a16="http://schemas.microsoft.com/office/drawing/2014/main" id="{01D3C02C-F132-4F37-8CCE-FD2B8332D048}"/>
              </a:ext>
            </a:extLst>
          </p:cNvPr>
          <p:cNvSpPr>
            <a:spLocks noGrp="1"/>
          </p:cNvSpPr>
          <p:nvPr/>
        </p:nvSpPr>
        <p:spPr>
          <a:xfrm>
            <a:off x="3638550" y="1343025"/>
            <a:ext cx="9334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1st JSON</a:t>
            </a:r>
          </a:p>
        </p:txBody>
      </p:sp>
      <p:sp>
        <p:nvSpPr>
          <p:cNvPr id="13" name="Rectangle 12">
            <a:extLst>
              <a:ext uri="{FF2B5EF4-FFF2-40B4-BE49-F238E27FC236}">
                <a16:creationId xmlns:a16="http://schemas.microsoft.com/office/drawing/2014/main" id="{E13BC8D7-3551-48F8-8790-49912B755C89}"/>
              </a:ext>
            </a:extLst>
          </p:cNvPr>
          <p:cNvSpPr>
            <a:spLocks noGrp="1"/>
          </p:cNvSpPr>
          <p:nvPr/>
        </p:nvSpPr>
        <p:spPr>
          <a:xfrm>
            <a:off x="4629150" y="1257300"/>
            <a:ext cx="904875" cy="323850"/>
          </a:xfrm>
          <a:prstGeom prst="rect">
            <a:avLst/>
          </a:prstGeom>
          <a:solidFill>
            <a:srgbClr val="264653"/>
          </a:solidFill>
          <a:ln w="9525">
            <a:solidFill>
              <a:srgbClr val="264653"/>
            </a:solidFill>
            <a:prstDash val="solid"/>
          </a:ln>
        </p:spPr>
        <p:txBody>
          <a:bodyPr/>
          <a:lstStyle/>
          <a:p>
            <a:endParaRPr/>
          </a:p>
        </p:txBody>
      </p:sp>
      <p:sp>
        <p:nvSpPr>
          <p:cNvPr id="14" name="Rectangle 13">
            <a:extLst>
              <a:ext uri="{FF2B5EF4-FFF2-40B4-BE49-F238E27FC236}">
                <a16:creationId xmlns:a16="http://schemas.microsoft.com/office/drawing/2014/main" id="{844AAA02-D907-4899-8845-224DE15F9E5C}"/>
              </a:ext>
            </a:extLst>
          </p:cNvPr>
          <p:cNvSpPr>
            <a:spLocks noGrp="1"/>
          </p:cNvSpPr>
          <p:nvPr/>
        </p:nvSpPr>
        <p:spPr>
          <a:xfrm>
            <a:off x="4686300" y="1343025"/>
            <a:ext cx="790575"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Repair</a:t>
            </a:r>
          </a:p>
        </p:txBody>
      </p:sp>
      <p:sp>
        <p:nvSpPr>
          <p:cNvPr id="15" name="Rectangle 14">
            <a:extLst>
              <a:ext uri="{FF2B5EF4-FFF2-40B4-BE49-F238E27FC236}">
                <a16:creationId xmlns:a16="http://schemas.microsoft.com/office/drawing/2014/main" id="{169F0748-BF19-4D22-8444-CA9DE191AD72}"/>
              </a:ext>
            </a:extLst>
          </p:cNvPr>
          <p:cNvSpPr>
            <a:spLocks noGrp="1"/>
          </p:cNvSpPr>
          <p:nvPr/>
        </p:nvSpPr>
        <p:spPr>
          <a:xfrm>
            <a:off x="5534025" y="1257300"/>
            <a:ext cx="857250" cy="323850"/>
          </a:xfrm>
          <a:prstGeom prst="rect">
            <a:avLst/>
          </a:prstGeom>
          <a:solidFill>
            <a:srgbClr val="264653"/>
          </a:solidFill>
          <a:ln w="9525">
            <a:solidFill>
              <a:srgbClr val="264653"/>
            </a:solidFill>
            <a:prstDash val="solid"/>
          </a:ln>
        </p:spPr>
        <p:txBody>
          <a:bodyPr/>
          <a:lstStyle/>
          <a:p>
            <a:endParaRPr/>
          </a:p>
        </p:txBody>
      </p:sp>
      <p:sp>
        <p:nvSpPr>
          <p:cNvPr id="16" name="Rectangle 15">
            <a:extLst>
              <a:ext uri="{FF2B5EF4-FFF2-40B4-BE49-F238E27FC236}">
                <a16:creationId xmlns:a16="http://schemas.microsoft.com/office/drawing/2014/main" id="{1646390A-7535-46F7-AA72-FC0C36640288}"/>
              </a:ext>
            </a:extLst>
          </p:cNvPr>
          <p:cNvSpPr>
            <a:spLocks noGrp="1"/>
          </p:cNvSpPr>
          <p:nvPr/>
        </p:nvSpPr>
        <p:spPr>
          <a:xfrm>
            <a:off x="5591175" y="1343025"/>
            <a:ext cx="7429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Recovery</a:t>
            </a:r>
          </a:p>
        </p:txBody>
      </p:sp>
      <p:sp>
        <p:nvSpPr>
          <p:cNvPr id="17" name="Rectangle 16">
            <a:extLst>
              <a:ext uri="{FF2B5EF4-FFF2-40B4-BE49-F238E27FC236}">
                <a16:creationId xmlns:a16="http://schemas.microsoft.com/office/drawing/2014/main" id="{F41AF6B2-5558-4137-81B0-4762967728AC}"/>
              </a:ext>
            </a:extLst>
          </p:cNvPr>
          <p:cNvSpPr>
            <a:spLocks noGrp="1"/>
          </p:cNvSpPr>
          <p:nvPr/>
        </p:nvSpPr>
        <p:spPr>
          <a:xfrm>
            <a:off x="6391275" y="1257300"/>
            <a:ext cx="1000125" cy="323850"/>
          </a:xfrm>
          <a:prstGeom prst="rect">
            <a:avLst/>
          </a:prstGeom>
          <a:solidFill>
            <a:srgbClr val="264653"/>
          </a:solidFill>
          <a:ln w="9525">
            <a:solidFill>
              <a:srgbClr val="264653"/>
            </a:solidFill>
            <a:prstDash val="solid"/>
          </a:ln>
        </p:spPr>
        <p:txBody>
          <a:bodyPr/>
          <a:lstStyle/>
          <a:p>
            <a:endParaRPr/>
          </a:p>
        </p:txBody>
      </p:sp>
      <p:sp>
        <p:nvSpPr>
          <p:cNvPr id="18" name="Rectangle 17">
            <a:extLst>
              <a:ext uri="{FF2B5EF4-FFF2-40B4-BE49-F238E27FC236}">
                <a16:creationId xmlns:a16="http://schemas.microsoft.com/office/drawing/2014/main" id="{59A08B3C-E014-4EB3-B40F-C37D431CFE64}"/>
              </a:ext>
            </a:extLst>
          </p:cNvPr>
          <p:cNvSpPr>
            <a:spLocks noGrp="1"/>
          </p:cNvSpPr>
          <p:nvPr/>
        </p:nvSpPr>
        <p:spPr>
          <a:xfrm>
            <a:off x="6448425" y="1343025"/>
            <a:ext cx="885825"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Fallback</a:t>
            </a:r>
          </a:p>
        </p:txBody>
      </p:sp>
      <p:sp>
        <p:nvSpPr>
          <p:cNvPr id="19" name="Rectangle 18">
            <a:extLst>
              <a:ext uri="{FF2B5EF4-FFF2-40B4-BE49-F238E27FC236}">
                <a16:creationId xmlns:a16="http://schemas.microsoft.com/office/drawing/2014/main" id="{F9F8E126-08E9-4020-B7A2-A93C6441F538}"/>
              </a:ext>
            </a:extLst>
          </p:cNvPr>
          <p:cNvSpPr>
            <a:spLocks noGrp="1"/>
          </p:cNvSpPr>
          <p:nvPr/>
        </p:nvSpPr>
        <p:spPr>
          <a:xfrm>
            <a:off x="7391400" y="1257300"/>
            <a:ext cx="1143000" cy="323850"/>
          </a:xfrm>
          <a:prstGeom prst="rect">
            <a:avLst/>
          </a:prstGeom>
          <a:solidFill>
            <a:srgbClr val="264653"/>
          </a:solidFill>
          <a:ln w="9525">
            <a:solidFill>
              <a:srgbClr val="264653"/>
            </a:solidFill>
            <a:prstDash val="solid"/>
          </a:ln>
        </p:spPr>
        <p:txBody>
          <a:bodyPr/>
          <a:lstStyle/>
          <a:p>
            <a:endParaRPr/>
          </a:p>
        </p:txBody>
      </p:sp>
      <p:sp>
        <p:nvSpPr>
          <p:cNvPr id="20" name="Rectangle 19">
            <a:extLst>
              <a:ext uri="{FF2B5EF4-FFF2-40B4-BE49-F238E27FC236}">
                <a16:creationId xmlns:a16="http://schemas.microsoft.com/office/drawing/2014/main" id="{9A51F471-4F4A-4131-9F2A-17DD3EB0FD23}"/>
              </a:ext>
            </a:extLst>
          </p:cNvPr>
          <p:cNvSpPr>
            <a:spLocks noGrp="1"/>
          </p:cNvSpPr>
          <p:nvPr/>
        </p:nvSpPr>
        <p:spPr>
          <a:xfrm>
            <a:off x="7448550" y="1343025"/>
            <a:ext cx="102870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Final proj.</a:t>
            </a:r>
          </a:p>
        </p:txBody>
      </p:sp>
      <p:sp>
        <p:nvSpPr>
          <p:cNvPr id="21" name="Rectangle 20">
            <a:extLst>
              <a:ext uri="{FF2B5EF4-FFF2-40B4-BE49-F238E27FC236}">
                <a16:creationId xmlns:a16="http://schemas.microsoft.com/office/drawing/2014/main" id="{8253057F-8F07-455F-AD2E-9918138ABE47}"/>
              </a:ext>
            </a:extLst>
          </p:cNvPr>
          <p:cNvSpPr>
            <a:spLocks noGrp="1"/>
          </p:cNvSpPr>
          <p:nvPr/>
        </p:nvSpPr>
        <p:spPr>
          <a:xfrm>
            <a:off x="8534400" y="1257300"/>
            <a:ext cx="714375" cy="323850"/>
          </a:xfrm>
          <a:prstGeom prst="rect">
            <a:avLst/>
          </a:prstGeom>
          <a:solidFill>
            <a:srgbClr val="264653"/>
          </a:solidFill>
          <a:ln w="9525">
            <a:solidFill>
              <a:srgbClr val="264653"/>
            </a:solidFill>
            <a:prstDash val="solid"/>
          </a:ln>
        </p:spPr>
        <p:txBody>
          <a:bodyPr/>
          <a:lstStyle/>
          <a:p>
            <a:endParaRPr/>
          </a:p>
        </p:txBody>
      </p:sp>
      <p:sp>
        <p:nvSpPr>
          <p:cNvPr id="22" name="Rectangle 21">
            <a:extLst>
              <a:ext uri="{FF2B5EF4-FFF2-40B4-BE49-F238E27FC236}">
                <a16:creationId xmlns:a16="http://schemas.microsoft.com/office/drawing/2014/main" id="{1B1E4C25-B85E-4130-8CC5-64922156E180}"/>
              </a:ext>
            </a:extLst>
          </p:cNvPr>
          <p:cNvSpPr>
            <a:spLocks noGrp="1"/>
          </p:cNvSpPr>
          <p:nvPr/>
        </p:nvSpPr>
        <p:spPr>
          <a:xfrm>
            <a:off x="8591550" y="1343025"/>
            <a:ext cx="600075"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Fail</a:t>
            </a:r>
          </a:p>
        </p:txBody>
      </p:sp>
      <p:sp>
        <p:nvSpPr>
          <p:cNvPr id="23" name="Rectangle 22">
            <a:extLst>
              <a:ext uri="{FF2B5EF4-FFF2-40B4-BE49-F238E27FC236}">
                <a16:creationId xmlns:a16="http://schemas.microsoft.com/office/drawing/2014/main" id="{FC9A52D6-045B-4F05-AB1C-96E5DDD782D7}"/>
              </a:ext>
            </a:extLst>
          </p:cNvPr>
          <p:cNvSpPr>
            <a:spLocks noGrp="1"/>
          </p:cNvSpPr>
          <p:nvPr/>
        </p:nvSpPr>
        <p:spPr>
          <a:xfrm>
            <a:off x="9248775" y="1257300"/>
            <a:ext cx="857250" cy="323850"/>
          </a:xfrm>
          <a:prstGeom prst="rect">
            <a:avLst/>
          </a:prstGeom>
          <a:solidFill>
            <a:srgbClr val="264653"/>
          </a:solidFill>
          <a:ln w="9525">
            <a:solidFill>
              <a:srgbClr val="264653"/>
            </a:solidFill>
            <a:prstDash val="solid"/>
          </a:ln>
        </p:spPr>
        <p:txBody>
          <a:bodyPr/>
          <a:lstStyle/>
          <a:p>
            <a:endParaRPr/>
          </a:p>
        </p:txBody>
      </p:sp>
      <p:sp>
        <p:nvSpPr>
          <p:cNvPr id="24" name="Rectangle 23">
            <a:extLst>
              <a:ext uri="{FF2B5EF4-FFF2-40B4-BE49-F238E27FC236}">
                <a16:creationId xmlns:a16="http://schemas.microsoft.com/office/drawing/2014/main" id="{64F1271A-0DCB-44C5-BD3B-8CB0AAC3BE19}"/>
              </a:ext>
            </a:extLst>
          </p:cNvPr>
          <p:cNvSpPr>
            <a:spLocks noGrp="1"/>
          </p:cNvSpPr>
          <p:nvPr/>
        </p:nvSpPr>
        <p:spPr>
          <a:xfrm>
            <a:off x="9305925" y="1343025"/>
            <a:ext cx="7429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900" b="1">
                <a:solidFill>
                  <a:srgbClr val="FFFFFF"/>
                </a:solidFill>
                <a:latin typeface="Aptos"/>
                <a:ea typeface="Aptos"/>
                <a:cs typeface="Aptos"/>
              </a:defRPr>
            </a:pPr>
            <a:r>
              <a:rPr sz="1050" b="1">
                <a:solidFill>
                  <a:srgbClr val="FFFFFF"/>
                </a:solidFill>
                <a:latin typeface="Aptos"/>
                <a:ea typeface="Aptos"/>
                <a:cs typeface="Aptos"/>
              </a:rPr>
              <a:t>Missing</a:t>
            </a:r>
          </a:p>
        </p:txBody>
      </p:sp>
      <p:sp>
        <p:nvSpPr>
          <p:cNvPr id="25" name="Rectangle 24">
            <a:extLst>
              <a:ext uri="{FF2B5EF4-FFF2-40B4-BE49-F238E27FC236}">
                <a16:creationId xmlns:a16="http://schemas.microsoft.com/office/drawing/2014/main" id="{52DF2D14-5470-470B-AF23-6112B940D759}"/>
              </a:ext>
            </a:extLst>
          </p:cNvPr>
          <p:cNvSpPr>
            <a:spLocks noGrp="1"/>
          </p:cNvSpPr>
          <p:nvPr/>
        </p:nvSpPr>
        <p:spPr>
          <a:xfrm>
            <a:off x="819150" y="1581150"/>
            <a:ext cx="1809750" cy="585788"/>
          </a:xfrm>
          <a:prstGeom prst="rect">
            <a:avLst/>
          </a:prstGeom>
          <a:solidFill>
            <a:srgbClr val="FFFDF7"/>
          </a:solidFill>
          <a:ln w="9525">
            <a:solidFill>
              <a:srgbClr val="CFC7B8"/>
            </a:solidFill>
            <a:prstDash val="solid"/>
          </a:ln>
        </p:spPr>
        <p:txBody>
          <a:bodyPr/>
          <a:lstStyle/>
          <a:p>
            <a:endParaRPr/>
          </a:p>
        </p:txBody>
      </p:sp>
      <p:sp>
        <p:nvSpPr>
          <p:cNvPr id="26" name="Rectangle 25">
            <a:extLst>
              <a:ext uri="{FF2B5EF4-FFF2-40B4-BE49-F238E27FC236}">
                <a16:creationId xmlns:a16="http://schemas.microsoft.com/office/drawing/2014/main" id="{F51CD494-98CE-4B7B-A172-65B6B731151E}"/>
              </a:ext>
            </a:extLst>
          </p:cNvPr>
          <p:cNvSpPr>
            <a:spLocks noGrp="1"/>
          </p:cNvSpPr>
          <p:nvPr/>
        </p:nvSpPr>
        <p:spPr>
          <a:xfrm>
            <a:off x="876300" y="1657350"/>
            <a:ext cx="1695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200" b="0">
                <a:solidFill>
                  <a:srgbClr val="142026"/>
                </a:solidFill>
                <a:latin typeface="Aptos"/>
                <a:ea typeface="Aptos"/>
                <a:cs typeface="Aptos"/>
              </a:rPr>
              <a:t>Bullinger</a:t>
            </a:r>
          </a:p>
        </p:txBody>
      </p:sp>
      <p:sp>
        <p:nvSpPr>
          <p:cNvPr id="27" name="Rectangle 26">
            <a:extLst>
              <a:ext uri="{FF2B5EF4-FFF2-40B4-BE49-F238E27FC236}">
                <a16:creationId xmlns:a16="http://schemas.microsoft.com/office/drawing/2014/main" id="{1A38352D-8B37-43E3-A990-0FEAC99E0700}"/>
              </a:ext>
            </a:extLst>
          </p:cNvPr>
          <p:cNvSpPr>
            <a:spLocks noGrp="1"/>
          </p:cNvSpPr>
          <p:nvPr/>
        </p:nvSpPr>
        <p:spPr>
          <a:xfrm>
            <a:off x="2628900" y="1581150"/>
            <a:ext cx="952500" cy="585788"/>
          </a:xfrm>
          <a:prstGeom prst="rect">
            <a:avLst/>
          </a:prstGeom>
          <a:solidFill>
            <a:srgbClr val="FFFDF7"/>
          </a:solidFill>
          <a:ln w="9525">
            <a:solidFill>
              <a:srgbClr val="CFC7B8"/>
            </a:solidFill>
            <a:prstDash val="solid"/>
          </a:ln>
        </p:spPr>
        <p:txBody>
          <a:bodyPr/>
          <a:lstStyle/>
          <a:p>
            <a:endParaRPr/>
          </a:p>
        </p:txBody>
      </p:sp>
      <p:sp>
        <p:nvSpPr>
          <p:cNvPr id="28" name="Rectangle 27">
            <a:extLst>
              <a:ext uri="{FF2B5EF4-FFF2-40B4-BE49-F238E27FC236}">
                <a16:creationId xmlns:a16="http://schemas.microsoft.com/office/drawing/2014/main" id="{38C03CA5-BE8D-4B69-A65B-D450DFBE0DEC}"/>
              </a:ext>
            </a:extLst>
          </p:cNvPr>
          <p:cNvSpPr>
            <a:spLocks noGrp="1"/>
          </p:cNvSpPr>
          <p:nvPr/>
        </p:nvSpPr>
        <p:spPr>
          <a:xfrm>
            <a:off x="2686050" y="1657350"/>
            <a:ext cx="8382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59</a:t>
            </a:r>
          </a:p>
        </p:txBody>
      </p:sp>
      <p:sp>
        <p:nvSpPr>
          <p:cNvPr id="29" name="Rectangle 28">
            <a:extLst>
              <a:ext uri="{FF2B5EF4-FFF2-40B4-BE49-F238E27FC236}">
                <a16:creationId xmlns:a16="http://schemas.microsoft.com/office/drawing/2014/main" id="{8462369A-FB2B-473E-BF7D-C673028F2873}"/>
              </a:ext>
            </a:extLst>
          </p:cNvPr>
          <p:cNvSpPr>
            <a:spLocks noGrp="1"/>
          </p:cNvSpPr>
          <p:nvPr/>
        </p:nvSpPr>
        <p:spPr>
          <a:xfrm>
            <a:off x="3581400" y="1581150"/>
            <a:ext cx="1047750" cy="585788"/>
          </a:xfrm>
          <a:prstGeom prst="rect">
            <a:avLst/>
          </a:prstGeom>
          <a:solidFill>
            <a:srgbClr val="FFFDF7"/>
          </a:solidFill>
          <a:ln w="9525">
            <a:solidFill>
              <a:srgbClr val="CFC7B8"/>
            </a:solidFill>
            <a:prstDash val="solid"/>
          </a:ln>
        </p:spPr>
        <p:txBody>
          <a:bodyPr/>
          <a:lstStyle/>
          <a:p>
            <a:endParaRPr/>
          </a:p>
        </p:txBody>
      </p:sp>
      <p:sp>
        <p:nvSpPr>
          <p:cNvPr id="30" name="Rectangle 29">
            <a:extLst>
              <a:ext uri="{FF2B5EF4-FFF2-40B4-BE49-F238E27FC236}">
                <a16:creationId xmlns:a16="http://schemas.microsoft.com/office/drawing/2014/main" id="{5D687475-E599-4176-A478-B7F6F458339B}"/>
              </a:ext>
            </a:extLst>
          </p:cNvPr>
          <p:cNvSpPr>
            <a:spLocks noGrp="1"/>
          </p:cNvSpPr>
          <p:nvPr/>
        </p:nvSpPr>
        <p:spPr>
          <a:xfrm>
            <a:off x="3638550" y="1657350"/>
            <a:ext cx="933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54</a:t>
            </a:r>
          </a:p>
        </p:txBody>
      </p:sp>
      <p:sp>
        <p:nvSpPr>
          <p:cNvPr id="31" name="Rectangle 30">
            <a:extLst>
              <a:ext uri="{FF2B5EF4-FFF2-40B4-BE49-F238E27FC236}">
                <a16:creationId xmlns:a16="http://schemas.microsoft.com/office/drawing/2014/main" id="{E7D17FDC-B0E5-4BF5-B12A-AAA183C9EB21}"/>
              </a:ext>
            </a:extLst>
          </p:cNvPr>
          <p:cNvSpPr>
            <a:spLocks noGrp="1"/>
          </p:cNvSpPr>
          <p:nvPr/>
        </p:nvSpPr>
        <p:spPr>
          <a:xfrm>
            <a:off x="4629150" y="1581150"/>
            <a:ext cx="904875" cy="585788"/>
          </a:xfrm>
          <a:prstGeom prst="rect">
            <a:avLst/>
          </a:prstGeom>
          <a:solidFill>
            <a:srgbClr val="FFFDF7"/>
          </a:solidFill>
          <a:ln w="9525">
            <a:solidFill>
              <a:srgbClr val="CFC7B8"/>
            </a:solidFill>
            <a:prstDash val="solid"/>
          </a:ln>
        </p:spPr>
        <p:txBody>
          <a:bodyPr/>
          <a:lstStyle/>
          <a:p>
            <a:endParaRPr/>
          </a:p>
        </p:txBody>
      </p:sp>
      <p:sp>
        <p:nvSpPr>
          <p:cNvPr id="32" name="Rectangle 31">
            <a:extLst>
              <a:ext uri="{FF2B5EF4-FFF2-40B4-BE49-F238E27FC236}">
                <a16:creationId xmlns:a16="http://schemas.microsoft.com/office/drawing/2014/main" id="{03837EBF-C559-470B-8284-FC64B84C6643}"/>
              </a:ext>
            </a:extLst>
          </p:cNvPr>
          <p:cNvSpPr>
            <a:spLocks noGrp="1"/>
          </p:cNvSpPr>
          <p:nvPr/>
        </p:nvSpPr>
        <p:spPr>
          <a:xfrm>
            <a:off x="4686300" y="1657350"/>
            <a:ext cx="7905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2</a:t>
            </a:r>
          </a:p>
        </p:txBody>
      </p:sp>
      <p:sp>
        <p:nvSpPr>
          <p:cNvPr id="33" name="Rectangle 32">
            <a:extLst>
              <a:ext uri="{FF2B5EF4-FFF2-40B4-BE49-F238E27FC236}">
                <a16:creationId xmlns:a16="http://schemas.microsoft.com/office/drawing/2014/main" id="{2BF6F833-5810-4DCC-8637-71BF19EC4986}"/>
              </a:ext>
            </a:extLst>
          </p:cNvPr>
          <p:cNvSpPr>
            <a:spLocks noGrp="1"/>
          </p:cNvSpPr>
          <p:nvPr/>
        </p:nvSpPr>
        <p:spPr>
          <a:xfrm>
            <a:off x="5534025" y="1581150"/>
            <a:ext cx="857250" cy="585788"/>
          </a:xfrm>
          <a:prstGeom prst="rect">
            <a:avLst/>
          </a:prstGeom>
          <a:solidFill>
            <a:srgbClr val="FFFDF7"/>
          </a:solidFill>
          <a:ln w="9525">
            <a:solidFill>
              <a:srgbClr val="CFC7B8"/>
            </a:solidFill>
            <a:prstDash val="solid"/>
          </a:ln>
        </p:spPr>
        <p:txBody>
          <a:bodyPr/>
          <a:lstStyle/>
          <a:p>
            <a:endParaRPr/>
          </a:p>
        </p:txBody>
      </p:sp>
      <p:sp>
        <p:nvSpPr>
          <p:cNvPr id="34" name="Rectangle 33">
            <a:extLst>
              <a:ext uri="{FF2B5EF4-FFF2-40B4-BE49-F238E27FC236}">
                <a16:creationId xmlns:a16="http://schemas.microsoft.com/office/drawing/2014/main" id="{02891A01-9E2A-4B3A-A3D3-73CF8E2252FE}"/>
              </a:ext>
            </a:extLst>
          </p:cNvPr>
          <p:cNvSpPr>
            <a:spLocks noGrp="1"/>
          </p:cNvSpPr>
          <p:nvPr/>
        </p:nvSpPr>
        <p:spPr>
          <a:xfrm>
            <a:off x="5591175" y="1657350"/>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3</a:t>
            </a:r>
          </a:p>
        </p:txBody>
      </p:sp>
      <p:sp>
        <p:nvSpPr>
          <p:cNvPr id="35" name="Rectangle 34">
            <a:extLst>
              <a:ext uri="{FF2B5EF4-FFF2-40B4-BE49-F238E27FC236}">
                <a16:creationId xmlns:a16="http://schemas.microsoft.com/office/drawing/2014/main" id="{86D85D53-1BBE-463D-819A-4B08B0DD21B5}"/>
              </a:ext>
            </a:extLst>
          </p:cNvPr>
          <p:cNvSpPr>
            <a:spLocks noGrp="1"/>
          </p:cNvSpPr>
          <p:nvPr/>
        </p:nvSpPr>
        <p:spPr>
          <a:xfrm>
            <a:off x="6391275" y="1581150"/>
            <a:ext cx="1000125" cy="585788"/>
          </a:xfrm>
          <a:prstGeom prst="rect">
            <a:avLst/>
          </a:prstGeom>
          <a:solidFill>
            <a:srgbClr val="FFFDF7"/>
          </a:solidFill>
          <a:ln w="9525">
            <a:solidFill>
              <a:srgbClr val="CFC7B8"/>
            </a:solidFill>
            <a:prstDash val="solid"/>
          </a:ln>
        </p:spPr>
        <p:txBody>
          <a:bodyPr/>
          <a:lstStyle/>
          <a:p>
            <a:endParaRPr/>
          </a:p>
        </p:txBody>
      </p:sp>
      <p:sp>
        <p:nvSpPr>
          <p:cNvPr id="36" name="Rectangle 35">
            <a:extLst>
              <a:ext uri="{FF2B5EF4-FFF2-40B4-BE49-F238E27FC236}">
                <a16:creationId xmlns:a16="http://schemas.microsoft.com/office/drawing/2014/main" id="{C452ACC0-1A69-4E85-B363-C6E799EA6DE6}"/>
              </a:ext>
            </a:extLst>
          </p:cNvPr>
          <p:cNvSpPr>
            <a:spLocks noGrp="1"/>
          </p:cNvSpPr>
          <p:nvPr/>
        </p:nvSpPr>
        <p:spPr>
          <a:xfrm>
            <a:off x="6448425" y="1657350"/>
            <a:ext cx="88582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3</a:t>
            </a:r>
          </a:p>
        </p:txBody>
      </p:sp>
      <p:sp>
        <p:nvSpPr>
          <p:cNvPr id="37" name="Rectangle 36">
            <a:extLst>
              <a:ext uri="{FF2B5EF4-FFF2-40B4-BE49-F238E27FC236}">
                <a16:creationId xmlns:a16="http://schemas.microsoft.com/office/drawing/2014/main" id="{3E9FFD1A-FD48-4329-AF61-D0426C0EE426}"/>
              </a:ext>
            </a:extLst>
          </p:cNvPr>
          <p:cNvSpPr>
            <a:spLocks noGrp="1"/>
          </p:cNvSpPr>
          <p:nvPr/>
        </p:nvSpPr>
        <p:spPr>
          <a:xfrm>
            <a:off x="7391400" y="1581150"/>
            <a:ext cx="1143000" cy="585788"/>
          </a:xfrm>
          <a:prstGeom prst="rect">
            <a:avLst/>
          </a:prstGeom>
          <a:solidFill>
            <a:srgbClr val="FFFDF7"/>
          </a:solidFill>
          <a:ln w="9525">
            <a:solidFill>
              <a:srgbClr val="CFC7B8"/>
            </a:solidFill>
            <a:prstDash val="solid"/>
          </a:ln>
        </p:spPr>
        <p:txBody>
          <a:bodyPr/>
          <a:lstStyle/>
          <a:p>
            <a:endParaRPr/>
          </a:p>
        </p:txBody>
      </p:sp>
      <p:sp>
        <p:nvSpPr>
          <p:cNvPr id="38" name="Rectangle 37">
            <a:extLst>
              <a:ext uri="{FF2B5EF4-FFF2-40B4-BE49-F238E27FC236}">
                <a16:creationId xmlns:a16="http://schemas.microsoft.com/office/drawing/2014/main" id="{4AA76191-9F5E-418B-BDC1-86DFC296033C}"/>
              </a:ext>
            </a:extLst>
          </p:cNvPr>
          <p:cNvSpPr>
            <a:spLocks noGrp="1"/>
          </p:cNvSpPr>
          <p:nvPr/>
        </p:nvSpPr>
        <p:spPr>
          <a:xfrm>
            <a:off x="7448550" y="1657350"/>
            <a:ext cx="10287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39</a:t>
            </a:r>
          </a:p>
        </p:txBody>
      </p:sp>
      <p:sp>
        <p:nvSpPr>
          <p:cNvPr id="39" name="Rectangle 38">
            <a:extLst>
              <a:ext uri="{FF2B5EF4-FFF2-40B4-BE49-F238E27FC236}">
                <a16:creationId xmlns:a16="http://schemas.microsoft.com/office/drawing/2014/main" id="{1D3DB532-54CC-491C-A46C-6C59830B6A62}"/>
              </a:ext>
            </a:extLst>
          </p:cNvPr>
          <p:cNvSpPr>
            <a:spLocks noGrp="1"/>
          </p:cNvSpPr>
          <p:nvPr/>
        </p:nvSpPr>
        <p:spPr>
          <a:xfrm>
            <a:off x="8534400" y="1581150"/>
            <a:ext cx="714375" cy="585788"/>
          </a:xfrm>
          <a:prstGeom prst="rect">
            <a:avLst/>
          </a:prstGeom>
          <a:solidFill>
            <a:srgbClr val="FFFDF7"/>
          </a:solidFill>
          <a:ln w="9525">
            <a:solidFill>
              <a:srgbClr val="CFC7B8"/>
            </a:solidFill>
            <a:prstDash val="solid"/>
          </a:ln>
        </p:spPr>
        <p:txBody>
          <a:bodyPr/>
          <a:lstStyle/>
          <a:p>
            <a:endParaRPr/>
          </a:p>
        </p:txBody>
      </p:sp>
      <p:sp>
        <p:nvSpPr>
          <p:cNvPr id="40" name="Rectangle 39">
            <a:extLst>
              <a:ext uri="{FF2B5EF4-FFF2-40B4-BE49-F238E27FC236}">
                <a16:creationId xmlns:a16="http://schemas.microsoft.com/office/drawing/2014/main" id="{C9A5E6B4-E673-407C-81A2-75E6AAF838EE}"/>
              </a:ext>
            </a:extLst>
          </p:cNvPr>
          <p:cNvSpPr>
            <a:spLocks noGrp="1"/>
          </p:cNvSpPr>
          <p:nvPr/>
        </p:nvSpPr>
        <p:spPr>
          <a:xfrm>
            <a:off x="8591550" y="1657350"/>
            <a:ext cx="6000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41" name="Rectangle 40">
            <a:extLst>
              <a:ext uri="{FF2B5EF4-FFF2-40B4-BE49-F238E27FC236}">
                <a16:creationId xmlns:a16="http://schemas.microsoft.com/office/drawing/2014/main" id="{8F02BF89-3F7A-4297-BE8B-665EA0F92392}"/>
              </a:ext>
            </a:extLst>
          </p:cNvPr>
          <p:cNvSpPr>
            <a:spLocks noGrp="1"/>
          </p:cNvSpPr>
          <p:nvPr/>
        </p:nvSpPr>
        <p:spPr>
          <a:xfrm>
            <a:off x="9248775" y="1581150"/>
            <a:ext cx="857250" cy="585788"/>
          </a:xfrm>
          <a:prstGeom prst="rect">
            <a:avLst/>
          </a:prstGeom>
          <a:solidFill>
            <a:srgbClr val="FFFDF7"/>
          </a:solidFill>
          <a:ln w="9525">
            <a:solidFill>
              <a:srgbClr val="CFC7B8"/>
            </a:solidFill>
            <a:prstDash val="solid"/>
          </a:ln>
        </p:spPr>
        <p:txBody>
          <a:bodyPr/>
          <a:lstStyle/>
          <a:p>
            <a:endParaRPr/>
          </a:p>
        </p:txBody>
      </p:sp>
      <p:sp>
        <p:nvSpPr>
          <p:cNvPr id="42" name="Rectangle 41">
            <a:extLst>
              <a:ext uri="{FF2B5EF4-FFF2-40B4-BE49-F238E27FC236}">
                <a16:creationId xmlns:a16="http://schemas.microsoft.com/office/drawing/2014/main" id="{8B863A16-4110-4E47-9C10-A831DF2BB1D1}"/>
              </a:ext>
            </a:extLst>
          </p:cNvPr>
          <p:cNvSpPr>
            <a:spLocks noGrp="1"/>
          </p:cNvSpPr>
          <p:nvPr/>
        </p:nvSpPr>
        <p:spPr>
          <a:xfrm>
            <a:off x="9305925" y="1657350"/>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43" name="Rectangle 42">
            <a:extLst>
              <a:ext uri="{FF2B5EF4-FFF2-40B4-BE49-F238E27FC236}">
                <a16:creationId xmlns:a16="http://schemas.microsoft.com/office/drawing/2014/main" id="{5CE85219-ADF3-4A04-96DE-72DD905BA1EA}"/>
              </a:ext>
            </a:extLst>
          </p:cNvPr>
          <p:cNvSpPr>
            <a:spLocks noGrp="1"/>
          </p:cNvSpPr>
          <p:nvPr/>
        </p:nvSpPr>
        <p:spPr>
          <a:xfrm>
            <a:off x="819150" y="2166938"/>
            <a:ext cx="1809750" cy="585788"/>
          </a:xfrm>
          <a:prstGeom prst="rect">
            <a:avLst/>
          </a:prstGeom>
          <a:solidFill>
            <a:srgbClr val="F8F5EA"/>
          </a:solidFill>
          <a:ln w="9525">
            <a:solidFill>
              <a:srgbClr val="CFC7B8"/>
            </a:solidFill>
            <a:prstDash val="solid"/>
          </a:ln>
        </p:spPr>
        <p:txBody>
          <a:bodyPr/>
          <a:lstStyle/>
          <a:p>
            <a:endParaRPr/>
          </a:p>
        </p:txBody>
      </p:sp>
      <p:sp>
        <p:nvSpPr>
          <p:cNvPr id="44" name="Rectangle 43">
            <a:extLst>
              <a:ext uri="{FF2B5EF4-FFF2-40B4-BE49-F238E27FC236}">
                <a16:creationId xmlns:a16="http://schemas.microsoft.com/office/drawing/2014/main" id="{888106FF-686B-4221-8120-8F68E540402D}"/>
              </a:ext>
            </a:extLst>
          </p:cNvPr>
          <p:cNvSpPr>
            <a:spLocks noGrp="1"/>
          </p:cNvSpPr>
          <p:nvPr/>
        </p:nvSpPr>
        <p:spPr>
          <a:xfrm>
            <a:off x="876300" y="2243138"/>
            <a:ext cx="1695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200" b="0">
                <a:solidFill>
                  <a:srgbClr val="142026"/>
                </a:solidFill>
                <a:latin typeface="Aptos"/>
                <a:ea typeface="Aptos"/>
                <a:cs typeface="Aptos"/>
              </a:rPr>
              <a:t>Children</a:t>
            </a:r>
          </a:p>
        </p:txBody>
      </p:sp>
      <p:sp>
        <p:nvSpPr>
          <p:cNvPr id="45" name="Rectangle 44">
            <a:extLst>
              <a:ext uri="{FF2B5EF4-FFF2-40B4-BE49-F238E27FC236}">
                <a16:creationId xmlns:a16="http://schemas.microsoft.com/office/drawing/2014/main" id="{E87AD88C-FECD-4B11-9C95-EB2FDB43D383}"/>
              </a:ext>
            </a:extLst>
          </p:cNvPr>
          <p:cNvSpPr>
            <a:spLocks noGrp="1"/>
          </p:cNvSpPr>
          <p:nvPr/>
        </p:nvSpPr>
        <p:spPr>
          <a:xfrm>
            <a:off x="2628900" y="2166938"/>
            <a:ext cx="952500" cy="585788"/>
          </a:xfrm>
          <a:prstGeom prst="rect">
            <a:avLst/>
          </a:prstGeom>
          <a:solidFill>
            <a:srgbClr val="F8F5EA"/>
          </a:solidFill>
          <a:ln w="9525">
            <a:solidFill>
              <a:srgbClr val="CFC7B8"/>
            </a:solidFill>
            <a:prstDash val="solid"/>
          </a:ln>
        </p:spPr>
        <p:txBody>
          <a:bodyPr/>
          <a:lstStyle/>
          <a:p>
            <a:endParaRPr/>
          </a:p>
        </p:txBody>
      </p:sp>
      <p:sp>
        <p:nvSpPr>
          <p:cNvPr id="46" name="Rectangle 45">
            <a:extLst>
              <a:ext uri="{FF2B5EF4-FFF2-40B4-BE49-F238E27FC236}">
                <a16:creationId xmlns:a16="http://schemas.microsoft.com/office/drawing/2014/main" id="{1BED5922-28E1-4E83-B49A-F64462DB2090}"/>
              </a:ext>
            </a:extLst>
          </p:cNvPr>
          <p:cNvSpPr>
            <a:spLocks noGrp="1"/>
          </p:cNvSpPr>
          <p:nvPr/>
        </p:nvSpPr>
        <p:spPr>
          <a:xfrm>
            <a:off x="2686050" y="2243138"/>
            <a:ext cx="8382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63</a:t>
            </a:r>
          </a:p>
        </p:txBody>
      </p:sp>
      <p:sp>
        <p:nvSpPr>
          <p:cNvPr id="47" name="Rectangle 46">
            <a:extLst>
              <a:ext uri="{FF2B5EF4-FFF2-40B4-BE49-F238E27FC236}">
                <a16:creationId xmlns:a16="http://schemas.microsoft.com/office/drawing/2014/main" id="{29C034D6-78BD-4DD6-908B-3089EBBEB7F1}"/>
              </a:ext>
            </a:extLst>
          </p:cNvPr>
          <p:cNvSpPr>
            <a:spLocks noGrp="1"/>
          </p:cNvSpPr>
          <p:nvPr/>
        </p:nvSpPr>
        <p:spPr>
          <a:xfrm>
            <a:off x="3581400" y="2166938"/>
            <a:ext cx="1047750" cy="585788"/>
          </a:xfrm>
          <a:prstGeom prst="rect">
            <a:avLst/>
          </a:prstGeom>
          <a:solidFill>
            <a:srgbClr val="F8F5EA"/>
          </a:solidFill>
          <a:ln w="9525">
            <a:solidFill>
              <a:srgbClr val="CFC7B8"/>
            </a:solidFill>
            <a:prstDash val="solid"/>
          </a:ln>
        </p:spPr>
        <p:txBody>
          <a:bodyPr/>
          <a:lstStyle/>
          <a:p>
            <a:endParaRPr/>
          </a:p>
        </p:txBody>
      </p:sp>
      <p:sp>
        <p:nvSpPr>
          <p:cNvPr id="48" name="Rectangle 47">
            <a:extLst>
              <a:ext uri="{FF2B5EF4-FFF2-40B4-BE49-F238E27FC236}">
                <a16:creationId xmlns:a16="http://schemas.microsoft.com/office/drawing/2014/main" id="{68D8197D-F380-44E8-AFEB-823FD5AB8353}"/>
              </a:ext>
            </a:extLst>
          </p:cNvPr>
          <p:cNvSpPr>
            <a:spLocks noGrp="1"/>
          </p:cNvSpPr>
          <p:nvPr/>
        </p:nvSpPr>
        <p:spPr>
          <a:xfrm>
            <a:off x="3638550" y="2243138"/>
            <a:ext cx="933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63</a:t>
            </a:r>
          </a:p>
        </p:txBody>
      </p:sp>
      <p:sp>
        <p:nvSpPr>
          <p:cNvPr id="49" name="Rectangle 48">
            <a:extLst>
              <a:ext uri="{FF2B5EF4-FFF2-40B4-BE49-F238E27FC236}">
                <a16:creationId xmlns:a16="http://schemas.microsoft.com/office/drawing/2014/main" id="{2C932002-A674-4287-BB6A-68F9C6C23E1A}"/>
              </a:ext>
            </a:extLst>
          </p:cNvPr>
          <p:cNvSpPr>
            <a:spLocks noGrp="1"/>
          </p:cNvSpPr>
          <p:nvPr/>
        </p:nvSpPr>
        <p:spPr>
          <a:xfrm>
            <a:off x="4629150" y="2166938"/>
            <a:ext cx="904875" cy="585788"/>
          </a:xfrm>
          <a:prstGeom prst="rect">
            <a:avLst/>
          </a:prstGeom>
          <a:solidFill>
            <a:srgbClr val="F8F5EA"/>
          </a:solidFill>
          <a:ln w="9525">
            <a:solidFill>
              <a:srgbClr val="CFC7B8"/>
            </a:solidFill>
            <a:prstDash val="solid"/>
          </a:ln>
        </p:spPr>
        <p:txBody>
          <a:bodyPr/>
          <a:lstStyle/>
          <a:p>
            <a:endParaRPr/>
          </a:p>
        </p:txBody>
      </p:sp>
      <p:sp>
        <p:nvSpPr>
          <p:cNvPr id="50" name="Rectangle 49">
            <a:extLst>
              <a:ext uri="{FF2B5EF4-FFF2-40B4-BE49-F238E27FC236}">
                <a16:creationId xmlns:a16="http://schemas.microsoft.com/office/drawing/2014/main" id="{B000ECFE-FD04-4FC3-B96B-6E3A669DD947}"/>
              </a:ext>
            </a:extLst>
          </p:cNvPr>
          <p:cNvSpPr>
            <a:spLocks noGrp="1"/>
          </p:cNvSpPr>
          <p:nvPr/>
        </p:nvSpPr>
        <p:spPr>
          <a:xfrm>
            <a:off x="4686300" y="2243138"/>
            <a:ext cx="7905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51" name="Rectangle 50">
            <a:extLst>
              <a:ext uri="{FF2B5EF4-FFF2-40B4-BE49-F238E27FC236}">
                <a16:creationId xmlns:a16="http://schemas.microsoft.com/office/drawing/2014/main" id="{33F63D2F-47CF-4790-945F-2C35AD8A5371}"/>
              </a:ext>
            </a:extLst>
          </p:cNvPr>
          <p:cNvSpPr>
            <a:spLocks noGrp="1"/>
          </p:cNvSpPr>
          <p:nvPr/>
        </p:nvSpPr>
        <p:spPr>
          <a:xfrm>
            <a:off x="5534025" y="2166938"/>
            <a:ext cx="857250" cy="585788"/>
          </a:xfrm>
          <a:prstGeom prst="rect">
            <a:avLst/>
          </a:prstGeom>
          <a:solidFill>
            <a:srgbClr val="F8F5EA"/>
          </a:solidFill>
          <a:ln w="9525">
            <a:solidFill>
              <a:srgbClr val="CFC7B8"/>
            </a:solidFill>
            <a:prstDash val="solid"/>
          </a:ln>
        </p:spPr>
        <p:txBody>
          <a:bodyPr/>
          <a:lstStyle/>
          <a:p>
            <a:endParaRPr/>
          </a:p>
        </p:txBody>
      </p:sp>
      <p:sp>
        <p:nvSpPr>
          <p:cNvPr id="52" name="Rectangle 51">
            <a:extLst>
              <a:ext uri="{FF2B5EF4-FFF2-40B4-BE49-F238E27FC236}">
                <a16:creationId xmlns:a16="http://schemas.microsoft.com/office/drawing/2014/main" id="{8407B2BF-2E9F-4659-920E-55613E04526F}"/>
              </a:ext>
            </a:extLst>
          </p:cNvPr>
          <p:cNvSpPr>
            <a:spLocks noGrp="1"/>
          </p:cNvSpPr>
          <p:nvPr/>
        </p:nvSpPr>
        <p:spPr>
          <a:xfrm>
            <a:off x="5591175" y="2243138"/>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53" name="Rectangle 52">
            <a:extLst>
              <a:ext uri="{FF2B5EF4-FFF2-40B4-BE49-F238E27FC236}">
                <a16:creationId xmlns:a16="http://schemas.microsoft.com/office/drawing/2014/main" id="{ECF1F411-D595-47C9-840F-6EC7DC69EA36}"/>
              </a:ext>
            </a:extLst>
          </p:cNvPr>
          <p:cNvSpPr>
            <a:spLocks noGrp="1"/>
          </p:cNvSpPr>
          <p:nvPr/>
        </p:nvSpPr>
        <p:spPr>
          <a:xfrm>
            <a:off x="6391275" y="2166938"/>
            <a:ext cx="1000125" cy="585788"/>
          </a:xfrm>
          <a:prstGeom prst="rect">
            <a:avLst/>
          </a:prstGeom>
          <a:solidFill>
            <a:srgbClr val="F8F5EA"/>
          </a:solidFill>
          <a:ln w="9525">
            <a:solidFill>
              <a:srgbClr val="CFC7B8"/>
            </a:solidFill>
            <a:prstDash val="solid"/>
          </a:ln>
        </p:spPr>
        <p:txBody>
          <a:bodyPr/>
          <a:lstStyle/>
          <a:p>
            <a:endParaRPr/>
          </a:p>
        </p:txBody>
      </p:sp>
      <p:sp>
        <p:nvSpPr>
          <p:cNvPr id="54" name="Rectangle 53">
            <a:extLst>
              <a:ext uri="{FF2B5EF4-FFF2-40B4-BE49-F238E27FC236}">
                <a16:creationId xmlns:a16="http://schemas.microsoft.com/office/drawing/2014/main" id="{38881818-135F-4542-B974-99B22EE8C957}"/>
              </a:ext>
            </a:extLst>
          </p:cNvPr>
          <p:cNvSpPr>
            <a:spLocks noGrp="1"/>
          </p:cNvSpPr>
          <p:nvPr/>
        </p:nvSpPr>
        <p:spPr>
          <a:xfrm>
            <a:off x="6448425" y="2243138"/>
            <a:ext cx="88582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55" name="Rectangle 54">
            <a:extLst>
              <a:ext uri="{FF2B5EF4-FFF2-40B4-BE49-F238E27FC236}">
                <a16:creationId xmlns:a16="http://schemas.microsoft.com/office/drawing/2014/main" id="{22D90167-EB42-4485-BC99-6012ABF68E66}"/>
              </a:ext>
            </a:extLst>
          </p:cNvPr>
          <p:cNvSpPr>
            <a:spLocks noGrp="1"/>
          </p:cNvSpPr>
          <p:nvPr/>
        </p:nvSpPr>
        <p:spPr>
          <a:xfrm>
            <a:off x="7391400" y="2166938"/>
            <a:ext cx="1143000" cy="585788"/>
          </a:xfrm>
          <a:prstGeom prst="rect">
            <a:avLst/>
          </a:prstGeom>
          <a:solidFill>
            <a:srgbClr val="F8F5EA"/>
          </a:solidFill>
          <a:ln w="9525">
            <a:solidFill>
              <a:srgbClr val="CFC7B8"/>
            </a:solidFill>
            <a:prstDash val="solid"/>
          </a:ln>
        </p:spPr>
        <p:txBody>
          <a:bodyPr/>
          <a:lstStyle/>
          <a:p>
            <a:endParaRPr/>
          </a:p>
        </p:txBody>
      </p:sp>
      <p:sp>
        <p:nvSpPr>
          <p:cNvPr id="56" name="Rectangle 55">
            <a:extLst>
              <a:ext uri="{FF2B5EF4-FFF2-40B4-BE49-F238E27FC236}">
                <a16:creationId xmlns:a16="http://schemas.microsoft.com/office/drawing/2014/main" id="{DB24BB53-D06F-40DB-B8D6-0BB521FAD140}"/>
              </a:ext>
            </a:extLst>
          </p:cNvPr>
          <p:cNvSpPr>
            <a:spLocks noGrp="1"/>
          </p:cNvSpPr>
          <p:nvPr/>
        </p:nvSpPr>
        <p:spPr>
          <a:xfrm>
            <a:off x="7448550" y="2243138"/>
            <a:ext cx="10287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58</a:t>
            </a:r>
          </a:p>
        </p:txBody>
      </p:sp>
      <p:sp>
        <p:nvSpPr>
          <p:cNvPr id="57" name="Rectangle 56">
            <a:extLst>
              <a:ext uri="{FF2B5EF4-FFF2-40B4-BE49-F238E27FC236}">
                <a16:creationId xmlns:a16="http://schemas.microsoft.com/office/drawing/2014/main" id="{21CEED42-4F85-4E26-A47A-6FDBF2550B3D}"/>
              </a:ext>
            </a:extLst>
          </p:cNvPr>
          <p:cNvSpPr>
            <a:spLocks noGrp="1"/>
          </p:cNvSpPr>
          <p:nvPr/>
        </p:nvSpPr>
        <p:spPr>
          <a:xfrm>
            <a:off x="8534400" y="2166938"/>
            <a:ext cx="714375" cy="585788"/>
          </a:xfrm>
          <a:prstGeom prst="rect">
            <a:avLst/>
          </a:prstGeom>
          <a:solidFill>
            <a:srgbClr val="F8F5EA"/>
          </a:solidFill>
          <a:ln w="9525">
            <a:solidFill>
              <a:srgbClr val="CFC7B8"/>
            </a:solidFill>
            <a:prstDash val="solid"/>
          </a:ln>
        </p:spPr>
        <p:txBody>
          <a:bodyPr/>
          <a:lstStyle/>
          <a:p>
            <a:endParaRPr/>
          </a:p>
        </p:txBody>
      </p:sp>
      <p:sp>
        <p:nvSpPr>
          <p:cNvPr id="58" name="Rectangle 57">
            <a:extLst>
              <a:ext uri="{FF2B5EF4-FFF2-40B4-BE49-F238E27FC236}">
                <a16:creationId xmlns:a16="http://schemas.microsoft.com/office/drawing/2014/main" id="{5965438F-BC83-4A19-BBBA-85742D0F2509}"/>
              </a:ext>
            </a:extLst>
          </p:cNvPr>
          <p:cNvSpPr>
            <a:spLocks noGrp="1"/>
          </p:cNvSpPr>
          <p:nvPr/>
        </p:nvSpPr>
        <p:spPr>
          <a:xfrm>
            <a:off x="8591550" y="2243138"/>
            <a:ext cx="6000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59" name="Rectangle 58">
            <a:extLst>
              <a:ext uri="{FF2B5EF4-FFF2-40B4-BE49-F238E27FC236}">
                <a16:creationId xmlns:a16="http://schemas.microsoft.com/office/drawing/2014/main" id="{B04AC074-8E9C-4E3D-9F9F-05D8C4D29BC9}"/>
              </a:ext>
            </a:extLst>
          </p:cNvPr>
          <p:cNvSpPr>
            <a:spLocks noGrp="1"/>
          </p:cNvSpPr>
          <p:nvPr/>
        </p:nvSpPr>
        <p:spPr>
          <a:xfrm>
            <a:off x="9248775" y="2166938"/>
            <a:ext cx="857250" cy="585788"/>
          </a:xfrm>
          <a:prstGeom prst="rect">
            <a:avLst/>
          </a:prstGeom>
          <a:solidFill>
            <a:srgbClr val="F8F5EA"/>
          </a:solidFill>
          <a:ln w="9525">
            <a:solidFill>
              <a:srgbClr val="CFC7B8"/>
            </a:solidFill>
            <a:prstDash val="solid"/>
          </a:ln>
        </p:spPr>
        <p:txBody>
          <a:bodyPr/>
          <a:lstStyle/>
          <a:p>
            <a:endParaRPr/>
          </a:p>
        </p:txBody>
      </p:sp>
      <p:sp>
        <p:nvSpPr>
          <p:cNvPr id="60" name="Rectangle 59">
            <a:extLst>
              <a:ext uri="{FF2B5EF4-FFF2-40B4-BE49-F238E27FC236}">
                <a16:creationId xmlns:a16="http://schemas.microsoft.com/office/drawing/2014/main" id="{549F5A00-718B-4E6F-BCF6-3F8EA6B6080C}"/>
              </a:ext>
            </a:extLst>
          </p:cNvPr>
          <p:cNvSpPr>
            <a:spLocks noGrp="1"/>
          </p:cNvSpPr>
          <p:nvPr/>
        </p:nvSpPr>
        <p:spPr>
          <a:xfrm>
            <a:off x="9305925" y="2243138"/>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61" name="Rectangle 60">
            <a:extLst>
              <a:ext uri="{FF2B5EF4-FFF2-40B4-BE49-F238E27FC236}">
                <a16:creationId xmlns:a16="http://schemas.microsoft.com/office/drawing/2014/main" id="{B7EC2A46-41D9-46D2-BBCD-DE4CA9F30BB7}"/>
              </a:ext>
            </a:extLst>
          </p:cNvPr>
          <p:cNvSpPr>
            <a:spLocks noGrp="1"/>
          </p:cNvSpPr>
          <p:nvPr/>
        </p:nvSpPr>
        <p:spPr>
          <a:xfrm>
            <a:off x="819150" y="2752725"/>
            <a:ext cx="1809750" cy="585788"/>
          </a:xfrm>
          <a:prstGeom prst="rect">
            <a:avLst/>
          </a:prstGeom>
          <a:solidFill>
            <a:srgbClr val="FFFDF7"/>
          </a:solidFill>
          <a:ln w="9525">
            <a:solidFill>
              <a:srgbClr val="CFC7B8"/>
            </a:solidFill>
            <a:prstDash val="solid"/>
          </a:ln>
        </p:spPr>
        <p:txBody>
          <a:bodyPr/>
          <a:lstStyle/>
          <a:p>
            <a:endParaRPr/>
          </a:p>
        </p:txBody>
      </p:sp>
      <p:sp>
        <p:nvSpPr>
          <p:cNvPr id="62" name="Rectangle 61">
            <a:extLst>
              <a:ext uri="{FF2B5EF4-FFF2-40B4-BE49-F238E27FC236}">
                <a16:creationId xmlns:a16="http://schemas.microsoft.com/office/drawing/2014/main" id="{D5A90434-B4E3-4F1B-AC4C-933551EB81EE}"/>
              </a:ext>
            </a:extLst>
          </p:cNvPr>
          <p:cNvSpPr>
            <a:spLocks noGrp="1"/>
          </p:cNvSpPr>
          <p:nvPr/>
        </p:nvSpPr>
        <p:spPr>
          <a:xfrm>
            <a:off x="876300" y="2828925"/>
            <a:ext cx="1695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200" b="0">
                <a:solidFill>
                  <a:srgbClr val="142026"/>
                </a:solidFill>
                <a:latin typeface="Aptos"/>
                <a:ea typeface="Aptos"/>
                <a:cs typeface="Aptos"/>
              </a:rPr>
              <a:t>IAM</a:t>
            </a:r>
          </a:p>
        </p:txBody>
      </p:sp>
      <p:sp>
        <p:nvSpPr>
          <p:cNvPr id="63" name="Rectangle 62">
            <a:extLst>
              <a:ext uri="{FF2B5EF4-FFF2-40B4-BE49-F238E27FC236}">
                <a16:creationId xmlns:a16="http://schemas.microsoft.com/office/drawing/2014/main" id="{BE67B9A1-0181-4AD5-B7FA-DD49CBC621B0}"/>
              </a:ext>
            </a:extLst>
          </p:cNvPr>
          <p:cNvSpPr>
            <a:spLocks noGrp="1"/>
          </p:cNvSpPr>
          <p:nvPr/>
        </p:nvSpPr>
        <p:spPr>
          <a:xfrm>
            <a:off x="2628900" y="2752725"/>
            <a:ext cx="952500" cy="585788"/>
          </a:xfrm>
          <a:prstGeom prst="rect">
            <a:avLst/>
          </a:prstGeom>
          <a:solidFill>
            <a:srgbClr val="FFFDF7"/>
          </a:solidFill>
          <a:ln w="9525">
            <a:solidFill>
              <a:srgbClr val="CFC7B8"/>
            </a:solidFill>
            <a:prstDash val="solid"/>
          </a:ln>
        </p:spPr>
        <p:txBody>
          <a:bodyPr/>
          <a:lstStyle/>
          <a:p>
            <a:endParaRPr/>
          </a:p>
        </p:txBody>
      </p:sp>
      <p:sp>
        <p:nvSpPr>
          <p:cNvPr id="64" name="Rectangle 63">
            <a:extLst>
              <a:ext uri="{FF2B5EF4-FFF2-40B4-BE49-F238E27FC236}">
                <a16:creationId xmlns:a16="http://schemas.microsoft.com/office/drawing/2014/main" id="{C10ED21B-ECA8-49E9-A29E-79EEE05A54C0}"/>
              </a:ext>
            </a:extLst>
          </p:cNvPr>
          <p:cNvSpPr>
            <a:spLocks noGrp="1"/>
          </p:cNvSpPr>
          <p:nvPr/>
        </p:nvSpPr>
        <p:spPr>
          <a:xfrm>
            <a:off x="2686050" y="2828925"/>
            <a:ext cx="8382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20</a:t>
            </a:r>
          </a:p>
        </p:txBody>
      </p:sp>
      <p:sp>
        <p:nvSpPr>
          <p:cNvPr id="65" name="Rectangle 64">
            <a:extLst>
              <a:ext uri="{FF2B5EF4-FFF2-40B4-BE49-F238E27FC236}">
                <a16:creationId xmlns:a16="http://schemas.microsoft.com/office/drawing/2014/main" id="{A79D9C84-586E-4A36-8A07-E7DBE9BECA15}"/>
              </a:ext>
            </a:extLst>
          </p:cNvPr>
          <p:cNvSpPr>
            <a:spLocks noGrp="1"/>
          </p:cNvSpPr>
          <p:nvPr/>
        </p:nvSpPr>
        <p:spPr>
          <a:xfrm>
            <a:off x="3581400" y="2752725"/>
            <a:ext cx="1047750" cy="585788"/>
          </a:xfrm>
          <a:prstGeom prst="rect">
            <a:avLst/>
          </a:prstGeom>
          <a:solidFill>
            <a:srgbClr val="FFFDF7"/>
          </a:solidFill>
          <a:ln w="9525">
            <a:solidFill>
              <a:srgbClr val="CFC7B8"/>
            </a:solidFill>
            <a:prstDash val="solid"/>
          </a:ln>
        </p:spPr>
        <p:txBody>
          <a:bodyPr/>
          <a:lstStyle/>
          <a:p>
            <a:endParaRPr/>
          </a:p>
        </p:txBody>
      </p:sp>
      <p:sp>
        <p:nvSpPr>
          <p:cNvPr id="66" name="Rectangle 65">
            <a:extLst>
              <a:ext uri="{FF2B5EF4-FFF2-40B4-BE49-F238E27FC236}">
                <a16:creationId xmlns:a16="http://schemas.microsoft.com/office/drawing/2014/main" id="{35F2E3DF-5992-4BA9-83D7-68F98C35ECD3}"/>
              </a:ext>
            </a:extLst>
          </p:cNvPr>
          <p:cNvSpPr>
            <a:spLocks noGrp="1"/>
          </p:cNvSpPr>
          <p:nvPr/>
        </p:nvSpPr>
        <p:spPr>
          <a:xfrm>
            <a:off x="3638550" y="2828925"/>
            <a:ext cx="933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20</a:t>
            </a:r>
          </a:p>
        </p:txBody>
      </p:sp>
      <p:sp>
        <p:nvSpPr>
          <p:cNvPr id="67" name="Rectangle 66">
            <a:extLst>
              <a:ext uri="{FF2B5EF4-FFF2-40B4-BE49-F238E27FC236}">
                <a16:creationId xmlns:a16="http://schemas.microsoft.com/office/drawing/2014/main" id="{18C35809-B5B9-4BBC-B135-FF54032890AC}"/>
              </a:ext>
            </a:extLst>
          </p:cNvPr>
          <p:cNvSpPr>
            <a:spLocks noGrp="1"/>
          </p:cNvSpPr>
          <p:nvPr/>
        </p:nvSpPr>
        <p:spPr>
          <a:xfrm>
            <a:off x="4629150" y="2752725"/>
            <a:ext cx="904875" cy="585788"/>
          </a:xfrm>
          <a:prstGeom prst="rect">
            <a:avLst/>
          </a:prstGeom>
          <a:solidFill>
            <a:srgbClr val="FFFDF7"/>
          </a:solidFill>
          <a:ln w="9525">
            <a:solidFill>
              <a:srgbClr val="CFC7B8"/>
            </a:solidFill>
            <a:prstDash val="solid"/>
          </a:ln>
        </p:spPr>
        <p:txBody>
          <a:bodyPr/>
          <a:lstStyle/>
          <a:p>
            <a:endParaRPr/>
          </a:p>
        </p:txBody>
      </p:sp>
      <p:sp>
        <p:nvSpPr>
          <p:cNvPr id="68" name="Rectangle 67">
            <a:extLst>
              <a:ext uri="{FF2B5EF4-FFF2-40B4-BE49-F238E27FC236}">
                <a16:creationId xmlns:a16="http://schemas.microsoft.com/office/drawing/2014/main" id="{D276AB37-B081-4312-B873-11C759A96154}"/>
              </a:ext>
            </a:extLst>
          </p:cNvPr>
          <p:cNvSpPr>
            <a:spLocks noGrp="1"/>
          </p:cNvSpPr>
          <p:nvPr/>
        </p:nvSpPr>
        <p:spPr>
          <a:xfrm>
            <a:off x="4686300" y="2828925"/>
            <a:ext cx="7905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69" name="Rectangle 68">
            <a:extLst>
              <a:ext uri="{FF2B5EF4-FFF2-40B4-BE49-F238E27FC236}">
                <a16:creationId xmlns:a16="http://schemas.microsoft.com/office/drawing/2014/main" id="{ABD03439-54B4-426A-8EF5-DFB76DD45ED6}"/>
              </a:ext>
            </a:extLst>
          </p:cNvPr>
          <p:cNvSpPr>
            <a:spLocks noGrp="1"/>
          </p:cNvSpPr>
          <p:nvPr/>
        </p:nvSpPr>
        <p:spPr>
          <a:xfrm>
            <a:off x="5534025" y="2752725"/>
            <a:ext cx="857250" cy="585788"/>
          </a:xfrm>
          <a:prstGeom prst="rect">
            <a:avLst/>
          </a:prstGeom>
          <a:solidFill>
            <a:srgbClr val="FFFDF7"/>
          </a:solidFill>
          <a:ln w="9525">
            <a:solidFill>
              <a:srgbClr val="CFC7B8"/>
            </a:solidFill>
            <a:prstDash val="solid"/>
          </a:ln>
        </p:spPr>
        <p:txBody>
          <a:bodyPr/>
          <a:lstStyle/>
          <a:p>
            <a:endParaRPr/>
          </a:p>
        </p:txBody>
      </p:sp>
      <p:sp>
        <p:nvSpPr>
          <p:cNvPr id="70" name="Rectangle 69">
            <a:extLst>
              <a:ext uri="{FF2B5EF4-FFF2-40B4-BE49-F238E27FC236}">
                <a16:creationId xmlns:a16="http://schemas.microsoft.com/office/drawing/2014/main" id="{101483C9-2F9E-49FB-804A-B841CD2165E6}"/>
              </a:ext>
            </a:extLst>
          </p:cNvPr>
          <p:cNvSpPr>
            <a:spLocks noGrp="1"/>
          </p:cNvSpPr>
          <p:nvPr/>
        </p:nvSpPr>
        <p:spPr>
          <a:xfrm>
            <a:off x="5591175" y="2828925"/>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71" name="Rectangle 70">
            <a:extLst>
              <a:ext uri="{FF2B5EF4-FFF2-40B4-BE49-F238E27FC236}">
                <a16:creationId xmlns:a16="http://schemas.microsoft.com/office/drawing/2014/main" id="{B24CAEE7-2CF4-468B-868E-8AA87CC77AA3}"/>
              </a:ext>
            </a:extLst>
          </p:cNvPr>
          <p:cNvSpPr>
            <a:spLocks noGrp="1"/>
          </p:cNvSpPr>
          <p:nvPr/>
        </p:nvSpPr>
        <p:spPr>
          <a:xfrm>
            <a:off x="6391275" y="2752725"/>
            <a:ext cx="1000125" cy="585788"/>
          </a:xfrm>
          <a:prstGeom prst="rect">
            <a:avLst/>
          </a:prstGeom>
          <a:solidFill>
            <a:srgbClr val="FFFDF7"/>
          </a:solidFill>
          <a:ln w="9525">
            <a:solidFill>
              <a:srgbClr val="CFC7B8"/>
            </a:solidFill>
            <a:prstDash val="solid"/>
          </a:ln>
        </p:spPr>
        <p:txBody>
          <a:bodyPr/>
          <a:lstStyle/>
          <a:p>
            <a:endParaRPr/>
          </a:p>
        </p:txBody>
      </p:sp>
      <p:sp>
        <p:nvSpPr>
          <p:cNvPr id="72" name="Rectangle 71">
            <a:extLst>
              <a:ext uri="{FF2B5EF4-FFF2-40B4-BE49-F238E27FC236}">
                <a16:creationId xmlns:a16="http://schemas.microsoft.com/office/drawing/2014/main" id="{EDE4A64F-1244-4E42-92B7-5295B1688DB5}"/>
              </a:ext>
            </a:extLst>
          </p:cNvPr>
          <p:cNvSpPr>
            <a:spLocks noGrp="1"/>
          </p:cNvSpPr>
          <p:nvPr/>
        </p:nvSpPr>
        <p:spPr>
          <a:xfrm>
            <a:off x="6448425" y="2828925"/>
            <a:ext cx="88582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73" name="Rectangle 72">
            <a:extLst>
              <a:ext uri="{FF2B5EF4-FFF2-40B4-BE49-F238E27FC236}">
                <a16:creationId xmlns:a16="http://schemas.microsoft.com/office/drawing/2014/main" id="{F2C17D83-6B3E-45F2-BAD6-73C14A5DCC8E}"/>
              </a:ext>
            </a:extLst>
          </p:cNvPr>
          <p:cNvSpPr>
            <a:spLocks noGrp="1"/>
          </p:cNvSpPr>
          <p:nvPr/>
        </p:nvSpPr>
        <p:spPr>
          <a:xfrm>
            <a:off x="7391400" y="2752725"/>
            <a:ext cx="1143000" cy="585788"/>
          </a:xfrm>
          <a:prstGeom prst="rect">
            <a:avLst/>
          </a:prstGeom>
          <a:solidFill>
            <a:srgbClr val="FFFDF7"/>
          </a:solidFill>
          <a:ln w="9525">
            <a:solidFill>
              <a:srgbClr val="CFC7B8"/>
            </a:solidFill>
            <a:prstDash val="solid"/>
          </a:ln>
        </p:spPr>
        <p:txBody>
          <a:bodyPr/>
          <a:lstStyle/>
          <a:p>
            <a:endParaRPr/>
          </a:p>
        </p:txBody>
      </p:sp>
      <p:sp>
        <p:nvSpPr>
          <p:cNvPr id="74" name="Rectangle 73">
            <a:extLst>
              <a:ext uri="{FF2B5EF4-FFF2-40B4-BE49-F238E27FC236}">
                <a16:creationId xmlns:a16="http://schemas.microsoft.com/office/drawing/2014/main" id="{2B6105CB-010D-41E7-BDD3-A1675A2D5F9D}"/>
              </a:ext>
            </a:extLst>
          </p:cNvPr>
          <p:cNvSpPr>
            <a:spLocks noGrp="1"/>
          </p:cNvSpPr>
          <p:nvPr/>
        </p:nvSpPr>
        <p:spPr>
          <a:xfrm>
            <a:off x="7448550" y="2828925"/>
            <a:ext cx="10287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20</a:t>
            </a:r>
          </a:p>
        </p:txBody>
      </p:sp>
      <p:sp>
        <p:nvSpPr>
          <p:cNvPr id="75" name="Rectangle 74">
            <a:extLst>
              <a:ext uri="{FF2B5EF4-FFF2-40B4-BE49-F238E27FC236}">
                <a16:creationId xmlns:a16="http://schemas.microsoft.com/office/drawing/2014/main" id="{BFBA7D7F-A619-42D7-A842-FB5818CEADBA}"/>
              </a:ext>
            </a:extLst>
          </p:cNvPr>
          <p:cNvSpPr>
            <a:spLocks noGrp="1"/>
          </p:cNvSpPr>
          <p:nvPr/>
        </p:nvSpPr>
        <p:spPr>
          <a:xfrm>
            <a:off x="8534400" y="2752725"/>
            <a:ext cx="714375" cy="585788"/>
          </a:xfrm>
          <a:prstGeom prst="rect">
            <a:avLst/>
          </a:prstGeom>
          <a:solidFill>
            <a:srgbClr val="FFFDF7"/>
          </a:solidFill>
          <a:ln w="9525">
            <a:solidFill>
              <a:srgbClr val="CFC7B8"/>
            </a:solidFill>
            <a:prstDash val="solid"/>
          </a:ln>
        </p:spPr>
        <p:txBody>
          <a:bodyPr/>
          <a:lstStyle/>
          <a:p>
            <a:endParaRPr/>
          </a:p>
        </p:txBody>
      </p:sp>
      <p:sp>
        <p:nvSpPr>
          <p:cNvPr id="76" name="Rectangle 75">
            <a:extLst>
              <a:ext uri="{FF2B5EF4-FFF2-40B4-BE49-F238E27FC236}">
                <a16:creationId xmlns:a16="http://schemas.microsoft.com/office/drawing/2014/main" id="{7AF4E94D-E9EA-4F20-B003-5C99D9C43F08}"/>
              </a:ext>
            </a:extLst>
          </p:cNvPr>
          <p:cNvSpPr>
            <a:spLocks noGrp="1"/>
          </p:cNvSpPr>
          <p:nvPr/>
        </p:nvSpPr>
        <p:spPr>
          <a:xfrm>
            <a:off x="8591550" y="2828925"/>
            <a:ext cx="6000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77" name="Rectangle 76">
            <a:extLst>
              <a:ext uri="{FF2B5EF4-FFF2-40B4-BE49-F238E27FC236}">
                <a16:creationId xmlns:a16="http://schemas.microsoft.com/office/drawing/2014/main" id="{CACEDC8E-604A-4EB8-8E0C-D692CEDA9211}"/>
              </a:ext>
            </a:extLst>
          </p:cNvPr>
          <p:cNvSpPr>
            <a:spLocks noGrp="1"/>
          </p:cNvSpPr>
          <p:nvPr/>
        </p:nvSpPr>
        <p:spPr>
          <a:xfrm>
            <a:off x="9248775" y="2752725"/>
            <a:ext cx="857250" cy="585788"/>
          </a:xfrm>
          <a:prstGeom prst="rect">
            <a:avLst/>
          </a:prstGeom>
          <a:solidFill>
            <a:srgbClr val="FFFDF7"/>
          </a:solidFill>
          <a:ln w="9525">
            <a:solidFill>
              <a:srgbClr val="CFC7B8"/>
            </a:solidFill>
            <a:prstDash val="solid"/>
          </a:ln>
        </p:spPr>
        <p:txBody>
          <a:bodyPr/>
          <a:lstStyle/>
          <a:p>
            <a:endParaRPr/>
          </a:p>
        </p:txBody>
      </p:sp>
      <p:sp>
        <p:nvSpPr>
          <p:cNvPr id="78" name="Rectangle 77">
            <a:extLst>
              <a:ext uri="{FF2B5EF4-FFF2-40B4-BE49-F238E27FC236}">
                <a16:creationId xmlns:a16="http://schemas.microsoft.com/office/drawing/2014/main" id="{0DC190D5-F574-41A2-A56B-26CCCC9AE43F}"/>
              </a:ext>
            </a:extLst>
          </p:cNvPr>
          <p:cNvSpPr>
            <a:spLocks noGrp="1"/>
          </p:cNvSpPr>
          <p:nvPr/>
        </p:nvSpPr>
        <p:spPr>
          <a:xfrm>
            <a:off x="9305925" y="2828925"/>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79" name="Rectangle 78">
            <a:extLst>
              <a:ext uri="{FF2B5EF4-FFF2-40B4-BE49-F238E27FC236}">
                <a16:creationId xmlns:a16="http://schemas.microsoft.com/office/drawing/2014/main" id="{F3DCD88B-6FFD-4B9F-B6D8-D722576D45CF}"/>
              </a:ext>
            </a:extLst>
          </p:cNvPr>
          <p:cNvSpPr>
            <a:spLocks noGrp="1"/>
          </p:cNvSpPr>
          <p:nvPr/>
        </p:nvSpPr>
        <p:spPr>
          <a:xfrm>
            <a:off x="819150" y="3338513"/>
            <a:ext cx="1809750" cy="585788"/>
          </a:xfrm>
          <a:prstGeom prst="rect">
            <a:avLst/>
          </a:prstGeom>
          <a:solidFill>
            <a:srgbClr val="F8F5EA"/>
          </a:solidFill>
          <a:ln w="9525">
            <a:solidFill>
              <a:srgbClr val="CFC7B8"/>
            </a:solidFill>
            <a:prstDash val="solid"/>
          </a:ln>
        </p:spPr>
        <p:txBody>
          <a:bodyPr/>
          <a:lstStyle/>
          <a:p>
            <a:endParaRPr/>
          </a:p>
        </p:txBody>
      </p:sp>
      <p:sp>
        <p:nvSpPr>
          <p:cNvPr id="80" name="Rectangle 79">
            <a:extLst>
              <a:ext uri="{FF2B5EF4-FFF2-40B4-BE49-F238E27FC236}">
                <a16:creationId xmlns:a16="http://schemas.microsoft.com/office/drawing/2014/main" id="{91B0D1E9-F2AC-4539-8BB7-226A34B0F6A2}"/>
              </a:ext>
            </a:extLst>
          </p:cNvPr>
          <p:cNvSpPr>
            <a:spLocks noGrp="1"/>
          </p:cNvSpPr>
          <p:nvPr/>
        </p:nvSpPr>
        <p:spPr>
          <a:xfrm>
            <a:off x="876300" y="3414713"/>
            <a:ext cx="1695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1050" b="0">
                <a:solidFill>
                  <a:srgbClr val="142026"/>
                </a:solidFill>
                <a:latin typeface="Aptos"/>
                <a:ea typeface="Aptos"/>
                <a:cs typeface="Aptos"/>
              </a:defRPr>
            </a:pPr>
            <a:r>
              <a:rPr sz="1200" b="0">
                <a:solidFill>
                  <a:srgbClr val="142026"/>
                </a:solidFill>
                <a:latin typeface="Aptos"/>
                <a:ea typeface="Aptos"/>
                <a:cs typeface="Aptos"/>
              </a:rPr>
              <a:t>Washington</a:t>
            </a:r>
          </a:p>
        </p:txBody>
      </p:sp>
      <p:sp>
        <p:nvSpPr>
          <p:cNvPr id="81" name="Rectangle 80">
            <a:extLst>
              <a:ext uri="{FF2B5EF4-FFF2-40B4-BE49-F238E27FC236}">
                <a16:creationId xmlns:a16="http://schemas.microsoft.com/office/drawing/2014/main" id="{30AF4B64-5E93-4E6F-B876-79FD3E9CA441}"/>
              </a:ext>
            </a:extLst>
          </p:cNvPr>
          <p:cNvSpPr>
            <a:spLocks noGrp="1"/>
          </p:cNvSpPr>
          <p:nvPr/>
        </p:nvSpPr>
        <p:spPr>
          <a:xfrm>
            <a:off x="2628900" y="3338513"/>
            <a:ext cx="952500" cy="585788"/>
          </a:xfrm>
          <a:prstGeom prst="rect">
            <a:avLst/>
          </a:prstGeom>
          <a:solidFill>
            <a:srgbClr val="F8F5EA"/>
          </a:solidFill>
          <a:ln w="9525">
            <a:solidFill>
              <a:srgbClr val="CFC7B8"/>
            </a:solidFill>
            <a:prstDash val="solid"/>
          </a:ln>
        </p:spPr>
        <p:txBody>
          <a:bodyPr/>
          <a:lstStyle/>
          <a:p>
            <a:endParaRPr/>
          </a:p>
        </p:txBody>
      </p:sp>
      <p:sp>
        <p:nvSpPr>
          <p:cNvPr id="82" name="Rectangle 81">
            <a:extLst>
              <a:ext uri="{FF2B5EF4-FFF2-40B4-BE49-F238E27FC236}">
                <a16:creationId xmlns:a16="http://schemas.microsoft.com/office/drawing/2014/main" id="{70AE10D3-04F9-40F8-B73E-31E33CB3BB35}"/>
              </a:ext>
            </a:extLst>
          </p:cNvPr>
          <p:cNvSpPr>
            <a:spLocks noGrp="1"/>
          </p:cNvSpPr>
          <p:nvPr/>
        </p:nvSpPr>
        <p:spPr>
          <a:xfrm>
            <a:off x="2686050" y="3414713"/>
            <a:ext cx="8382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20</a:t>
            </a:r>
          </a:p>
        </p:txBody>
      </p:sp>
      <p:sp>
        <p:nvSpPr>
          <p:cNvPr id="83" name="Rectangle 82">
            <a:extLst>
              <a:ext uri="{FF2B5EF4-FFF2-40B4-BE49-F238E27FC236}">
                <a16:creationId xmlns:a16="http://schemas.microsoft.com/office/drawing/2014/main" id="{0F2BF239-5AA9-4D80-81AF-14615AC8160B}"/>
              </a:ext>
            </a:extLst>
          </p:cNvPr>
          <p:cNvSpPr>
            <a:spLocks noGrp="1"/>
          </p:cNvSpPr>
          <p:nvPr/>
        </p:nvSpPr>
        <p:spPr>
          <a:xfrm>
            <a:off x="3581400" y="3338513"/>
            <a:ext cx="1047750" cy="585788"/>
          </a:xfrm>
          <a:prstGeom prst="rect">
            <a:avLst/>
          </a:prstGeom>
          <a:solidFill>
            <a:srgbClr val="F8F5EA"/>
          </a:solidFill>
          <a:ln w="9525">
            <a:solidFill>
              <a:srgbClr val="CFC7B8"/>
            </a:solidFill>
            <a:prstDash val="solid"/>
          </a:ln>
        </p:spPr>
        <p:txBody>
          <a:bodyPr/>
          <a:lstStyle/>
          <a:p>
            <a:endParaRPr/>
          </a:p>
        </p:txBody>
      </p:sp>
      <p:sp>
        <p:nvSpPr>
          <p:cNvPr id="84" name="Rectangle 83">
            <a:extLst>
              <a:ext uri="{FF2B5EF4-FFF2-40B4-BE49-F238E27FC236}">
                <a16:creationId xmlns:a16="http://schemas.microsoft.com/office/drawing/2014/main" id="{358B0530-DE80-49B9-B37A-37F8F2630346}"/>
              </a:ext>
            </a:extLst>
          </p:cNvPr>
          <p:cNvSpPr>
            <a:spLocks noGrp="1"/>
          </p:cNvSpPr>
          <p:nvPr/>
        </p:nvSpPr>
        <p:spPr>
          <a:xfrm>
            <a:off x="3638550" y="3414713"/>
            <a:ext cx="9334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20</a:t>
            </a:r>
          </a:p>
        </p:txBody>
      </p:sp>
      <p:sp>
        <p:nvSpPr>
          <p:cNvPr id="85" name="Rectangle 84">
            <a:extLst>
              <a:ext uri="{FF2B5EF4-FFF2-40B4-BE49-F238E27FC236}">
                <a16:creationId xmlns:a16="http://schemas.microsoft.com/office/drawing/2014/main" id="{3602F5B7-BCF3-47DE-B3C0-DCD45AD79802}"/>
              </a:ext>
            </a:extLst>
          </p:cNvPr>
          <p:cNvSpPr>
            <a:spLocks noGrp="1"/>
          </p:cNvSpPr>
          <p:nvPr/>
        </p:nvSpPr>
        <p:spPr>
          <a:xfrm>
            <a:off x="4629150" y="3338513"/>
            <a:ext cx="904875" cy="585788"/>
          </a:xfrm>
          <a:prstGeom prst="rect">
            <a:avLst/>
          </a:prstGeom>
          <a:solidFill>
            <a:srgbClr val="F8F5EA"/>
          </a:solidFill>
          <a:ln w="9525">
            <a:solidFill>
              <a:srgbClr val="CFC7B8"/>
            </a:solidFill>
            <a:prstDash val="solid"/>
          </a:ln>
        </p:spPr>
        <p:txBody>
          <a:bodyPr/>
          <a:lstStyle/>
          <a:p>
            <a:endParaRPr/>
          </a:p>
        </p:txBody>
      </p:sp>
      <p:sp>
        <p:nvSpPr>
          <p:cNvPr id="86" name="Rectangle 85">
            <a:extLst>
              <a:ext uri="{FF2B5EF4-FFF2-40B4-BE49-F238E27FC236}">
                <a16:creationId xmlns:a16="http://schemas.microsoft.com/office/drawing/2014/main" id="{E47B53AB-F2F0-4C57-AA58-4FF7A9463D20}"/>
              </a:ext>
            </a:extLst>
          </p:cNvPr>
          <p:cNvSpPr>
            <a:spLocks noGrp="1"/>
          </p:cNvSpPr>
          <p:nvPr/>
        </p:nvSpPr>
        <p:spPr>
          <a:xfrm>
            <a:off x="4686300" y="3414713"/>
            <a:ext cx="7905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87" name="Rectangle 86">
            <a:extLst>
              <a:ext uri="{FF2B5EF4-FFF2-40B4-BE49-F238E27FC236}">
                <a16:creationId xmlns:a16="http://schemas.microsoft.com/office/drawing/2014/main" id="{46378066-4996-4F82-9584-370E82DBA778}"/>
              </a:ext>
            </a:extLst>
          </p:cNvPr>
          <p:cNvSpPr>
            <a:spLocks noGrp="1"/>
          </p:cNvSpPr>
          <p:nvPr/>
        </p:nvSpPr>
        <p:spPr>
          <a:xfrm>
            <a:off x="5534025" y="3338513"/>
            <a:ext cx="857250" cy="585788"/>
          </a:xfrm>
          <a:prstGeom prst="rect">
            <a:avLst/>
          </a:prstGeom>
          <a:solidFill>
            <a:srgbClr val="F8F5EA"/>
          </a:solidFill>
          <a:ln w="9525">
            <a:solidFill>
              <a:srgbClr val="CFC7B8"/>
            </a:solidFill>
            <a:prstDash val="solid"/>
          </a:ln>
        </p:spPr>
        <p:txBody>
          <a:bodyPr/>
          <a:lstStyle/>
          <a:p>
            <a:endParaRPr/>
          </a:p>
        </p:txBody>
      </p:sp>
      <p:sp>
        <p:nvSpPr>
          <p:cNvPr id="88" name="Rectangle 87">
            <a:extLst>
              <a:ext uri="{FF2B5EF4-FFF2-40B4-BE49-F238E27FC236}">
                <a16:creationId xmlns:a16="http://schemas.microsoft.com/office/drawing/2014/main" id="{5A7E55D8-39F2-4B5C-A691-FFF2EED0F8C5}"/>
              </a:ext>
            </a:extLst>
          </p:cNvPr>
          <p:cNvSpPr>
            <a:spLocks noGrp="1"/>
          </p:cNvSpPr>
          <p:nvPr/>
        </p:nvSpPr>
        <p:spPr>
          <a:xfrm>
            <a:off x="5591175" y="3414713"/>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89" name="Rectangle 88">
            <a:extLst>
              <a:ext uri="{FF2B5EF4-FFF2-40B4-BE49-F238E27FC236}">
                <a16:creationId xmlns:a16="http://schemas.microsoft.com/office/drawing/2014/main" id="{39DC6357-E4EF-46FC-AF11-AF16B0A1FA9B}"/>
              </a:ext>
            </a:extLst>
          </p:cNvPr>
          <p:cNvSpPr>
            <a:spLocks noGrp="1"/>
          </p:cNvSpPr>
          <p:nvPr/>
        </p:nvSpPr>
        <p:spPr>
          <a:xfrm>
            <a:off x="6391275" y="3338513"/>
            <a:ext cx="1000125" cy="585788"/>
          </a:xfrm>
          <a:prstGeom prst="rect">
            <a:avLst/>
          </a:prstGeom>
          <a:solidFill>
            <a:srgbClr val="F8F5EA"/>
          </a:solidFill>
          <a:ln w="9525">
            <a:solidFill>
              <a:srgbClr val="CFC7B8"/>
            </a:solidFill>
            <a:prstDash val="solid"/>
          </a:ln>
        </p:spPr>
        <p:txBody>
          <a:bodyPr/>
          <a:lstStyle/>
          <a:p>
            <a:endParaRPr/>
          </a:p>
        </p:txBody>
      </p:sp>
      <p:sp>
        <p:nvSpPr>
          <p:cNvPr id="90" name="Rectangle 89">
            <a:extLst>
              <a:ext uri="{FF2B5EF4-FFF2-40B4-BE49-F238E27FC236}">
                <a16:creationId xmlns:a16="http://schemas.microsoft.com/office/drawing/2014/main" id="{92FAD1BE-CEAF-4F0E-BF97-18A1D97B6713}"/>
              </a:ext>
            </a:extLst>
          </p:cNvPr>
          <p:cNvSpPr>
            <a:spLocks noGrp="1"/>
          </p:cNvSpPr>
          <p:nvPr/>
        </p:nvSpPr>
        <p:spPr>
          <a:xfrm>
            <a:off x="6448425" y="3414713"/>
            <a:ext cx="88582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91" name="Rectangle 90">
            <a:extLst>
              <a:ext uri="{FF2B5EF4-FFF2-40B4-BE49-F238E27FC236}">
                <a16:creationId xmlns:a16="http://schemas.microsoft.com/office/drawing/2014/main" id="{CF5CAB68-0E9D-42A4-A2B8-0D8C9AEA071B}"/>
              </a:ext>
            </a:extLst>
          </p:cNvPr>
          <p:cNvSpPr>
            <a:spLocks noGrp="1"/>
          </p:cNvSpPr>
          <p:nvPr/>
        </p:nvSpPr>
        <p:spPr>
          <a:xfrm>
            <a:off x="7391400" y="3338513"/>
            <a:ext cx="1143000" cy="585788"/>
          </a:xfrm>
          <a:prstGeom prst="rect">
            <a:avLst/>
          </a:prstGeom>
          <a:solidFill>
            <a:srgbClr val="F8F5EA"/>
          </a:solidFill>
          <a:ln w="9525">
            <a:solidFill>
              <a:srgbClr val="CFC7B8"/>
            </a:solidFill>
            <a:prstDash val="solid"/>
          </a:ln>
        </p:spPr>
        <p:txBody>
          <a:bodyPr/>
          <a:lstStyle/>
          <a:p>
            <a:endParaRPr/>
          </a:p>
        </p:txBody>
      </p:sp>
      <p:sp>
        <p:nvSpPr>
          <p:cNvPr id="92" name="Rectangle 91">
            <a:extLst>
              <a:ext uri="{FF2B5EF4-FFF2-40B4-BE49-F238E27FC236}">
                <a16:creationId xmlns:a16="http://schemas.microsoft.com/office/drawing/2014/main" id="{1DA210CF-F9F3-41FD-8361-C142AF1C19EF}"/>
              </a:ext>
            </a:extLst>
          </p:cNvPr>
          <p:cNvSpPr>
            <a:spLocks noGrp="1"/>
          </p:cNvSpPr>
          <p:nvPr/>
        </p:nvSpPr>
        <p:spPr>
          <a:xfrm>
            <a:off x="7448550" y="3414713"/>
            <a:ext cx="102870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19</a:t>
            </a:r>
          </a:p>
        </p:txBody>
      </p:sp>
      <p:sp>
        <p:nvSpPr>
          <p:cNvPr id="93" name="Rectangle 92">
            <a:extLst>
              <a:ext uri="{FF2B5EF4-FFF2-40B4-BE49-F238E27FC236}">
                <a16:creationId xmlns:a16="http://schemas.microsoft.com/office/drawing/2014/main" id="{1027E7EB-FF02-4AD8-AC44-73657FCE54EB}"/>
              </a:ext>
            </a:extLst>
          </p:cNvPr>
          <p:cNvSpPr>
            <a:spLocks noGrp="1"/>
          </p:cNvSpPr>
          <p:nvPr/>
        </p:nvSpPr>
        <p:spPr>
          <a:xfrm>
            <a:off x="8534400" y="3338513"/>
            <a:ext cx="714375" cy="585788"/>
          </a:xfrm>
          <a:prstGeom prst="rect">
            <a:avLst/>
          </a:prstGeom>
          <a:solidFill>
            <a:srgbClr val="F8F5EA"/>
          </a:solidFill>
          <a:ln w="9525">
            <a:solidFill>
              <a:srgbClr val="CFC7B8"/>
            </a:solidFill>
            <a:prstDash val="solid"/>
          </a:ln>
        </p:spPr>
        <p:txBody>
          <a:bodyPr/>
          <a:lstStyle/>
          <a:p>
            <a:endParaRPr/>
          </a:p>
        </p:txBody>
      </p:sp>
      <p:sp>
        <p:nvSpPr>
          <p:cNvPr id="94" name="Rectangle 93">
            <a:extLst>
              <a:ext uri="{FF2B5EF4-FFF2-40B4-BE49-F238E27FC236}">
                <a16:creationId xmlns:a16="http://schemas.microsoft.com/office/drawing/2014/main" id="{E2219C70-2F0D-4F9E-BDA7-15026A8683DF}"/>
              </a:ext>
            </a:extLst>
          </p:cNvPr>
          <p:cNvSpPr>
            <a:spLocks noGrp="1"/>
          </p:cNvSpPr>
          <p:nvPr/>
        </p:nvSpPr>
        <p:spPr>
          <a:xfrm>
            <a:off x="8591550" y="3414713"/>
            <a:ext cx="600075"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95" name="Rectangle 94">
            <a:extLst>
              <a:ext uri="{FF2B5EF4-FFF2-40B4-BE49-F238E27FC236}">
                <a16:creationId xmlns:a16="http://schemas.microsoft.com/office/drawing/2014/main" id="{88E0DDCF-020E-4540-8035-D4A8EA1CCC1D}"/>
              </a:ext>
            </a:extLst>
          </p:cNvPr>
          <p:cNvSpPr>
            <a:spLocks noGrp="1"/>
          </p:cNvSpPr>
          <p:nvPr/>
        </p:nvSpPr>
        <p:spPr>
          <a:xfrm>
            <a:off x="9248775" y="3338513"/>
            <a:ext cx="857250" cy="585788"/>
          </a:xfrm>
          <a:prstGeom prst="rect">
            <a:avLst/>
          </a:prstGeom>
          <a:solidFill>
            <a:srgbClr val="F8F5EA"/>
          </a:solidFill>
          <a:ln w="9525">
            <a:solidFill>
              <a:srgbClr val="CFC7B8"/>
            </a:solidFill>
            <a:prstDash val="solid"/>
          </a:ln>
        </p:spPr>
        <p:txBody>
          <a:bodyPr/>
          <a:lstStyle/>
          <a:p>
            <a:endParaRPr/>
          </a:p>
        </p:txBody>
      </p:sp>
      <p:sp>
        <p:nvSpPr>
          <p:cNvPr id="96" name="Rectangle 95">
            <a:extLst>
              <a:ext uri="{FF2B5EF4-FFF2-40B4-BE49-F238E27FC236}">
                <a16:creationId xmlns:a16="http://schemas.microsoft.com/office/drawing/2014/main" id="{84FB74D5-93F3-4D83-9D24-E8571518E46B}"/>
              </a:ext>
            </a:extLst>
          </p:cNvPr>
          <p:cNvSpPr>
            <a:spLocks noGrp="1"/>
          </p:cNvSpPr>
          <p:nvPr/>
        </p:nvSpPr>
        <p:spPr>
          <a:xfrm>
            <a:off x="9305925" y="3414713"/>
            <a:ext cx="742950" cy="490538"/>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050" b="0">
                <a:solidFill>
                  <a:srgbClr val="142026"/>
                </a:solidFill>
                <a:latin typeface="Aptos"/>
                <a:ea typeface="Aptos"/>
                <a:cs typeface="Aptos"/>
              </a:defRPr>
            </a:pPr>
            <a:r>
              <a:rPr sz="1200" b="0">
                <a:solidFill>
                  <a:srgbClr val="142026"/>
                </a:solidFill>
                <a:latin typeface="Aptos"/>
                <a:ea typeface="Aptos"/>
                <a:cs typeface="Aptos"/>
              </a:rPr>
              <a:t>0</a:t>
            </a:r>
          </a:p>
        </p:txBody>
      </p:sp>
      <p:sp>
        <p:nvSpPr>
          <p:cNvPr id="101" name="Rounded Rectangle 100">
            <a:extLst>
              <a:ext uri="{FF2B5EF4-FFF2-40B4-BE49-F238E27FC236}">
                <a16:creationId xmlns:a16="http://schemas.microsoft.com/office/drawing/2014/main" id="{D7480D54-30B4-4DA6-A7E5-B7225086A39B}"/>
              </a:ext>
            </a:extLst>
          </p:cNvPr>
          <p:cNvSpPr>
            <a:spLocks noGrp="1"/>
          </p:cNvSpPr>
          <p:nvPr/>
        </p:nvSpPr>
        <p:spPr>
          <a:xfrm>
            <a:off x="5429250" y="4057650"/>
            <a:ext cx="2476500" cy="400050"/>
          </a:xfrm>
          <a:prstGeom prst="roundRect">
            <a:avLst>
              <a:gd name="adj" fmla="val 14286"/>
            </a:avLst>
          </a:prstGeom>
          <a:solidFill>
            <a:srgbClr val="DDEDE9"/>
          </a:solidFill>
          <a:ln w="9525">
            <a:solidFill>
              <a:srgbClr val="2A9D8F"/>
            </a:solidFill>
            <a:prstDash val="solid"/>
          </a:ln>
        </p:spPr>
        <p:txBody>
          <a:bodyPr/>
          <a:lstStyle/>
          <a:p>
            <a:endParaRPr/>
          </a:p>
        </p:txBody>
      </p:sp>
      <p:sp>
        <p:nvSpPr>
          <p:cNvPr id="102" name="Rectangle 101">
            <a:extLst>
              <a:ext uri="{FF2B5EF4-FFF2-40B4-BE49-F238E27FC236}">
                <a16:creationId xmlns:a16="http://schemas.microsoft.com/office/drawing/2014/main" id="{BA26BE0B-3A7F-4D67-B7EA-FCD9311C3A56}"/>
              </a:ext>
            </a:extLst>
          </p:cNvPr>
          <p:cNvSpPr>
            <a:spLocks noGrp="1"/>
          </p:cNvSpPr>
          <p:nvPr/>
        </p:nvSpPr>
        <p:spPr>
          <a:xfrm>
            <a:off x="5657850" y="4152900"/>
            <a:ext cx="876300" cy="190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350" b="1">
                <a:solidFill>
                  <a:srgbClr val="2A9D8F"/>
                </a:solidFill>
                <a:latin typeface="Aptos"/>
                <a:ea typeface="Aptos"/>
                <a:cs typeface="Aptos"/>
              </a:defRPr>
            </a:pPr>
            <a:r>
              <a:rPr sz="1200" b="1">
                <a:solidFill>
                  <a:srgbClr val="2A9D8F"/>
                </a:solidFill>
                <a:latin typeface="Aptos"/>
                <a:ea typeface="Aptos"/>
                <a:cs typeface="Aptos"/>
              </a:rPr>
              <a:t>157/162</a:t>
            </a:r>
          </a:p>
        </p:txBody>
      </p:sp>
      <p:sp>
        <p:nvSpPr>
          <p:cNvPr id="103" name="Rectangle 102">
            <a:extLst>
              <a:ext uri="{FF2B5EF4-FFF2-40B4-BE49-F238E27FC236}">
                <a16:creationId xmlns:a16="http://schemas.microsoft.com/office/drawing/2014/main" id="{D34B49DD-8343-4403-8D92-A2B2A9E7A5BA}"/>
              </a:ext>
            </a:extLst>
          </p:cNvPr>
          <p:cNvSpPr>
            <a:spLocks noGrp="1"/>
          </p:cNvSpPr>
          <p:nvPr/>
        </p:nvSpPr>
        <p:spPr>
          <a:xfrm>
            <a:off x="6629400" y="4191000"/>
            <a:ext cx="1123950" cy="133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1">
                <a:solidFill>
                  <a:srgbClr val="264653"/>
                </a:solidFill>
                <a:latin typeface="Aptos"/>
                <a:ea typeface="Aptos"/>
                <a:cs typeface="Aptos"/>
              </a:defRPr>
            </a:pPr>
            <a:r>
              <a:rPr sz="900" b="1">
                <a:solidFill>
                  <a:srgbClr val="264653"/>
                </a:solidFill>
                <a:latin typeface="Aptos"/>
                <a:ea typeface="Aptos"/>
                <a:cs typeface="Aptos"/>
              </a:rPr>
              <a:t>first JSON exact-count</a:t>
            </a:r>
          </a:p>
        </p:txBody>
      </p:sp>
    </p:spTree>
    <p:extLst>
      <p:ext uri="{BB962C8B-B14F-4D97-AF65-F5344CB8AC3E}">
        <p14:creationId xmlns:p14="http://schemas.microsoft.com/office/powerpoint/2010/main" val="1391631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07FA698-DCBB-41D9-AEC4-0D61D7445AD5}"/>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853E87F1-FBAA-43D4-AC68-2E337704F18C}"/>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03AD6E2E-4C00-43CC-817F-61C7012CA337}"/>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A16</a:t>
            </a:r>
          </a:p>
        </p:txBody>
      </p:sp>
      <p:sp>
        <p:nvSpPr>
          <p:cNvPr id="4" name="Rectangle 3">
            <a:extLst>
              <a:ext uri="{FF2B5EF4-FFF2-40B4-BE49-F238E27FC236}">
                <a16:creationId xmlns:a16="http://schemas.microsoft.com/office/drawing/2014/main" id="{413F7B5B-2875-405B-B915-2D2C68FD2C7E}"/>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Validity Boundaries</a:t>
            </a:r>
          </a:p>
        </p:txBody>
      </p:sp>
      <p:sp>
        <p:nvSpPr>
          <p:cNvPr id="5" name="Rectangle 4">
            <a:extLst>
              <a:ext uri="{FF2B5EF4-FFF2-40B4-BE49-F238E27FC236}">
                <a16:creationId xmlns:a16="http://schemas.microsoft.com/office/drawing/2014/main" id="{92656BB8-76E8-47EA-B5FA-5B507C40A201}"/>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4C26553B-0A2A-4450-BA06-C9F6706D0EF4}"/>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30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ounded Rectangle 6">
            <a:extLst>
              <a:ext uri="{FF2B5EF4-FFF2-40B4-BE49-F238E27FC236}">
                <a16:creationId xmlns:a16="http://schemas.microsoft.com/office/drawing/2014/main" id="{177C1ACE-47D5-4DA8-A266-2E07A4692391}"/>
              </a:ext>
            </a:extLst>
          </p:cNvPr>
          <p:cNvSpPr>
            <a:spLocks noGrp="1"/>
          </p:cNvSpPr>
          <p:nvPr/>
        </p:nvSpPr>
        <p:spPr>
          <a:xfrm>
            <a:off x="1790700" y="1238250"/>
            <a:ext cx="4000500" cy="381000"/>
          </a:xfrm>
          <a:prstGeom prst="roundRect">
            <a:avLst>
              <a:gd name="adj" fmla="val 15000"/>
            </a:avLst>
          </a:prstGeom>
          <a:solidFill>
            <a:srgbClr val="DDEDE9"/>
          </a:solidFill>
          <a:ln w="9525">
            <a:solidFill>
              <a:srgbClr val="2A9D8F"/>
            </a:solidFill>
            <a:prstDash val="solid"/>
          </a:ln>
        </p:spPr>
        <p:txBody>
          <a:bodyPr/>
          <a:lstStyle/>
          <a:p>
            <a:endParaRPr/>
          </a:p>
        </p:txBody>
      </p:sp>
      <p:sp>
        <p:nvSpPr>
          <p:cNvPr id="8" name="Rectangle 7">
            <a:extLst>
              <a:ext uri="{FF2B5EF4-FFF2-40B4-BE49-F238E27FC236}">
                <a16:creationId xmlns:a16="http://schemas.microsoft.com/office/drawing/2014/main" id="{5BA2120B-0FB2-4FBF-ADBD-25CBFC9BC8FE}"/>
              </a:ext>
            </a:extLst>
          </p:cNvPr>
          <p:cNvSpPr>
            <a:spLocks noGrp="1"/>
          </p:cNvSpPr>
          <p:nvPr/>
        </p:nvSpPr>
        <p:spPr>
          <a:xfrm>
            <a:off x="2000250" y="13430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264653"/>
                </a:solidFill>
                <a:latin typeface="Aptos"/>
                <a:ea typeface="Aptos"/>
                <a:cs typeface="Aptos"/>
              </a:defRPr>
            </a:pPr>
            <a:r>
              <a:rPr sz="1050" b="1">
                <a:solidFill>
                  <a:srgbClr val="264653"/>
                </a:solidFill>
                <a:latin typeface="Aptos"/>
                <a:ea typeface="Aptos"/>
                <a:cs typeface="Aptos"/>
              </a:rPr>
              <a:t>known-count staging for M4/M5</a:t>
            </a:r>
          </a:p>
        </p:txBody>
      </p:sp>
      <p:sp>
        <p:nvSpPr>
          <p:cNvPr id="9" name="Rounded Rectangle 8">
            <a:extLst>
              <a:ext uri="{FF2B5EF4-FFF2-40B4-BE49-F238E27FC236}">
                <a16:creationId xmlns:a16="http://schemas.microsoft.com/office/drawing/2014/main" id="{88023D65-A463-4038-82A8-73B0492A4AA2}"/>
              </a:ext>
            </a:extLst>
          </p:cNvPr>
          <p:cNvSpPr>
            <a:spLocks noGrp="1"/>
          </p:cNvSpPr>
          <p:nvPr/>
        </p:nvSpPr>
        <p:spPr>
          <a:xfrm>
            <a:off x="1790700" y="2038350"/>
            <a:ext cx="4000500" cy="381000"/>
          </a:xfrm>
          <a:prstGeom prst="roundRect">
            <a:avLst>
              <a:gd name="adj" fmla="val 15000"/>
            </a:avLst>
          </a:prstGeom>
          <a:solidFill>
            <a:srgbClr val="DDEDE9"/>
          </a:solidFill>
          <a:ln w="9525">
            <a:solidFill>
              <a:srgbClr val="2A9D8F"/>
            </a:solidFill>
            <a:prstDash val="solid"/>
          </a:ln>
        </p:spPr>
        <p:txBody>
          <a:bodyPr/>
          <a:lstStyle/>
          <a:p>
            <a:endParaRPr/>
          </a:p>
        </p:txBody>
      </p:sp>
      <p:sp>
        <p:nvSpPr>
          <p:cNvPr id="10" name="Rectangle 9">
            <a:extLst>
              <a:ext uri="{FF2B5EF4-FFF2-40B4-BE49-F238E27FC236}">
                <a16:creationId xmlns:a16="http://schemas.microsoft.com/office/drawing/2014/main" id="{9CF49415-6715-409E-822F-9B125B5DBB8F}"/>
              </a:ext>
            </a:extLst>
          </p:cNvPr>
          <p:cNvSpPr>
            <a:spLocks noGrp="1"/>
          </p:cNvSpPr>
          <p:nvPr/>
        </p:nvSpPr>
        <p:spPr>
          <a:xfrm>
            <a:off x="2000250" y="21431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264653"/>
                </a:solidFill>
                <a:latin typeface="Aptos"/>
                <a:ea typeface="Aptos"/>
                <a:cs typeface="Aptos"/>
              </a:defRPr>
            </a:pPr>
            <a:r>
              <a:rPr sz="1050" b="1">
                <a:solidFill>
                  <a:srgbClr val="264653"/>
                </a:solidFill>
                <a:latin typeface="Aptos"/>
                <a:ea typeface="Aptos"/>
                <a:cs typeface="Aptos"/>
              </a:rPr>
              <a:t>model-configuration dependence</a:t>
            </a:r>
          </a:p>
        </p:txBody>
      </p:sp>
      <p:sp>
        <p:nvSpPr>
          <p:cNvPr id="11" name="Rounded Rectangle 10">
            <a:extLst>
              <a:ext uri="{FF2B5EF4-FFF2-40B4-BE49-F238E27FC236}">
                <a16:creationId xmlns:a16="http://schemas.microsoft.com/office/drawing/2014/main" id="{6371A913-873F-4F7B-ADEF-4FC8ADB54ECC}"/>
              </a:ext>
            </a:extLst>
          </p:cNvPr>
          <p:cNvSpPr>
            <a:spLocks noGrp="1"/>
          </p:cNvSpPr>
          <p:nvPr/>
        </p:nvSpPr>
        <p:spPr>
          <a:xfrm>
            <a:off x="1790700" y="2838450"/>
            <a:ext cx="4000500" cy="381000"/>
          </a:xfrm>
          <a:prstGeom prst="roundRect">
            <a:avLst>
              <a:gd name="adj" fmla="val 15000"/>
            </a:avLst>
          </a:prstGeom>
          <a:solidFill>
            <a:srgbClr val="DDEDE9"/>
          </a:solidFill>
          <a:ln w="9525">
            <a:solidFill>
              <a:srgbClr val="2A9D8F"/>
            </a:solidFill>
            <a:prstDash val="solid"/>
          </a:ln>
        </p:spPr>
        <p:txBody>
          <a:bodyPr/>
          <a:lstStyle/>
          <a:p>
            <a:endParaRPr/>
          </a:p>
        </p:txBody>
      </p:sp>
      <p:sp>
        <p:nvSpPr>
          <p:cNvPr id="12" name="Rectangle 11">
            <a:extLst>
              <a:ext uri="{FF2B5EF4-FFF2-40B4-BE49-F238E27FC236}">
                <a16:creationId xmlns:a16="http://schemas.microsoft.com/office/drawing/2014/main" id="{A921F62A-63C3-4C1E-837A-17EE0C626966}"/>
              </a:ext>
            </a:extLst>
          </p:cNvPr>
          <p:cNvSpPr>
            <a:spLocks noGrp="1"/>
          </p:cNvSpPr>
          <p:nvPr/>
        </p:nvSpPr>
        <p:spPr>
          <a:xfrm>
            <a:off x="2000250" y="29432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264653"/>
                </a:solidFill>
                <a:latin typeface="Aptos"/>
                <a:ea typeface="Aptos"/>
                <a:cs typeface="Aptos"/>
              </a:defRPr>
            </a:pPr>
            <a:r>
              <a:rPr sz="1050" b="1">
                <a:solidFill>
                  <a:srgbClr val="264653"/>
                </a:solidFill>
                <a:latin typeface="Aptos"/>
                <a:ea typeface="Aptos"/>
                <a:cs typeface="Aptos"/>
              </a:rPr>
              <a:t>M1/M2 multi-page chunking</a:t>
            </a:r>
          </a:p>
        </p:txBody>
      </p:sp>
      <p:sp>
        <p:nvSpPr>
          <p:cNvPr id="13" name="Rounded Rectangle 12">
            <a:extLst>
              <a:ext uri="{FF2B5EF4-FFF2-40B4-BE49-F238E27FC236}">
                <a16:creationId xmlns:a16="http://schemas.microsoft.com/office/drawing/2014/main" id="{D42E5CC2-19DA-49DF-B716-69CCFBBD635A}"/>
              </a:ext>
            </a:extLst>
          </p:cNvPr>
          <p:cNvSpPr>
            <a:spLocks noGrp="1"/>
          </p:cNvSpPr>
          <p:nvPr/>
        </p:nvSpPr>
        <p:spPr>
          <a:xfrm>
            <a:off x="1790700" y="3638550"/>
            <a:ext cx="4000500" cy="381000"/>
          </a:xfrm>
          <a:prstGeom prst="roundRect">
            <a:avLst>
              <a:gd name="adj" fmla="val 15000"/>
            </a:avLst>
          </a:prstGeom>
          <a:solidFill>
            <a:srgbClr val="DDEDE9"/>
          </a:solidFill>
          <a:ln w="9525">
            <a:solidFill>
              <a:srgbClr val="2A9D8F"/>
            </a:solidFill>
            <a:prstDash val="solid"/>
          </a:ln>
        </p:spPr>
        <p:txBody>
          <a:bodyPr/>
          <a:lstStyle/>
          <a:p>
            <a:endParaRPr/>
          </a:p>
        </p:txBody>
      </p:sp>
      <p:sp>
        <p:nvSpPr>
          <p:cNvPr id="14" name="Rectangle 13">
            <a:extLst>
              <a:ext uri="{FF2B5EF4-FFF2-40B4-BE49-F238E27FC236}">
                <a16:creationId xmlns:a16="http://schemas.microsoft.com/office/drawing/2014/main" id="{ABEF6BDA-0B92-41FD-8146-912E1EC541F5}"/>
              </a:ext>
            </a:extLst>
          </p:cNvPr>
          <p:cNvSpPr>
            <a:spLocks noGrp="1"/>
          </p:cNvSpPr>
          <p:nvPr/>
        </p:nvSpPr>
        <p:spPr>
          <a:xfrm>
            <a:off x="2000250" y="37433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264653"/>
                </a:solidFill>
                <a:latin typeface="Aptos"/>
                <a:ea typeface="Aptos"/>
                <a:cs typeface="Aptos"/>
              </a:defRPr>
            </a:pPr>
            <a:r>
              <a:rPr sz="1050" b="1">
                <a:solidFill>
                  <a:srgbClr val="264653"/>
                </a:solidFill>
                <a:latin typeface="Aptos"/>
                <a:ea typeface="Aptos"/>
                <a:cs typeface="Aptos"/>
              </a:rPr>
              <a:t>small or mismatched sample sets</a:t>
            </a:r>
          </a:p>
        </p:txBody>
      </p:sp>
      <p:sp>
        <p:nvSpPr>
          <p:cNvPr id="15" name="Rounded Rectangle 14">
            <a:extLst>
              <a:ext uri="{FF2B5EF4-FFF2-40B4-BE49-F238E27FC236}">
                <a16:creationId xmlns:a16="http://schemas.microsoft.com/office/drawing/2014/main" id="{6C3D5853-DE13-4C47-A8A3-662004316D58}"/>
              </a:ext>
            </a:extLst>
          </p:cNvPr>
          <p:cNvSpPr>
            <a:spLocks noGrp="1"/>
          </p:cNvSpPr>
          <p:nvPr/>
        </p:nvSpPr>
        <p:spPr>
          <a:xfrm>
            <a:off x="6477000" y="1238250"/>
            <a:ext cx="4000500" cy="381000"/>
          </a:xfrm>
          <a:prstGeom prst="roundRect">
            <a:avLst>
              <a:gd name="adj" fmla="val 15000"/>
            </a:avLst>
          </a:prstGeom>
          <a:solidFill>
            <a:srgbClr val="FFF5F0"/>
          </a:solidFill>
          <a:ln w="9525">
            <a:solidFill>
              <a:srgbClr val="E76F51"/>
            </a:solidFill>
            <a:prstDash val="solid"/>
          </a:ln>
        </p:spPr>
        <p:txBody>
          <a:bodyPr/>
          <a:lstStyle/>
          <a:p>
            <a:endParaRPr/>
          </a:p>
        </p:txBody>
      </p:sp>
      <p:sp>
        <p:nvSpPr>
          <p:cNvPr id="16" name="Rectangle 15">
            <a:extLst>
              <a:ext uri="{FF2B5EF4-FFF2-40B4-BE49-F238E27FC236}">
                <a16:creationId xmlns:a16="http://schemas.microsoft.com/office/drawing/2014/main" id="{38CBEA43-CF15-4C22-AD3F-C5870D180620}"/>
              </a:ext>
            </a:extLst>
          </p:cNvPr>
          <p:cNvSpPr>
            <a:spLocks noGrp="1"/>
          </p:cNvSpPr>
          <p:nvPr/>
        </p:nvSpPr>
        <p:spPr>
          <a:xfrm>
            <a:off x="6686550" y="13430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E76F51"/>
                </a:solidFill>
                <a:latin typeface="Aptos"/>
                <a:ea typeface="Aptos"/>
                <a:cs typeface="Aptos"/>
              </a:defRPr>
            </a:pPr>
            <a:r>
              <a:rPr sz="1050" b="1">
                <a:solidFill>
                  <a:srgbClr val="E76F51"/>
                </a:solidFill>
                <a:latin typeface="Aptos"/>
                <a:ea typeface="Aptos"/>
                <a:cs typeface="Aptos"/>
              </a:rPr>
              <a:t>mixed line-crop provenance</a:t>
            </a:r>
          </a:p>
        </p:txBody>
      </p:sp>
      <p:sp>
        <p:nvSpPr>
          <p:cNvPr id="17" name="Rounded Rectangle 16">
            <a:extLst>
              <a:ext uri="{FF2B5EF4-FFF2-40B4-BE49-F238E27FC236}">
                <a16:creationId xmlns:a16="http://schemas.microsoft.com/office/drawing/2014/main" id="{52DA91C3-A9D8-4860-954E-076A3A9781F1}"/>
              </a:ext>
            </a:extLst>
          </p:cNvPr>
          <p:cNvSpPr>
            <a:spLocks noGrp="1"/>
          </p:cNvSpPr>
          <p:nvPr/>
        </p:nvSpPr>
        <p:spPr>
          <a:xfrm>
            <a:off x="6477000" y="2038350"/>
            <a:ext cx="4000500" cy="381000"/>
          </a:xfrm>
          <a:prstGeom prst="roundRect">
            <a:avLst>
              <a:gd name="adj" fmla="val 15000"/>
            </a:avLst>
          </a:prstGeom>
          <a:solidFill>
            <a:srgbClr val="FFF5F0"/>
          </a:solidFill>
          <a:ln w="9525">
            <a:solidFill>
              <a:srgbClr val="E76F51"/>
            </a:solidFill>
            <a:prstDash val="solid"/>
          </a:ln>
        </p:spPr>
        <p:txBody>
          <a:bodyPr/>
          <a:lstStyle/>
          <a:p>
            <a:endParaRPr/>
          </a:p>
        </p:txBody>
      </p:sp>
      <p:sp>
        <p:nvSpPr>
          <p:cNvPr id="18" name="Rectangle 17">
            <a:extLst>
              <a:ext uri="{FF2B5EF4-FFF2-40B4-BE49-F238E27FC236}">
                <a16:creationId xmlns:a16="http://schemas.microsoft.com/office/drawing/2014/main" id="{3C562A06-99E4-433F-8AF9-DF6F7B5C9B2B}"/>
              </a:ext>
            </a:extLst>
          </p:cNvPr>
          <p:cNvSpPr>
            <a:spLocks noGrp="1"/>
          </p:cNvSpPr>
          <p:nvPr/>
        </p:nvSpPr>
        <p:spPr>
          <a:xfrm>
            <a:off x="6686550" y="21431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E76F51"/>
                </a:solidFill>
                <a:latin typeface="Aptos"/>
                <a:ea typeface="Aptos"/>
                <a:cs typeface="Aptos"/>
              </a:defRPr>
            </a:pPr>
            <a:r>
              <a:rPr sz="1050" b="1">
                <a:solidFill>
                  <a:srgbClr val="E76F51"/>
                </a:solidFill>
                <a:latin typeface="Aptos"/>
                <a:ea typeface="Aptos"/>
                <a:cs typeface="Aptos"/>
              </a:rPr>
              <a:t>projection vs raw returned text</a:t>
            </a:r>
          </a:p>
        </p:txBody>
      </p:sp>
      <p:sp>
        <p:nvSpPr>
          <p:cNvPr id="19" name="Rounded Rectangle 18">
            <a:extLst>
              <a:ext uri="{FF2B5EF4-FFF2-40B4-BE49-F238E27FC236}">
                <a16:creationId xmlns:a16="http://schemas.microsoft.com/office/drawing/2014/main" id="{5E2ACA79-95E3-4EF5-815B-1C96F06CDED3}"/>
              </a:ext>
            </a:extLst>
          </p:cNvPr>
          <p:cNvSpPr>
            <a:spLocks noGrp="1"/>
          </p:cNvSpPr>
          <p:nvPr/>
        </p:nvSpPr>
        <p:spPr>
          <a:xfrm>
            <a:off x="6477000" y="2838450"/>
            <a:ext cx="4000500" cy="381000"/>
          </a:xfrm>
          <a:prstGeom prst="roundRect">
            <a:avLst>
              <a:gd name="adj" fmla="val 15000"/>
            </a:avLst>
          </a:prstGeom>
          <a:solidFill>
            <a:srgbClr val="FFF5F0"/>
          </a:solidFill>
          <a:ln w="9525">
            <a:solidFill>
              <a:srgbClr val="E76F51"/>
            </a:solidFill>
            <a:prstDash val="solid"/>
          </a:ln>
        </p:spPr>
        <p:txBody>
          <a:bodyPr/>
          <a:lstStyle/>
          <a:p>
            <a:endParaRPr/>
          </a:p>
        </p:txBody>
      </p:sp>
      <p:sp>
        <p:nvSpPr>
          <p:cNvPr id="20" name="Rectangle 19">
            <a:extLst>
              <a:ext uri="{FF2B5EF4-FFF2-40B4-BE49-F238E27FC236}">
                <a16:creationId xmlns:a16="http://schemas.microsoft.com/office/drawing/2014/main" id="{74A65492-DA6D-4248-A659-D7050A90774A}"/>
              </a:ext>
            </a:extLst>
          </p:cNvPr>
          <p:cNvSpPr>
            <a:spLocks noGrp="1"/>
          </p:cNvSpPr>
          <p:nvPr/>
        </p:nvSpPr>
        <p:spPr>
          <a:xfrm>
            <a:off x="6686550" y="29432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E76F51"/>
                </a:solidFill>
                <a:latin typeface="Aptos"/>
                <a:ea typeface="Aptos"/>
                <a:cs typeface="Aptos"/>
              </a:defRPr>
            </a:pPr>
            <a:r>
              <a:rPr sz="1050" b="1">
                <a:solidFill>
                  <a:srgbClr val="E76F51"/>
                </a:solidFill>
                <a:latin typeface="Aptos"/>
                <a:ea typeface="Aptos"/>
                <a:cs typeface="Aptos"/>
              </a:rPr>
              <a:t>NNTP PyLaia symbol filtering</a:t>
            </a:r>
          </a:p>
        </p:txBody>
      </p:sp>
      <p:sp>
        <p:nvSpPr>
          <p:cNvPr id="21" name="Rounded Rectangle 20">
            <a:extLst>
              <a:ext uri="{FF2B5EF4-FFF2-40B4-BE49-F238E27FC236}">
                <a16:creationId xmlns:a16="http://schemas.microsoft.com/office/drawing/2014/main" id="{C6509E4C-D3C6-4570-A4AA-70BFC2DF5125}"/>
              </a:ext>
            </a:extLst>
          </p:cNvPr>
          <p:cNvSpPr>
            <a:spLocks noGrp="1"/>
          </p:cNvSpPr>
          <p:nvPr/>
        </p:nvSpPr>
        <p:spPr>
          <a:xfrm>
            <a:off x="6477000" y="3638550"/>
            <a:ext cx="4000500" cy="381000"/>
          </a:xfrm>
          <a:prstGeom prst="roundRect">
            <a:avLst>
              <a:gd name="adj" fmla="val 15000"/>
            </a:avLst>
          </a:prstGeom>
          <a:solidFill>
            <a:srgbClr val="FFF5F0"/>
          </a:solidFill>
          <a:ln w="9525">
            <a:solidFill>
              <a:srgbClr val="E76F51"/>
            </a:solidFill>
            <a:prstDash val="solid"/>
          </a:ln>
        </p:spPr>
        <p:txBody>
          <a:bodyPr/>
          <a:lstStyle/>
          <a:p>
            <a:endParaRPr/>
          </a:p>
        </p:txBody>
      </p:sp>
      <p:sp>
        <p:nvSpPr>
          <p:cNvPr id="22" name="Rectangle 21">
            <a:extLst>
              <a:ext uri="{FF2B5EF4-FFF2-40B4-BE49-F238E27FC236}">
                <a16:creationId xmlns:a16="http://schemas.microsoft.com/office/drawing/2014/main" id="{F638E6C9-1238-406A-8A97-E497876AFA4C}"/>
              </a:ext>
            </a:extLst>
          </p:cNvPr>
          <p:cNvSpPr>
            <a:spLocks noGrp="1"/>
          </p:cNvSpPr>
          <p:nvPr/>
        </p:nvSpPr>
        <p:spPr>
          <a:xfrm>
            <a:off x="6686550" y="3743325"/>
            <a:ext cx="3581400" cy="152400"/>
          </a:xfrm>
          <a:prstGeom prst="rect">
            <a:avLst/>
          </a:prstGeom>
          <a:solidFill>
            <a:srgbClr val="000000">
              <a:alpha val="0"/>
            </a:srgbClr>
          </a:solidFill>
          <a:ln w="9525">
            <a:solidFill>
              <a:srgbClr val="000000">
                <a:alpha val="0"/>
              </a:srgbClr>
            </a:solidFill>
            <a:prstDash val="solid"/>
          </a:ln>
        </p:spPr>
        <p:txBody>
          <a:bodyPr wrap="square" lIns="57150" tIns="38100" rIns="57150" bIns="38100" anchor="t"/>
          <a:lstStyle/>
          <a:p>
            <a:pPr algn="ctr">
              <a:buNone/>
              <a:defRPr sz="1050" b="1">
                <a:solidFill>
                  <a:srgbClr val="E76F51"/>
                </a:solidFill>
                <a:latin typeface="Aptos"/>
                <a:ea typeface="Aptos"/>
                <a:cs typeface="Aptos"/>
              </a:defRPr>
            </a:pPr>
            <a:r>
              <a:rPr sz="1050" b="1">
                <a:solidFill>
                  <a:srgbClr val="E76F51"/>
                </a:solidFill>
                <a:latin typeface="Aptos"/>
                <a:ea typeface="Aptos"/>
                <a:cs typeface="Aptos"/>
              </a:rPr>
              <a:t>missing deterministic scaffold ablations</a:t>
            </a:r>
          </a:p>
        </p:txBody>
      </p:sp>
    </p:spTree>
    <p:extLst>
      <p:ext uri="{BB962C8B-B14F-4D97-AF65-F5344CB8AC3E}">
        <p14:creationId xmlns:p14="http://schemas.microsoft.com/office/powerpoint/2010/main" val="253583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2656BB8-76E8-47EA-B5FA-5B507C40A201}"/>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26" name="ctc-label">
            <a:extLst>
              <a:ext uri="{FF2B5EF4-FFF2-40B4-BE49-F238E27FC236}">
                <a16:creationId xmlns:a16="http://schemas.microsoft.com/office/drawing/2014/main" id="{1501704A-EB79-4E76-93BC-3BD66282B0FD}"/>
              </a:ext>
            </a:extLst>
          </p:cNvPr>
          <p:cNvSpPr>
            <a:spLocks noGrp="1"/>
          </p:cNvSpPr>
          <p:nvPr/>
        </p:nvSpPr>
        <p:spPr>
          <a:xfrm>
            <a:off x="819150" y="1000125"/>
            <a:ext cx="20002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275" b="1">
                <a:solidFill>
                  <a:srgbClr val="139E91"/>
                </a:solidFill>
                <a:latin typeface="Aptos"/>
                <a:ea typeface="Aptos"/>
                <a:cs typeface="Aptos"/>
              </a:defRPr>
            </a:pPr>
            <a:r>
              <a:rPr sz="1275" b="1">
                <a:solidFill>
                  <a:srgbClr val="139E91"/>
                </a:solidFill>
                <a:latin typeface="Aptos"/>
                <a:ea typeface="Aptos"/>
                <a:cs typeface="Aptos"/>
              </a:rPr>
              <a:t>CTC Recognizer</a:t>
            </a:r>
          </a:p>
        </p:txBody>
      </p:sp>
      <p:sp>
        <p:nvSpPr>
          <p:cNvPr id="27" name="ctc-step-1">
            <a:extLst>
              <a:ext uri="{FF2B5EF4-FFF2-40B4-BE49-F238E27FC236}">
                <a16:creationId xmlns:a16="http://schemas.microsoft.com/office/drawing/2014/main" id="{56A7365D-24B0-4FF5-BD67-27AFDED20DCE}"/>
              </a:ext>
            </a:extLst>
          </p:cNvPr>
          <p:cNvSpPr>
            <a:spLocks noGrp="1"/>
          </p:cNvSpPr>
          <p:nvPr/>
        </p:nvSpPr>
        <p:spPr>
          <a:xfrm>
            <a:off x="819150" y="1438275"/>
            <a:ext cx="2000250" cy="628650"/>
          </a:xfrm>
          <a:prstGeom prst="rect">
            <a:avLst/>
          </a:prstGeom>
          <a:solidFill>
            <a:srgbClr val="DDF2EF"/>
          </a:solidFill>
          <a:ln w="9525">
            <a:solidFill>
              <a:srgbClr val="A9D6D0"/>
            </a:solidFill>
            <a:prstDash val="solid"/>
          </a:ln>
        </p:spPr>
        <p:txBody>
          <a:bodyPr lIns="114300" tIns="76200" rIns="114300" bIns="76200" anchor="ctr"/>
          <a:lstStyle/>
          <a:p>
            <a:pPr algn="ctr">
              <a:buNone/>
              <a:defRPr sz="1350" b="1">
                <a:solidFill>
                  <a:srgbClr val="173E46"/>
                </a:solidFill>
                <a:latin typeface="Aptos"/>
                <a:ea typeface="Aptos"/>
                <a:cs typeface="Aptos"/>
              </a:defRPr>
            </a:pPr>
            <a:r>
              <a:rPr sz="1350" b="1">
                <a:solidFill>
                  <a:srgbClr val="173E46"/>
                </a:solidFill>
                <a:latin typeface="Aptos"/>
                <a:ea typeface="Aptos"/>
                <a:cs typeface="Aptos"/>
              </a:rPr>
              <a:t>Image Time</a:t>
            </a:r>
          </a:p>
          <a:p>
            <a:pPr algn="ctr">
              <a:buNone/>
              <a:defRPr sz="1350" b="1">
                <a:solidFill>
                  <a:srgbClr val="173E46"/>
                </a:solidFill>
                <a:latin typeface="Aptos"/>
                <a:ea typeface="Aptos"/>
                <a:cs typeface="Aptos"/>
              </a:defRPr>
            </a:pPr>
            <a:r>
              <a:rPr sz="1350" b="1">
                <a:solidFill>
                  <a:srgbClr val="173E46"/>
                </a:solidFill>
                <a:latin typeface="Aptos"/>
                <a:ea typeface="Aptos"/>
                <a:cs typeface="Aptos"/>
              </a:rPr>
              <a:t>Steps</a:t>
            </a:r>
          </a:p>
        </p:txBody>
      </p:sp>
      <p:sp>
        <p:nvSpPr>
          <p:cNvPr id="28" name="flow-arrow">
            <a:extLst>
              <a:ext uri="{FF2B5EF4-FFF2-40B4-BE49-F238E27FC236}">
                <a16:creationId xmlns:a16="http://schemas.microsoft.com/office/drawing/2014/main" id="{E5D18ADA-D20C-4F00-B981-3AFAA9620C20}"/>
              </a:ext>
            </a:extLst>
          </p:cNvPr>
          <p:cNvSpPr>
            <a:spLocks noGrp="1"/>
          </p:cNvSpPr>
          <p:nvPr/>
        </p:nvSpPr>
        <p:spPr>
          <a:xfrm>
            <a:off x="2943225" y="1647825"/>
            <a:ext cx="4572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1350" b="1">
                <a:solidFill>
                  <a:srgbClr val="139E91"/>
                </a:solidFill>
                <a:latin typeface="Aptos"/>
                <a:ea typeface="Aptos"/>
                <a:cs typeface="Aptos"/>
              </a:defRPr>
            </a:pPr>
            <a:r>
              <a:rPr sz="1350" b="1">
                <a:solidFill>
                  <a:srgbClr val="139E91"/>
                </a:solidFill>
                <a:latin typeface="Aptos"/>
                <a:ea typeface="Aptos"/>
                <a:cs typeface="Aptos"/>
              </a:rPr>
              <a:t>-&gt;</a:t>
            </a:r>
          </a:p>
        </p:txBody>
      </p:sp>
      <p:sp>
        <p:nvSpPr>
          <p:cNvPr id="29" name="ctc-step-2">
            <a:extLst>
              <a:ext uri="{FF2B5EF4-FFF2-40B4-BE49-F238E27FC236}">
                <a16:creationId xmlns:a16="http://schemas.microsoft.com/office/drawing/2014/main" id="{84716BE0-EC5C-43B5-A206-B7D77A71BA6E}"/>
              </a:ext>
            </a:extLst>
          </p:cNvPr>
          <p:cNvSpPr>
            <a:spLocks noGrp="1"/>
          </p:cNvSpPr>
          <p:nvPr/>
        </p:nvSpPr>
        <p:spPr>
          <a:xfrm>
            <a:off x="3524250" y="1438275"/>
            <a:ext cx="2362200" cy="628650"/>
          </a:xfrm>
          <a:prstGeom prst="rect">
            <a:avLst/>
          </a:prstGeom>
          <a:solidFill>
            <a:srgbClr val="DDF2EF"/>
          </a:solidFill>
          <a:ln w="9525">
            <a:solidFill>
              <a:srgbClr val="A9D6D0"/>
            </a:solidFill>
            <a:prstDash val="solid"/>
          </a:ln>
        </p:spPr>
        <p:txBody>
          <a:bodyPr lIns="114300" tIns="76200" rIns="114300" bIns="76200" anchor="ctr"/>
          <a:lstStyle/>
          <a:p>
            <a:pPr algn="ctr">
              <a:buNone/>
              <a:defRPr sz="1350" b="1">
                <a:solidFill>
                  <a:srgbClr val="173E46"/>
                </a:solidFill>
                <a:latin typeface="Aptos"/>
                <a:ea typeface="Aptos"/>
                <a:cs typeface="Aptos"/>
              </a:defRPr>
            </a:pPr>
            <a:r>
              <a:rPr sz="1350" b="1">
                <a:solidFill>
                  <a:srgbClr val="173E46"/>
                </a:solidFill>
                <a:latin typeface="Aptos"/>
                <a:ea typeface="Aptos"/>
                <a:cs typeface="Aptos"/>
              </a:rPr>
              <a:t>Character / Blank</a:t>
            </a:r>
          </a:p>
          <a:p>
            <a:pPr algn="ctr">
              <a:buNone/>
              <a:defRPr sz="1350" b="1">
                <a:solidFill>
                  <a:srgbClr val="173E46"/>
                </a:solidFill>
                <a:latin typeface="Aptos"/>
                <a:ea typeface="Aptos"/>
                <a:cs typeface="Aptos"/>
              </a:defRPr>
            </a:pPr>
            <a:r>
              <a:rPr sz="1350" b="1">
                <a:solidFill>
                  <a:srgbClr val="173E46"/>
                </a:solidFill>
                <a:latin typeface="Aptos"/>
                <a:ea typeface="Aptos"/>
                <a:cs typeface="Aptos"/>
              </a:rPr>
              <a:t>Probabilities</a:t>
            </a:r>
          </a:p>
        </p:txBody>
      </p:sp>
      <p:sp>
        <p:nvSpPr>
          <p:cNvPr id="30" name="flow-arrow">
            <a:extLst>
              <a:ext uri="{FF2B5EF4-FFF2-40B4-BE49-F238E27FC236}">
                <a16:creationId xmlns:a16="http://schemas.microsoft.com/office/drawing/2014/main" id="{CB657037-21A0-4CD6-9B48-6438BE2640C4}"/>
              </a:ext>
            </a:extLst>
          </p:cNvPr>
          <p:cNvSpPr>
            <a:spLocks noGrp="1"/>
          </p:cNvSpPr>
          <p:nvPr/>
        </p:nvSpPr>
        <p:spPr>
          <a:xfrm rot="5400000">
            <a:off x="4453707" y="2238068"/>
            <a:ext cx="4572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1350" b="1">
                <a:solidFill>
                  <a:srgbClr val="139E91"/>
                </a:solidFill>
                <a:latin typeface="Aptos"/>
                <a:ea typeface="Aptos"/>
                <a:cs typeface="Aptos"/>
              </a:defRPr>
            </a:pPr>
            <a:r>
              <a:rPr sz="1350" b="1">
                <a:solidFill>
                  <a:srgbClr val="139E91"/>
                </a:solidFill>
                <a:latin typeface="Aptos"/>
                <a:ea typeface="Aptos"/>
                <a:cs typeface="Aptos"/>
              </a:rPr>
              <a:t>-&gt;</a:t>
            </a:r>
          </a:p>
        </p:txBody>
      </p:sp>
      <p:sp>
        <p:nvSpPr>
          <p:cNvPr id="31" name="ctc-step-3">
            <a:extLst>
              <a:ext uri="{FF2B5EF4-FFF2-40B4-BE49-F238E27FC236}">
                <a16:creationId xmlns:a16="http://schemas.microsoft.com/office/drawing/2014/main" id="{4637E5A2-1C03-4C2A-B3EA-DBB64D558B2D}"/>
              </a:ext>
            </a:extLst>
          </p:cNvPr>
          <p:cNvSpPr>
            <a:spLocks noGrp="1"/>
          </p:cNvSpPr>
          <p:nvPr/>
        </p:nvSpPr>
        <p:spPr>
          <a:xfrm>
            <a:off x="3593537" y="2476040"/>
            <a:ext cx="2000250" cy="628650"/>
          </a:xfrm>
          <a:prstGeom prst="rect">
            <a:avLst/>
          </a:prstGeom>
          <a:solidFill>
            <a:srgbClr val="F8EBCB"/>
          </a:solidFill>
          <a:ln w="9525">
            <a:solidFill>
              <a:srgbClr val="E0BD6E"/>
            </a:solidFill>
            <a:prstDash val="solid"/>
          </a:ln>
        </p:spPr>
        <p:txBody>
          <a:bodyPr lIns="114300" tIns="76200" rIns="114300" bIns="76200" anchor="ctr"/>
          <a:lstStyle/>
          <a:p>
            <a:pPr algn="ctr">
              <a:buNone/>
              <a:defRPr sz="1350" b="1">
                <a:solidFill>
                  <a:srgbClr val="173E46"/>
                </a:solidFill>
                <a:latin typeface="Aptos"/>
                <a:ea typeface="Aptos"/>
                <a:cs typeface="Aptos"/>
              </a:defRPr>
            </a:pPr>
            <a:r>
              <a:rPr sz="1350" b="1">
                <a:solidFill>
                  <a:srgbClr val="173E46"/>
                </a:solidFill>
                <a:latin typeface="Aptos"/>
                <a:ea typeface="Aptos"/>
                <a:cs typeface="Aptos"/>
              </a:rPr>
              <a:t>Path Sum /</a:t>
            </a:r>
          </a:p>
          <a:p>
            <a:pPr algn="ctr">
              <a:buNone/>
              <a:defRPr sz="1350" b="1">
                <a:solidFill>
                  <a:srgbClr val="173E46"/>
                </a:solidFill>
                <a:latin typeface="Aptos"/>
                <a:ea typeface="Aptos"/>
                <a:cs typeface="Aptos"/>
              </a:defRPr>
            </a:pPr>
            <a:r>
              <a:rPr sz="1350" b="1">
                <a:solidFill>
                  <a:srgbClr val="173E46"/>
                </a:solidFill>
                <a:latin typeface="Aptos"/>
                <a:ea typeface="Aptos"/>
                <a:cs typeface="Aptos"/>
              </a:rPr>
              <a:t>Collapse</a:t>
            </a:r>
          </a:p>
        </p:txBody>
      </p:sp>
      <p:sp>
        <p:nvSpPr>
          <p:cNvPr id="32" name="ctc-loss-box">
            <a:extLst>
              <a:ext uri="{FF2B5EF4-FFF2-40B4-BE49-F238E27FC236}">
                <a16:creationId xmlns:a16="http://schemas.microsoft.com/office/drawing/2014/main" id="{0E4EEEA6-25E7-4820-B56D-B8B5A1397F6A}"/>
              </a:ext>
            </a:extLst>
          </p:cNvPr>
          <p:cNvSpPr>
            <a:spLocks noGrp="1"/>
          </p:cNvSpPr>
          <p:nvPr/>
        </p:nvSpPr>
        <p:spPr>
          <a:xfrm>
            <a:off x="819150" y="2285540"/>
            <a:ext cx="2428875" cy="704850"/>
          </a:xfrm>
          <a:prstGeom prst="rect">
            <a:avLst/>
          </a:prstGeom>
          <a:solidFill>
            <a:srgbClr val="F8EBCB"/>
          </a:solidFill>
          <a:ln w="9525">
            <a:solidFill>
              <a:srgbClr val="E0BD6E"/>
            </a:solidFill>
            <a:prstDash val="solid"/>
          </a:ln>
        </p:spPr>
        <p:txBody>
          <a:bodyPr lIns="114300" tIns="76200" rIns="114300" bIns="76200" anchor="ctr"/>
          <a:lstStyle/>
          <a:p>
            <a:pPr algn="ctr">
              <a:buNone/>
              <a:defRPr sz="980" b="1">
                <a:solidFill>
                  <a:srgbClr val="173E46"/>
                </a:solidFill>
                <a:latin typeface="Aptos"/>
                <a:ea typeface="Aptos"/>
                <a:cs typeface="Aptos"/>
              </a:defRPr>
            </a:pPr>
            <a:r>
              <a:rPr sz="980" b="1">
                <a:solidFill>
                  <a:srgbClr val="173E46"/>
                </a:solidFill>
                <a:latin typeface="Aptos"/>
                <a:ea typeface="Aptos"/>
                <a:cs typeface="Aptos"/>
              </a:rPr>
              <a:t>CTC Loss = −log Total Probability</a:t>
            </a:r>
          </a:p>
          <a:p>
            <a:pPr algn="ctr">
              <a:buNone/>
              <a:defRPr sz="980" b="1">
                <a:solidFill>
                  <a:srgbClr val="173E46"/>
                </a:solidFill>
                <a:latin typeface="Aptos"/>
                <a:ea typeface="Aptos"/>
                <a:cs typeface="Aptos"/>
              </a:defRPr>
            </a:pPr>
            <a:r>
              <a:rPr sz="980" b="1">
                <a:solidFill>
                  <a:srgbClr val="173E46"/>
                </a:solidFill>
                <a:latin typeface="Aptos"/>
                <a:ea typeface="Aptos"/>
                <a:cs typeface="Aptos"/>
              </a:rPr>
              <a:t>Of All Valid Paths That Collapse</a:t>
            </a:r>
          </a:p>
          <a:p>
            <a:pPr algn="ctr">
              <a:buNone/>
              <a:defRPr sz="980" b="1">
                <a:solidFill>
                  <a:srgbClr val="173E46"/>
                </a:solidFill>
                <a:latin typeface="Aptos"/>
                <a:ea typeface="Aptos"/>
                <a:cs typeface="Aptos"/>
              </a:defRPr>
            </a:pPr>
            <a:r>
              <a:rPr sz="980" b="1">
                <a:solidFill>
                  <a:srgbClr val="173E46"/>
                </a:solidFill>
                <a:latin typeface="Aptos"/>
                <a:ea typeface="Aptos"/>
                <a:cs typeface="Aptos"/>
              </a:rPr>
              <a:t>To The Target Text</a:t>
            </a:r>
          </a:p>
        </p:txBody>
      </p:sp>
      <p:sp>
        <p:nvSpPr>
          <p:cNvPr id="33" name="ctc-collapse-label">
            <a:extLst>
              <a:ext uri="{FF2B5EF4-FFF2-40B4-BE49-F238E27FC236}">
                <a16:creationId xmlns:a16="http://schemas.microsoft.com/office/drawing/2014/main" id="{58190497-49EC-4A6B-BEDA-E9A65580B515}"/>
              </a:ext>
            </a:extLst>
          </p:cNvPr>
          <p:cNvSpPr>
            <a:spLocks noGrp="1"/>
          </p:cNvSpPr>
          <p:nvPr/>
        </p:nvSpPr>
        <p:spPr>
          <a:xfrm>
            <a:off x="819150" y="3104690"/>
            <a:ext cx="2428875" cy="342900"/>
          </a:xfrm>
          <a:prstGeom prst="rect">
            <a:avLst/>
          </a:prstGeom>
          <a:solidFill>
            <a:srgbClr val="F5EFE5"/>
          </a:solidFill>
          <a:ln w="9525">
            <a:solidFill>
              <a:srgbClr val="E2D7C8"/>
            </a:solidFill>
            <a:prstDash val="solid"/>
          </a:ln>
        </p:spPr>
        <p:txBody>
          <a:bodyPr lIns="114300" tIns="76200" rIns="114300" bIns="76200" anchor="ctr"/>
          <a:lstStyle/>
          <a:p>
            <a:pPr algn="ctr">
              <a:buNone/>
              <a:defRPr sz="975" b="0">
                <a:solidFill>
                  <a:srgbClr val="5F6E6D"/>
                </a:solidFill>
                <a:latin typeface="Aptos"/>
                <a:ea typeface="Aptos"/>
                <a:cs typeface="Aptos"/>
              </a:defRPr>
            </a:pPr>
            <a:r>
              <a:rPr sz="975" b="0">
                <a:solidFill>
                  <a:srgbClr val="5F6E6D"/>
                </a:solidFill>
                <a:latin typeface="Aptos"/>
                <a:ea typeface="Aptos"/>
                <a:cs typeface="Aptos"/>
              </a:rPr>
              <a:t>Blank + Repeats Collapse To Text.</a:t>
            </a:r>
          </a:p>
        </p:txBody>
      </p:sp>
      <p:sp>
        <p:nvSpPr>
          <p:cNvPr id="34" name="nntp-label">
            <a:extLst>
              <a:ext uri="{FF2B5EF4-FFF2-40B4-BE49-F238E27FC236}">
                <a16:creationId xmlns:a16="http://schemas.microsoft.com/office/drawing/2014/main" id="{692CB137-04E2-437C-8FD1-FDD63ED4FF33}"/>
              </a:ext>
            </a:extLst>
          </p:cNvPr>
          <p:cNvSpPr>
            <a:spLocks noGrp="1"/>
          </p:cNvSpPr>
          <p:nvPr/>
        </p:nvSpPr>
        <p:spPr>
          <a:xfrm>
            <a:off x="376699" y="4343400"/>
            <a:ext cx="20002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275" b="1">
                <a:solidFill>
                  <a:srgbClr val="E86E52"/>
                </a:solidFill>
                <a:latin typeface="Aptos"/>
                <a:ea typeface="Aptos"/>
                <a:cs typeface="Aptos"/>
              </a:defRPr>
            </a:pPr>
            <a:r>
              <a:rPr sz="1275" b="1">
                <a:solidFill>
                  <a:srgbClr val="E86E52"/>
                </a:solidFill>
                <a:latin typeface="Aptos"/>
                <a:ea typeface="Aptos"/>
                <a:cs typeface="Aptos"/>
              </a:rPr>
              <a:t>NNTP</a:t>
            </a:r>
          </a:p>
        </p:txBody>
      </p:sp>
      <p:sp>
        <p:nvSpPr>
          <p:cNvPr id="35" name="nntp-step-1">
            <a:extLst>
              <a:ext uri="{FF2B5EF4-FFF2-40B4-BE49-F238E27FC236}">
                <a16:creationId xmlns:a16="http://schemas.microsoft.com/office/drawing/2014/main" id="{4B7BCF4A-24BB-454F-ABA4-5D5E58A136BF}"/>
              </a:ext>
            </a:extLst>
          </p:cNvPr>
          <p:cNvSpPr>
            <a:spLocks noGrp="1"/>
          </p:cNvSpPr>
          <p:nvPr/>
        </p:nvSpPr>
        <p:spPr>
          <a:xfrm>
            <a:off x="376699" y="4791075"/>
            <a:ext cx="3219450" cy="704850"/>
          </a:xfrm>
          <a:prstGeom prst="rect">
            <a:avLst/>
          </a:prstGeom>
          <a:solidFill>
            <a:srgbClr val="FCE5DE"/>
          </a:solidFill>
          <a:ln w="9525">
            <a:solidFill>
              <a:srgbClr val="EFB9AB"/>
            </a:solidFill>
            <a:prstDash val="solid"/>
          </a:ln>
        </p:spPr>
        <p:txBody>
          <a:bodyPr lIns="114300" tIns="76200" rIns="114300" bIns="76200" anchor="ctr"/>
          <a:lstStyle/>
          <a:p>
            <a:pPr algn="ctr">
              <a:buNone/>
              <a:defRPr sz="1275" b="1">
                <a:solidFill>
                  <a:srgbClr val="173E46"/>
                </a:solidFill>
                <a:latin typeface="Aptos"/>
                <a:ea typeface="Aptos"/>
                <a:cs typeface="Aptos"/>
              </a:defRPr>
            </a:pPr>
            <a:r>
              <a:rPr sz="1275" b="1">
                <a:solidFill>
                  <a:srgbClr val="173E46"/>
                </a:solidFill>
                <a:latin typeface="Aptos"/>
                <a:ea typeface="Aptos"/>
                <a:cs typeface="Aptos"/>
              </a:rPr>
              <a:t>Line Images + CTC Observations</a:t>
            </a:r>
          </a:p>
          <a:p>
            <a:pPr algn="ctr">
              <a:buNone/>
              <a:defRPr sz="1275" b="1">
                <a:solidFill>
                  <a:srgbClr val="173E46"/>
                </a:solidFill>
                <a:latin typeface="Aptos"/>
                <a:ea typeface="Aptos"/>
                <a:cs typeface="Aptos"/>
              </a:defRPr>
            </a:pPr>
            <a:r>
              <a:rPr sz="1275" b="1">
                <a:solidFill>
                  <a:srgbClr val="173E46"/>
                </a:solidFill>
                <a:latin typeface="Aptos"/>
                <a:ea typeface="Aptos"/>
                <a:cs typeface="Aptos"/>
              </a:rPr>
              <a:t>+ Fixed Transcription</a:t>
            </a:r>
          </a:p>
        </p:txBody>
      </p:sp>
      <p:sp>
        <p:nvSpPr>
          <p:cNvPr id="36" name="flow-arrow">
            <a:extLst>
              <a:ext uri="{FF2B5EF4-FFF2-40B4-BE49-F238E27FC236}">
                <a16:creationId xmlns:a16="http://schemas.microsoft.com/office/drawing/2014/main" id="{5FDC578D-0493-49F1-988C-0BBEA3859AB0}"/>
              </a:ext>
            </a:extLst>
          </p:cNvPr>
          <p:cNvSpPr>
            <a:spLocks noGrp="1"/>
          </p:cNvSpPr>
          <p:nvPr/>
        </p:nvSpPr>
        <p:spPr>
          <a:xfrm>
            <a:off x="3729499" y="5029200"/>
            <a:ext cx="4953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1350" b="1">
                <a:solidFill>
                  <a:srgbClr val="E86E52"/>
                </a:solidFill>
                <a:latin typeface="Aptos"/>
                <a:ea typeface="Aptos"/>
                <a:cs typeface="Aptos"/>
              </a:defRPr>
            </a:pPr>
            <a:r>
              <a:rPr sz="1350" b="1">
                <a:solidFill>
                  <a:srgbClr val="E86E52"/>
                </a:solidFill>
                <a:latin typeface="Aptos"/>
                <a:ea typeface="Aptos"/>
                <a:cs typeface="Aptos"/>
              </a:rPr>
              <a:t>-&gt;</a:t>
            </a:r>
          </a:p>
        </p:txBody>
      </p:sp>
      <p:sp>
        <p:nvSpPr>
          <p:cNvPr id="37" name="nntp-step-2">
            <a:extLst>
              <a:ext uri="{FF2B5EF4-FFF2-40B4-BE49-F238E27FC236}">
                <a16:creationId xmlns:a16="http://schemas.microsoft.com/office/drawing/2014/main" id="{22CE7BAC-2D4E-4CC9-8164-41C997343272}"/>
              </a:ext>
            </a:extLst>
          </p:cNvPr>
          <p:cNvSpPr>
            <a:spLocks noGrp="1"/>
          </p:cNvSpPr>
          <p:nvPr/>
        </p:nvSpPr>
        <p:spPr>
          <a:xfrm>
            <a:off x="4358149" y="4791075"/>
            <a:ext cx="2266950" cy="704850"/>
          </a:xfrm>
          <a:prstGeom prst="rect">
            <a:avLst/>
          </a:prstGeom>
          <a:solidFill>
            <a:srgbClr val="FCE5DE"/>
          </a:solidFill>
          <a:ln w="9525">
            <a:solidFill>
              <a:srgbClr val="EFB9AB"/>
            </a:solidFill>
            <a:prstDash val="solid"/>
          </a:ln>
        </p:spPr>
        <p:txBody>
          <a:bodyPr lIns="114300" tIns="76200" rIns="114300" bIns="76200" anchor="ctr"/>
          <a:lstStyle/>
          <a:p>
            <a:pPr algn="ctr">
              <a:buNone/>
              <a:defRPr sz="1500" b="1">
                <a:solidFill>
                  <a:srgbClr val="173E46"/>
                </a:solidFill>
                <a:latin typeface="Aptos"/>
                <a:ea typeface="Aptos"/>
                <a:cs typeface="Aptos"/>
              </a:defRPr>
            </a:pPr>
            <a:r>
              <a:rPr sz="1500" b="1">
                <a:solidFill>
                  <a:srgbClr val="173E46"/>
                </a:solidFill>
                <a:latin typeface="Aptos"/>
                <a:ea typeface="Aptos"/>
                <a:cs typeface="Aptos"/>
              </a:rPr>
              <a:t>Forced</a:t>
            </a:r>
          </a:p>
          <a:p>
            <a:pPr algn="ctr">
              <a:buNone/>
              <a:defRPr sz="1500" b="1">
                <a:solidFill>
                  <a:srgbClr val="173E46"/>
                </a:solidFill>
                <a:latin typeface="Aptos"/>
                <a:ea typeface="Aptos"/>
                <a:cs typeface="Aptos"/>
              </a:defRPr>
            </a:pPr>
            <a:r>
              <a:rPr sz="1500" b="1">
                <a:solidFill>
                  <a:srgbClr val="173E46"/>
                </a:solidFill>
                <a:latin typeface="Aptos"/>
                <a:ea typeface="Aptos"/>
                <a:cs typeface="Aptos"/>
              </a:rPr>
              <a:t>Alignment</a:t>
            </a:r>
          </a:p>
        </p:txBody>
      </p:sp>
      <p:sp>
        <p:nvSpPr>
          <p:cNvPr id="38" name="flow-arrow">
            <a:extLst>
              <a:ext uri="{FF2B5EF4-FFF2-40B4-BE49-F238E27FC236}">
                <a16:creationId xmlns:a16="http://schemas.microsoft.com/office/drawing/2014/main" id="{DA2D430D-6BFD-4B48-82BE-A6FF0531661A}"/>
              </a:ext>
            </a:extLst>
          </p:cNvPr>
          <p:cNvSpPr>
            <a:spLocks noGrp="1"/>
          </p:cNvSpPr>
          <p:nvPr/>
        </p:nvSpPr>
        <p:spPr>
          <a:xfrm>
            <a:off x="6758449" y="5029200"/>
            <a:ext cx="4953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1350" b="1">
                <a:solidFill>
                  <a:srgbClr val="E86E52"/>
                </a:solidFill>
                <a:latin typeface="Aptos"/>
                <a:ea typeface="Aptos"/>
                <a:cs typeface="Aptos"/>
              </a:defRPr>
            </a:pPr>
            <a:r>
              <a:rPr sz="1350" b="1">
                <a:solidFill>
                  <a:srgbClr val="E86E52"/>
                </a:solidFill>
                <a:latin typeface="Aptos"/>
                <a:ea typeface="Aptos"/>
                <a:cs typeface="Aptos"/>
              </a:rPr>
              <a:t>-&gt;</a:t>
            </a:r>
          </a:p>
        </p:txBody>
      </p:sp>
      <p:sp>
        <p:nvSpPr>
          <p:cNvPr id="39" name="nntp-step-3">
            <a:extLst>
              <a:ext uri="{FF2B5EF4-FFF2-40B4-BE49-F238E27FC236}">
                <a16:creationId xmlns:a16="http://schemas.microsoft.com/office/drawing/2014/main" id="{B3C15338-5B70-49B5-8C1F-C69CA606DC72}"/>
              </a:ext>
            </a:extLst>
          </p:cNvPr>
          <p:cNvSpPr>
            <a:spLocks noGrp="1"/>
          </p:cNvSpPr>
          <p:nvPr/>
        </p:nvSpPr>
        <p:spPr>
          <a:xfrm>
            <a:off x="7387099" y="4791075"/>
            <a:ext cx="2266950" cy="704850"/>
          </a:xfrm>
          <a:prstGeom prst="rect">
            <a:avLst/>
          </a:prstGeom>
          <a:solidFill>
            <a:srgbClr val="DDF2EF"/>
          </a:solidFill>
          <a:ln w="9525">
            <a:solidFill>
              <a:srgbClr val="A9D6D0"/>
            </a:solidFill>
            <a:prstDash val="solid"/>
          </a:ln>
        </p:spPr>
        <p:txBody>
          <a:bodyPr lIns="114300" tIns="76200" rIns="114300" bIns="76200" anchor="ctr"/>
          <a:lstStyle/>
          <a:p>
            <a:pPr algn="ctr">
              <a:buNone/>
              <a:defRPr sz="1500" b="1">
                <a:solidFill>
                  <a:srgbClr val="173E46"/>
                </a:solidFill>
                <a:latin typeface="Aptos"/>
                <a:ea typeface="Aptos"/>
                <a:cs typeface="Aptos"/>
              </a:defRPr>
            </a:pPr>
            <a:r>
              <a:rPr sz="1500" b="1">
                <a:solidFill>
                  <a:srgbClr val="173E46"/>
                </a:solidFill>
                <a:latin typeface="Aptos"/>
                <a:ea typeface="Aptos"/>
                <a:cs typeface="Aptos"/>
              </a:rPr>
              <a:t>Newline</a:t>
            </a:r>
          </a:p>
          <a:p>
            <a:pPr algn="ctr">
              <a:buNone/>
              <a:defRPr sz="1500" b="1">
                <a:solidFill>
                  <a:srgbClr val="173E46"/>
                </a:solidFill>
                <a:latin typeface="Aptos"/>
                <a:ea typeface="Aptos"/>
                <a:cs typeface="Aptos"/>
              </a:defRPr>
            </a:pPr>
            <a:r>
              <a:rPr sz="1500" b="1">
                <a:solidFill>
                  <a:srgbClr val="173E46"/>
                </a:solidFill>
                <a:latin typeface="Aptos"/>
                <a:ea typeface="Aptos"/>
                <a:cs typeface="Aptos"/>
              </a:rPr>
              <a:t>Boundaries</a:t>
            </a:r>
          </a:p>
        </p:txBody>
      </p:sp>
      <p:sp>
        <p:nvSpPr>
          <p:cNvPr id="40" name="nntp-caveat">
            <a:extLst>
              <a:ext uri="{FF2B5EF4-FFF2-40B4-BE49-F238E27FC236}">
                <a16:creationId xmlns:a16="http://schemas.microsoft.com/office/drawing/2014/main" id="{D3E439CE-D506-4EE0-ABEC-A738AAA9B3A2}"/>
              </a:ext>
            </a:extLst>
          </p:cNvPr>
          <p:cNvSpPr>
            <a:spLocks noGrp="1"/>
          </p:cNvSpPr>
          <p:nvPr/>
        </p:nvSpPr>
        <p:spPr>
          <a:xfrm>
            <a:off x="376699" y="5810250"/>
            <a:ext cx="7239000" cy="419100"/>
          </a:xfrm>
          <a:prstGeom prst="rect">
            <a:avLst/>
          </a:prstGeom>
          <a:solidFill>
            <a:srgbClr val="F5EFE5"/>
          </a:solidFill>
          <a:ln w="9525">
            <a:solidFill>
              <a:srgbClr val="E2D7C8"/>
            </a:solidFill>
            <a:prstDash val="solid"/>
          </a:ln>
        </p:spPr>
        <p:txBody>
          <a:bodyPr lIns="114300" tIns="76200" rIns="114300" bIns="76200" anchor="ctr"/>
          <a:lstStyle/>
          <a:p>
            <a:pPr algn="ctr">
              <a:buNone/>
              <a:defRPr sz="1200" b="1">
                <a:solidFill>
                  <a:srgbClr val="173E46"/>
                </a:solidFill>
                <a:latin typeface="Aptos"/>
                <a:ea typeface="Aptos"/>
                <a:cs typeface="Aptos"/>
              </a:defRPr>
            </a:pPr>
            <a:r>
              <a:rPr sz="1200" b="1">
                <a:solidFill>
                  <a:srgbClr val="173E46"/>
                </a:solidFill>
                <a:latin typeface="Aptos"/>
                <a:ea typeface="Aptos"/>
                <a:cs typeface="Aptos"/>
              </a:rPr>
              <a:t>NNTP Uses CTC Observations At Inference; It Does Not Freely Generate Text.</a:t>
            </a:r>
          </a:p>
        </p:txBody>
      </p:sp>
      <p:sp>
        <p:nvSpPr>
          <p:cNvPr id="42" name="slide31-body-cover-left">
            <a:extLst>
              <a:ext uri="{FF2B5EF4-FFF2-40B4-BE49-F238E27FC236}">
                <a16:creationId xmlns:a16="http://schemas.microsoft.com/office/drawing/2014/main" id="{4E625B35-AC9B-44E8-BDCE-53D02D066639}"/>
              </a:ext>
            </a:extLst>
          </p:cNvPr>
          <p:cNvSpPr>
            <a:spLocks noGrp="1"/>
          </p:cNvSpPr>
          <p:nvPr/>
        </p:nvSpPr>
        <p:spPr>
          <a:xfrm>
            <a:off x="228600" y="781050"/>
            <a:ext cx="8010525" cy="5581650"/>
          </a:xfrm>
          <a:prstGeom prst="rect">
            <a:avLst/>
          </a:prstGeom>
          <a:solidFill>
            <a:srgbClr val="F7F3EB"/>
          </a:solidFill>
          <a:ln w="0">
            <a:noFill/>
            <a:prstDash val="solid"/>
          </a:ln>
        </p:spPr>
        <p:txBody>
          <a:bodyPr/>
          <a:lstStyle/>
          <a:p>
            <a:endParaRPr/>
          </a:p>
        </p:txBody>
      </p:sp>
      <p:sp>
        <p:nvSpPr>
          <p:cNvPr id="24" name="ctc-lane-bg">
            <a:extLst>
              <a:ext uri="{FF2B5EF4-FFF2-40B4-BE49-F238E27FC236}">
                <a16:creationId xmlns:a16="http://schemas.microsoft.com/office/drawing/2014/main" id="{EF3A947A-E86E-4C45-AEA4-6D6C0691597C}"/>
              </a:ext>
            </a:extLst>
          </p:cNvPr>
          <p:cNvSpPr>
            <a:spLocks noGrp="1"/>
          </p:cNvSpPr>
          <p:nvPr/>
        </p:nvSpPr>
        <p:spPr>
          <a:xfrm>
            <a:off x="228600" y="785581"/>
            <a:ext cx="8125747" cy="3028951"/>
          </a:xfrm>
          <a:prstGeom prst="rect">
            <a:avLst/>
          </a:prstGeom>
          <a:solidFill>
            <a:srgbClr val="FFFCF6"/>
          </a:solidFill>
          <a:ln w="9525">
            <a:solidFill>
              <a:srgbClr val="E6DDD0"/>
            </a:solidFill>
            <a:prstDash val="solid"/>
          </a:ln>
        </p:spPr>
        <p:txBody>
          <a:bodyPr/>
          <a:lstStyle/>
          <a:p>
            <a:endParaRPr/>
          </a:p>
        </p:txBody>
      </p:sp>
      <p:sp>
        <p:nvSpPr>
          <p:cNvPr id="25" name="nntp-lane-bg">
            <a:extLst>
              <a:ext uri="{FF2B5EF4-FFF2-40B4-BE49-F238E27FC236}">
                <a16:creationId xmlns:a16="http://schemas.microsoft.com/office/drawing/2014/main" id="{68279DD9-0F76-4BBD-AFBB-4C4F2D88D4FC}"/>
              </a:ext>
            </a:extLst>
          </p:cNvPr>
          <p:cNvSpPr>
            <a:spLocks noGrp="1"/>
          </p:cNvSpPr>
          <p:nvPr/>
        </p:nvSpPr>
        <p:spPr>
          <a:xfrm>
            <a:off x="148098" y="4181475"/>
            <a:ext cx="11662901" cy="2114550"/>
          </a:xfrm>
          <a:prstGeom prst="rect">
            <a:avLst/>
          </a:prstGeom>
          <a:solidFill>
            <a:srgbClr val="FFFCF6"/>
          </a:solidFill>
          <a:ln w="9525">
            <a:solidFill>
              <a:srgbClr val="E6DDD0"/>
            </a:solidFill>
            <a:prstDash val="solid"/>
          </a:ln>
        </p:spPr>
        <p:txBody>
          <a:bodyPr/>
          <a:lstStyle/>
          <a:p>
            <a:endParaRPr/>
          </a:p>
        </p:txBody>
      </p:sp>
      <p:sp>
        <p:nvSpPr>
          <p:cNvPr id="44" name="ctc-figure-caption">
            <a:extLst>
              <a:ext uri="{FF2B5EF4-FFF2-40B4-BE49-F238E27FC236}">
                <a16:creationId xmlns:a16="http://schemas.microsoft.com/office/drawing/2014/main" id="{FBCB4165-3C58-4C9E-B0AA-EDF649B907AA}"/>
              </a:ext>
            </a:extLst>
          </p:cNvPr>
          <p:cNvSpPr>
            <a:spLocks noGrp="1"/>
          </p:cNvSpPr>
          <p:nvPr/>
        </p:nvSpPr>
        <p:spPr>
          <a:xfrm>
            <a:off x="8239125" y="4476750"/>
            <a:ext cx="3571875" cy="171450"/>
          </a:xfrm>
          <a:prstGeom prst="rect">
            <a:avLst/>
          </a:prstGeom>
          <a:noFill/>
          <a:ln w="0">
            <a:noFill/>
            <a:prstDash val="solid"/>
          </a:ln>
        </p:spPr>
        <p:txBody>
          <a:bodyPr wrap="none" anchor="t"/>
          <a:lstStyle/>
          <a:p>
            <a:pPr algn="ctr">
              <a:buNone/>
              <a:defRPr sz="675" b="0">
                <a:solidFill>
                  <a:srgbClr val="6C7A7C"/>
                </a:solidFill>
                <a:latin typeface="Aptos"/>
                <a:ea typeface="Aptos"/>
                <a:cs typeface="Aptos"/>
              </a:defRPr>
            </a:pPr>
            <a:r>
              <a:rPr sz="675" b="0">
                <a:solidFill>
                  <a:srgbClr val="6C7A7C"/>
                </a:solidFill>
                <a:latin typeface="Aptos"/>
                <a:ea typeface="Aptos"/>
                <a:cs typeface="Aptos"/>
              </a:rPr>
              <a:t>Hannun, Distill 2017, CC-BY 4.0</a:t>
            </a:r>
          </a:p>
        </p:txBody>
      </p:sp>
      <p:sp>
        <p:nvSpPr>
          <p:cNvPr id="45" name="ctc-section-title">
            <a:extLst>
              <a:ext uri="{FF2B5EF4-FFF2-40B4-BE49-F238E27FC236}">
                <a16:creationId xmlns:a16="http://schemas.microsoft.com/office/drawing/2014/main" id="{45DEF0AA-A244-4065-B8B7-F7666DEDDC50}"/>
              </a:ext>
            </a:extLst>
          </p:cNvPr>
          <p:cNvSpPr>
            <a:spLocks noGrp="1"/>
          </p:cNvSpPr>
          <p:nvPr/>
        </p:nvSpPr>
        <p:spPr>
          <a:xfrm>
            <a:off x="571500" y="952500"/>
            <a:ext cx="7239000" cy="285750"/>
          </a:xfrm>
          <a:prstGeom prst="rect">
            <a:avLst/>
          </a:prstGeom>
          <a:noFill/>
          <a:ln w="0">
            <a:noFill/>
            <a:prstDash val="solid"/>
          </a:ln>
        </p:spPr>
        <p:txBody>
          <a:bodyPr wrap="none" anchor="t"/>
          <a:lstStyle/>
          <a:p>
            <a:pPr algn="l">
              <a:buNone/>
              <a:defRPr sz="1650" b="1">
                <a:solidFill>
                  <a:srgbClr val="2A9D8F"/>
                </a:solidFill>
                <a:latin typeface="Aptos"/>
                <a:ea typeface="Aptos"/>
                <a:cs typeface="Aptos"/>
              </a:defRPr>
            </a:pPr>
            <a:r>
              <a:rPr sz="1650" b="1">
                <a:solidFill>
                  <a:srgbClr val="2A9D8F"/>
                </a:solidFill>
                <a:latin typeface="Aptos"/>
                <a:ea typeface="Aptos"/>
                <a:cs typeface="Aptos"/>
              </a:rPr>
              <a:t>CTC loss</a:t>
            </a:r>
          </a:p>
        </p:txBody>
      </p:sp>
      <p:sp>
        <p:nvSpPr>
          <p:cNvPr id="46" name="ctc-evidence-box">
            <a:extLst>
              <a:ext uri="{FF2B5EF4-FFF2-40B4-BE49-F238E27FC236}">
                <a16:creationId xmlns:a16="http://schemas.microsoft.com/office/drawing/2014/main" id="{34A642A7-A565-4075-8B4F-0D3DE5861A31}"/>
              </a:ext>
            </a:extLst>
          </p:cNvPr>
          <p:cNvSpPr>
            <a:spLocks noGrp="1"/>
          </p:cNvSpPr>
          <p:nvPr/>
        </p:nvSpPr>
        <p:spPr>
          <a:xfrm>
            <a:off x="571500" y="1428750"/>
            <a:ext cx="2362200" cy="723900"/>
          </a:xfrm>
          <a:prstGeom prst="roundRect">
            <a:avLst>
              <a:gd name="adj" fmla="val 10526"/>
            </a:avLst>
          </a:prstGeom>
          <a:solidFill>
            <a:srgbClr val="DDF2EF"/>
          </a:solidFill>
          <a:ln w="11430">
            <a:solidFill>
              <a:srgbClr val="9FD8D2"/>
            </a:solidFill>
            <a:prstDash val="solid"/>
          </a:ln>
        </p:spPr>
        <p:txBody>
          <a:bodyPr anchor="t"/>
          <a:lstStyle/>
          <a:p>
            <a:pPr algn="ctr">
              <a:buNone/>
              <a:defRPr sz="1275" b="1">
                <a:solidFill>
                  <a:srgbClr val="183D45"/>
                </a:solidFill>
                <a:latin typeface="Aptos"/>
                <a:ea typeface="Aptos"/>
                <a:cs typeface="Aptos"/>
              </a:defRPr>
            </a:pPr>
            <a:r>
              <a:rPr sz="1275" b="1">
                <a:solidFill>
                  <a:srgbClr val="183D45"/>
                </a:solidFill>
                <a:latin typeface="Aptos"/>
                <a:ea typeface="Aptos"/>
                <a:cs typeface="Aptos"/>
              </a:rPr>
              <a:t>image time steps</a:t>
            </a:r>
          </a:p>
          <a:p>
            <a:pPr algn="ctr">
              <a:buNone/>
              <a:defRPr sz="1275" b="1">
                <a:solidFill>
                  <a:srgbClr val="183D45"/>
                </a:solidFill>
                <a:latin typeface="Aptos"/>
                <a:ea typeface="Aptos"/>
                <a:cs typeface="Aptos"/>
              </a:defRPr>
            </a:pPr>
            <a:r>
              <a:rPr sz="1275" b="1">
                <a:solidFill>
                  <a:srgbClr val="183D45"/>
                </a:solidFill>
                <a:latin typeface="Aptos"/>
                <a:ea typeface="Aptos"/>
                <a:cs typeface="Aptos"/>
              </a:rPr>
              <a:t>+ char/blank probabilities</a:t>
            </a:r>
          </a:p>
        </p:txBody>
      </p:sp>
      <p:sp>
        <p:nvSpPr>
          <p:cNvPr id="47" name="ctc-sep-1">
            <a:extLst>
              <a:ext uri="{FF2B5EF4-FFF2-40B4-BE49-F238E27FC236}">
                <a16:creationId xmlns:a16="http://schemas.microsoft.com/office/drawing/2014/main" id="{12B0C9CF-770B-417A-BF76-13AD749E9025}"/>
              </a:ext>
            </a:extLst>
          </p:cNvPr>
          <p:cNvSpPr>
            <a:spLocks noGrp="1"/>
          </p:cNvSpPr>
          <p:nvPr/>
        </p:nvSpPr>
        <p:spPr>
          <a:xfrm>
            <a:off x="3105150" y="1657350"/>
            <a:ext cx="323850" cy="266700"/>
          </a:xfrm>
          <a:prstGeom prst="rect">
            <a:avLst/>
          </a:prstGeom>
          <a:noFill/>
          <a:ln w="0">
            <a:noFill/>
            <a:prstDash val="solid"/>
          </a:ln>
        </p:spPr>
        <p:txBody>
          <a:bodyPr wrap="none" anchor="t"/>
          <a:lstStyle/>
          <a:p>
            <a:pPr algn="ctr">
              <a:buNone/>
              <a:defRPr sz="1800" b="1">
                <a:solidFill>
                  <a:srgbClr val="2A9D8F"/>
                </a:solidFill>
                <a:latin typeface="Aptos"/>
                <a:ea typeface="Aptos"/>
                <a:cs typeface="Aptos"/>
              </a:defRPr>
            </a:pPr>
            <a:r>
              <a:rPr sz="1800" b="1">
                <a:solidFill>
                  <a:srgbClr val="2A9D8F"/>
                </a:solidFill>
                <a:latin typeface="Aptos"/>
                <a:ea typeface="Aptos"/>
                <a:cs typeface="Aptos"/>
              </a:rPr>
              <a:t>&gt;</a:t>
            </a:r>
          </a:p>
        </p:txBody>
      </p:sp>
      <p:sp>
        <p:nvSpPr>
          <p:cNvPr id="48" name="ctc-collapse-box">
            <a:extLst>
              <a:ext uri="{FF2B5EF4-FFF2-40B4-BE49-F238E27FC236}">
                <a16:creationId xmlns:a16="http://schemas.microsoft.com/office/drawing/2014/main" id="{1D5A4973-4912-4689-82D1-4777B5DED3B5}"/>
              </a:ext>
            </a:extLst>
          </p:cNvPr>
          <p:cNvSpPr>
            <a:spLocks noGrp="1"/>
          </p:cNvSpPr>
          <p:nvPr/>
        </p:nvSpPr>
        <p:spPr>
          <a:xfrm>
            <a:off x="3562350" y="1428750"/>
            <a:ext cx="2457450" cy="723900"/>
          </a:xfrm>
          <a:prstGeom prst="roundRect">
            <a:avLst>
              <a:gd name="adj" fmla="val 10526"/>
            </a:avLst>
          </a:prstGeom>
          <a:solidFill>
            <a:srgbClr val="DDF2EF"/>
          </a:solidFill>
          <a:ln w="11430">
            <a:solidFill>
              <a:srgbClr val="9FD8D2"/>
            </a:solidFill>
            <a:prstDash val="solid"/>
          </a:ln>
        </p:spPr>
        <p:txBody>
          <a:bodyPr anchor="t"/>
          <a:lstStyle/>
          <a:p>
            <a:pPr algn="ctr">
              <a:buNone/>
              <a:defRPr sz="1275" b="1">
                <a:solidFill>
                  <a:srgbClr val="183D45"/>
                </a:solidFill>
                <a:latin typeface="Aptos"/>
                <a:ea typeface="Aptos"/>
                <a:cs typeface="Aptos"/>
              </a:defRPr>
            </a:pPr>
            <a:r>
              <a:rPr sz="1275" b="1">
                <a:solidFill>
                  <a:srgbClr val="183D45"/>
                </a:solidFill>
                <a:latin typeface="Aptos"/>
                <a:ea typeface="Aptos"/>
                <a:cs typeface="Aptos"/>
              </a:rPr>
              <a:t>many paths collapse</a:t>
            </a:r>
          </a:p>
          <a:p>
            <a:pPr algn="ctr">
              <a:buNone/>
              <a:defRPr sz="1275" b="1">
                <a:solidFill>
                  <a:srgbClr val="183D45"/>
                </a:solidFill>
                <a:latin typeface="Aptos"/>
                <a:ea typeface="Aptos"/>
                <a:cs typeface="Aptos"/>
              </a:defRPr>
            </a:pPr>
            <a:r>
              <a:rPr sz="1275" b="1">
                <a:solidFill>
                  <a:srgbClr val="183D45"/>
                </a:solidFill>
                <a:latin typeface="Aptos"/>
                <a:ea typeface="Aptos"/>
                <a:cs typeface="Aptos"/>
              </a:rPr>
              <a:t>to the same target text</a:t>
            </a:r>
          </a:p>
        </p:txBody>
      </p:sp>
      <p:sp>
        <p:nvSpPr>
          <p:cNvPr id="49" name="ctc-sep-2">
            <a:extLst>
              <a:ext uri="{FF2B5EF4-FFF2-40B4-BE49-F238E27FC236}">
                <a16:creationId xmlns:a16="http://schemas.microsoft.com/office/drawing/2014/main" id="{CCD401DF-5C35-450A-8089-BFE97CF56A7C}"/>
              </a:ext>
            </a:extLst>
          </p:cNvPr>
          <p:cNvSpPr>
            <a:spLocks noGrp="1"/>
          </p:cNvSpPr>
          <p:nvPr/>
        </p:nvSpPr>
        <p:spPr>
          <a:xfrm>
            <a:off x="6210300" y="1657350"/>
            <a:ext cx="323850" cy="266700"/>
          </a:xfrm>
          <a:prstGeom prst="rect">
            <a:avLst/>
          </a:prstGeom>
          <a:noFill/>
          <a:ln w="0">
            <a:noFill/>
            <a:prstDash val="solid"/>
          </a:ln>
        </p:spPr>
        <p:txBody>
          <a:bodyPr wrap="none" anchor="t"/>
          <a:lstStyle/>
          <a:p>
            <a:pPr algn="ctr">
              <a:buNone/>
              <a:defRPr sz="1800" b="1">
                <a:solidFill>
                  <a:srgbClr val="2A9D8F"/>
                </a:solidFill>
                <a:latin typeface="Aptos"/>
                <a:ea typeface="Aptos"/>
                <a:cs typeface="Aptos"/>
              </a:defRPr>
            </a:pPr>
            <a:r>
              <a:rPr sz="1800" b="1">
                <a:solidFill>
                  <a:srgbClr val="2A9D8F"/>
                </a:solidFill>
                <a:latin typeface="Aptos"/>
                <a:ea typeface="Aptos"/>
                <a:cs typeface="Aptos"/>
              </a:rPr>
              <a:t>&gt;</a:t>
            </a:r>
          </a:p>
        </p:txBody>
      </p:sp>
      <p:sp>
        <p:nvSpPr>
          <p:cNvPr id="50" name="ctc-loss-summary-box">
            <a:extLst>
              <a:ext uri="{FF2B5EF4-FFF2-40B4-BE49-F238E27FC236}">
                <a16:creationId xmlns:a16="http://schemas.microsoft.com/office/drawing/2014/main" id="{8D3D6931-D5E5-4753-81CD-86B41374C6F5}"/>
              </a:ext>
            </a:extLst>
          </p:cNvPr>
          <p:cNvSpPr>
            <a:spLocks noGrp="1"/>
          </p:cNvSpPr>
          <p:nvPr/>
        </p:nvSpPr>
        <p:spPr>
          <a:xfrm>
            <a:off x="6667500" y="1428750"/>
            <a:ext cx="1219200" cy="723900"/>
          </a:xfrm>
          <a:prstGeom prst="roundRect">
            <a:avLst>
              <a:gd name="adj" fmla="val 10526"/>
            </a:avLst>
          </a:prstGeom>
          <a:solidFill>
            <a:srgbClr val="FFF1C9"/>
          </a:solidFill>
          <a:ln w="11430">
            <a:solidFill>
              <a:srgbClr val="E9BE52"/>
            </a:solidFill>
            <a:prstDash val="solid"/>
          </a:ln>
        </p:spPr>
        <p:txBody>
          <a:bodyPr anchor="t"/>
          <a:lstStyle/>
          <a:p>
            <a:pPr algn="ctr">
              <a:buNone/>
              <a:defRPr sz="1125" b="1">
                <a:solidFill>
                  <a:srgbClr val="183D45"/>
                </a:solidFill>
                <a:latin typeface="Aptos"/>
                <a:ea typeface="Aptos"/>
                <a:cs typeface="Aptos"/>
              </a:defRPr>
            </a:pPr>
            <a:r>
              <a:rPr sz="1125" b="1">
                <a:solidFill>
                  <a:srgbClr val="183D45"/>
                </a:solidFill>
                <a:latin typeface="Aptos"/>
                <a:ea typeface="Aptos"/>
                <a:cs typeface="Aptos"/>
              </a:rPr>
              <a:t>loss = -log sum</a:t>
            </a:r>
          </a:p>
          <a:p>
            <a:pPr algn="ctr">
              <a:buNone/>
              <a:defRPr sz="1125" b="1">
                <a:solidFill>
                  <a:srgbClr val="183D45"/>
                </a:solidFill>
                <a:latin typeface="Aptos"/>
                <a:ea typeface="Aptos"/>
                <a:cs typeface="Aptos"/>
              </a:defRPr>
            </a:pPr>
            <a:r>
              <a:rPr sz="1125" b="1">
                <a:solidFill>
                  <a:srgbClr val="183D45"/>
                </a:solidFill>
                <a:latin typeface="Aptos"/>
                <a:ea typeface="Aptos"/>
                <a:cs typeface="Aptos"/>
              </a:rPr>
              <a:t>of valid paths</a:t>
            </a:r>
          </a:p>
        </p:txBody>
      </p:sp>
      <p:sp>
        <p:nvSpPr>
          <p:cNvPr id="51" name="ctc-keyline">
            <a:extLst>
              <a:ext uri="{FF2B5EF4-FFF2-40B4-BE49-F238E27FC236}">
                <a16:creationId xmlns:a16="http://schemas.microsoft.com/office/drawing/2014/main" id="{7AFBEB17-9916-4EFE-B586-8B81A32D46CC}"/>
              </a:ext>
            </a:extLst>
          </p:cNvPr>
          <p:cNvSpPr>
            <a:spLocks noGrp="1"/>
          </p:cNvSpPr>
          <p:nvPr/>
        </p:nvSpPr>
        <p:spPr>
          <a:xfrm>
            <a:off x="571500" y="2381250"/>
            <a:ext cx="7239000" cy="590550"/>
          </a:xfrm>
          <a:prstGeom prst="rect">
            <a:avLst/>
          </a:prstGeom>
          <a:noFill/>
          <a:ln w="0">
            <a:noFill/>
            <a:prstDash val="solid"/>
          </a:ln>
        </p:spPr>
        <p:txBody>
          <a:bodyPr wrap="none" anchor="t"/>
          <a:lstStyle/>
          <a:p>
            <a:pPr algn="l">
              <a:buNone/>
              <a:defRPr sz="1350" b="0">
                <a:solidFill>
                  <a:srgbClr val="183D45"/>
                </a:solidFill>
                <a:latin typeface="Aptos"/>
                <a:ea typeface="Aptos"/>
                <a:cs typeface="Aptos"/>
              </a:defRPr>
            </a:pPr>
            <a:r>
              <a:rPr sz="1350" b="0">
                <a:solidFill>
                  <a:srgbClr val="183D45"/>
                </a:solidFill>
                <a:latin typeface="Aptos"/>
                <a:ea typeface="Aptos"/>
                <a:cs typeface="Aptos"/>
              </a:rPr>
              <a:t>No manual character positions are needed.</a:t>
            </a:r>
          </a:p>
          <a:p>
            <a:pPr algn="l">
              <a:buNone/>
              <a:defRPr sz="1350" b="0">
                <a:solidFill>
                  <a:srgbClr val="183D45"/>
                </a:solidFill>
                <a:latin typeface="Aptos"/>
                <a:ea typeface="Aptos"/>
                <a:cs typeface="Aptos"/>
              </a:defRPr>
            </a:pPr>
            <a:r>
              <a:rPr sz="1350" b="0">
                <a:solidFill>
                  <a:srgbClr val="183D45"/>
                </a:solidFill>
                <a:latin typeface="Aptos"/>
                <a:ea typeface="Aptos"/>
                <a:cs typeface="Aptos"/>
              </a:rPr>
              <a:t>Blanks and repeats let many paths explain the same line text.</a:t>
            </a:r>
          </a:p>
        </p:txBody>
      </p:sp>
      <p:sp>
        <p:nvSpPr>
          <p:cNvPr id="52" name="nntp-section-title">
            <a:extLst>
              <a:ext uri="{FF2B5EF4-FFF2-40B4-BE49-F238E27FC236}">
                <a16:creationId xmlns:a16="http://schemas.microsoft.com/office/drawing/2014/main" id="{E8EA4133-A6A3-439D-8E56-9F34BAB6FC23}"/>
              </a:ext>
            </a:extLst>
          </p:cNvPr>
          <p:cNvSpPr>
            <a:spLocks noGrp="1"/>
          </p:cNvSpPr>
          <p:nvPr/>
        </p:nvSpPr>
        <p:spPr>
          <a:xfrm>
            <a:off x="571500" y="4810125"/>
            <a:ext cx="7239000" cy="285750"/>
          </a:xfrm>
          <a:prstGeom prst="rect">
            <a:avLst/>
          </a:prstGeom>
          <a:noFill/>
          <a:ln w="0">
            <a:noFill/>
            <a:prstDash val="solid"/>
          </a:ln>
        </p:spPr>
        <p:txBody>
          <a:bodyPr wrap="none" anchor="t"/>
          <a:lstStyle/>
          <a:p>
            <a:pPr algn="l">
              <a:buNone/>
              <a:defRPr sz="1650" b="1">
                <a:solidFill>
                  <a:srgbClr val="E97158"/>
                </a:solidFill>
                <a:latin typeface="Aptos"/>
                <a:ea typeface="Aptos"/>
                <a:cs typeface="Aptos"/>
              </a:defRPr>
            </a:pPr>
            <a:r>
              <a:rPr sz="1650" b="1">
                <a:solidFill>
                  <a:srgbClr val="E97158"/>
                </a:solidFill>
                <a:latin typeface="Aptos"/>
                <a:ea typeface="Aptos"/>
                <a:cs typeface="Aptos"/>
              </a:rPr>
              <a:t>NNTP: how line breaks are recovered</a:t>
            </a:r>
          </a:p>
        </p:txBody>
      </p:sp>
      <p:sp>
        <p:nvSpPr>
          <p:cNvPr id="53" name="nntp-input-box">
            <a:extLst>
              <a:ext uri="{FF2B5EF4-FFF2-40B4-BE49-F238E27FC236}">
                <a16:creationId xmlns:a16="http://schemas.microsoft.com/office/drawing/2014/main" id="{D717D376-3AFD-476E-AF97-6F9412E72C98}"/>
              </a:ext>
            </a:extLst>
          </p:cNvPr>
          <p:cNvSpPr>
            <a:spLocks noGrp="1"/>
          </p:cNvSpPr>
          <p:nvPr/>
        </p:nvSpPr>
        <p:spPr>
          <a:xfrm>
            <a:off x="571500" y="5257800"/>
            <a:ext cx="2381250" cy="571500"/>
          </a:xfrm>
          <a:prstGeom prst="roundRect">
            <a:avLst>
              <a:gd name="adj" fmla="val 13333"/>
            </a:avLst>
          </a:prstGeom>
          <a:solidFill>
            <a:srgbClr val="FBE3DC"/>
          </a:solidFill>
          <a:ln w="11430">
            <a:solidFill>
              <a:srgbClr val="F0B6A8"/>
            </a:solidFill>
            <a:prstDash val="solid"/>
          </a:ln>
        </p:spPr>
        <p:txBody>
          <a:bodyPr anchor="t"/>
          <a:lstStyle/>
          <a:p>
            <a:pPr algn="ctr">
              <a:buNone/>
              <a:defRPr sz="1125" b="1">
                <a:solidFill>
                  <a:srgbClr val="183D45"/>
                </a:solidFill>
                <a:latin typeface="Aptos"/>
                <a:ea typeface="Aptos"/>
                <a:cs typeface="Aptos"/>
              </a:defRPr>
            </a:pPr>
            <a:r>
              <a:rPr sz="1125" b="1">
                <a:solidFill>
                  <a:srgbClr val="183D45"/>
                </a:solidFill>
                <a:latin typeface="Aptos"/>
                <a:ea typeface="Aptos"/>
                <a:cs typeface="Aptos"/>
              </a:rPr>
              <a:t>ordered line crops</a:t>
            </a:r>
          </a:p>
          <a:p>
            <a:pPr algn="ctr">
              <a:buNone/>
              <a:defRPr sz="1125" b="1">
                <a:solidFill>
                  <a:srgbClr val="183D45"/>
                </a:solidFill>
                <a:latin typeface="Aptos"/>
                <a:ea typeface="Aptos"/>
                <a:cs typeface="Aptos"/>
              </a:defRPr>
            </a:pPr>
            <a:r>
              <a:rPr sz="1125" b="1">
                <a:solidFill>
                  <a:srgbClr val="183D45"/>
                </a:solidFill>
                <a:latin typeface="Aptos"/>
                <a:ea typeface="Aptos"/>
                <a:cs typeface="Aptos"/>
              </a:rPr>
              <a:t>+ CTC observations</a:t>
            </a:r>
          </a:p>
        </p:txBody>
      </p:sp>
      <p:sp>
        <p:nvSpPr>
          <p:cNvPr id="54" name="nntp-sep-1">
            <a:extLst>
              <a:ext uri="{FF2B5EF4-FFF2-40B4-BE49-F238E27FC236}">
                <a16:creationId xmlns:a16="http://schemas.microsoft.com/office/drawing/2014/main" id="{8617684B-BF63-4D1E-9ED6-B59025C60ABC}"/>
              </a:ext>
            </a:extLst>
          </p:cNvPr>
          <p:cNvSpPr>
            <a:spLocks noGrp="1"/>
          </p:cNvSpPr>
          <p:nvPr/>
        </p:nvSpPr>
        <p:spPr>
          <a:xfrm>
            <a:off x="3086100" y="5410200"/>
            <a:ext cx="323850" cy="266700"/>
          </a:xfrm>
          <a:prstGeom prst="rect">
            <a:avLst/>
          </a:prstGeom>
          <a:noFill/>
          <a:ln w="0">
            <a:noFill/>
            <a:prstDash val="solid"/>
          </a:ln>
        </p:spPr>
        <p:txBody>
          <a:bodyPr wrap="none" anchor="t"/>
          <a:lstStyle/>
          <a:p>
            <a:pPr algn="ctr">
              <a:buNone/>
              <a:defRPr sz="1800" b="1">
                <a:solidFill>
                  <a:srgbClr val="E97158"/>
                </a:solidFill>
                <a:latin typeface="Aptos"/>
                <a:ea typeface="Aptos"/>
                <a:cs typeface="Aptos"/>
              </a:defRPr>
            </a:pPr>
            <a:r>
              <a:rPr sz="1800" b="1">
                <a:solidFill>
                  <a:srgbClr val="E97158"/>
                </a:solidFill>
                <a:latin typeface="Aptos"/>
                <a:ea typeface="Aptos"/>
                <a:cs typeface="Aptos"/>
              </a:rPr>
              <a:t>&gt;</a:t>
            </a:r>
          </a:p>
        </p:txBody>
      </p:sp>
      <p:sp>
        <p:nvSpPr>
          <p:cNvPr id="55" name="nntp-fixed-text-box">
            <a:extLst>
              <a:ext uri="{FF2B5EF4-FFF2-40B4-BE49-F238E27FC236}">
                <a16:creationId xmlns:a16="http://schemas.microsoft.com/office/drawing/2014/main" id="{E48F4C90-01B9-4C77-849B-5FB99F46E83B}"/>
              </a:ext>
            </a:extLst>
          </p:cNvPr>
          <p:cNvSpPr>
            <a:spLocks noGrp="1"/>
          </p:cNvSpPr>
          <p:nvPr/>
        </p:nvSpPr>
        <p:spPr>
          <a:xfrm>
            <a:off x="3524250" y="5257800"/>
            <a:ext cx="2381250" cy="571500"/>
          </a:xfrm>
          <a:prstGeom prst="roundRect">
            <a:avLst>
              <a:gd name="adj" fmla="val 13333"/>
            </a:avLst>
          </a:prstGeom>
          <a:solidFill>
            <a:srgbClr val="FBE3DC"/>
          </a:solidFill>
          <a:ln w="11430">
            <a:solidFill>
              <a:srgbClr val="F0B6A8"/>
            </a:solidFill>
            <a:prstDash val="solid"/>
          </a:ln>
        </p:spPr>
        <p:txBody>
          <a:bodyPr anchor="t"/>
          <a:lstStyle/>
          <a:p>
            <a:pPr algn="ctr">
              <a:buNone/>
              <a:defRPr sz="1125" b="1">
                <a:solidFill>
                  <a:srgbClr val="183D45"/>
                </a:solidFill>
                <a:latin typeface="Aptos"/>
                <a:ea typeface="Aptos"/>
                <a:cs typeface="Aptos"/>
              </a:defRPr>
            </a:pPr>
            <a:r>
              <a:rPr sz="1125" b="1">
                <a:solidFill>
                  <a:srgbClr val="183D45"/>
                </a:solidFill>
                <a:latin typeface="Aptos"/>
                <a:ea typeface="Aptos"/>
                <a:cs typeface="Aptos"/>
              </a:rPr>
              <a:t>fixed transcription</a:t>
            </a:r>
          </a:p>
          <a:p>
            <a:pPr algn="ctr">
              <a:buNone/>
              <a:defRPr sz="1125" b="1">
                <a:solidFill>
                  <a:srgbClr val="183D45"/>
                </a:solidFill>
                <a:latin typeface="Aptos"/>
                <a:ea typeface="Aptos"/>
                <a:cs typeface="Aptos"/>
              </a:defRPr>
            </a:pPr>
            <a:r>
              <a:rPr sz="1125" b="1">
                <a:solidFill>
                  <a:srgbClr val="183D45"/>
                </a:solidFill>
                <a:latin typeface="Aptos"/>
                <a:ea typeface="Aptos"/>
                <a:cs typeface="Aptos"/>
              </a:rPr>
              <a:t>characters unchanged</a:t>
            </a:r>
          </a:p>
        </p:txBody>
      </p:sp>
      <p:sp>
        <p:nvSpPr>
          <p:cNvPr id="56" name="nntp-sep-2">
            <a:extLst>
              <a:ext uri="{FF2B5EF4-FFF2-40B4-BE49-F238E27FC236}">
                <a16:creationId xmlns:a16="http://schemas.microsoft.com/office/drawing/2014/main" id="{3D85E552-0FEE-4E13-B80B-BC5F3FE213B6}"/>
              </a:ext>
            </a:extLst>
          </p:cNvPr>
          <p:cNvSpPr>
            <a:spLocks noGrp="1"/>
          </p:cNvSpPr>
          <p:nvPr/>
        </p:nvSpPr>
        <p:spPr>
          <a:xfrm>
            <a:off x="6038850" y="5410200"/>
            <a:ext cx="323850" cy="266700"/>
          </a:xfrm>
          <a:prstGeom prst="rect">
            <a:avLst/>
          </a:prstGeom>
          <a:noFill/>
          <a:ln w="0">
            <a:noFill/>
            <a:prstDash val="solid"/>
          </a:ln>
        </p:spPr>
        <p:txBody>
          <a:bodyPr wrap="none" anchor="t"/>
          <a:lstStyle/>
          <a:p>
            <a:pPr algn="ctr">
              <a:buNone/>
              <a:defRPr sz="1800" b="1">
                <a:solidFill>
                  <a:srgbClr val="E97158"/>
                </a:solidFill>
                <a:latin typeface="Aptos"/>
                <a:ea typeface="Aptos"/>
                <a:cs typeface="Aptos"/>
              </a:defRPr>
            </a:pPr>
            <a:r>
              <a:rPr sz="1800" b="1">
                <a:solidFill>
                  <a:srgbClr val="E97158"/>
                </a:solidFill>
                <a:latin typeface="Aptos"/>
                <a:ea typeface="Aptos"/>
                <a:cs typeface="Aptos"/>
              </a:rPr>
              <a:t>&gt;</a:t>
            </a:r>
          </a:p>
        </p:txBody>
      </p:sp>
      <p:sp>
        <p:nvSpPr>
          <p:cNvPr id="57" name="nntp-align-box">
            <a:extLst>
              <a:ext uri="{FF2B5EF4-FFF2-40B4-BE49-F238E27FC236}">
                <a16:creationId xmlns:a16="http://schemas.microsoft.com/office/drawing/2014/main" id="{6B1EF8FE-B36C-475E-A10C-9F815BEFED53}"/>
              </a:ext>
            </a:extLst>
          </p:cNvPr>
          <p:cNvSpPr>
            <a:spLocks noGrp="1"/>
          </p:cNvSpPr>
          <p:nvPr/>
        </p:nvSpPr>
        <p:spPr>
          <a:xfrm>
            <a:off x="6477000" y="5257800"/>
            <a:ext cx="2190750" cy="571500"/>
          </a:xfrm>
          <a:prstGeom prst="roundRect">
            <a:avLst>
              <a:gd name="adj" fmla="val 13333"/>
            </a:avLst>
          </a:prstGeom>
          <a:solidFill>
            <a:srgbClr val="FBE3DC"/>
          </a:solidFill>
          <a:ln w="11430">
            <a:solidFill>
              <a:srgbClr val="F0B6A8"/>
            </a:solidFill>
            <a:prstDash val="solid"/>
          </a:ln>
        </p:spPr>
        <p:txBody>
          <a:bodyPr anchor="t"/>
          <a:lstStyle/>
          <a:p>
            <a:pPr algn="ctr">
              <a:buNone/>
              <a:defRPr sz="1125" b="1">
                <a:solidFill>
                  <a:srgbClr val="183D45"/>
                </a:solidFill>
                <a:latin typeface="Aptos"/>
                <a:ea typeface="Aptos"/>
                <a:cs typeface="Aptos"/>
              </a:defRPr>
            </a:pPr>
            <a:r>
              <a:rPr sz="1125" b="1">
                <a:solidFill>
                  <a:srgbClr val="183D45"/>
                </a:solidFill>
                <a:latin typeface="Aptos"/>
                <a:ea typeface="Aptos"/>
                <a:cs typeface="Aptos"/>
              </a:rPr>
              <a:t>token passing /</a:t>
            </a:r>
          </a:p>
          <a:p>
            <a:pPr algn="ctr">
              <a:buNone/>
              <a:defRPr sz="1125" b="1">
                <a:solidFill>
                  <a:srgbClr val="183D45"/>
                </a:solidFill>
                <a:latin typeface="Aptos"/>
                <a:ea typeface="Aptos"/>
                <a:cs typeface="Aptos"/>
              </a:defRPr>
            </a:pPr>
            <a:r>
              <a:rPr sz="1125" b="1">
                <a:solidFill>
                  <a:srgbClr val="183D45"/>
                </a:solidFill>
                <a:latin typeface="Aptos"/>
                <a:ea typeface="Aptos"/>
                <a:cs typeface="Aptos"/>
              </a:rPr>
              <a:t>forced alignment</a:t>
            </a:r>
          </a:p>
        </p:txBody>
      </p:sp>
      <p:sp>
        <p:nvSpPr>
          <p:cNvPr id="58" name="nntp-sep-3">
            <a:extLst>
              <a:ext uri="{FF2B5EF4-FFF2-40B4-BE49-F238E27FC236}">
                <a16:creationId xmlns:a16="http://schemas.microsoft.com/office/drawing/2014/main" id="{4F0F6FFA-7CBE-4ACF-BDC1-BEFCB2F7A321}"/>
              </a:ext>
            </a:extLst>
          </p:cNvPr>
          <p:cNvSpPr>
            <a:spLocks noGrp="1"/>
          </p:cNvSpPr>
          <p:nvPr/>
        </p:nvSpPr>
        <p:spPr>
          <a:xfrm>
            <a:off x="8801100" y="5410200"/>
            <a:ext cx="323850" cy="266700"/>
          </a:xfrm>
          <a:prstGeom prst="rect">
            <a:avLst/>
          </a:prstGeom>
          <a:noFill/>
          <a:ln w="0">
            <a:noFill/>
            <a:prstDash val="solid"/>
          </a:ln>
        </p:spPr>
        <p:txBody>
          <a:bodyPr wrap="none" anchor="t"/>
          <a:lstStyle/>
          <a:p>
            <a:pPr algn="ctr">
              <a:buNone/>
              <a:defRPr sz="1800" b="1">
                <a:solidFill>
                  <a:srgbClr val="E97158"/>
                </a:solidFill>
                <a:latin typeface="Aptos"/>
                <a:ea typeface="Aptos"/>
                <a:cs typeface="Aptos"/>
              </a:defRPr>
            </a:pPr>
            <a:r>
              <a:rPr sz="1800" b="1">
                <a:solidFill>
                  <a:srgbClr val="E97158"/>
                </a:solidFill>
                <a:latin typeface="Aptos"/>
                <a:ea typeface="Aptos"/>
                <a:cs typeface="Aptos"/>
              </a:rPr>
              <a:t>&gt;</a:t>
            </a:r>
          </a:p>
        </p:txBody>
      </p:sp>
      <p:sp>
        <p:nvSpPr>
          <p:cNvPr id="60" name="nntp-caveat-final">
            <a:extLst>
              <a:ext uri="{FF2B5EF4-FFF2-40B4-BE49-F238E27FC236}">
                <a16:creationId xmlns:a16="http://schemas.microsoft.com/office/drawing/2014/main" id="{24939A52-1256-4EB9-940A-348E47D6C8BB}"/>
              </a:ext>
            </a:extLst>
          </p:cNvPr>
          <p:cNvSpPr>
            <a:spLocks noGrp="1"/>
          </p:cNvSpPr>
          <p:nvPr/>
        </p:nvSpPr>
        <p:spPr>
          <a:xfrm>
            <a:off x="571500" y="5953125"/>
            <a:ext cx="9715500" cy="323850"/>
          </a:xfrm>
          <a:prstGeom prst="roundRect">
            <a:avLst>
              <a:gd name="adj" fmla="val 23529"/>
            </a:avLst>
          </a:prstGeom>
          <a:solidFill>
            <a:srgbClr val="F3EEE5"/>
          </a:solidFill>
          <a:ln w="11430">
            <a:solidFill>
              <a:srgbClr val="E2D8C8"/>
            </a:solidFill>
            <a:prstDash val="solid"/>
          </a:ln>
        </p:spPr>
        <p:txBody>
          <a:bodyPr anchor="t"/>
          <a:lstStyle/>
          <a:p>
            <a:pPr algn="ctr">
              <a:buNone/>
              <a:defRPr sz="1200" b="1">
                <a:solidFill>
                  <a:srgbClr val="183D45"/>
                </a:solidFill>
                <a:latin typeface="Aptos"/>
                <a:ea typeface="Aptos"/>
                <a:cs typeface="Aptos"/>
              </a:defRPr>
            </a:pPr>
            <a:r>
              <a:rPr sz="1200" b="1">
                <a:solidFill>
                  <a:srgbClr val="183D45"/>
                </a:solidFill>
                <a:latin typeface="Aptos"/>
                <a:ea typeface="Aptos"/>
                <a:cs typeface="Aptos"/>
              </a:rPr>
              <a:t>NNTP uses CTC observations at inference</a:t>
            </a:r>
          </a:p>
        </p:txBody>
      </p:sp>
      <p:sp>
        <p:nvSpPr>
          <p:cNvPr id="61" name="nntp-note-small">
            <a:extLst>
              <a:ext uri="{FF2B5EF4-FFF2-40B4-BE49-F238E27FC236}">
                <a16:creationId xmlns:a16="http://schemas.microsoft.com/office/drawing/2014/main" id="{6AAD977E-3117-4A43-9B34-F0FC0E951BA1}"/>
              </a:ext>
            </a:extLst>
          </p:cNvPr>
          <p:cNvSpPr>
            <a:spLocks noGrp="1"/>
          </p:cNvSpPr>
          <p:nvPr/>
        </p:nvSpPr>
        <p:spPr>
          <a:xfrm>
            <a:off x="571500" y="6334125"/>
            <a:ext cx="7239000" cy="152400"/>
          </a:xfrm>
          <a:prstGeom prst="rect">
            <a:avLst/>
          </a:prstGeom>
          <a:noFill/>
          <a:ln w="0">
            <a:noFill/>
            <a:prstDash val="solid"/>
          </a:ln>
        </p:spPr>
        <p:txBody>
          <a:bodyPr wrap="none" anchor="t"/>
          <a:lstStyle/>
          <a:p>
            <a:pPr algn="l">
              <a:buNone/>
              <a:defRPr sz="750" b="0">
                <a:solidFill>
                  <a:srgbClr val="6C7A7C"/>
                </a:solidFill>
                <a:latin typeface="Aptos"/>
                <a:ea typeface="Aptos"/>
                <a:cs typeface="Aptos"/>
              </a:defRPr>
            </a:pPr>
            <a:r>
              <a:rPr sz="750" b="0">
                <a:solidFill>
                  <a:srgbClr val="6C7A7C"/>
                </a:solidFill>
                <a:latin typeface="Aptos"/>
                <a:ea typeface="Aptos"/>
                <a:cs typeface="Aptos"/>
              </a:rPr>
              <a:t>PyLaia syms.txt caveat: unsupported characters can be stripped before NNTP alignment.</a:t>
            </a:r>
          </a:p>
        </p:txBody>
      </p:sp>
      <p:sp>
        <p:nvSpPr>
          <p:cNvPr id="59" name="nntp-output-box">
            <a:extLst>
              <a:ext uri="{FF2B5EF4-FFF2-40B4-BE49-F238E27FC236}">
                <a16:creationId xmlns:a16="http://schemas.microsoft.com/office/drawing/2014/main" id="{1E2EE7AE-C8EF-4D1E-8EE9-B2275409D449}"/>
              </a:ext>
            </a:extLst>
          </p:cNvPr>
          <p:cNvSpPr>
            <a:spLocks noGrp="1"/>
          </p:cNvSpPr>
          <p:nvPr/>
        </p:nvSpPr>
        <p:spPr>
          <a:xfrm>
            <a:off x="9239250" y="5257800"/>
            <a:ext cx="2381250" cy="571500"/>
          </a:xfrm>
          <a:prstGeom prst="roundRect">
            <a:avLst>
              <a:gd name="adj" fmla="val 13333"/>
            </a:avLst>
          </a:prstGeom>
          <a:solidFill>
            <a:srgbClr val="DDF2EF"/>
          </a:solidFill>
          <a:ln w="11430">
            <a:solidFill>
              <a:srgbClr val="9FD8D2"/>
            </a:solidFill>
            <a:prstDash val="solid"/>
          </a:ln>
        </p:spPr>
        <p:txBody>
          <a:bodyPr anchor="t"/>
          <a:lstStyle/>
          <a:p>
            <a:pPr algn="ctr">
              <a:buNone/>
              <a:defRPr sz="1125" b="1">
                <a:solidFill>
                  <a:srgbClr val="183D45"/>
                </a:solidFill>
                <a:latin typeface="Aptos"/>
                <a:ea typeface="Aptos"/>
                <a:cs typeface="Aptos"/>
              </a:defRPr>
            </a:pPr>
            <a:r>
              <a:rPr sz="1125" b="1">
                <a:solidFill>
                  <a:srgbClr val="183D45"/>
                </a:solidFill>
                <a:latin typeface="Aptos"/>
                <a:ea typeface="Aptos"/>
                <a:cs typeface="Aptos"/>
              </a:rPr>
              <a:t>newlines at</a:t>
            </a:r>
          </a:p>
          <a:p>
            <a:pPr algn="ctr">
              <a:buNone/>
              <a:defRPr sz="1125" b="1">
                <a:solidFill>
                  <a:srgbClr val="183D45"/>
                </a:solidFill>
                <a:latin typeface="Aptos"/>
                <a:ea typeface="Aptos"/>
                <a:cs typeface="Aptos"/>
              </a:defRPr>
            </a:pPr>
            <a:r>
              <a:rPr sz="1125" b="1">
                <a:solidFill>
                  <a:srgbClr val="183D45"/>
                </a:solidFill>
                <a:latin typeface="Aptos"/>
                <a:ea typeface="Aptos"/>
                <a:cs typeface="Aptos"/>
              </a:rPr>
              <a:t>line-image breaks</a:t>
            </a:r>
          </a:p>
        </p:txBody>
      </p:sp>
      <p:sp>
        <p:nvSpPr>
          <p:cNvPr id="23" name="Rectangle 22">
            <a:extLst>
              <a:ext uri="{FF2B5EF4-FFF2-40B4-BE49-F238E27FC236}">
                <a16:creationId xmlns:a16="http://schemas.microsoft.com/office/drawing/2014/main" id="{807FA698-DCBB-41D9-AEC4-0D61D7445AD5}"/>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853E87F1-FBAA-43D4-AC68-2E337704F18C}"/>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03AD6E2E-4C00-43CC-817F-61C7012CA337}"/>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A17</a:t>
            </a:r>
          </a:p>
        </p:txBody>
      </p:sp>
      <p:sp>
        <p:nvSpPr>
          <p:cNvPr id="4" name="Rectangle 3">
            <a:extLst>
              <a:ext uri="{FF2B5EF4-FFF2-40B4-BE49-F238E27FC236}">
                <a16:creationId xmlns:a16="http://schemas.microsoft.com/office/drawing/2014/main" id="{413F7B5B-2875-405B-B915-2D2C68FD2C7E}"/>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NNTP And CTC Loss</a:t>
            </a:r>
          </a:p>
        </p:txBody>
      </p:sp>
      <p:pic>
        <p:nvPicPr>
          <p:cNvPr id="104" name="Picture 6"/>
          <p:cNvPicPr>
            <a:picLocks noChangeAspect="1"/>
          </p:cNvPicPr>
          <p:nvPr/>
        </p:nvPicPr>
        <p:blipFill>
          <a:blip r:embed="rId3"/>
          <a:stretch>
            <a:fillRect/>
          </a:stretch>
        </p:blipFill>
        <p:spPr>
          <a:xfrm>
            <a:off x="8439919" y="1023938"/>
            <a:ext cx="3571875" cy="3390900"/>
          </a:xfrm>
          <a:prstGeom prst="rect">
            <a:avLst/>
          </a:prstGeom>
        </p:spPr>
      </p:pic>
      <p:sp>
        <p:nvSpPr>
          <p:cNvPr id="6" name="Rectangle 5">
            <a:extLst>
              <a:ext uri="{FF2B5EF4-FFF2-40B4-BE49-F238E27FC236}">
                <a16:creationId xmlns:a16="http://schemas.microsoft.com/office/drawing/2014/main" id="{4C26553B-0A2A-4450-BA06-C9F6706D0EF4}"/>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31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Tree>
    <p:extLst>
      <p:ext uri="{BB962C8B-B14F-4D97-AF65-F5344CB8AC3E}">
        <p14:creationId xmlns:p14="http://schemas.microsoft.com/office/powerpoint/2010/main" val="253583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07FA698-DCBB-41D9-AEC4-0D61D7445AD5}"/>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853E87F1-FBAA-43D4-AC68-2E337704F18C}"/>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03AD6E2E-4C00-43CC-817F-61C7012CA337}"/>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A18</a:t>
            </a:r>
          </a:p>
        </p:txBody>
      </p:sp>
      <p:sp>
        <p:nvSpPr>
          <p:cNvPr id="4" name="Rectangle 3">
            <a:extLst>
              <a:ext uri="{FF2B5EF4-FFF2-40B4-BE49-F238E27FC236}">
                <a16:creationId xmlns:a16="http://schemas.microsoft.com/office/drawing/2014/main" id="{413F7B5B-2875-405B-B915-2D2C68FD2C7E}"/>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650" b="1">
                <a:solidFill>
                  <a:srgbClr val="F7F3EB"/>
                </a:solidFill>
                <a:latin typeface="Aptos Display"/>
                <a:ea typeface="Aptos Display"/>
                <a:cs typeface="Aptos Display"/>
              </a:defRPr>
            </a:pPr>
            <a:r>
              <a:rPr sz="1650" b="1">
                <a:solidFill>
                  <a:srgbClr val="F7F3EB"/>
                </a:solidFill>
                <a:latin typeface="Aptos Display"/>
                <a:ea typeface="Aptos Display"/>
                <a:cs typeface="Aptos Display"/>
              </a:rPr>
              <a:t>How Fixed Transcription Is Preserved</a:t>
            </a:r>
          </a:p>
        </p:txBody>
      </p:sp>
      <p:sp>
        <p:nvSpPr>
          <p:cNvPr id="5" name="Rectangle 4">
            <a:extLst>
              <a:ext uri="{FF2B5EF4-FFF2-40B4-BE49-F238E27FC236}">
                <a16:creationId xmlns:a16="http://schemas.microsoft.com/office/drawing/2014/main" id="{92656BB8-76E8-47EA-B5FA-5B507C40A201}"/>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4C26553B-0A2A-4450-BA06-C9F6706D0EF4}"/>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32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24" name="Rounded Rectangle 23">
            <a:extLst>
              <a:ext uri="{FF2B5EF4-FFF2-40B4-BE49-F238E27FC236}">
                <a16:creationId xmlns:a16="http://schemas.microsoft.com/office/drawing/2014/main" id="{FF99D37B-8C21-46CA-9157-BD67F935776F}"/>
              </a:ext>
            </a:extLst>
          </p:cNvPr>
          <p:cNvSpPr>
            <a:spLocks noGrp="1"/>
          </p:cNvSpPr>
          <p:nvPr/>
        </p:nvSpPr>
        <p:spPr>
          <a:xfrm>
            <a:off x="514350" y="1028700"/>
            <a:ext cx="1504950" cy="723900"/>
          </a:xfrm>
          <a:prstGeom prst="roundRect">
            <a:avLst>
              <a:gd name="adj" fmla="val 10526"/>
            </a:avLst>
          </a:prstGeom>
          <a:solidFill>
            <a:srgbClr val="FFFCF6"/>
          </a:solidFill>
          <a:ln w="11430">
            <a:solidFill>
              <a:srgbClr val="C6D2CE"/>
            </a:solidFill>
          </a:ln>
        </p:spPr>
        <p:txBody>
          <a:bodyPr lIns="114300" tIns="76200" rIns="114300" bIns="76200" anchor="ctr"/>
          <a:lstStyle/>
          <a:p>
            <a:pPr algn="ctr">
              <a:buNone/>
              <a:defRPr sz="1088" b="1">
                <a:solidFill>
                  <a:srgbClr val="173E46"/>
                </a:solidFill>
                <a:latin typeface="Aptos"/>
                <a:ea typeface="Aptos"/>
                <a:cs typeface="Aptos"/>
              </a:defRPr>
            </a:pPr>
            <a:r>
              <a:rPr sz="1088" b="1">
                <a:solidFill>
                  <a:srgbClr val="173E46"/>
                </a:solidFill>
                <a:latin typeface="Aptos"/>
                <a:ea typeface="Aptos"/>
                <a:cs typeface="Aptos"/>
              </a:rPr>
              <a:t>Candidate Line</a:t>
            </a:r>
          </a:p>
          <a:p>
            <a:pPr algn="ctr">
              <a:buNone/>
              <a:defRPr sz="1088" b="1">
                <a:solidFill>
                  <a:srgbClr val="173E46"/>
                </a:solidFill>
                <a:latin typeface="Aptos"/>
                <a:ea typeface="Aptos"/>
                <a:cs typeface="Aptos"/>
              </a:defRPr>
            </a:pPr>
            <a:r>
              <a:rPr sz="1088" b="1">
                <a:solidFill>
                  <a:srgbClr val="173E46"/>
                </a:solidFill>
                <a:latin typeface="Aptos"/>
                <a:ea typeface="Aptos"/>
                <a:cs typeface="Aptos"/>
              </a:rPr>
              <a:t>Hints</a:t>
            </a:r>
          </a:p>
        </p:txBody>
      </p:sp>
      <p:sp>
        <p:nvSpPr>
          <p:cNvPr id="25" name="Right Arrow 24">
            <a:extLst>
              <a:ext uri="{FF2B5EF4-FFF2-40B4-BE49-F238E27FC236}">
                <a16:creationId xmlns:a16="http://schemas.microsoft.com/office/drawing/2014/main" id="{9D17481A-5350-4EA6-9126-7362F6248B3C}"/>
              </a:ext>
            </a:extLst>
          </p:cNvPr>
          <p:cNvSpPr>
            <a:spLocks noGrp="1"/>
          </p:cNvSpPr>
          <p:nvPr/>
        </p:nvSpPr>
        <p:spPr>
          <a:xfrm>
            <a:off x="2114550" y="1285875"/>
            <a:ext cx="228600" cy="209550"/>
          </a:xfrm>
          <a:prstGeom prst="rightArrow">
            <a:avLst/>
          </a:prstGeom>
          <a:solidFill>
            <a:srgbClr val="139E91"/>
          </a:solidFill>
          <a:ln w="0">
            <a:solidFill>
              <a:srgbClr val="139E91"/>
            </a:solidFill>
          </a:ln>
        </p:spPr>
        <p:txBody>
          <a:bodyPr/>
          <a:lstStyle/>
          <a:p>
            <a:endParaRPr/>
          </a:p>
        </p:txBody>
      </p:sp>
      <p:sp>
        <p:nvSpPr>
          <p:cNvPr id="26" name="Rounded Rectangle 25">
            <a:extLst>
              <a:ext uri="{FF2B5EF4-FFF2-40B4-BE49-F238E27FC236}">
                <a16:creationId xmlns:a16="http://schemas.microsoft.com/office/drawing/2014/main" id="{846A52C4-334C-4C2F-9D6E-139FE0212846}"/>
              </a:ext>
            </a:extLst>
          </p:cNvPr>
          <p:cNvSpPr>
            <a:spLocks noGrp="1"/>
          </p:cNvSpPr>
          <p:nvPr/>
        </p:nvSpPr>
        <p:spPr>
          <a:xfrm>
            <a:off x="2419350" y="1028700"/>
            <a:ext cx="1504950" cy="723900"/>
          </a:xfrm>
          <a:prstGeom prst="roundRect">
            <a:avLst>
              <a:gd name="adj" fmla="val 10526"/>
            </a:avLst>
          </a:prstGeom>
          <a:solidFill>
            <a:srgbClr val="FFFCF6"/>
          </a:solidFill>
          <a:ln w="11430">
            <a:solidFill>
              <a:srgbClr val="C6D2CE"/>
            </a:solidFill>
          </a:ln>
        </p:spPr>
        <p:txBody>
          <a:bodyPr lIns="114300" tIns="76200" rIns="114300" bIns="76200" anchor="ctr"/>
          <a:lstStyle/>
          <a:p>
            <a:pPr algn="ctr">
              <a:buNone/>
              <a:defRPr sz="1088" b="1">
                <a:solidFill>
                  <a:srgbClr val="173E46"/>
                </a:solidFill>
                <a:latin typeface="Aptos"/>
                <a:ea typeface="Aptos"/>
                <a:cs typeface="Aptos"/>
              </a:defRPr>
            </a:pPr>
            <a:r>
              <a:rPr sz="1088" b="1">
                <a:solidFill>
                  <a:srgbClr val="173E46"/>
                </a:solidFill>
                <a:latin typeface="Aptos"/>
                <a:ea typeface="Aptos"/>
                <a:cs typeface="Aptos"/>
              </a:rPr>
              <a:t>Validate</a:t>
            </a:r>
          </a:p>
          <a:p>
            <a:pPr algn="ctr">
              <a:buNone/>
              <a:defRPr sz="1088" b="1">
                <a:solidFill>
                  <a:srgbClr val="173E46"/>
                </a:solidFill>
                <a:latin typeface="Aptos"/>
                <a:ea typeface="Aptos"/>
                <a:cs typeface="Aptos"/>
              </a:defRPr>
            </a:pPr>
            <a:r>
              <a:rPr sz="1088" b="1">
                <a:solidFill>
                  <a:srgbClr val="173E46"/>
                </a:solidFill>
                <a:latin typeface="Aptos"/>
                <a:ea typeface="Aptos"/>
                <a:cs typeface="Aptos"/>
              </a:rPr>
              <a:t>Exact Count</a:t>
            </a:r>
          </a:p>
        </p:txBody>
      </p:sp>
      <p:sp>
        <p:nvSpPr>
          <p:cNvPr id="27" name="Right Arrow 26">
            <a:extLst>
              <a:ext uri="{FF2B5EF4-FFF2-40B4-BE49-F238E27FC236}">
                <a16:creationId xmlns:a16="http://schemas.microsoft.com/office/drawing/2014/main" id="{A9665511-DBAB-4A06-97FF-23F948E63752}"/>
              </a:ext>
            </a:extLst>
          </p:cNvPr>
          <p:cNvSpPr>
            <a:spLocks noGrp="1"/>
          </p:cNvSpPr>
          <p:nvPr/>
        </p:nvSpPr>
        <p:spPr>
          <a:xfrm>
            <a:off x="4019550" y="1285875"/>
            <a:ext cx="228600" cy="209550"/>
          </a:xfrm>
          <a:prstGeom prst="rightArrow">
            <a:avLst/>
          </a:prstGeom>
          <a:solidFill>
            <a:srgbClr val="139E91"/>
          </a:solidFill>
          <a:ln w="0">
            <a:solidFill>
              <a:srgbClr val="139E91"/>
            </a:solidFill>
          </a:ln>
        </p:spPr>
        <p:txBody>
          <a:bodyPr/>
          <a:lstStyle/>
          <a:p>
            <a:endParaRPr/>
          </a:p>
        </p:txBody>
      </p:sp>
      <p:sp>
        <p:nvSpPr>
          <p:cNvPr id="28" name="Rounded Rectangle 27">
            <a:extLst>
              <a:ext uri="{FF2B5EF4-FFF2-40B4-BE49-F238E27FC236}">
                <a16:creationId xmlns:a16="http://schemas.microsoft.com/office/drawing/2014/main" id="{9E34370D-9B08-49B5-9577-55B69AA40FDA}"/>
              </a:ext>
            </a:extLst>
          </p:cNvPr>
          <p:cNvSpPr>
            <a:spLocks noGrp="1"/>
          </p:cNvSpPr>
          <p:nvPr/>
        </p:nvSpPr>
        <p:spPr>
          <a:xfrm>
            <a:off x="4324350" y="1028700"/>
            <a:ext cx="1504950" cy="723900"/>
          </a:xfrm>
          <a:prstGeom prst="roundRect">
            <a:avLst>
              <a:gd name="adj" fmla="val 10526"/>
            </a:avLst>
          </a:prstGeom>
          <a:solidFill>
            <a:srgbClr val="FFFCF6"/>
          </a:solidFill>
          <a:ln w="11430">
            <a:solidFill>
              <a:srgbClr val="C6D2CE"/>
            </a:solidFill>
          </a:ln>
        </p:spPr>
        <p:txBody>
          <a:bodyPr lIns="114300" tIns="76200" rIns="114300" bIns="76200" anchor="ctr"/>
          <a:lstStyle/>
          <a:p>
            <a:pPr algn="ctr">
              <a:buNone/>
              <a:defRPr sz="1088" b="1">
                <a:solidFill>
                  <a:srgbClr val="173E46"/>
                </a:solidFill>
                <a:latin typeface="Aptos"/>
                <a:ea typeface="Aptos"/>
                <a:cs typeface="Aptos"/>
              </a:defRPr>
            </a:pPr>
            <a:r>
              <a:rPr sz="1088" b="1">
                <a:solidFill>
                  <a:srgbClr val="173E46"/>
                </a:solidFill>
                <a:latin typeface="Aptos"/>
                <a:ea typeface="Aptos"/>
                <a:cs typeface="Aptos"/>
              </a:rPr>
              <a:t>Repair /</a:t>
            </a:r>
          </a:p>
          <a:p>
            <a:pPr algn="ctr">
              <a:buNone/>
              <a:defRPr sz="1088" b="1">
                <a:solidFill>
                  <a:srgbClr val="173E46"/>
                </a:solidFill>
                <a:latin typeface="Aptos"/>
                <a:ea typeface="Aptos"/>
                <a:cs typeface="Aptos"/>
              </a:defRPr>
            </a:pPr>
            <a:r>
              <a:rPr sz="1088" b="1">
                <a:solidFill>
                  <a:srgbClr val="173E46"/>
                </a:solidFill>
                <a:latin typeface="Aptos"/>
                <a:ea typeface="Aptos"/>
                <a:cs typeface="Aptos"/>
              </a:rPr>
              <a:t>Recovery If Needed</a:t>
            </a:r>
          </a:p>
        </p:txBody>
      </p:sp>
      <p:sp>
        <p:nvSpPr>
          <p:cNvPr id="29" name="Right Arrow 28">
            <a:extLst>
              <a:ext uri="{FF2B5EF4-FFF2-40B4-BE49-F238E27FC236}">
                <a16:creationId xmlns:a16="http://schemas.microsoft.com/office/drawing/2014/main" id="{B2F793C2-6C68-47F9-9066-55C6F73A2B73}"/>
              </a:ext>
            </a:extLst>
          </p:cNvPr>
          <p:cNvSpPr>
            <a:spLocks noGrp="1"/>
          </p:cNvSpPr>
          <p:nvPr/>
        </p:nvSpPr>
        <p:spPr>
          <a:xfrm>
            <a:off x="5924550" y="1285875"/>
            <a:ext cx="228600" cy="209550"/>
          </a:xfrm>
          <a:prstGeom prst="rightArrow">
            <a:avLst/>
          </a:prstGeom>
          <a:solidFill>
            <a:srgbClr val="139E91"/>
          </a:solidFill>
          <a:ln w="0">
            <a:solidFill>
              <a:srgbClr val="139E91"/>
            </a:solidFill>
          </a:ln>
        </p:spPr>
        <p:txBody>
          <a:bodyPr/>
          <a:lstStyle/>
          <a:p>
            <a:endParaRPr/>
          </a:p>
        </p:txBody>
      </p:sp>
      <p:sp>
        <p:nvSpPr>
          <p:cNvPr id="30" name="Rounded Rectangle 29">
            <a:extLst>
              <a:ext uri="{FF2B5EF4-FFF2-40B4-BE49-F238E27FC236}">
                <a16:creationId xmlns:a16="http://schemas.microsoft.com/office/drawing/2014/main" id="{59EACEE7-2DC7-4933-A119-69E572C80CD7}"/>
              </a:ext>
            </a:extLst>
          </p:cNvPr>
          <p:cNvSpPr>
            <a:spLocks noGrp="1"/>
          </p:cNvSpPr>
          <p:nvPr/>
        </p:nvSpPr>
        <p:spPr>
          <a:xfrm>
            <a:off x="6229350" y="1028700"/>
            <a:ext cx="1504950" cy="723900"/>
          </a:xfrm>
          <a:prstGeom prst="roundRect">
            <a:avLst>
              <a:gd name="adj" fmla="val 10526"/>
            </a:avLst>
          </a:prstGeom>
          <a:solidFill>
            <a:srgbClr val="FFFCF6"/>
          </a:solidFill>
          <a:ln w="11430">
            <a:solidFill>
              <a:srgbClr val="C6D2CE"/>
            </a:solidFill>
          </a:ln>
        </p:spPr>
        <p:txBody>
          <a:bodyPr lIns="114300" tIns="76200" rIns="114300" bIns="76200" anchor="ctr"/>
          <a:lstStyle/>
          <a:p>
            <a:pPr algn="ctr">
              <a:buNone/>
              <a:defRPr sz="1088" b="1">
                <a:solidFill>
                  <a:srgbClr val="173E46"/>
                </a:solidFill>
                <a:latin typeface="Aptos"/>
                <a:ea typeface="Aptos"/>
                <a:cs typeface="Aptos"/>
              </a:defRPr>
            </a:pPr>
            <a:r>
              <a:rPr sz="1088" b="1">
                <a:solidFill>
                  <a:srgbClr val="173E46"/>
                </a:solidFill>
                <a:latin typeface="Aptos"/>
                <a:ea typeface="Aptos"/>
                <a:cs typeface="Aptos"/>
              </a:rPr>
              <a:t>Fallback If No</a:t>
            </a:r>
          </a:p>
          <a:p>
            <a:pPr algn="ctr">
              <a:buNone/>
              <a:defRPr sz="1088" b="1">
                <a:solidFill>
                  <a:srgbClr val="173E46"/>
                </a:solidFill>
                <a:latin typeface="Aptos"/>
                <a:ea typeface="Aptos"/>
                <a:cs typeface="Aptos"/>
              </a:defRPr>
            </a:pPr>
            <a:r>
              <a:rPr sz="1088" b="1">
                <a:solidFill>
                  <a:srgbClr val="173E46"/>
                </a:solidFill>
                <a:latin typeface="Aptos"/>
                <a:ea typeface="Aptos"/>
                <a:cs typeface="Aptos"/>
              </a:rPr>
              <a:t>Usable Plan</a:t>
            </a:r>
          </a:p>
        </p:txBody>
      </p:sp>
      <p:sp>
        <p:nvSpPr>
          <p:cNvPr id="31" name="Right Arrow 30">
            <a:extLst>
              <a:ext uri="{FF2B5EF4-FFF2-40B4-BE49-F238E27FC236}">
                <a16:creationId xmlns:a16="http://schemas.microsoft.com/office/drawing/2014/main" id="{384800D4-5E9F-40B9-9BF8-BEDF66A21204}"/>
              </a:ext>
            </a:extLst>
          </p:cNvPr>
          <p:cNvSpPr>
            <a:spLocks noGrp="1"/>
          </p:cNvSpPr>
          <p:nvPr/>
        </p:nvSpPr>
        <p:spPr>
          <a:xfrm>
            <a:off x="7829550" y="1285875"/>
            <a:ext cx="228600" cy="209550"/>
          </a:xfrm>
          <a:prstGeom prst="rightArrow">
            <a:avLst/>
          </a:prstGeom>
          <a:solidFill>
            <a:srgbClr val="E86E52"/>
          </a:solidFill>
          <a:ln w="0">
            <a:solidFill>
              <a:srgbClr val="E86E52"/>
            </a:solidFill>
          </a:ln>
        </p:spPr>
        <p:txBody>
          <a:bodyPr/>
          <a:lstStyle/>
          <a:p>
            <a:endParaRPr/>
          </a:p>
        </p:txBody>
      </p:sp>
      <p:sp>
        <p:nvSpPr>
          <p:cNvPr id="32" name="Rounded Rectangle 31">
            <a:extLst>
              <a:ext uri="{FF2B5EF4-FFF2-40B4-BE49-F238E27FC236}">
                <a16:creationId xmlns:a16="http://schemas.microsoft.com/office/drawing/2014/main" id="{AB8F0266-EB25-4C77-8E7C-F0D013F9FED7}"/>
              </a:ext>
            </a:extLst>
          </p:cNvPr>
          <p:cNvSpPr>
            <a:spLocks noGrp="1"/>
          </p:cNvSpPr>
          <p:nvPr/>
        </p:nvSpPr>
        <p:spPr>
          <a:xfrm>
            <a:off x="8134350" y="1028700"/>
            <a:ext cx="1504950" cy="723900"/>
          </a:xfrm>
          <a:prstGeom prst="roundRect">
            <a:avLst>
              <a:gd name="adj" fmla="val 10526"/>
            </a:avLst>
          </a:prstGeom>
          <a:solidFill>
            <a:srgbClr val="FCE5DE"/>
          </a:solidFill>
          <a:ln w="11430">
            <a:solidFill>
              <a:srgbClr val="EFB9AB"/>
            </a:solidFill>
          </a:ln>
        </p:spPr>
        <p:txBody>
          <a:bodyPr lIns="114300" tIns="76200" rIns="114300" bIns="76200" anchor="ctr"/>
          <a:lstStyle/>
          <a:p>
            <a:pPr algn="ctr">
              <a:buNone/>
              <a:defRPr sz="1088" b="1">
                <a:solidFill>
                  <a:srgbClr val="173E46"/>
                </a:solidFill>
                <a:latin typeface="Aptos"/>
                <a:ea typeface="Aptos"/>
                <a:cs typeface="Aptos"/>
              </a:defRPr>
            </a:pPr>
            <a:r>
              <a:rPr sz="1088" b="1">
                <a:solidFill>
                  <a:srgbClr val="173E46"/>
                </a:solidFill>
                <a:latin typeface="Aptos"/>
                <a:ea typeface="Aptos"/>
                <a:cs typeface="Aptos"/>
              </a:rPr>
              <a:t>Project Boundaries Onto</a:t>
            </a:r>
          </a:p>
          <a:p>
            <a:pPr algn="ctr">
              <a:buNone/>
              <a:defRPr sz="1088" b="1">
                <a:solidFill>
                  <a:srgbClr val="173E46"/>
                </a:solidFill>
                <a:latin typeface="Aptos"/>
                <a:ea typeface="Aptos"/>
                <a:cs typeface="Aptos"/>
              </a:defRPr>
            </a:pPr>
            <a:r>
              <a:rPr sz="1088" b="1">
                <a:solidFill>
                  <a:srgbClr val="173E46"/>
                </a:solidFill>
                <a:latin typeface="Aptos"/>
                <a:ea typeface="Aptos"/>
                <a:cs typeface="Aptos"/>
              </a:rPr>
              <a:t>Fixed Transcription</a:t>
            </a:r>
          </a:p>
        </p:txBody>
      </p:sp>
      <p:sp>
        <p:nvSpPr>
          <p:cNvPr id="33" name="Right Arrow 32">
            <a:extLst>
              <a:ext uri="{FF2B5EF4-FFF2-40B4-BE49-F238E27FC236}">
                <a16:creationId xmlns:a16="http://schemas.microsoft.com/office/drawing/2014/main" id="{3D59EF6D-01A6-4180-A294-A3C563C90ACE}"/>
              </a:ext>
            </a:extLst>
          </p:cNvPr>
          <p:cNvSpPr>
            <a:spLocks noGrp="1"/>
          </p:cNvSpPr>
          <p:nvPr/>
        </p:nvSpPr>
        <p:spPr>
          <a:xfrm>
            <a:off x="9734550" y="1285875"/>
            <a:ext cx="228600" cy="209550"/>
          </a:xfrm>
          <a:prstGeom prst="rightArrow">
            <a:avLst/>
          </a:prstGeom>
          <a:solidFill>
            <a:srgbClr val="E86E52"/>
          </a:solidFill>
          <a:ln w="0">
            <a:solidFill>
              <a:srgbClr val="E86E52"/>
            </a:solidFill>
          </a:ln>
        </p:spPr>
        <p:txBody>
          <a:bodyPr/>
          <a:lstStyle/>
          <a:p>
            <a:endParaRPr/>
          </a:p>
        </p:txBody>
      </p:sp>
      <p:sp>
        <p:nvSpPr>
          <p:cNvPr id="34" name="Rounded Rectangle 33">
            <a:extLst>
              <a:ext uri="{FF2B5EF4-FFF2-40B4-BE49-F238E27FC236}">
                <a16:creationId xmlns:a16="http://schemas.microsoft.com/office/drawing/2014/main" id="{9B47B60E-9847-4041-87E9-3790C464B38E}"/>
              </a:ext>
            </a:extLst>
          </p:cNvPr>
          <p:cNvSpPr>
            <a:spLocks noGrp="1"/>
          </p:cNvSpPr>
          <p:nvPr/>
        </p:nvSpPr>
        <p:spPr>
          <a:xfrm>
            <a:off x="10039350" y="1028700"/>
            <a:ext cx="1504950" cy="723900"/>
          </a:xfrm>
          <a:prstGeom prst="roundRect">
            <a:avLst>
              <a:gd name="adj" fmla="val 10526"/>
            </a:avLst>
          </a:prstGeom>
          <a:solidFill>
            <a:srgbClr val="DDF2EF"/>
          </a:solidFill>
          <a:ln w="11430">
            <a:solidFill>
              <a:srgbClr val="A9D6D0"/>
            </a:solidFill>
          </a:ln>
        </p:spPr>
        <p:txBody>
          <a:bodyPr lIns="114300" tIns="76200" rIns="114300" bIns="76200" anchor="ctr"/>
          <a:lstStyle/>
          <a:p>
            <a:pPr algn="ctr">
              <a:buNone/>
              <a:defRPr sz="1088" b="1">
                <a:solidFill>
                  <a:srgbClr val="173E46"/>
                </a:solidFill>
                <a:latin typeface="Aptos"/>
                <a:ea typeface="Aptos"/>
                <a:cs typeface="Aptos"/>
              </a:defRPr>
            </a:pPr>
            <a:r>
              <a:rPr sz="1088" b="1">
                <a:solidFill>
                  <a:srgbClr val="173E46"/>
                </a:solidFill>
                <a:latin typeface="Aptos"/>
                <a:ea typeface="Aptos"/>
                <a:cs typeface="Aptos"/>
              </a:rPr>
              <a:t>Final</a:t>
            </a:r>
          </a:p>
          <a:p>
            <a:pPr algn="ctr">
              <a:buNone/>
              <a:defRPr sz="1088" b="1">
                <a:solidFill>
                  <a:srgbClr val="173E46"/>
                </a:solidFill>
                <a:latin typeface="Aptos"/>
                <a:ea typeface="Aptos"/>
                <a:cs typeface="Aptos"/>
              </a:defRPr>
            </a:pPr>
            <a:r>
              <a:rPr sz="1088" b="1">
                <a:solidFill>
                  <a:srgbClr val="173E46"/>
                </a:solidFill>
                <a:latin typeface="Aptos"/>
                <a:ea typeface="Aptos"/>
                <a:cs typeface="Aptos"/>
              </a:rPr>
              <a:t>Output</a:t>
            </a:r>
          </a:p>
        </p:txBody>
      </p:sp>
      <p:sp>
        <p:nvSpPr>
          <p:cNvPr id="35" name="Rounded Rectangle 34">
            <a:extLst>
              <a:ext uri="{FF2B5EF4-FFF2-40B4-BE49-F238E27FC236}">
                <a16:creationId xmlns:a16="http://schemas.microsoft.com/office/drawing/2014/main" id="{930954A7-0D7E-4350-BD00-964B12914ADB}"/>
              </a:ext>
            </a:extLst>
          </p:cNvPr>
          <p:cNvSpPr>
            <a:spLocks noGrp="1"/>
          </p:cNvSpPr>
          <p:nvPr/>
        </p:nvSpPr>
        <p:spPr>
          <a:xfrm>
            <a:off x="704850" y="2419350"/>
            <a:ext cx="4629150" cy="2381250"/>
          </a:xfrm>
          <a:prstGeom prst="roundRect">
            <a:avLst>
              <a:gd name="adj" fmla="val 3846"/>
            </a:avLst>
          </a:prstGeom>
          <a:solidFill>
            <a:srgbClr val="FFFCF6"/>
          </a:solidFill>
          <a:ln w="11430">
            <a:solidFill>
              <a:srgbClr val="E6DDD0"/>
            </a:solidFill>
          </a:ln>
        </p:spPr>
        <p:txBody>
          <a:bodyPr lIns="114300" tIns="76200" rIns="114300" bIns="76200" anchor="ctr"/>
          <a:lstStyle/>
          <a:p>
            <a:endParaRPr/>
          </a:p>
        </p:txBody>
      </p:sp>
      <p:sp>
        <p:nvSpPr>
          <p:cNvPr id="36" name="Rectangle 35">
            <a:extLst>
              <a:ext uri="{FF2B5EF4-FFF2-40B4-BE49-F238E27FC236}">
                <a16:creationId xmlns:a16="http://schemas.microsoft.com/office/drawing/2014/main" id="{0903DCAF-0B79-44BE-A6A6-8F7D599895D1}"/>
              </a:ext>
            </a:extLst>
          </p:cNvPr>
          <p:cNvSpPr>
            <a:spLocks noGrp="1"/>
          </p:cNvSpPr>
          <p:nvPr/>
        </p:nvSpPr>
        <p:spPr>
          <a:xfrm>
            <a:off x="933450" y="2647950"/>
            <a:ext cx="3143250" cy="209550"/>
          </a:xfrm>
          <a:prstGeom prst="rect">
            <a:avLst/>
          </a:prstGeom>
          <a:solidFill>
            <a:srgbClr val="000000">
              <a:alpha val="0"/>
            </a:srgbClr>
          </a:solidFill>
          <a:ln w="0">
            <a:solidFill>
              <a:srgbClr val="000000">
                <a:alpha val="0"/>
              </a:srgbClr>
            </a:solidFill>
          </a:ln>
        </p:spPr>
        <p:txBody>
          <a:bodyPr lIns="0" tIns="0" rIns="0" bIns="0" anchor="ctr"/>
          <a:lstStyle/>
          <a:p>
            <a:pPr algn="l">
              <a:buNone/>
              <a:defRPr sz="1125" b="1">
                <a:solidFill>
                  <a:srgbClr val="E86E52"/>
                </a:solidFill>
                <a:latin typeface="Aptos"/>
                <a:ea typeface="Aptos"/>
                <a:cs typeface="Aptos"/>
              </a:defRPr>
            </a:pPr>
            <a:r>
              <a:rPr sz="1125" b="1">
                <a:solidFill>
                  <a:srgbClr val="E86E52"/>
                </a:solidFill>
                <a:latin typeface="Aptos"/>
                <a:ea typeface="Aptos"/>
                <a:cs typeface="Aptos"/>
              </a:rPr>
              <a:t>Caplain -&gt; Captain Projection Example</a:t>
            </a:r>
          </a:p>
        </p:txBody>
      </p:sp>
      <p:sp>
        <p:nvSpPr>
          <p:cNvPr id="37" name="Rectangle 36">
            <a:extLst>
              <a:ext uri="{FF2B5EF4-FFF2-40B4-BE49-F238E27FC236}">
                <a16:creationId xmlns:a16="http://schemas.microsoft.com/office/drawing/2014/main" id="{3206CD56-006F-431A-B57C-800CA3809C1F}"/>
              </a:ext>
            </a:extLst>
          </p:cNvPr>
          <p:cNvSpPr>
            <a:spLocks noGrp="1"/>
          </p:cNvSpPr>
          <p:nvPr/>
        </p:nvSpPr>
        <p:spPr>
          <a:xfrm>
            <a:off x="952500" y="3048000"/>
            <a:ext cx="1257300" cy="228600"/>
          </a:xfrm>
          <a:prstGeom prst="rect">
            <a:avLst/>
          </a:prstGeom>
          <a:solidFill>
            <a:srgbClr val="000000">
              <a:alpha val="0"/>
            </a:srgbClr>
          </a:solidFill>
          <a:ln w="0">
            <a:solidFill>
              <a:srgbClr val="000000">
                <a:alpha val="0"/>
              </a:srgbClr>
            </a:solidFill>
          </a:ln>
        </p:spPr>
        <p:txBody>
          <a:bodyPr lIns="0" tIns="0" rIns="0" bIns="0" anchor="ctr"/>
          <a:lstStyle/>
          <a:p>
            <a:pPr algn="l">
              <a:buNone/>
              <a:defRPr sz="975" b="1">
                <a:solidFill>
                  <a:srgbClr val="5F6E6D"/>
                </a:solidFill>
                <a:latin typeface="Aptos"/>
                <a:ea typeface="Aptos"/>
                <a:cs typeface="Aptos"/>
              </a:defRPr>
            </a:pPr>
            <a:r>
              <a:rPr sz="975" b="1">
                <a:solidFill>
                  <a:srgbClr val="5F6E6D"/>
                </a:solidFill>
                <a:latin typeface="Aptos"/>
                <a:ea typeface="Aptos"/>
                <a:cs typeface="Aptos"/>
              </a:rPr>
              <a:t>Model Hint:</a:t>
            </a:r>
          </a:p>
        </p:txBody>
      </p:sp>
      <p:sp>
        <p:nvSpPr>
          <p:cNvPr id="38" name="Rounded Rectangle 37">
            <a:extLst>
              <a:ext uri="{FF2B5EF4-FFF2-40B4-BE49-F238E27FC236}">
                <a16:creationId xmlns:a16="http://schemas.microsoft.com/office/drawing/2014/main" id="{1A996C23-1AC0-4E9C-8B87-1D41AE1577D9}"/>
              </a:ext>
            </a:extLst>
          </p:cNvPr>
          <p:cNvSpPr>
            <a:spLocks noGrp="1"/>
          </p:cNvSpPr>
          <p:nvPr/>
        </p:nvSpPr>
        <p:spPr>
          <a:xfrm>
            <a:off x="2343150" y="2914650"/>
            <a:ext cx="2705100" cy="495300"/>
          </a:xfrm>
          <a:prstGeom prst="roundRect">
            <a:avLst>
              <a:gd name="adj" fmla="val 25000"/>
            </a:avLst>
          </a:prstGeom>
          <a:solidFill>
            <a:srgbClr val="FCE5DE"/>
          </a:solidFill>
          <a:ln w="11430">
            <a:solidFill>
              <a:srgbClr val="EFB9AB"/>
            </a:solidFill>
          </a:ln>
        </p:spPr>
        <p:txBody>
          <a:bodyPr lIns="57150" tIns="38100" rIns="57150" bIns="38100" anchor="ctr"/>
          <a:lstStyle/>
          <a:p>
            <a:pPr algn="ctr">
              <a:buNone/>
              <a:defRPr sz="975" b="0">
                <a:solidFill>
                  <a:srgbClr val="173E46"/>
                </a:solidFill>
                <a:latin typeface="Aptos"/>
                <a:ea typeface="Aptos"/>
                <a:cs typeface="Aptos"/>
              </a:defRPr>
            </a:pPr>
            <a:r>
              <a:rPr sz="870" b="0">
                <a:solidFill>
                  <a:srgbClr val="173E46"/>
                </a:solidFill>
                <a:latin typeface="Aptos"/>
                <a:ea typeface="Aptos"/>
                <a:cs typeface="Aptos"/>
              </a:rPr>
              <a:t>"The Bearer, Caplain "</a:t>
            </a:r>
          </a:p>
          <a:p>
            <a:pPr algn="ctr">
              <a:buNone/>
              <a:defRPr sz="975" b="0">
                <a:solidFill>
                  <a:srgbClr val="173E46"/>
                </a:solidFill>
                <a:latin typeface="Aptos"/>
                <a:ea typeface="Aptos"/>
                <a:cs typeface="Aptos"/>
              </a:defRPr>
            </a:pPr>
            <a:r>
              <a:rPr sz="870" b="0">
                <a:solidFill>
                  <a:srgbClr val="173E46"/>
                </a:solidFill>
                <a:latin typeface="Aptos"/>
                <a:ea typeface="Aptos"/>
                <a:cs typeface="Aptos"/>
              </a:rPr>
              <a:t>"John Mercer"</a:t>
            </a:r>
          </a:p>
        </p:txBody>
      </p:sp>
      <p:sp>
        <p:nvSpPr>
          <p:cNvPr id="39" name="Rectangle 38">
            <a:extLst>
              <a:ext uri="{FF2B5EF4-FFF2-40B4-BE49-F238E27FC236}">
                <a16:creationId xmlns:a16="http://schemas.microsoft.com/office/drawing/2014/main" id="{62EEF91A-AC1A-4A13-9625-7048E55F5A74}"/>
              </a:ext>
            </a:extLst>
          </p:cNvPr>
          <p:cNvSpPr>
            <a:spLocks noGrp="1"/>
          </p:cNvSpPr>
          <p:nvPr/>
        </p:nvSpPr>
        <p:spPr>
          <a:xfrm>
            <a:off x="952500" y="3495675"/>
            <a:ext cx="1257300" cy="228600"/>
          </a:xfrm>
          <a:prstGeom prst="rect">
            <a:avLst/>
          </a:prstGeom>
          <a:solidFill>
            <a:srgbClr val="000000">
              <a:alpha val="0"/>
            </a:srgbClr>
          </a:solidFill>
          <a:ln w="0">
            <a:solidFill>
              <a:srgbClr val="000000">
                <a:alpha val="0"/>
              </a:srgbClr>
            </a:solidFill>
          </a:ln>
        </p:spPr>
        <p:txBody>
          <a:bodyPr lIns="0" tIns="0" rIns="0" bIns="0" anchor="ctr"/>
          <a:lstStyle/>
          <a:p>
            <a:pPr algn="l">
              <a:buNone/>
              <a:defRPr sz="975" b="1">
                <a:solidFill>
                  <a:srgbClr val="5F6E6D"/>
                </a:solidFill>
                <a:latin typeface="Aptos"/>
                <a:ea typeface="Aptos"/>
                <a:cs typeface="Aptos"/>
              </a:defRPr>
            </a:pPr>
            <a:r>
              <a:rPr sz="975" b="1">
                <a:solidFill>
                  <a:srgbClr val="5F6E6D"/>
                </a:solidFill>
                <a:latin typeface="Aptos"/>
                <a:ea typeface="Aptos"/>
                <a:cs typeface="Aptos"/>
              </a:rPr>
              <a:t>Fixed Transcription:</a:t>
            </a:r>
          </a:p>
        </p:txBody>
      </p:sp>
      <p:sp>
        <p:nvSpPr>
          <p:cNvPr id="40" name="Rounded Rectangle 39">
            <a:extLst>
              <a:ext uri="{FF2B5EF4-FFF2-40B4-BE49-F238E27FC236}">
                <a16:creationId xmlns:a16="http://schemas.microsoft.com/office/drawing/2014/main" id="{45887C6F-F914-4555-ADD9-47F6A84AADBE}"/>
              </a:ext>
            </a:extLst>
          </p:cNvPr>
          <p:cNvSpPr>
            <a:spLocks noGrp="1"/>
          </p:cNvSpPr>
          <p:nvPr/>
        </p:nvSpPr>
        <p:spPr>
          <a:xfrm>
            <a:off x="2343150" y="3429000"/>
            <a:ext cx="2705100" cy="361950"/>
          </a:xfrm>
          <a:prstGeom prst="roundRect">
            <a:avLst>
              <a:gd name="adj" fmla="val 25000"/>
            </a:avLst>
          </a:prstGeom>
          <a:solidFill>
            <a:srgbClr val="F5EFE5"/>
          </a:solidFill>
          <a:ln w="11430">
            <a:solidFill>
              <a:srgbClr val="E2D7C8"/>
            </a:solidFill>
          </a:ln>
        </p:spPr>
        <p:txBody>
          <a:bodyPr lIns="47625" tIns="28575" rIns="47625" bIns="28575" anchor="ctr"/>
          <a:lstStyle/>
          <a:p>
            <a:pPr algn="ctr">
              <a:buNone/>
              <a:defRPr sz="975" b="0">
                <a:solidFill>
                  <a:srgbClr val="173E46"/>
                </a:solidFill>
                <a:latin typeface="Aptos"/>
                <a:ea typeface="Aptos"/>
                <a:cs typeface="Aptos"/>
              </a:defRPr>
            </a:pPr>
            <a:r>
              <a:rPr sz="810" b="0">
                <a:solidFill>
                  <a:srgbClr val="173E46"/>
                </a:solidFill>
                <a:latin typeface="Aptos"/>
                <a:ea typeface="Aptos"/>
                <a:cs typeface="Aptos"/>
              </a:rPr>
              <a:t>"The Bearer, Captain John Mercer"</a:t>
            </a:r>
          </a:p>
        </p:txBody>
      </p:sp>
      <p:sp>
        <p:nvSpPr>
          <p:cNvPr id="41" name="Rectangle 40">
            <a:extLst>
              <a:ext uri="{FF2B5EF4-FFF2-40B4-BE49-F238E27FC236}">
                <a16:creationId xmlns:a16="http://schemas.microsoft.com/office/drawing/2014/main" id="{B1EC79F6-2E9D-44BC-AD25-E3A696B7999F}"/>
              </a:ext>
            </a:extLst>
          </p:cNvPr>
          <p:cNvSpPr>
            <a:spLocks noGrp="1"/>
          </p:cNvSpPr>
          <p:nvPr/>
        </p:nvSpPr>
        <p:spPr>
          <a:xfrm>
            <a:off x="952500" y="3981450"/>
            <a:ext cx="1257300" cy="228600"/>
          </a:xfrm>
          <a:prstGeom prst="rect">
            <a:avLst/>
          </a:prstGeom>
          <a:solidFill>
            <a:srgbClr val="000000">
              <a:alpha val="0"/>
            </a:srgbClr>
          </a:solidFill>
          <a:ln w="0">
            <a:solidFill>
              <a:srgbClr val="000000">
                <a:alpha val="0"/>
              </a:srgbClr>
            </a:solidFill>
          </a:ln>
        </p:spPr>
        <p:txBody>
          <a:bodyPr lIns="0" tIns="0" rIns="0" bIns="0" anchor="ctr"/>
          <a:lstStyle/>
          <a:p>
            <a:pPr algn="l">
              <a:buNone/>
              <a:defRPr sz="975" b="1">
                <a:solidFill>
                  <a:srgbClr val="5F6E6D"/>
                </a:solidFill>
                <a:latin typeface="Aptos"/>
                <a:ea typeface="Aptos"/>
                <a:cs typeface="Aptos"/>
              </a:defRPr>
            </a:pPr>
            <a:r>
              <a:rPr sz="975" b="1">
                <a:solidFill>
                  <a:srgbClr val="5F6E6D"/>
                </a:solidFill>
                <a:latin typeface="Aptos"/>
                <a:ea typeface="Aptos"/>
                <a:cs typeface="Aptos"/>
              </a:rPr>
              <a:t>Projected Output:</a:t>
            </a:r>
          </a:p>
        </p:txBody>
      </p:sp>
      <p:sp>
        <p:nvSpPr>
          <p:cNvPr id="42" name="Rounded Rectangle 41">
            <a:extLst>
              <a:ext uri="{FF2B5EF4-FFF2-40B4-BE49-F238E27FC236}">
                <a16:creationId xmlns:a16="http://schemas.microsoft.com/office/drawing/2014/main" id="{1364F87F-3B41-4240-B7D3-88523E604949}"/>
              </a:ext>
            </a:extLst>
          </p:cNvPr>
          <p:cNvSpPr>
            <a:spLocks noGrp="1"/>
          </p:cNvSpPr>
          <p:nvPr/>
        </p:nvSpPr>
        <p:spPr>
          <a:xfrm>
            <a:off x="2343150" y="3829050"/>
            <a:ext cx="2705100" cy="495300"/>
          </a:xfrm>
          <a:prstGeom prst="roundRect">
            <a:avLst>
              <a:gd name="adj" fmla="val 25000"/>
            </a:avLst>
          </a:prstGeom>
          <a:solidFill>
            <a:srgbClr val="DDF2EF"/>
          </a:solidFill>
          <a:ln w="11430">
            <a:solidFill>
              <a:srgbClr val="A9D6D0"/>
            </a:solidFill>
          </a:ln>
        </p:spPr>
        <p:txBody>
          <a:bodyPr lIns="57150" tIns="38100" rIns="57150" bIns="38100" anchor="ctr"/>
          <a:lstStyle/>
          <a:p>
            <a:pPr algn="ctr">
              <a:buNone/>
              <a:defRPr sz="1000" b="1">
                <a:solidFill>
                  <a:srgbClr val="173E46"/>
                </a:solidFill>
                <a:latin typeface="Aptos"/>
                <a:ea typeface="Aptos"/>
                <a:cs typeface="Aptos"/>
              </a:defRPr>
            </a:pPr>
            <a:r>
              <a:rPr sz="1000" b="1">
                <a:solidFill>
                  <a:srgbClr val="173E46"/>
                </a:solidFill>
                <a:latin typeface="Aptos"/>
                <a:ea typeface="Aptos"/>
                <a:cs typeface="Aptos"/>
              </a:rPr>
              <a:t>1 | The Bearer, Captain</a:t>
            </a:r>
          </a:p>
          <a:p>
            <a:pPr algn="ctr">
              <a:buNone/>
              <a:defRPr sz="1000" b="1">
                <a:solidFill>
                  <a:srgbClr val="173E46"/>
                </a:solidFill>
                <a:latin typeface="Aptos"/>
                <a:ea typeface="Aptos"/>
                <a:cs typeface="Aptos"/>
              </a:defRPr>
            </a:pPr>
            <a:r>
              <a:rPr sz="1000" b="1">
                <a:solidFill>
                  <a:srgbClr val="173E46"/>
                </a:solidFill>
                <a:latin typeface="Aptos"/>
                <a:ea typeface="Aptos"/>
                <a:cs typeface="Aptos"/>
              </a:rPr>
              <a:t>2 | John Mercer</a:t>
            </a:r>
          </a:p>
        </p:txBody>
      </p:sp>
      <p:sp>
        <p:nvSpPr>
          <p:cNvPr id="43" name="Rectangle 42">
            <a:extLst>
              <a:ext uri="{FF2B5EF4-FFF2-40B4-BE49-F238E27FC236}">
                <a16:creationId xmlns:a16="http://schemas.microsoft.com/office/drawing/2014/main" id="{F7615066-5574-463B-B7B2-84630809C643}"/>
              </a:ext>
            </a:extLst>
          </p:cNvPr>
          <p:cNvSpPr>
            <a:spLocks noGrp="1"/>
          </p:cNvSpPr>
          <p:nvPr/>
        </p:nvSpPr>
        <p:spPr>
          <a:xfrm>
            <a:off x="952500" y="4343400"/>
            <a:ext cx="4095750" cy="323850"/>
          </a:xfrm>
          <a:prstGeom prst="rect">
            <a:avLst/>
          </a:prstGeom>
          <a:solidFill>
            <a:srgbClr val="000000">
              <a:alpha val="0"/>
            </a:srgbClr>
          </a:solidFill>
          <a:ln w="0">
            <a:solidFill>
              <a:srgbClr val="000000">
                <a:alpha val="0"/>
              </a:srgbClr>
            </a:solidFill>
          </a:ln>
        </p:spPr>
        <p:txBody>
          <a:bodyPr lIns="0" tIns="0" rIns="0" bIns="0" anchor="t"/>
          <a:lstStyle/>
          <a:p>
            <a:pPr algn="l">
              <a:buNone/>
              <a:defRPr sz="1050" b="1">
                <a:solidFill>
                  <a:srgbClr val="173E46"/>
                </a:solidFill>
                <a:latin typeface="Aptos"/>
                <a:ea typeface="Aptos"/>
                <a:cs typeface="Aptos"/>
              </a:defRPr>
            </a:pPr>
            <a:r>
              <a:rPr sz="825" b="1">
                <a:solidFill>
                  <a:srgbClr val="264653"/>
                </a:solidFill>
                <a:latin typeface="Aptos"/>
                <a:ea typeface="Aptos"/>
                <a:cs typeface="Aptos"/>
              </a:rPr>
              <a:t>Projection Uses Cumulative Hint Offsets Mapped To The Fixed Transcription.</a:t>
            </a:r>
          </a:p>
        </p:txBody>
      </p:sp>
      <p:sp>
        <p:nvSpPr>
          <p:cNvPr id="44" name="Rounded Rectangle 43">
            <a:extLst>
              <a:ext uri="{FF2B5EF4-FFF2-40B4-BE49-F238E27FC236}">
                <a16:creationId xmlns:a16="http://schemas.microsoft.com/office/drawing/2014/main" id="{D34582AF-1FBD-4294-B721-BEE2E8C29A71}"/>
              </a:ext>
            </a:extLst>
          </p:cNvPr>
          <p:cNvSpPr>
            <a:spLocks noGrp="1"/>
          </p:cNvSpPr>
          <p:nvPr/>
        </p:nvSpPr>
        <p:spPr>
          <a:xfrm>
            <a:off x="5467350" y="2476500"/>
            <a:ext cx="5657850" cy="1981200"/>
          </a:xfrm>
          <a:prstGeom prst="roundRect">
            <a:avLst>
              <a:gd name="adj" fmla="val 3846"/>
            </a:avLst>
          </a:prstGeom>
          <a:solidFill>
            <a:srgbClr val="FFFCF6"/>
          </a:solidFill>
          <a:ln w="11430">
            <a:solidFill>
              <a:srgbClr val="E6DDD0"/>
            </a:solidFill>
          </a:ln>
        </p:spPr>
        <p:txBody>
          <a:bodyPr lIns="114300" tIns="76200" rIns="114300" bIns="76200" anchor="ctr"/>
          <a:lstStyle/>
          <a:p>
            <a:endParaRPr/>
          </a:p>
        </p:txBody>
      </p:sp>
      <p:sp>
        <p:nvSpPr>
          <p:cNvPr id="45" name="Rectangle 44">
            <a:extLst>
              <a:ext uri="{FF2B5EF4-FFF2-40B4-BE49-F238E27FC236}">
                <a16:creationId xmlns:a16="http://schemas.microsoft.com/office/drawing/2014/main" id="{863A5ECF-72A6-4473-A7BC-A4886351ECA3}"/>
              </a:ext>
            </a:extLst>
          </p:cNvPr>
          <p:cNvSpPr>
            <a:spLocks noGrp="1"/>
          </p:cNvSpPr>
          <p:nvPr/>
        </p:nvSpPr>
        <p:spPr>
          <a:xfrm>
            <a:off x="5715000" y="2647950"/>
            <a:ext cx="2381250" cy="209550"/>
          </a:xfrm>
          <a:prstGeom prst="rect">
            <a:avLst/>
          </a:prstGeom>
          <a:solidFill>
            <a:srgbClr val="000000">
              <a:alpha val="0"/>
            </a:srgbClr>
          </a:solidFill>
          <a:ln w="0">
            <a:solidFill>
              <a:srgbClr val="000000">
                <a:alpha val="0"/>
              </a:srgbClr>
            </a:solidFill>
          </a:ln>
        </p:spPr>
        <p:txBody>
          <a:bodyPr lIns="0" tIns="0" rIns="0" bIns="0" anchor="ctr"/>
          <a:lstStyle/>
          <a:p>
            <a:pPr algn="l">
              <a:buNone/>
              <a:defRPr sz="1125" b="1">
                <a:solidFill>
                  <a:srgbClr val="5F6E6D"/>
                </a:solidFill>
                <a:latin typeface="Aptos"/>
                <a:ea typeface="Aptos"/>
                <a:cs typeface="Aptos"/>
              </a:defRPr>
            </a:pPr>
            <a:r>
              <a:rPr sz="1125" b="1">
                <a:solidFill>
                  <a:srgbClr val="5F6E6D"/>
                </a:solidFill>
                <a:latin typeface="Aptos"/>
                <a:ea typeface="Aptos"/>
                <a:cs typeface="Aptos"/>
              </a:rPr>
              <a:t>Q&amp;A Takeaways</a:t>
            </a:r>
          </a:p>
        </p:txBody>
      </p:sp>
      <p:sp>
        <p:nvSpPr>
          <p:cNvPr id="46" name="Rounded Rectangle 45">
            <a:extLst>
              <a:ext uri="{FF2B5EF4-FFF2-40B4-BE49-F238E27FC236}">
                <a16:creationId xmlns:a16="http://schemas.microsoft.com/office/drawing/2014/main" id="{2F7B6791-9EE6-42AD-B5A4-2EF3EDE08878}"/>
              </a:ext>
            </a:extLst>
          </p:cNvPr>
          <p:cNvSpPr>
            <a:spLocks noGrp="1"/>
          </p:cNvSpPr>
          <p:nvPr/>
        </p:nvSpPr>
        <p:spPr>
          <a:xfrm>
            <a:off x="5715000" y="3067050"/>
            <a:ext cx="95250" cy="95250"/>
          </a:xfrm>
          <a:prstGeom prst="roundRect">
            <a:avLst>
              <a:gd name="adj" fmla="val 50000"/>
            </a:avLst>
          </a:prstGeom>
          <a:solidFill>
            <a:srgbClr val="E86E52"/>
          </a:solidFill>
          <a:ln w="0">
            <a:solidFill>
              <a:srgbClr val="E86E52"/>
            </a:solidFill>
          </a:ln>
        </p:spPr>
        <p:txBody>
          <a:bodyPr/>
          <a:lstStyle/>
          <a:p>
            <a:endParaRPr/>
          </a:p>
        </p:txBody>
      </p:sp>
      <p:sp>
        <p:nvSpPr>
          <p:cNvPr id="47" name="Rectangle 46">
            <a:extLst>
              <a:ext uri="{FF2B5EF4-FFF2-40B4-BE49-F238E27FC236}">
                <a16:creationId xmlns:a16="http://schemas.microsoft.com/office/drawing/2014/main" id="{6EE8813B-A0A5-41AC-A047-A4FFEF9F7DCC}"/>
              </a:ext>
            </a:extLst>
          </p:cNvPr>
          <p:cNvSpPr>
            <a:spLocks noGrp="1"/>
          </p:cNvSpPr>
          <p:nvPr/>
        </p:nvSpPr>
        <p:spPr>
          <a:xfrm>
            <a:off x="5905500" y="3028950"/>
            <a:ext cx="4953000" cy="209550"/>
          </a:xfrm>
          <a:prstGeom prst="rect">
            <a:avLst/>
          </a:prstGeom>
          <a:solidFill>
            <a:srgbClr val="000000">
              <a:alpha val="0"/>
            </a:srgbClr>
          </a:solidFill>
          <a:ln w="0">
            <a:solidFill>
              <a:srgbClr val="000000">
                <a:alpha val="0"/>
              </a:srgbClr>
            </a:solidFill>
          </a:ln>
        </p:spPr>
        <p:txBody>
          <a:bodyPr lIns="0" tIns="0" rIns="0" bIns="0" anchor="ctr"/>
          <a:lstStyle/>
          <a:p>
            <a:pPr algn="l">
              <a:buNone/>
              <a:defRPr sz="1125" b="0">
                <a:solidFill>
                  <a:srgbClr val="173E46"/>
                </a:solidFill>
                <a:latin typeface="Aptos"/>
                <a:ea typeface="Aptos"/>
                <a:cs typeface="Aptos"/>
              </a:defRPr>
            </a:pPr>
            <a:r>
              <a:rPr sz="1125" b="0">
                <a:solidFill>
                  <a:srgbClr val="173E46"/>
                </a:solidFill>
                <a:latin typeface="Aptos"/>
                <a:ea typeface="Aptos"/>
                <a:cs typeface="Aptos"/>
              </a:rPr>
              <a:t>Model Text Is Boundary Evidence, Not Final Content.</a:t>
            </a:r>
          </a:p>
        </p:txBody>
      </p:sp>
      <p:sp>
        <p:nvSpPr>
          <p:cNvPr id="48" name="Rounded Rectangle 47">
            <a:extLst>
              <a:ext uri="{FF2B5EF4-FFF2-40B4-BE49-F238E27FC236}">
                <a16:creationId xmlns:a16="http://schemas.microsoft.com/office/drawing/2014/main" id="{C06830AC-28A2-4415-87A0-4D5BE839EA73}"/>
              </a:ext>
            </a:extLst>
          </p:cNvPr>
          <p:cNvSpPr>
            <a:spLocks noGrp="1"/>
          </p:cNvSpPr>
          <p:nvPr/>
        </p:nvSpPr>
        <p:spPr>
          <a:xfrm>
            <a:off x="5715000" y="3390900"/>
            <a:ext cx="95250" cy="95250"/>
          </a:xfrm>
          <a:prstGeom prst="roundRect">
            <a:avLst>
              <a:gd name="adj" fmla="val 50000"/>
            </a:avLst>
          </a:prstGeom>
          <a:solidFill>
            <a:srgbClr val="139E91"/>
          </a:solidFill>
          <a:ln w="0">
            <a:solidFill>
              <a:srgbClr val="139E91"/>
            </a:solidFill>
          </a:ln>
        </p:spPr>
        <p:txBody>
          <a:bodyPr/>
          <a:lstStyle/>
          <a:p>
            <a:endParaRPr/>
          </a:p>
        </p:txBody>
      </p:sp>
      <p:sp>
        <p:nvSpPr>
          <p:cNvPr id="49" name="Rectangle 48">
            <a:extLst>
              <a:ext uri="{FF2B5EF4-FFF2-40B4-BE49-F238E27FC236}">
                <a16:creationId xmlns:a16="http://schemas.microsoft.com/office/drawing/2014/main" id="{96511E40-71DD-49DF-AF92-B0CA05787C81}"/>
              </a:ext>
            </a:extLst>
          </p:cNvPr>
          <p:cNvSpPr>
            <a:spLocks noGrp="1"/>
          </p:cNvSpPr>
          <p:nvPr/>
        </p:nvSpPr>
        <p:spPr>
          <a:xfrm>
            <a:off x="5905500" y="3352800"/>
            <a:ext cx="4953000" cy="209550"/>
          </a:xfrm>
          <a:prstGeom prst="rect">
            <a:avLst/>
          </a:prstGeom>
          <a:solidFill>
            <a:srgbClr val="000000">
              <a:alpha val="0"/>
            </a:srgbClr>
          </a:solidFill>
          <a:ln w="0">
            <a:solidFill>
              <a:srgbClr val="000000">
                <a:alpha val="0"/>
              </a:srgbClr>
            </a:solidFill>
          </a:ln>
        </p:spPr>
        <p:txBody>
          <a:bodyPr lIns="0" tIns="0" rIns="0" bIns="0" anchor="ctr"/>
          <a:lstStyle/>
          <a:p>
            <a:pPr algn="l">
              <a:buNone/>
              <a:defRPr sz="1125" b="0">
                <a:solidFill>
                  <a:srgbClr val="173E46"/>
                </a:solidFill>
                <a:latin typeface="Aptos"/>
                <a:ea typeface="Aptos"/>
                <a:cs typeface="Aptos"/>
              </a:defRPr>
            </a:pPr>
            <a:r>
              <a:rPr sz="1125" b="0">
                <a:solidFill>
                  <a:srgbClr val="173E46"/>
                </a:solidFill>
                <a:latin typeface="Aptos"/>
                <a:ea typeface="Aptos"/>
                <a:cs typeface="Aptos"/>
              </a:rPr>
              <a:t>Projection Re-Slices The Untouched Transcription.</a:t>
            </a:r>
          </a:p>
        </p:txBody>
      </p:sp>
      <p:sp>
        <p:nvSpPr>
          <p:cNvPr id="50" name="Rounded Rectangle 49">
            <a:extLst>
              <a:ext uri="{FF2B5EF4-FFF2-40B4-BE49-F238E27FC236}">
                <a16:creationId xmlns:a16="http://schemas.microsoft.com/office/drawing/2014/main" id="{CC2F36FC-1AA7-4656-8092-115134EA7BB7}"/>
              </a:ext>
            </a:extLst>
          </p:cNvPr>
          <p:cNvSpPr>
            <a:spLocks noGrp="1"/>
          </p:cNvSpPr>
          <p:nvPr/>
        </p:nvSpPr>
        <p:spPr>
          <a:xfrm>
            <a:off x="5715000" y="3714750"/>
            <a:ext cx="95250" cy="95250"/>
          </a:xfrm>
          <a:prstGeom prst="roundRect">
            <a:avLst>
              <a:gd name="adj" fmla="val 50000"/>
            </a:avLst>
          </a:prstGeom>
          <a:solidFill>
            <a:srgbClr val="139E91"/>
          </a:solidFill>
          <a:ln w="0">
            <a:solidFill>
              <a:srgbClr val="139E91"/>
            </a:solidFill>
          </a:ln>
        </p:spPr>
        <p:txBody>
          <a:bodyPr/>
          <a:lstStyle/>
          <a:p>
            <a:endParaRPr/>
          </a:p>
        </p:txBody>
      </p:sp>
      <p:sp>
        <p:nvSpPr>
          <p:cNvPr id="51" name="Rectangle 50">
            <a:extLst>
              <a:ext uri="{FF2B5EF4-FFF2-40B4-BE49-F238E27FC236}">
                <a16:creationId xmlns:a16="http://schemas.microsoft.com/office/drawing/2014/main" id="{DAA21D38-413F-4027-BED5-12351D79FFF2}"/>
              </a:ext>
            </a:extLst>
          </p:cNvPr>
          <p:cNvSpPr>
            <a:spLocks noGrp="1"/>
          </p:cNvSpPr>
          <p:nvPr/>
        </p:nvSpPr>
        <p:spPr>
          <a:xfrm>
            <a:off x="5905500" y="3676650"/>
            <a:ext cx="4953000" cy="209550"/>
          </a:xfrm>
          <a:prstGeom prst="rect">
            <a:avLst/>
          </a:prstGeom>
          <a:solidFill>
            <a:srgbClr val="000000">
              <a:alpha val="0"/>
            </a:srgbClr>
          </a:solidFill>
          <a:ln w="0">
            <a:solidFill>
              <a:srgbClr val="000000">
                <a:alpha val="0"/>
              </a:srgbClr>
            </a:solidFill>
          </a:ln>
        </p:spPr>
        <p:txBody>
          <a:bodyPr lIns="0" tIns="0" rIns="0" bIns="0" anchor="ctr"/>
          <a:lstStyle/>
          <a:p>
            <a:pPr algn="l">
              <a:buNone/>
              <a:defRPr sz="1125" b="0">
                <a:solidFill>
                  <a:srgbClr val="173E46"/>
                </a:solidFill>
                <a:latin typeface="Aptos"/>
                <a:ea typeface="Aptos"/>
                <a:cs typeface="Aptos"/>
              </a:defRPr>
            </a:pPr>
            <a:r>
              <a:rPr sz="1125" b="0">
                <a:solidFill>
                  <a:srgbClr val="173E46"/>
                </a:solidFill>
                <a:latin typeface="Aptos"/>
                <a:ea typeface="Aptos"/>
                <a:cs typeface="Aptos"/>
              </a:rPr>
              <a:t>Successful Projection Preserves The Non-Newline Character Stream.</a:t>
            </a:r>
          </a:p>
        </p:txBody>
      </p:sp>
      <p:sp>
        <p:nvSpPr>
          <p:cNvPr id="52" name="Rounded Rectangle 51">
            <a:extLst>
              <a:ext uri="{FF2B5EF4-FFF2-40B4-BE49-F238E27FC236}">
                <a16:creationId xmlns:a16="http://schemas.microsoft.com/office/drawing/2014/main" id="{B3226DA2-96CF-4DF0-A3FB-D31CB6C82523}"/>
              </a:ext>
            </a:extLst>
          </p:cNvPr>
          <p:cNvSpPr>
            <a:spLocks noGrp="1"/>
          </p:cNvSpPr>
          <p:nvPr/>
        </p:nvSpPr>
        <p:spPr>
          <a:xfrm>
            <a:off x="5715000" y="4038600"/>
            <a:ext cx="95250" cy="95250"/>
          </a:xfrm>
          <a:prstGeom prst="roundRect">
            <a:avLst>
              <a:gd name="adj" fmla="val 50000"/>
            </a:avLst>
          </a:prstGeom>
          <a:solidFill>
            <a:srgbClr val="E86E52"/>
          </a:solidFill>
          <a:ln w="0">
            <a:solidFill>
              <a:srgbClr val="E86E52"/>
            </a:solidFill>
          </a:ln>
        </p:spPr>
        <p:txBody>
          <a:bodyPr/>
          <a:lstStyle/>
          <a:p>
            <a:endParaRPr/>
          </a:p>
        </p:txBody>
      </p:sp>
      <p:sp>
        <p:nvSpPr>
          <p:cNvPr id="53" name="Rectangle 52">
            <a:extLst>
              <a:ext uri="{FF2B5EF4-FFF2-40B4-BE49-F238E27FC236}">
                <a16:creationId xmlns:a16="http://schemas.microsoft.com/office/drawing/2014/main" id="{E2429835-FE99-42A2-8595-99C027466BD4}"/>
              </a:ext>
            </a:extLst>
          </p:cNvPr>
          <p:cNvSpPr>
            <a:spLocks noGrp="1"/>
          </p:cNvSpPr>
          <p:nvPr/>
        </p:nvSpPr>
        <p:spPr>
          <a:xfrm>
            <a:off x="5905500" y="4000500"/>
            <a:ext cx="4953000" cy="209550"/>
          </a:xfrm>
          <a:prstGeom prst="rect">
            <a:avLst/>
          </a:prstGeom>
          <a:solidFill>
            <a:srgbClr val="000000">
              <a:alpha val="0"/>
            </a:srgbClr>
          </a:solidFill>
          <a:ln w="0">
            <a:solidFill>
              <a:srgbClr val="000000">
                <a:alpha val="0"/>
              </a:srgbClr>
            </a:solidFill>
          </a:ln>
        </p:spPr>
        <p:txBody>
          <a:bodyPr lIns="0" tIns="0" rIns="0" bIns="0" anchor="ctr"/>
          <a:lstStyle/>
          <a:p>
            <a:pPr algn="l">
              <a:buNone/>
              <a:defRPr sz="1125" b="0">
                <a:solidFill>
                  <a:srgbClr val="173E46"/>
                </a:solidFill>
                <a:latin typeface="Aptos"/>
                <a:ea typeface="Aptos"/>
                <a:cs typeface="Aptos"/>
              </a:defRPr>
            </a:pPr>
            <a:r>
              <a:rPr sz="1125" b="0">
                <a:solidFill>
                  <a:srgbClr val="173E46"/>
                </a:solidFill>
                <a:latin typeface="Aptos"/>
                <a:ea typeface="Aptos"/>
                <a:cs typeface="Aptos"/>
              </a:rPr>
              <a:t>Known-Count Staging: M4/M5 Use Stored Expected Line Count.</a:t>
            </a:r>
          </a:p>
        </p:txBody>
      </p:sp>
      <p:sp>
        <p:nvSpPr>
          <p:cNvPr id="54" name="Rounded Rectangle 53">
            <a:extLst>
              <a:ext uri="{FF2B5EF4-FFF2-40B4-BE49-F238E27FC236}">
                <a16:creationId xmlns:a16="http://schemas.microsoft.com/office/drawing/2014/main" id="{3DBFE35B-B3F2-45A2-8F95-DFA3BA688972}"/>
              </a:ext>
            </a:extLst>
          </p:cNvPr>
          <p:cNvSpPr>
            <a:spLocks noGrp="1"/>
          </p:cNvSpPr>
          <p:nvPr/>
        </p:nvSpPr>
        <p:spPr>
          <a:xfrm>
            <a:off x="7772400" y="6019800"/>
            <a:ext cx="3733800" cy="285750"/>
          </a:xfrm>
          <a:prstGeom prst="roundRect">
            <a:avLst>
              <a:gd name="adj" fmla="val 26667"/>
            </a:avLst>
          </a:prstGeom>
          <a:solidFill>
            <a:srgbClr val="F5EFE5"/>
          </a:solidFill>
          <a:ln w="11430">
            <a:solidFill>
              <a:srgbClr val="E2D7C8"/>
            </a:solidFill>
          </a:ln>
        </p:spPr>
        <p:txBody>
          <a:bodyPr lIns="133350" tIns="47625" rIns="133350" bIns="47625" anchor="ctr"/>
          <a:lstStyle/>
          <a:p>
            <a:pPr algn="ctr">
              <a:buNone/>
              <a:defRPr sz="900" b="0">
                <a:solidFill>
                  <a:srgbClr val="5F6E6D"/>
                </a:solidFill>
                <a:latin typeface="Aptos"/>
                <a:ea typeface="Aptos"/>
                <a:cs typeface="Aptos"/>
              </a:defRPr>
            </a:pPr>
            <a:r>
              <a:rPr sz="900" b="0">
                <a:solidFill>
                  <a:srgbClr val="5F6E6D"/>
                </a:solidFill>
                <a:latin typeface="Aptos"/>
                <a:ea typeface="Aptos"/>
                <a:cs typeface="Aptos"/>
              </a:rPr>
              <a:t>Thesis Anchors: Section 5.7, Appendix A.3, Table 6.7, Table 6.8</a:t>
            </a:r>
          </a:p>
        </p:txBody>
      </p:sp>
    </p:spTree>
    <p:extLst>
      <p:ext uri="{BB962C8B-B14F-4D97-AF65-F5344CB8AC3E}">
        <p14:creationId xmlns:p14="http://schemas.microsoft.com/office/powerpoint/2010/main" val="253583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1FD1A39-38EF-4EEA-A9DF-51ACD7BAC1F6}"/>
              </a:ext>
            </a:extLst>
          </p:cNvPr>
          <p:cNvSpPr>
            <a:spLocks noGrp="1"/>
          </p:cNvSpPr>
          <p:nvPr/>
        </p:nvSpPr>
        <p:spPr>
          <a:xfrm>
            <a:off x="0" y="0"/>
            <a:ext cx="12192000" cy="552450"/>
          </a:xfrm>
          <a:prstGeom prst="rect">
            <a:avLst/>
          </a:prstGeom>
          <a:solidFill>
            <a:srgbClr val="264653"/>
          </a:solidFill>
          <a:ln w="0">
            <a:solidFill>
              <a:srgbClr val="000000">
                <a:alpha val="0"/>
              </a:srgbClr>
            </a:solidFill>
            <a:prstDash val="solid"/>
          </a:ln>
        </p:spPr>
        <p:txBody>
          <a:bodyPr/>
          <a:lstStyle/>
          <a:p>
            <a:endParaRPr/>
          </a:p>
        </p:txBody>
      </p:sp>
      <p:sp>
        <p:nvSpPr>
          <p:cNvPr id="2" name="Rectangle 1">
            <a:extLst>
              <a:ext uri="{FF2B5EF4-FFF2-40B4-BE49-F238E27FC236}">
                <a16:creationId xmlns:a16="http://schemas.microsoft.com/office/drawing/2014/main" id="{D3B92A93-EE84-4CDD-B749-9AD97C6C708B}"/>
              </a:ext>
            </a:extLst>
          </p:cNvPr>
          <p:cNvSpPr>
            <a:spLocks noGrp="1"/>
          </p:cNvSpPr>
          <p:nvPr/>
        </p:nvSpPr>
        <p:spPr>
          <a:xfrm>
            <a:off x="304800" y="161925"/>
            <a:ext cx="66675" cy="228600"/>
          </a:xfrm>
          <a:prstGeom prst="rect">
            <a:avLst/>
          </a:prstGeom>
          <a:solidFill>
            <a:srgbClr val="2A9D8F"/>
          </a:solidFill>
          <a:ln w="0">
            <a:solidFill>
              <a:srgbClr val="000000">
                <a:alpha val="0"/>
              </a:srgbClr>
            </a:solidFill>
            <a:prstDash val="solid"/>
          </a:ln>
        </p:spPr>
        <p:txBody>
          <a:bodyPr/>
          <a:lstStyle/>
          <a:p>
            <a:endParaRPr/>
          </a:p>
        </p:txBody>
      </p:sp>
      <p:sp>
        <p:nvSpPr>
          <p:cNvPr id="3" name="Rectangle 2">
            <a:extLst>
              <a:ext uri="{FF2B5EF4-FFF2-40B4-BE49-F238E27FC236}">
                <a16:creationId xmlns:a16="http://schemas.microsoft.com/office/drawing/2014/main" id="{EC0D9A36-ABC8-4FC7-875D-EF8B80B63941}"/>
              </a:ext>
            </a:extLst>
          </p:cNvPr>
          <p:cNvSpPr>
            <a:spLocks noGrp="1"/>
          </p:cNvSpPr>
          <p:nvPr/>
        </p:nvSpPr>
        <p:spPr>
          <a:xfrm>
            <a:off x="457200" y="161925"/>
            <a:ext cx="114300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675" b="1">
                <a:solidFill>
                  <a:srgbClr val="D7EDE9"/>
                </a:solidFill>
                <a:latin typeface="Aptos"/>
                <a:ea typeface="Aptos"/>
                <a:cs typeface="Aptos"/>
              </a:defRPr>
            </a:pPr>
            <a:r>
              <a:rPr sz="800" b="1">
                <a:solidFill>
                  <a:srgbClr val="D7EDE9"/>
                </a:solidFill>
                <a:latin typeface="Aptos"/>
                <a:ea typeface="Aptos"/>
                <a:cs typeface="Aptos"/>
              </a:rPr>
              <a:t>Appendix A19</a:t>
            </a:r>
          </a:p>
        </p:txBody>
      </p:sp>
      <p:sp>
        <p:nvSpPr>
          <p:cNvPr id="4" name="Rectangle 3">
            <a:extLst>
              <a:ext uri="{FF2B5EF4-FFF2-40B4-BE49-F238E27FC236}">
                <a16:creationId xmlns:a16="http://schemas.microsoft.com/office/drawing/2014/main" id="{BE069E74-F476-46C5-AA26-93D5B9B6FE68}"/>
              </a:ext>
            </a:extLst>
          </p:cNvPr>
          <p:cNvSpPr>
            <a:spLocks noGrp="1"/>
          </p:cNvSpPr>
          <p:nvPr/>
        </p:nvSpPr>
        <p:spPr>
          <a:xfrm>
            <a:off x="1809750" y="114300"/>
            <a:ext cx="8763000" cy="323850"/>
          </a:xfrm>
          <a:prstGeom prst="rect">
            <a:avLst/>
          </a:prstGeom>
          <a:solidFill>
            <a:srgbClr val="000000">
              <a:alpha val="0"/>
            </a:srgbClr>
          </a:solidFill>
          <a:ln w="9525">
            <a:solidFill>
              <a:srgbClr val="000000">
                <a:alpha val="0"/>
              </a:srgbClr>
            </a:solidFill>
            <a:prstDash val="solid"/>
          </a:ln>
        </p:spPr>
        <p:txBody>
          <a:bodyPr wrap="square" lIns="0" tIns="0" rIns="0" bIns="0" anchor="ctr"/>
          <a:lstStyle/>
          <a:p>
            <a:pPr algn="ctr">
              <a:buNone/>
              <a:defRPr sz="1425" b="1">
                <a:solidFill>
                  <a:srgbClr val="F7F3EB"/>
                </a:solidFill>
                <a:latin typeface="Aptos Display"/>
                <a:ea typeface="Aptos Display"/>
                <a:cs typeface="Aptos Display"/>
              </a:defRPr>
            </a:pPr>
            <a:r>
              <a:rPr sz="1425" b="1">
                <a:solidFill>
                  <a:srgbClr val="F7F3EB"/>
                </a:solidFill>
                <a:latin typeface="Aptos Display"/>
                <a:ea typeface="Aptos Display"/>
                <a:cs typeface="Aptos Display"/>
              </a:rPr>
              <a:t>Future Work</a:t>
            </a:r>
          </a:p>
        </p:txBody>
      </p:sp>
      <p:sp>
        <p:nvSpPr>
          <p:cNvPr id="5" name="Rectangle 4">
            <a:extLst>
              <a:ext uri="{FF2B5EF4-FFF2-40B4-BE49-F238E27FC236}">
                <a16:creationId xmlns:a16="http://schemas.microsoft.com/office/drawing/2014/main" id="{6DF49541-6C60-497F-A927-06C6375883CD}"/>
              </a:ext>
            </a:extLst>
          </p:cNvPr>
          <p:cNvSpPr>
            <a:spLocks noGrp="1"/>
          </p:cNvSpPr>
          <p:nvPr/>
        </p:nvSpPr>
        <p:spPr>
          <a:xfrm>
            <a:off x="342900" y="6572250"/>
            <a:ext cx="40957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buNone/>
              <a:defRPr sz="750" b="0">
                <a:solidFill>
                  <a:srgbClr val="5C686B"/>
                </a:solidFill>
                <a:latin typeface="Aptos"/>
                <a:ea typeface="Aptos"/>
                <a:cs typeface="Aptos"/>
              </a:defRPr>
            </a:pPr>
            <a:r>
              <a:rPr sz="570" b="0">
                <a:solidFill>
                  <a:srgbClr val="5D6B70"/>
                </a:solidFill>
                <a:latin typeface="Aptos"/>
                <a:ea typeface="Aptos"/>
                <a:cs typeface="Aptos"/>
              </a:rPr>
              <a:t>Dennis Berger | University of Fribourg</a:t>
            </a:r>
          </a:p>
        </p:txBody>
      </p:sp>
      <p:sp>
        <p:nvSpPr>
          <p:cNvPr id="6" name="Rectangle 5">
            <a:extLst>
              <a:ext uri="{FF2B5EF4-FFF2-40B4-BE49-F238E27FC236}">
                <a16:creationId xmlns:a16="http://schemas.microsoft.com/office/drawing/2014/main" id="{C4E002EB-5EAB-4105-A2FB-83787A39D0F5}"/>
              </a:ext>
            </a:extLst>
          </p:cNvPr>
          <p:cNvSpPr>
            <a:spLocks noGrp="1"/>
          </p:cNvSpPr>
          <p:nvPr/>
        </p:nvSpPr>
        <p:spPr>
          <a:xfrm>
            <a:off x="11391900" y="6572250"/>
            <a:ext cx="476250" cy="1714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r">
              <a:buNone/>
            </a:pPr>
            <a:r>
              <a:rPr sz="570" b="0" dirty="0">
                <a:solidFill>
                  <a:srgbClr val="5D6B70"/>
                </a:solidFill>
                <a:latin typeface="Aptos"/>
                <a:ea typeface="Aptos"/>
                <a:cs typeface="Aptos"/>
              </a:rPr>
              <a:t>33 </a:t>
            </a:r>
            <a:r>
              <a:rPr lang="en-CH" sz="570" b="0" dirty="0">
                <a:solidFill>
                  <a:srgbClr val="5D6B70"/>
                </a:solidFill>
                <a:latin typeface="Aptos"/>
                <a:ea typeface="Aptos"/>
                <a:cs typeface="Aptos"/>
              </a:rPr>
              <a:t>/ 14</a:t>
            </a:r>
            <a:endParaRPr sz="570" b="0" dirty="0">
              <a:solidFill>
                <a:srgbClr val="5D6B70"/>
              </a:solidFill>
              <a:latin typeface="Aptos"/>
              <a:ea typeface="Aptos"/>
              <a:cs typeface="Aptos"/>
            </a:endParaRPr>
          </a:p>
        </p:txBody>
      </p:sp>
      <p:sp>
        <p:nvSpPr>
          <p:cNvPr id="7" name="Rectangle 6">
            <a:extLst>
              <a:ext uri="{FF2B5EF4-FFF2-40B4-BE49-F238E27FC236}">
                <a16:creationId xmlns:a16="http://schemas.microsoft.com/office/drawing/2014/main" id="{5544C691-AEB5-43F4-8E6B-916B98D0CEEA}"/>
              </a:ext>
            </a:extLst>
          </p:cNvPr>
          <p:cNvSpPr>
            <a:spLocks noGrp="1"/>
          </p:cNvSpPr>
          <p:nvPr/>
        </p:nvSpPr>
        <p:spPr>
          <a:xfrm>
            <a:off x="1562100" y="1428750"/>
            <a:ext cx="5905500" cy="285750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l">
              <a:lnSpc>
                <a:spcPct val="118000"/>
              </a:lnSpc>
              <a:buNone/>
              <a:defRPr sz="1515" b="0">
                <a:solidFill>
                  <a:srgbClr val="142026"/>
                </a:solidFill>
                <a:latin typeface="Aptos"/>
                <a:ea typeface="Aptos"/>
                <a:cs typeface="Aptos"/>
              </a:defRPr>
            </a:pPr>
            <a:r>
              <a:rPr sz="1515" b="0">
                <a:solidFill>
                  <a:srgbClr val="142026"/>
                </a:solidFill>
                <a:latin typeface="Aptos"/>
                <a:ea typeface="Aptos"/>
                <a:cs typeface="Aptos"/>
              </a:rPr>
              <a:t>- blind line-count / segmentation setting</a:t>
            </a:r>
          </a:p>
          <a:p>
            <a:pPr algn="l">
              <a:lnSpc>
                <a:spcPct val="118000"/>
              </a:lnSpc>
              <a:buNone/>
              <a:defRPr sz="1515" b="0">
                <a:solidFill>
                  <a:srgbClr val="142026"/>
                </a:solidFill>
                <a:latin typeface="Aptos"/>
                <a:ea typeface="Aptos"/>
                <a:cs typeface="Aptos"/>
              </a:defRPr>
            </a:pPr>
            <a:r>
              <a:rPr sz="1515" b="0">
                <a:solidFill>
                  <a:srgbClr val="142026"/>
                </a:solidFill>
                <a:latin typeface="Aptos"/>
                <a:ea typeface="Aptos"/>
                <a:cs typeface="Aptos"/>
              </a:rPr>
              <a:t>- deterministic scaffold references</a:t>
            </a:r>
          </a:p>
          <a:p>
            <a:pPr algn="l">
              <a:lnSpc>
                <a:spcPct val="118000"/>
              </a:lnSpc>
              <a:buNone/>
              <a:defRPr sz="1515" b="0">
                <a:solidFill>
                  <a:srgbClr val="142026"/>
                </a:solidFill>
                <a:latin typeface="Aptos"/>
                <a:ea typeface="Aptos"/>
                <a:cs typeface="Aptos"/>
              </a:defRPr>
            </a:pPr>
            <a:r>
              <a:rPr sz="1515" b="0">
                <a:solidFill>
                  <a:srgbClr val="142026"/>
                </a:solidFill>
                <a:latin typeface="Aptos"/>
                <a:ea typeface="Aptos"/>
                <a:cs typeface="Aptos"/>
              </a:rPr>
              <a:t>- ablations of M5 components</a:t>
            </a:r>
          </a:p>
          <a:p>
            <a:pPr algn="l">
              <a:lnSpc>
                <a:spcPct val="118000"/>
              </a:lnSpc>
              <a:buNone/>
              <a:defRPr sz="1515" b="0">
                <a:solidFill>
                  <a:srgbClr val="142026"/>
                </a:solidFill>
                <a:latin typeface="Aptos"/>
                <a:ea typeface="Aptos"/>
                <a:cs typeface="Aptos"/>
              </a:defRPr>
            </a:pPr>
            <a:r>
              <a:rPr sz="1515" b="0">
                <a:solidFill>
                  <a:srgbClr val="142026"/>
                </a:solidFill>
                <a:latin typeface="Aptos"/>
                <a:ea typeface="Aptos"/>
                <a:cs typeface="Aptos"/>
              </a:rPr>
              <a:t>- dedicated boundary prediction</a:t>
            </a:r>
          </a:p>
          <a:p>
            <a:pPr algn="l">
              <a:lnSpc>
                <a:spcPct val="118000"/>
              </a:lnSpc>
              <a:buNone/>
              <a:defRPr sz="1515" b="0">
                <a:solidFill>
                  <a:srgbClr val="142026"/>
                </a:solidFill>
                <a:latin typeface="Aptos"/>
                <a:ea typeface="Aptos"/>
                <a:cs typeface="Aptos"/>
              </a:defRPr>
            </a:pPr>
            <a:r>
              <a:rPr sz="1515" b="0">
                <a:solidFill>
                  <a:srgbClr val="142026"/>
                </a:solidFill>
                <a:latin typeface="Aptos"/>
                <a:ea typeface="Aptos"/>
                <a:cs typeface="Aptos"/>
              </a:rPr>
              <a:t>- constrained decoding instead of post-hoc projection</a:t>
            </a:r>
          </a:p>
          <a:p>
            <a:pPr algn="l">
              <a:lnSpc>
                <a:spcPct val="118000"/>
              </a:lnSpc>
              <a:buNone/>
              <a:defRPr sz="1515" b="0">
                <a:solidFill>
                  <a:srgbClr val="142026"/>
                </a:solidFill>
                <a:latin typeface="Aptos"/>
                <a:ea typeface="Aptos"/>
                <a:cs typeface="Aptos"/>
              </a:defRPr>
            </a:pPr>
            <a:r>
              <a:rPr sz="1515" b="0">
                <a:solidFill>
                  <a:srgbClr val="142026"/>
                </a:solidFill>
                <a:latin typeface="Aptos"/>
                <a:ea typeface="Aptos"/>
                <a:cs typeface="Aptos"/>
              </a:rPr>
              <a:t>- broader datasets and stronger crop pipelines</a:t>
            </a:r>
          </a:p>
        </p:txBody>
      </p:sp>
      <p:sp>
        <p:nvSpPr>
          <p:cNvPr id="8" name="Rounded Rectangle 7">
            <a:extLst>
              <a:ext uri="{FF2B5EF4-FFF2-40B4-BE49-F238E27FC236}">
                <a16:creationId xmlns:a16="http://schemas.microsoft.com/office/drawing/2014/main" id="{FA91DD32-0BBA-4135-83F6-54A4E8C4749F}"/>
              </a:ext>
            </a:extLst>
          </p:cNvPr>
          <p:cNvSpPr>
            <a:spLocks noGrp="1"/>
          </p:cNvSpPr>
          <p:nvPr/>
        </p:nvSpPr>
        <p:spPr>
          <a:xfrm>
            <a:off x="7905750" y="2076450"/>
            <a:ext cx="3048000" cy="1752600"/>
          </a:xfrm>
          <a:prstGeom prst="roundRect">
            <a:avLst>
              <a:gd name="adj" fmla="val 3261"/>
            </a:avLst>
          </a:prstGeom>
          <a:solidFill>
            <a:srgbClr val="D7E7F2"/>
          </a:solidFill>
          <a:ln w="9525">
            <a:solidFill>
              <a:srgbClr val="264653"/>
            </a:solidFill>
            <a:prstDash val="solid"/>
          </a:ln>
        </p:spPr>
        <p:txBody>
          <a:bodyPr/>
          <a:lstStyle/>
          <a:p>
            <a:endParaRPr/>
          </a:p>
        </p:txBody>
      </p:sp>
      <p:sp>
        <p:nvSpPr>
          <p:cNvPr id="9" name="Rectangle 8">
            <a:extLst>
              <a:ext uri="{FF2B5EF4-FFF2-40B4-BE49-F238E27FC236}">
                <a16:creationId xmlns:a16="http://schemas.microsoft.com/office/drawing/2014/main" id="{F2B5EA58-79CE-44C3-BE87-D8B1E804F1DA}"/>
              </a:ext>
            </a:extLst>
          </p:cNvPr>
          <p:cNvSpPr>
            <a:spLocks noGrp="1"/>
          </p:cNvSpPr>
          <p:nvPr/>
        </p:nvSpPr>
        <p:spPr>
          <a:xfrm>
            <a:off x="8286750" y="2457450"/>
            <a:ext cx="2286000" cy="2095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buNone/>
              <a:defRPr sz="1185" b="1">
                <a:solidFill>
                  <a:srgbClr val="264653"/>
                </a:solidFill>
                <a:latin typeface="Aptos"/>
                <a:ea typeface="Aptos"/>
                <a:cs typeface="Aptos"/>
              </a:defRPr>
            </a:pPr>
            <a:r>
              <a:rPr sz="1185" b="1">
                <a:solidFill>
                  <a:srgbClr val="264653"/>
                </a:solidFill>
                <a:latin typeface="Aptos"/>
                <a:ea typeface="Aptos"/>
                <a:cs typeface="Aptos"/>
              </a:rPr>
              <a:t>Core direction</a:t>
            </a:r>
          </a:p>
        </p:txBody>
      </p:sp>
      <p:sp>
        <p:nvSpPr>
          <p:cNvPr id="10" name="Rectangle 9">
            <a:extLst>
              <a:ext uri="{FF2B5EF4-FFF2-40B4-BE49-F238E27FC236}">
                <a16:creationId xmlns:a16="http://schemas.microsoft.com/office/drawing/2014/main" id="{F069A5F0-27EB-4FB3-81C0-3F44F0AF82E3}"/>
              </a:ext>
            </a:extLst>
          </p:cNvPr>
          <p:cNvSpPr>
            <a:spLocks noGrp="1"/>
          </p:cNvSpPr>
          <p:nvPr/>
        </p:nvSpPr>
        <p:spPr>
          <a:xfrm>
            <a:off x="8286750" y="3009900"/>
            <a:ext cx="2286000" cy="514350"/>
          </a:xfrm>
          <a:prstGeom prst="rect">
            <a:avLst/>
          </a:prstGeom>
          <a:solidFill>
            <a:srgbClr val="000000">
              <a:alpha val="0"/>
            </a:srgbClr>
          </a:solidFill>
          <a:ln w="9525">
            <a:solidFill>
              <a:srgbClr val="000000">
                <a:alpha val="0"/>
              </a:srgbClr>
            </a:solidFill>
            <a:prstDash val="solid"/>
          </a:ln>
        </p:spPr>
        <p:txBody>
          <a:bodyPr wrap="square" lIns="0" tIns="0" rIns="0" bIns="0" anchor="t"/>
          <a:lstStyle/>
          <a:p>
            <a:pPr algn="ctr">
              <a:lnSpc>
                <a:spcPct val="116000"/>
              </a:lnSpc>
              <a:buNone/>
              <a:defRPr sz="1020" b="0">
                <a:solidFill>
                  <a:srgbClr val="142026"/>
                </a:solidFill>
                <a:latin typeface="Aptos"/>
                <a:ea typeface="Aptos"/>
                <a:cs typeface="Aptos"/>
              </a:defRPr>
            </a:pPr>
            <a:r>
              <a:rPr sz="1020" b="0">
                <a:solidFill>
                  <a:srgbClr val="142026"/>
                </a:solidFill>
                <a:latin typeface="Aptos"/>
                <a:ea typeface="Aptos"/>
                <a:cs typeface="Aptos"/>
              </a:rPr>
              <a:t>predict boundaries directly over the fixed transcription</a:t>
            </a:r>
          </a:p>
        </p:txBody>
      </p:sp>
    </p:spTree>
    <p:extLst>
      <p:ext uri="{BB962C8B-B14F-4D97-AF65-F5344CB8AC3E}">
        <p14:creationId xmlns:p14="http://schemas.microsoft.com/office/powerpoint/2010/main" val="1255087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0E8"/>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AC790877-EA48-43E1-8432-27F74603B68C}"/>
              </a:ext>
            </a:extLst>
          </p:cNvPr>
          <p:cNvSpPr>
            <a:spLocks noGrp="1"/>
          </p:cNvSpPr>
          <p:nvPr/>
        </p:nvSpPr>
        <p:spPr>
          <a:xfrm>
            <a:off x="0" y="0"/>
            <a:ext cx="12192000" cy="552450"/>
          </a:xfrm>
          <a:prstGeom prst="rect">
            <a:avLst/>
          </a:prstGeom>
          <a:solidFill>
            <a:srgbClr val="264653"/>
          </a:solidFill>
          <a:ln w="0">
            <a:solidFill>
              <a:srgbClr val="264653"/>
            </a:solidFill>
            <a:prstDash val="solid"/>
          </a:ln>
        </p:spPr>
        <p:txBody>
          <a:bodyPr/>
          <a:lstStyle/>
          <a:p>
            <a:endParaRPr/>
          </a:p>
        </p:txBody>
      </p:sp>
      <p:sp>
        <p:nvSpPr>
          <p:cNvPr id="2" name="Rectangle 1">
            <a:extLst>
              <a:ext uri="{FF2B5EF4-FFF2-40B4-BE49-F238E27FC236}">
                <a16:creationId xmlns:a16="http://schemas.microsoft.com/office/drawing/2014/main" id="{8B356430-8110-4B1F-8ED4-8558AD5C701B}"/>
              </a:ext>
            </a:extLst>
          </p:cNvPr>
          <p:cNvSpPr>
            <a:spLocks noGrp="1"/>
          </p:cNvSpPr>
          <p:nvPr/>
        </p:nvSpPr>
        <p:spPr>
          <a:xfrm>
            <a:off x="0" y="161925"/>
            <a:ext cx="361950" cy="228600"/>
          </a:xfrm>
          <a:prstGeom prst="rect">
            <a:avLst/>
          </a:prstGeom>
          <a:solidFill>
            <a:srgbClr val="2A9D8F"/>
          </a:solidFill>
          <a:ln w="0">
            <a:solidFill>
              <a:srgbClr val="2A9D8F"/>
            </a:solidFill>
            <a:prstDash val="solid"/>
          </a:ln>
        </p:spPr>
        <p:txBody>
          <a:bodyPr/>
          <a:lstStyle/>
          <a:p>
            <a:endParaRPr/>
          </a:p>
        </p:txBody>
      </p:sp>
      <p:sp>
        <p:nvSpPr>
          <p:cNvPr id="3" name="Rectangle 2">
            <a:extLst>
              <a:ext uri="{FF2B5EF4-FFF2-40B4-BE49-F238E27FC236}">
                <a16:creationId xmlns:a16="http://schemas.microsoft.com/office/drawing/2014/main" id="{B285A747-8170-4772-B545-00E8E52453DE}"/>
              </a:ext>
            </a:extLst>
          </p:cNvPr>
          <p:cNvSpPr>
            <a:spLocks noGrp="1"/>
          </p:cNvSpPr>
          <p:nvPr/>
        </p:nvSpPr>
        <p:spPr>
          <a:xfrm>
            <a:off x="457200" y="161925"/>
            <a:ext cx="1619250" cy="228600"/>
          </a:xfrm>
          <a:prstGeom prst="rect">
            <a:avLst/>
          </a:prstGeom>
        </p:spPr>
        <p:txBody>
          <a:bodyPr/>
          <a:lstStyle/>
          <a:p>
            <a:pPr>
              <a:lnSpc>
                <a:spcPct val="112000"/>
              </a:lnSpc>
              <a:buNone/>
              <a:defRPr sz="825" b="1">
                <a:solidFill>
                  <a:srgbClr val="FFFFFF"/>
                </a:solidFill>
              </a:defRPr>
            </a:pPr>
            <a:r>
              <a:rPr sz="825" b="1">
                <a:solidFill>
                  <a:srgbClr val="FFFFFF"/>
                </a:solidFill>
              </a:rPr>
              <a:t>Appendix A20</a:t>
            </a:r>
          </a:p>
        </p:txBody>
      </p:sp>
      <p:sp>
        <p:nvSpPr>
          <p:cNvPr id="4" name="Rectangle 3">
            <a:extLst>
              <a:ext uri="{FF2B5EF4-FFF2-40B4-BE49-F238E27FC236}">
                <a16:creationId xmlns:a16="http://schemas.microsoft.com/office/drawing/2014/main" id="{A3B693EB-9605-4073-9FF4-EB7FFC59F713}"/>
              </a:ext>
            </a:extLst>
          </p:cNvPr>
          <p:cNvSpPr>
            <a:spLocks noGrp="1"/>
          </p:cNvSpPr>
          <p:nvPr/>
        </p:nvSpPr>
        <p:spPr>
          <a:xfrm>
            <a:off x="0" y="171450"/>
            <a:ext cx="12192000" cy="266700"/>
          </a:xfrm>
          <a:prstGeom prst="rect">
            <a:avLst/>
          </a:prstGeom>
        </p:spPr>
        <p:txBody>
          <a:bodyPr/>
          <a:lstStyle/>
          <a:p>
            <a:pPr algn="ctr">
              <a:lnSpc>
                <a:spcPct val="112000"/>
              </a:lnSpc>
              <a:buNone/>
              <a:defRPr sz="1650" b="1">
                <a:solidFill>
                  <a:srgbClr val="FFFFFF"/>
                </a:solidFill>
              </a:defRPr>
            </a:pPr>
            <a:r>
              <a:rPr sz="1650" b="1">
                <a:solidFill>
                  <a:srgbClr val="FFFFFF"/>
                </a:solidFill>
              </a:rPr>
              <a:t>M5 vs NNTP: concrete non-tie cases</a:t>
            </a:r>
          </a:p>
        </p:txBody>
      </p:sp>
      <p:sp>
        <p:nvSpPr>
          <p:cNvPr id="6" name="Rounded Rectangle 5">
            <a:extLst>
              <a:ext uri="{FF2B5EF4-FFF2-40B4-BE49-F238E27FC236}">
                <a16:creationId xmlns:a16="http://schemas.microsoft.com/office/drawing/2014/main" id="{5B8F1389-7908-47A1-8F3B-BD92AD00E1BA}"/>
              </a:ext>
            </a:extLst>
          </p:cNvPr>
          <p:cNvSpPr>
            <a:spLocks noGrp="1"/>
          </p:cNvSpPr>
          <p:nvPr/>
        </p:nvSpPr>
        <p:spPr>
          <a:xfrm>
            <a:off x="8839200" y="714375"/>
            <a:ext cx="2647950" cy="304800"/>
          </a:xfrm>
          <a:prstGeom prst="roundRect">
            <a:avLst>
              <a:gd name="adj" fmla="val 6250"/>
            </a:avLst>
          </a:prstGeom>
          <a:solidFill>
            <a:srgbClr val="DFF3EF"/>
          </a:solidFill>
          <a:ln w="9525">
            <a:solidFill>
              <a:srgbClr val="2A9D8F"/>
            </a:solidFill>
            <a:prstDash val="solid"/>
          </a:ln>
        </p:spPr>
        <p:txBody>
          <a:bodyPr anchor="ctr"/>
          <a:lstStyle/>
          <a:p>
            <a:pPr algn="ctr">
              <a:buNone/>
              <a:defRPr sz="1050" b="1">
                <a:solidFill>
                  <a:srgbClr val="264653"/>
                </a:solidFill>
              </a:defRPr>
            </a:pPr>
            <a:r>
              <a:rPr sz="1050" b="1">
                <a:solidFill>
                  <a:srgbClr val="264653"/>
                </a:solidFill>
              </a:rPr>
              <a:t>Tie-dominated: Children 57/63, IAM 20/20, Washington 14/20</a:t>
            </a:r>
          </a:p>
        </p:txBody>
      </p:sp>
      <p:sp>
        <p:nvSpPr>
          <p:cNvPr id="7" name="Rounded Rectangle 6">
            <a:extLst>
              <a:ext uri="{FF2B5EF4-FFF2-40B4-BE49-F238E27FC236}">
                <a16:creationId xmlns:a16="http://schemas.microsoft.com/office/drawing/2014/main" id="{90FDBDE5-A67A-4F41-BFE6-617DFFE5B251}"/>
              </a:ext>
            </a:extLst>
          </p:cNvPr>
          <p:cNvSpPr>
            <a:spLocks noGrp="1"/>
          </p:cNvSpPr>
          <p:nvPr/>
        </p:nvSpPr>
        <p:spPr>
          <a:xfrm>
            <a:off x="533400" y="1152525"/>
            <a:ext cx="11029950" cy="2962275"/>
          </a:xfrm>
          <a:prstGeom prst="roundRect">
            <a:avLst>
              <a:gd name="adj" fmla="val 643"/>
            </a:avLst>
          </a:prstGeom>
          <a:solidFill>
            <a:srgbClr val="FBF9F3"/>
          </a:solidFill>
          <a:ln w="9525">
            <a:solidFill>
              <a:srgbClr val="D8D0C2"/>
            </a:solidFill>
            <a:prstDash val="solid"/>
          </a:ln>
        </p:spPr>
        <p:txBody>
          <a:bodyPr/>
          <a:lstStyle/>
          <a:p>
            <a:endParaRPr/>
          </a:p>
        </p:txBody>
      </p:sp>
      <p:sp>
        <p:nvSpPr>
          <p:cNvPr id="8" name="Rectangle 7">
            <a:extLst>
              <a:ext uri="{FF2B5EF4-FFF2-40B4-BE49-F238E27FC236}">
                <a16:creationId xmlns:a16="http://schemas.microsoft.com/office/drawing/2014/main" id="{0BF60A7B-F09D-437F-8BEE-0974D8F67BE3}"/>
              </a:ext>
            </a:extLst>
          </p:cNvPr>
          <p:cNvSpPr>
            <a:spLocks noGrp="1"/>
          </p:cNvSpPr>
          <p:nvPr/>
        </p:nvSpPr>
        <p:spPr>
          <a:xfrm>
            <a:off x="533400" y="1152525"/>
            <a:ext cx="11029950" cy="333375"/>
          </a:xfrm>
          <a:prstGeom prst="rect">
            <a:avLst/>
          </a:prstGeom>
          <a:solidFill>
            <a:srgbClr val="264653"/>
          </a:solidFill>
          <a:ln w="0">
            <a:solidFill>
              <a:srgbClr val="264653"/>
            </a:solidFill>
            <a:prstDash val="solid"/>
          </a:ln>
        </p:spPr>
        <p:txBody>
          <a:bodyPr/>
          <a:lstStyle/>
          <a:p>
            <a:endParaRPr/>
          </a:p>
        </p:txBody>
      </p:sp>
      <p:sp>
        <p:nvSpPr>
          <p:cNvPr id="9" name="Rectangle 8">
            <a:extLst>
              <a:ext uri="{FF2B5EF4-FFF2-40B4-BE49-F238E27FC236}">
                <a16:creationId xmlns:a16="http://schemas.microsoft.com/office/drawing/2014/main" id="{ACF302E7-C239-4F98-9113-056E00DE048D}"/>
              </a:ext>
            </a:extLst>
          </p:cNvPr>
          <p:cNvSpPr>
            <a:spLocks noGrp="1"/>
          </p:cNvSpPr>
          <p:nvPr/>
        </p:nvSpPr>
        <p:spPr>
          <a:xfrm>
            <a:off x="609600" y="1209675"/>
            <a:ext cx="847725" cy="238125"/>
          </a:xfrm>
          <a:prstGeom prst="rect">
            <a:avLst/>
          </a:prstGeom>
        </p:spPr>
        <p:txBody>
          <a:bodyPr/>
          <a:lstStyle/>
          <a:p>
            <a:pPr algn="l">
              <a:lnSpc>
                <a:spcPct val="108000"/>
              </a:lnSpc>
              <a:buNone/>
              <a:defRPr sz="788" b="1">
                <a:solidFill>
                  <a:srgbClr val="FFFFFF"/>
                </a:solidFill>
              </a:defRPr>
            </a:pPr>
            <a:r>
              <a:rPr sz="1000" b="1">
                <a:solidFill>
                  <a:srgbClr val="FFFFFF"/>
                </a:solidFill>
              </a:rPr>
              <a:t>Dataset</a:t>
            </a:r>
          </a:p>
        </p:txBody>
      </p:sp>
      <p:sp>
        <p:nvSpPr>
          <p:cNvPr id="10" name="Rectangle 9">
            <a:extLst>
              <a:ext uri="{FF2B5EF4-FFF2-40B4-BE49-F238E27FC236}">
                <a16:creationId xmlns:a16="http://schemas.microsoft.com/office/drawing/2014/main" id="{32C36EA8-B450-457C-9996-96A8F325DEE8}"/>
              </a:ext>
            </a:extLst>
          </p:cNvPr>
          <p:cNvSpPr>
            <a:spLocks noGrp="1"/>
          </p:cNvSpPr>
          <p:nvPr/>
        </p:nvSpPr>
        <p:spPr>
          <a:xfrm>
            <a:off x="1609725" y="1209675"/>
            <a:ext cx="876300" cy="238125"/>
          </a:xfrm>
          <a:prstGeom prst="rect">
            <a:avLst/>
          </a:prstGeom>
        </p:spPr>
        <p:txBody>
          <a:bodyPr/>
          <a:lstStyle/>
          <a:p>
            <a:pPr algn="l">
              <a:lnSpc>
                <a:spcPct val="108000"/>
              </a:lnSpc>
              <a:buNone/>
              <a:defRPr sz="788" b="1">
                <a:solidFill>
                  <a:srgbClr val="FFFFFF"/>
                </a:solidFill>
              </a:defRPr>
            </a:pPr>
            <a:r>
              <a:rPr sz="1000" b="1">
                <a:solidFill>
                  <a:srgbClr val="FFFFFF"/>
                </a:solidFill>
              </a:rPr>
              <a:t>Sample ID</a:t>
            </a:r>
          </a:p>
        </p:txBody>
      </p:sp>
      <p:sp>
        <p:nvSpPr>
          <p:cNvPr id="11" name="Rectangle 10">
            <a:extLst>
              <a:ext uri="{FF2B5EF4-FFF2-40B4-BE49-F238E27FC236}">
                <a16:creationId xmlns:a16="http://schemas.microsoft.com/office/drawing/2014/main" id="{1AC227A6-6127-4B21-B39E-2264D74011FC}"/>
              </a:ext>
            </a:extLst>
          </p:cNvPr>
          <p:cNvSpPr>
            <a:spLocks noGrp="1"/>
          </p:cNvSpPr>
          <p:nvPr/>
        </p:nvSpPr>
        <p:spPr>
          <a:xfrm>
            <a:off x="2638425" y="1145522"/>
            <a:ext cx="514350" cy="238125"/>
          </a:xfrm>
          <a:prstGeom prst="rect">
            <a:avLst/>
          </a:prstGeom>
        </p:spPr>
        <p:txBody>
          <a:bodyPr/>
          <a:lstStyle/>
          <a:p>
            <a:pPr algn="l">
              <a:lnSpc>
                <a:spcPct val="108000"/>
              </a:lnSpc>
              <a:buNone/>
              <a:defRPr sz="788" b="1">
                <a:solidFill>
                  <a:srgbClr val="FFFFFF"/>
                </a:solidFill>
              </a:defRPr>
            </a:pPr>
            <a:r>
              <a:rPr sz="700" b="1">
                <a:solidFill>
                  <a:srgbClr val="FFFFFF"/>
                </a:solidFill>
              </a:rPr>
              <a:t>Higher LAnorm</a:t>
            </a:r>
          </a:p>
        </p:txBody>
      </p:sp>
      <p:sp>
        <p:nvSpPr>
          <p:cNvPr id="12" name="Rectangle 11">
            <a:extLst>
              <a:ext uri="{FF2B5EF4-FFF2-40B4-BE49-F238E27FC236}">
                <a16:creationId xmlns:a16="http://schemas.microsoft.com/office/drawing/2014/main" id="{F3EF0503-FBE8-4960-A704-B904BFB8B24F}"/>
              </a:ext>
            </a:extLst>
          </p:cNvPr>
          <p:cNvSpPr>
            <a:spLocks noGrp="1"/>
          </p:cNvSpPr>
          <p:nvPr/>
        </p:nvSpPr>
        <p:spPr>
          <a:xfrm>
            <a:off x="3305175" y="1209675"/>
            <a:ext cx="666750" cy="238125"/>
          </a:xfrm>
          <a:prstGeom prst="rect">
            <a:avLst/>
          </a:prstGeom>
        </p:spPr>
        <p:txBody>
          <a:bodyPr/>
          <a:lstStyle/>
          <a:p>
            <a:pPr algn="l">
              <a:lnSpc>
                <a:spcPct val="108000"/>
              </a:lnSpc>
              <a:buNone/>
              <a:defRPr sz="788" b="1">
                <a:solidFill>
                  <a:srgbClr val="FFFFFF"/>
                </a:solidFill>
              </a:defRPr>
            </a:pPr>
            <a:r>
              <a:rPr sz="1000" b="1">
                <a:solidFill>
                  <a:srgbClr val="FFFFFF"/>
                </a:solidFill>
              </a:rPr>
              <a:t>Delta LAnorm+/-</a:t>
            </a:r>
          </a:p>
        </p:txBody>
      </p:sp>
      <p:sp>
        <p:nvSpPr>
          <p:cNvPr id="13" name="Rectangle 12">
            <a:extLst>
              <a:ext uri="{FF2B5EF4-FFF2-40B4-BE49-F238E27FC236}">
                <a16:creationId xmlns:a16="http://schemas.microsoft.com/office/drawing/2014/main" id="{5EDA8233-643A-4324-B7AD-0BDC7070BC80}"/>
              </a:ext>
            </a:extLst>
          </p:cNvPr>
          <p:cNvSpPr>
            <a:spLocks noGrp="1"/>
          </p:cNvSpPr>
          <p:nvPr/>
        </p:nvSpPr>
        <p:spPr>
          <a:xfrm>
            <a:off x="4124325" y="1209675"/>
            <a:ext cx="1800225" cy="238125"/>
          </a:xfrm>
          <a:prstGeom prst="rect">
            <a:avLst/>
          </a:prstGeom>
        </p:spPr>
        <p:txBody>
          <a:bodyPr/>
          <a:lstStyle/>
          <a:p>
            <a:pPr algn="l">
              <a:lnSpc>
                <a:spcPct val="108000"/>
              </a:lnSpc>
              <a:buNone/>
              <a:defRPr sz="788" b="1">
                <a:solidFill>
                  <a:srgbClr val="FFFFFF"/>
                </a:solidFill>
              </a:defRPr>
            </a:pPr>
            <a:r>
              <a:rPr sz="1000" b="1">
                <a:solidFill>
                  <a:srgbClr val="FFFFFF"/>
                </a:solidFill>
              </a:rPr>
              <a:t>Observed mechanism</a:t>
            </a:r>
          </a:p>
        </p:txBody>
      </p:sp>
      <p:sp>
        <p:nvSpPr>
          <p:cNvPr id="14" name="Rectangle 13">
            <a:extLst>
              <a:ext uri="{FF2B5EF4-FFF2-40B4-BE49-F238E27FC236}">
                <a16:creationId xmlns:a16="http://schemas.microsoft.com/office/drawing/2014/main" id="{53E1663E-C52C-4B2F-92DB-E8AAD6CD5F6C}"/>
              </a:ext>
            </a:extLst>
          </p:cNvPr>
          <p:cNvSpPr>
            <a:spLocks noGrp="1"/>
          </p:cNvSpPr>
          <p:nvPr/>
        </p:nvSpPr>
        <p:spPr>
          <a:xfrm>
            <a:off x="6076950" y="1209675"/>
            <a:ext cx="3790950" cy="238125"/>
          </a:xfrm>
          <a:prstGeom prst="rect">
            <a:avLst/>
          </a:prstGeom>
        </p:spPr>
        <p:txBody>
          <a:bodyPr/>
          <a:lstStyle/>
          <a:p>
            <a:pPr algn="l">
              <a:lnSpc>
                <a:spcPct val="108000"/>
              </a:lnSpc>
              <a:buNone/>
              <a:defRPr sz="788" b="1">
                <a:solidFill>
                  <a:srgbClr val="FFFFFF"/>
                </a:solidFill>
              </a:defRPr>
            </a:pPr>
            <a:r>
              <a:rPr sz="1000" b="1">
                <a:solidFill>
                  <a:srgbClr val="FFFFFF"/>
                </a:solidFill>
              </a:rPr>
              <a:t>Local excerpt evidence</a:t>
            </a:r>
          </a:p>
        </p:txBody>
      </p:sp>
      <p:sp>
        <p:nvSpPr>
          <p:cNvPr id="15" name="Rectangle 14">
            <a:extLst>
              <a:ext uri="{FF2B5EF4-FFF2-40B4-BE49-F238E27FC236}">
                <a16:creationId xmlns:a16="http://schemas.microsoft.com/office/drawing/2014/main" id="{6B5E0AC0-C72F-442A-BBDD-2DF1F4BD3550}"/>
              </a:ext>
            </a:extLst>
          </p:cNvPr>
          <p:cNvSpPr>
            <a:spLocks noGrp="1"/>
          </p:cNvSpPr>
          <p:nvPr/>
        </p:nvSpPr>
        <p:spPr>
          <a:xfrm>
            <a:off x="10020300" y="1209675"/>
            <a:ext cx="1466850" cy="238125"/>
          </a:xfrm>
          <a:prstGeom prst="rect">
            <a:avLst/>
          </a:prstGeom>
        </p:spPr>
        <p:txBody>
          <a:bodyPr/>
          <a:lstStyle/>
          <a:p>
            <a:pPr algn="l">
              <a:lnSpc>
                <a:spcPct val="108000"/>
              </a:lnSpc>
              <a:buNone/>
              <a:defRPr sz="788" b="1">
                <a:solidFill>
                  <a:srgbClr val="FFFFFF"/>
                </a:solidFill>
              </a:defRPr>
            </a:pPr>
            <a:r>
              <a:rPr sz="1000" b="1">
                <a:solidFill>
                  <a:srgbClr val="FFFFFF"/>
                </a:solidFill>
              </a:rPr>
              <a:t>Evidence file</a:t>
            </a:r>
          </a:p>
        </p:txBody>
      </p:sp>
      <p:sp>
        <p:nvSpPr>
          <p:cNvPr id="16" name="Rectangle 15">
            <a:extLst>
              <a:ext uri="{FF2B5EF4-FFF2-40B4-BE49-F238E27FC236}">
                <a16:creationId xmlns:a16="http://schemas.microsoft.com/office/drawing/2014/main" id="{65CE8240-4FFB-4A4E-AAD9-137CABBD237A}"/>
              </a:ext>
            </a:extLst>
          </p:cNvPr>
          <p:cNvSpPr>
            <a:spLocks noGrp="1"/>
          </p:cNvSpPr>
          <p:nvPr/>
        </p:nvSpPr>
        <p:spPr>
          <a:xfrm>
            <a:off x="609600" y="1543050"/>
            <a:ext cx="847725" cy="561975"/>
          </a:xfrm>
          <a:prstGeom prst="rect">
            <a:avLst/>
          </a:prstGeom>
        </p:spPr>
        <p:txBody>
          <a:bodyPr/>
          <a:lstStyle/>
          <a:p>
            <a:pPr algn="l">
              <a:lnSpc>
                <a:spcPct val="108000"/>
              </a:lnSpc>
              <a:buNone/>
              <a:defRPr sz="788" b="1">
                <a:solidFill>
                  <a:srgbClr val="223941"/>
                </a:solidFill>
              </a:defRPr>
            </a:pPr>
            <a:r>
              <a:rPr sz="1000" b="1">
                <a:solidFill>
                  <a:srgbClr val="223941"/>
                </a:solidFill>
              </a:rPr>
              <a:t>Children</a:t>
            </a:r>
          </a:p>
        </p:txBody>
      </p:sp>
      <p:sp>
        <p:nvSpPr>
          <p:cNvPr id="17" name="Rectangle 16">
            <a:extLst>
              <a:ext uri="{FF2B5EF4-FFF2-40B4-BE49-F238E27FC236}">
                <a16:creationId xmlns:a16="http://schemas.microsoft.com/office/drawing/2014/main" id="{576D74E4-6476-40ED-BFB2-28813409CCD3}"/>
              </a:ext>
            </a:extLst>
          </p:cNvPr>
          <p:cNvSpPr>
            <a:spLocks noGrp="1"/>
          </p:cNvSpPr>
          <p:nvPr/>
        </p:nvSpPr>
        <p:spPr>
          <a:xfrm>
            <a:off x="1609725" y="1543050"/>
            <a:ext cx="876300" cy="561975"/>
          </a:xfrm>
          <a:prstGeom prst="rect">
            <a:avLst/>
          </a:prstGeom>
        </p:spPr>
        <p:txBody>
          <a:bodyPr/>
          <a:lstStyle/>
          <a:p>
            <a:pPr algn="l">
              <a:lnSpc>
                <a:spcPct val="108000"/>
              </a:lnSpc>
              <a:buNone/>
              <a:defRPr sz="788" b="1">
                <a:solidFill>
                  <a:srgbClr val="223941"/>
                </a:solidFill>
              </a:defRPr>
            </a:pPr>
            <a:r>
              <a:rPr sz="1000" b="1">
                <a:solidFill>
                  <a:srgbClr val="223941"/>
                </a:solidFill>
              </a:rPr>
              <a:t>2A_12_8-9</a:t>
            </a:r>
          </a:p>
        </p:txBody>
      </p:sp>
      <p:sp>
        <p:nvSpPr>
          <p:cNvPr id="18" name="Rectangle 17">
            <a:extLst>
              <a:ext uri="{FF2B5EF4-FFF2-40B4-BE49-F238E27FC236}">
                <a16:creationId xmlns:a16="http://schemas.microsoft.com/office/drawing/2014/main" id="{6DE13E12-6BD8-44AB-A82C-64FA73312E58}"/>
              </a:ext>
            </a:extLst>
          </p:cNvPr>
          <p:cNvSpPr>
            <a:spLocks noGrp="1"/>
          </p:cNvSpPr>
          <p:nvPr/>
        </p:nvSpPr>
        <p:spPr>
          <a:xfrm>
            <a:off x="2638425" y="1543050"/>
            <a:ext cx="514350" cy="561975"/>
          </a:xfrm>
          <a:prstGeom prst="rect">
            <a:avLst/>
          </a:prstGeom>
        </p:spPr>
        <p:txBody>
          <a:bodyPr/>
          <a:lstStyle/>
          <a:p>
            <a:pPr algn="ctr">
              <a:lnSpc>
                <a:spcPct val="108000"/>
              </a:lnSpc>
              <a:buNone/>
              <a:defRPr sz="788" b="1">
                <a:solidFill>
                  <a:srgbClr val="2A9D8F"/>
                </a:solidFill>
              </a:defRPr>
            </a:pPr>
            <a:r>
              <a:rPr sz="1000" b="1">
                <a:solidFill>
                  <a:srgbClr val="2A9D8F"/>
                </a:solidFill>
              </a:rPr>
              <a:t>M5</a:t>
            </a:r>
          </a:p>
        </p:txBody>
      </p:sp>
      <p:sp>
        <p:nvSpPr>
          <p:cNvPr id="19" name="Rectangle 18">
            <a:extLst>
              <a:ext uri="{FF2B5EF4-FFF2-40B4-BE49-F238E27FC236}">
                <a16:creationId xmlns:a16="http://schemas.microsoft.com/office/drawing/2014/main" id="{81CBBAD3-FDE3-483E-8168-A8D55EC51A2A}"/>
              </a:ext>
            </a:extLst>
          </p:cNvPr>
          <p:cNvSpPr>
            <a:spLocks noGrp="1"/>
          </p:cNvSpPr>
          <p:nvPr/>
        </p:nvSpPr>
        <p:spPr>
          <a:xfrm>
            <a:off x="3305175" y="1543050"/>
            <a:ext cx="666750" cy="561975"/>
          </a:xfrm>
          <a:prstGeom prst="rect">
            <a:avLst/>
          </a:prstGeom>
        </p:spPr>
        <p:txBody>
          <a:bodyPr/>
          <a:lstStyle/>
          <a:p>
            <a:pPr algn="ctr">
              <a:lnSpc>
                <a:spcPct val="108000"/>
              </a:lnSpc>
              <a:buNone/>
              <a:defRPr sz="788" b="1">
                <a:solidFill>
                  <a:srgbClr val="2A9D8F"/>
                </a:solidFill>
              </a:defRPr>
            </a:pPr>
            <a:r>
              <a:rPr sz="1000" b="1">
                <a:solidFill>
                  <a:srgbClr val="2A9D8F"/>
                </a:solidFill>
              </a:rPr>
              <a:t>+1.000</a:t>
            </a:r>
          </a:p>
        </p:txBody>
      </p:sp>
      <p:sp>
        <p:nvSpPr>
          <p:cNvPr id="20" name="Rectangle 19">
            <a:extLst>
              <a:ext uri="{FF2B5EF4-FFF2-40B4-BE49-F238E27FC236}">
                <a16:creationId xmlns:a16="http://schemas.microsoft.com/office/drawing/2014/main" id="{625E64ED-12B1-493F-AED0-C9BA825E1B82}"/>
              </a:ext>
            </a:extLst>
          </p:cNvPr>
          <p:cNvSpPr>
            <a:spLocks noGrp="1"/>
          </p:cNvSpPr>
          <p:nvPr/>
        </p:nvSpPr>
        <p:spPr>
          <a:xfrm>
            <a:off x="4124325" y="1543050"/>
            <a:ext cx="1800225" cy="561975"/>
          </a:xfrm>
          <a:prstGeom prst="rect">
            <a:avLst/>
          </a:prstGeom>
        </p:spPr>
        <p:txBody>
          <a:bodyPr/>
          <a:lstStyle/>
          <a:p>
            <a:pPr algn="l">
              <a:lnSpc>
                <a:spcPct val="108000"/>
              </a:lnSpc>
              <a:buNone/>
              <a:defRPr sz="750" b="0">
                <a:solidFill>
                  <a:srgbClr val="223941"/>
                </a:solidFill>
              </a:defRPr>
            </a:pPr>
            <a:r>
              <a:rPr sz="1000" b="0">
                <a:solidFill>
                  <a:srgbClr val="223941"/>
                </a:solidFill>
              </a:rPr>
              <a:t>NNTP merged first two lines and split a short final fragment.</a:t>
            </a:r>
          </a:p>
        </p:txBody>
      </p:sp>
      <p:sp>
        <p:nvSpPr>
          <p:cNvPr id="21" name="Rectangle 20">
            <a:extLst>
              <a:ext uri="{FF2B5EF4-FFF2-40B4-BE49-F238E27FC236}">
                <a16:creationId xmlns:a16="http://schemas.microsoft.com/office/drawing/2014/main" id="{6C34B3FE-AD25-4913-B755-B303BCC3F27B}"/>
              </a:ext>
            </a:extLst>
          </p:cNvPr>
          <p:cNvSpPr>
            <a:spLocks noGrp="1"/>
          </p:cNvSpPr>
          <p:nvPr/>
        </p:nvSpPr>
        <p:spPr>
          <a:xfrm>
            <a:off x="6076950" y="1543050"/>
            <a:ext cx="3790950" cy="561975"/>
          </a:xfrm>
          <a:prstGeom prst="rect">
            <a:avLst/>
          </a:prstGeom>
        </p:spPr>
        <p:txBody>
          <a:bodyPr/>
          <a:lstStyle/>
          <a:p>
            <a:pPr algn="l">
              <a:lnSpc>
                <a:spcPct val="102000"/>
              </a:lnSpc>
              <a:buNone/>
              <a:defRPr sz="728" b="0">
                <a:solidFill>
                  <a:srgbClr val="223941"/>
                </a:solidFill>
              </a:defRPr>
            </a:pPr>
            <a:r>
              <a:rPr sz="1000" b="0">
                <a:solidFill>
                  <a:srgbClr val="223941"/>
                </a:solidFill>
              </a:rPr>
              <a:t>GT/M5: "...Ka&amp;Ze | und ain Hund | Der Ma"</a:t>
            </a:r>
          </a:p>
          <a:p>
            <a:pPr algn="l">
              <a:lnSpc>
                <a:spcPct val="102000"/>
              </a:lnSpc>
              <a:buNone/>
              <a:defRPr sz="728" b="0">
                <a:solidFill>
                  <a:srgbClr val="223941"/>
                </a:solidFill>
              </a:defRPr>
            </a:pPr>
            <a:r>
              <a:rPr sz="1000" b="0">
                <a:solidFill>
                  <a:srgbClr val="223941"/>
                </a:solidFill>
              </a:rPr>
              <a:t>NNTP: "...Ka&amp;Ze und ain Hund | Der | Ma"</a:t>
            </a:r>
          </a:p>
        </p:txBody>
      </p:sp>
      <p:sp>
        <p:nvSpPr>
          <p:cNvPr id="22" name="Rectangle 21">
            <a:extLst>
              <a:ext uri="{FF2B5EF4-FFF2-40B4-BE49-F238E27FC236}">
                <a16:creationId xmlns:a16="http://schemas.microsoft.com/office/drawing/2014/main" id="{B7DD068F-1CCE-4F11-85EA-4C6C7C4E9A8E}"/>
              </a:ext>
            </a:extLst>
          </p:cNvPr>
          <p:cNvSpPr>
            <a:spLocks noGrp="1"/>
          </p:cNvSpPr>
          <p:nvPr/>
        </p:nvSpPr>
        <p:spPr>
          <a:xfrm>
            <a:off x="10020300" y="1543050"/>
            <a:ext cx="1466850" cy="561975"/>
          </a:xfrm>
          <a:prstGeom prst="rect">
            <a:avLst/>
          </a:prstGeom>
        </p:spPr>
        <p:txBody>
          <a:bodyPr/>
          <a:lstStyle/>
          <a:p>
            <a:pPr algn="l">
              <a:lnSpc>
                <a:spcPct val="108000"/>
              </a:lnSpc>
              <a:buNone/>
              <a:defRPr sz="788" b="0">
                <a:solidFill>
                  <a:srgbClr val="223941"/>
                </a:solidFill>
              </a:defRPr>
            </a:pPr>
            <a:r>
              <a:rPr sz="1000" b="0">
                <a:solidFill>
                  <a:srgbClr val="223941"/>
                </a:solidFill>
              </a:rPr>
              <a:t>M5 trace JSON</a:t>
            </a:r>
          </a:p>
          <a:p>
            <a:pPr algn="l">
              <a:lnSpc>
                <a:spcPct val="108000"/>
              </a:lnSpc>
              <a:buNone/>
              <a:defRPr sz="788" b="0">
                <a:solidFill>
                  <a:srgbClr val="223941"/>
                </a:solidFill>
              </a:defRPr>
            </a:pPr>
            <a:r>
              <a:rPr sz="1000" b="0">
                <a:solidFill>
                  <a:srgbClr val="223941"/>
                </a:solidFill>
              </a:rPr>
              <a:t>NNTP pred TXT</a:t>
            </a:r>
          </a:p>
        </p:txBody>
      </p:sp>
      <p:sp>
        <p:nvSpPr>
          <p:cNvPr id="23" name="Rectangle 22">
            <a:extLst>
              <a:ext uri="{FF2B5EF4-FFF2-40B4-BE49-F238E27FC236}">
                <a16:creationId xmlns:a16="http://schemas.microsoft.com/office/drawing/2014/main" id="{AA5BF33E-47DC-43C6-A840-A68A1FBEBD98}"/>
              </a:ext>
            </a:extLst>
          </p:cNvPr>
          <p:cNvSpPr>
            <a:spLocks noGrp="1"/>
          </p:cNvSpPr>
          <p:nvPr/>
        </p:nvSpPr>
        <p:spPr>
          <a:xfrm>
            <a:off x="533400" y="2143125"/>
            <a:ext cx="11029950" cy="657225"/>
          </a:xfrm>
          <a:prstGeom prst="rect">
            <a:avLst/>
          </a:prstGeom>
          <a:solidFill>
            <a:srgbClr val="F7F3EA"/>
          </a:solidFill>
          <a:ln w="0">
            <a:solidFill>
              <a:srgbClr val="F7F3EA"/>
            </a:solidFill>
            <a:prstDash val="solid"/>
          </a:ln>
        </p:spPr>
        <p:txBody>
          <a:bodyPr/>
          <a:lstStyle/>
          <a:p>
            <a:endParaRPr/>
          </a:p>
        </p:txBody>
      </p:sp>
      <p:sp>
        <p:nvSpPr>
          <p:cNvPr id="24" name="Rectangle 23">
            <a:extLst>
              <a:ext uri="{FF2B5EF4-FFF2-40B4-BE49-F238E27FC236}">
                <a16:creationId xmlns:a16="http://schemas.microsoft.com/office/drawing/2014/main" id="{75F8DCF7-856E-42B2-9F1F-18F05BA73764}"/>
              </a:ext>
            </a:extLst>
          </p:cNvPr>
          <p:cNvSpPr>
            <a:spLocks noGrp="1"/>
          </p:cNvSpPr>
          <p:nvPr/>
        </p:nvSpPr>
        <p:spPr>
          <a:xfrm>
            <a:off x="609600" y="2200275"/>
            <a:ext cx="847725" cy="561975"/>
          </a:xfrm>
          <a:prstGeom prst="rect">
            <a:avLst/>
          </a:prstGeom>
        </p:spPr>
        <p:txBody>
          <a:bodyPr/>
          <a:lstStyle/>
          <a:p>
            <a:pPr algn="l">
              <a:lnSpc>
                <a:spcPct val="108000"/>
              </a:lnSpc>
              <a:buNone/>
              <a:defRPr sz="788" b="1">
                <a:solidFill>
                  <a:srgbClr val="223941"/>
                </a:solidFill>
              </a:defRPr>
            </a:pPr>
            <a:r>
              <a:rPr sz="1000" b="1">
                <a:solidFill>
                  <a:srgbClr val="223941"/>
                </a:solidFill>
              </a:rPr>
              <a:t>Children</a:t>
            </a:r>
          </a:p>
        </p:txBody>
      </p:sp>
      <p:sp>
        <p:nvSpPr>
          <p:cNvPr id="25" name="Rectangle 24">
            <a:extLst>
              <a:ext uri="{FF2B5EF4-FFF2-40B4-BE49-F238E27FC236}">
                <a16:creationId xmlns:a16="http://schemas.microsoft.com/office/drawing/2014/main" id="{AC9632F1-3741-464A-8658-52B3BE00A95A}"/>
              </a:ext>
            </a:extLst>
          </p:cNvPr>
          <p:cNvSpPr>
            <a:spLocks noGrp="1"/>
          </p:cNvSpPr>
          <p:nvPr/>
        </p:nvSpPr>
        <p:spPr>
          <a:xfrm>
            <a:off x="1609725" y="2200275"/>
            <a:ext cx="876300" cy="561975"/>
          </a:xfrm>
          <a:prstGeom prst="rect">
            <a:avLst/>
          </a:prstGeom>
        </p:spPr>
        <p:txBody>
          <a:bodyPr/>
          <a:lstStyle/>
          <a:p>
            <a:pPr algn="l">
              <a:lnSpc>
                <a:spcPct val="108000"/>
              </a:lnSpc>
              <a:buNone/>
              <a:defRPr sz="788" b="1">
                <a:solidFill>
                  <a:srgbClr val="223941"/>
                </a:solidFill>
              </a:defRPr>
            </a:pPr>
            <a:r>
              <a:rPr sz="1000" b="1">
                <a:solidFill>
                  <a:srgbClr val="223941"/>
                </a:solidFill>
              </a:rPr>
              <a:t>2A_12_10-11</a:t>
            </a:r>
          </a:p>
        </p:txBody>
      </p:sp>
      <p:sp>
        <p:nvSpPr>
          <p:cNvPr id="26" name="Rectangle 25">
            <a:extLst>
              <a:ext uri="{FF2B5EF4-FFF2-40B4-BE49-F238E27FC236}">
                <a16:creationId xmlns:a16="http://schemas.microsoft.com/office/drawing/2014/main" id="{27280543-2272-4DC7-8F52-F3F8088132EB}"/>
              </a:ext>
            </a:extLst>
          </p:cNvPr>
          <p:cNvSpPr>
            <a:spLocks noGrp="1"/>
          </p:cNvSpPr>
          <p:nvPr/>
        </p:nvSpPr>
        <p:spPr>
          <a:xfrm>
            <a:off x="2638425" y="2200275"/>
            <a:ext cx="514350" cy="561975"/>
          </a:xfrm>
          <a:prstGeom prst="rect">
            <a:avLst/>
          </a:prstGeom>
        </p:spPr>
        <p:txBody>
          <a:bodyPr/>
          <a:lstStyle/>
          <a:p>
            <a:pPr algn="ctr">
              <a:lnSpc>
                <a:spcPct val="108000"/>
              </a:lnSpc>
              <a:buNone/>
              <a:defRPr sz="788" b="1">
                <a:solidFill>
                  <a:srgbClr val="D9A36A"/>
                </a:solidFill>
              </a:defRPr>
            </a:pPr>
            <a:r>
              <a:rPr sz="1000" b="1">
                <a:solidFill>
                  <a:srgbClr val="D9A36A"/>
                </a:solidFill>
              </a:rPr>
              <a:t>NNTP</a:t>
            </a:r>
          </a:p>
        </p:txBody>
      </p:sp>
      <p:sp>
        <p:nvSpPr>
          <p:cNvPr id="27" name="Rectangle 26">
            <a:extLst>
              <a:ext uri="{FF2B5EF4-FFF2-40B4-BE49-F238E27FC236}">
                <a16:creationId xmlns:a16="http://schemas.microsoft.com/office/drawing/2014/main" id="{E8A0B833-FE39-42E1-8B7E-0F3FE6789881}"/>
              </a:ext>
            </a:extLst>
          </p:cNvPr>
          <p:cNvSpPr>
            <a:spLocks noGrp="1"/>
          </p:cNvSpPr>
          <p:nvPr/>
        </p:nvSpPr>
        <p:spPr>
          <a:xfrm>
            <a:off x="3305175" y="2200275"/>
            <a:ext cx="666750" cy="561975"/>
          </a:xfrm>
          <a:prstGeom prst="rect">
            <a:avLst/>
          </a:prstGeom>
        </p:spPr>
        <p:txBody>
          <a:bodyPr/>
          <a:lstStyle/>
          <a:p>
            <a:pPr algn="ctr">
              <a:lnSpc>
                <a:spcPct val="108000"/>
              </a:lnSpc>
              <a:buNone/>
              <a:defRPr sz="788" b="1">
                <a:solidFill>
                  <a:srgbClr val="E76F51"/>
                </a:solidFill>
              </a:defRPr>
            </a:pPr>
            <a:r>
              <a:rPr sz="1000" b="1">
                <a:solidFill>
                  <a:srgbClr val="E76F51"/>
                </a:solidFill>
              </a:rPr>
              <a:t>-0.500</a:t>
            </a:r>
          </a:p>
        </p:txBody>
      </p:sp>
      <p:sp>
        <p:nvSpPr>
          <p:cNvPr id="28" name="Rectangle 27">
            <a:extLst>
              <a:ext uri="{FF2B5EF4-FFF2-40B4-BE49-F238E27FC236}">
                <a16:creationId xmlns:a16="http://schemas.microsoft.com/office/drawing/2014/main" id="{A9F88FBE-E60A-44AB-968A-87BD7BEC089A}"/>
              </a:ext>
            </a:extLst>
          </p:cNvPr>
          <p:cNvSpPr>
            <a:spLocks noGrp="1"/>
          </p:cNvSpPr>
          <p:nvPr/>
        </p:nvSpPr>
        <p:spPr>
          <a:xfrm>
            <a:off x="4124325" y="2200275"/>
            <a:ext cx="1800225" cy="561975"/>
          </a:xfrm>
          <a:prstGeom prst="rect">
            <a:avLst/>
          </a:prstGeom>
        </p:spPr>
        <p:txBody>
          <a:bodyPr/>
          <a:lstStyle/>
          <a:p>
            <a:pPr algn="l">
              <a:lnSpc>
                <a:spcPct val="108000"/>
              </a:lnSpc>
              <a:buNone/>
              <a:defRPr sz="750" b="0">
                <a:solidFill>
                  <a:srgbClr val="223941"/>
                </a:solidFill>
              </a:defRPr>
            </a:pPr>
            <a:r>
              <a:rPr sz="1000" b="0">
                <a:solidFill>
                  <a:srgbClr val="223941"/>
                </a:solidFill>
              </a:rPr>
              <a:t>M5 shifted "Saine" to the previous line; NNTP keeps the local boundary.</a:t>
            </a:r>
          </a:p>
        </p:txBody>
      </p:sp>
      <p:sp>
        <p:nvSpPr>
          <p:cNvPr id="29" name="Rectangle 28">
            <a:extLst>
              <a:ext uri="{FF2B5EF4-FFF2-40B4-BE49-F238E27FC236}">
                <a16:creationId xmlns:a16="http://schemas.microsoft.com/office/drawing/2014/main" id="{898097CD-2840-4CCB-88DA-9D7EE22152A4}"/>
              </a:ext>
            </a:extLst>
          </p:cNvPr>
          <p:cNvSpPr>
            <a:spLocks noGrp="1"/>
          </p:cNvSpPr>
          <p:nvPr/>
        </p:nvSpPr>
        <p:spPr>
          <a:xfrm>
            <a:off x="6076950" y="2200275"/>
            <a:ext cx="3790950" cy="561975"/>
          </a:xfrm>
          <a:prstGeom prst="rect">
            <a:avLst/>
          </a:prstGeom>
        </p:spPr>
        <p:txBody>
          <a:bodyPr/>
          <a:lstStyle/>
          <a:p>
            <a:pPr algn="l">
              <a:lnSpc>
                <a:spcPct val="102000"/>
              </a:lnSpc>
              <a:buNone/>
              <a:defRPr sz="728" b="0">
                <a:solidFill>
                  <a:srgbClr val="223941"/>
                </a:solidFill>
              </a:defRPr>
            </a:pPr>
            <a:r>
              <a:rPr sz="1000" b="0">
                <a:solidFill>
                  <a:srgbClr val="223941"/>
                </a:solidFill>
              </a:rPr>
              <a:t>GT/NNTP: "Der Man TuT | Saine Claider..."</a:t>
            </a:r>
          </a:p>
          <a:p>
            <a:pPr algn="l">
              <a:lnSpc>
                <a:spcPct val="102000"/>
              </a:lnSpc>
              <a:buNone/>
              <a:defRPr sz="728" b="0">
                <a:solidFill>
                  <a:srgbClr val="223941"/>
                </a:solidFill>
              </a:defRPr>
            </a:pPr>
            <a:r>
              <a:rPr sz="1000" b="0">
                <a:solidFill>
                  <a:srgbClr val="223941"/>
                </a:solidFill>
              </a:rPr>
              <a:t>M5: "Der Man TuT Saine | Claider..."</a:t>
            </a:r>
          </a:p>
        </p:txBody>
      </p:sp>
      <p:sp>
        <p:nvSpPr>
          <p:cNvPr id="30" name="Rectangle 29">
            <a:extLst>
              <a:ext uri="{FF2B5EF4-FFF2-40B4-BE49-F238E27FC236}">
                <a16:creationId xmlns:a16="http://schemas.microsoft.com/office/drawing/2014/main" id="{30F81943-049E-4620-B5B7-530A3F894A8E}"/>
              </a:ext>
            </a:extLst>
          </p:cNvPr>
          <p:cNvSpPr>
            <a:spLocks noGrp="1"/>
          </p:cNvSpPr>
          <p:nvPr/>
        </p:nvSpPr>
        <p:spPr>
          <a:xfrm>
            <a:off x="10020300" y="2200275"/>
            <a:ext cx="1466850" cy="561975"/>
          </a:xfrm>
          <a:prstGeom prst="rect">
            <a:avLst/>
          </a:prstGeom>
        </p:spPr>
        <p:txBody>
          <a:bodyPr/>
          <a:lstStyle/>
          <a:p>
            <a:pPr algn="l">
              <a:lnSpc>
                <a:spcPct val="108000"/>
              </a:lnSpc>
              <a:buNone/>
              <a:defRPr sz="788" b="0">
                <a:solidFill>
                  <a:srgbClr val="223941"/>
                </a:solidFill>
              </a:defRPr>
            </a:pPr>
            <a:r>
              <a:rPr sz="1000" b="0">
                <a:solidFill>
                  <a:srgbClr val="223941"/>
                </a:solidFill>
              </a:rPr>
              <a:t>M5 trace JSON</a:t>
            </a:r>
          </a:p>
          <a:p>
            <a:pPr algn="l">
              <a:lnSpc>
                <a:spcPct val="108000"/>
              </a:lnSpc>
              <a:buNone/>
              <a:defRPr sz="788" b="0">
                <a:solidFill>
                  <a:srgbClr val="223941"/>
                </a:solidFill>
              </a:defRPr>
            </a:pPr>
            <a:r>
              <a:rPr sz="1000" b="0">
                <a:solidFill>
                  <a:srgbClr val="223941"/>
                </a:solidFill>
              </a:rPr>
              <a:t>NNTP pred TXT</a:t>
            </a:r>
          </a:p>
        </p:txBody>
      </p:sp>
      <p:sp>
        <p:nvSpPr>
          <p:cNvPr id="31" name="Rectangle 30">
            <a:extLst>
              <a:ext uri="{FF2B5EF4-FFF2-40B4-BE49-F238E27FC236}">
                <a16:creationId xmlns:a16="http://schemas.microsoft.com/office/drawing/2014/main" id="{6B5640E0-865E-4ADD-9BCA-8F4DE02843BB}"/>
              </a:ext>
            </a:extLst>
          </p:cNvPr>
          <p:cNvSpPr>
            <a:spLocks noGrp="1"/>
          </p:cNvSpPr>
          <p:nvPr/>
        </p:nvSpPr>
        <p:spPr>
          <a:xfrm>
            <a:off x="609600" y="2857500"/>
            <a:ext cx="847725" cy="561975"/>
          </a:xfrm>
          <a:prstGeom prst="rect">
            <a:avLst/>
          </a:prstGeom>
        </p:spPr>
        <p:txBody>
          <a:bodyPr/>
          <a:lstStyle/>
          <a:p>
            <a:pPr algn="l">
              <a:lnSpc>
                <a:spcPct val="108000"/>
              </a:lnSpc>
              <a:buNone/>
              <a:defRPr sz="788" b="1">
                <a:solidFill>
                  <a:srgbClr val="223941"/>
                </a:solidFill>
              </a:defRPr>
            </a:pPr>
            <a:r>
              <a:rPr sz="1000" b="1">
                <a:solidFill>
                  <a:srgbClr val="223941"/>
                </a:solidFill>
              </a:rPr>
              <a:t>Washington</a:t>
            </a:r>
          </a:p>
        </p:txBody>
      </p:sp>
      <p:sp>
        <p:nvSpPr>
          <p:cNvPr id="32" name="Rectangle 31">
            <a:extLst>
              <a:ext uri="{FF2B5EF4-FFF2-40B4-BE49-F238E27FC236}">
                <a16:creationId xmlns:a16="http://schemas.microsoft.com/office/drawing/2014/main" id="{A13FDFCA-9968-4C2C-B82D-4E55F89A20F7}"/>
              </a:ext>
            </a:extLst>
          </p:cNvPr>
          <p:cNvSpPr>
            <a:spLocks noGrp="1"/>
          </p:cNvSpPr>
          <p:nvPr/>
        </p:nvSpPr>
        <p:spPr>
          <a:xfrm>
            <a:off x="1609725" y="2857500"/>
            <a:ext cx="876300" cy="561975"/>
          </a:xfrm>
          <a:prstGeom prst="rect">
            <a:avLst/>
          </a:prstGeom>
        </p:spPr>
        <p:txBody>
          <a:bodyPr/>
          <a:lstStyle/>
          <a:p>
            <a:pPr algn="l">
              <a:lnSpc>
                <a:spcPct val="108000"/>
              </a:lnSpc>
              <a:buNone/>
              <a:defRPr sz="788" b="1">
                <a:solidFill>
                  <a:srgbClr val="223941"/>
                </a:solidFill>
              </a:defRPr>
            </a:pPr>
            <a:r>
              <a:rPr sz="1000" b="1">
                <a:solidFill>
                  <a:srgbClr val="223941"/>
                </a:solidFill>
              </a:rPr>
              <a:t>278</a:t>
            </a:r>
          </a:p>
        </p:txBody>
      </p:sp>
      <p:sp>
        <p:nvSpPr>
          <p:cNvPr id="33" name="Rectangle 32">
            <a:extLst>
              <a:ext uri="{FF2B5EF4-FFF2-40B4-BE49-F238E27FC236}">
                <a16:creationId xmlns:a16="http://schemas.microsoft.com/office/drawing/2014/main" id="{2EE0A140-5024-4462-9365-8F3127C62E0E}"/>
              </a:ext>
            </a:extLst>
          </p:cNvPr>
          <p:cNvSpPr>
            <a:spLocks noGrp="1"/>
          </p:cNvSpPr>
          <p:nvPr/>
        </p:nvSpPr>
        <p:spPr>
          <a:xfrm>
            <a:off x="2638425" y="2857500"/>
            <a:ext cx="514350" cy="561975"/>
          </a:xfrm>
          <a:prstGeom prst="rect">
            <a:avLst/>
          </a:prstGeom>
        </p:spPr>
        <p:txBody>
          <a:bodyPr/>
          <a:lstStyle/>
          <a:p>
            <a:pPr algn="ctr">
              <a:lnSpc>
                <a:spcPct val="108000"/>
              </a:lnSpc>
              <a:buNone/>
              <a:defRPr sz="788" b="1">
                <a:solidFill>
                  <a:srgbClr val="2A9D8F"/>
                </a:solidFill>
              </a:defRPr>
            </a:pPr>
            <a:r>
              <a:rPr sz="1000" b="1">
                <a:solidFill>
                  <a:srgbClr val="2A9D8F"/>
                </a:solidFill>
              </a:rPr>
              <a:t>M5</a:t>
            </a:r>
          </a:p>
        </p:txBody>
      </p:sp>
      <p:sp>
        <p:nvSpPr>
          <p:cNvPr id="34" name="Rectangle 33">
            <a:extLst>
              <a:ext uri="{FF2B5EF4-FFF2-40B4-BE49-F238E27FC236}">
                <a16:creationId xmlns:a16="http://schemas.microsoft.com/office/drawing/2014/main" id="{5A52A9F0-24DE-4C67-A296-B5C11A2AF6FD}"/>
              </a:ext>
            </a:extLst>
          </p:cNvPr>
          <p:cNvSpPr>
            <a:spLocks noGrp="1"/>
          </p:cNvSpPr>
          <p:nvPr/>
        </p:nvSpPr>
        <p:spPr>
          <a:xfrm>
            <a:off x="3305175" y="2857500"/>
            <a:ext cx="666750" cy="561975"/>
          </a:xfrm>
          <a:prstGeom prst="rect">
            <a:avLst/>
          </a:prstGeom>
        </p:spPr>
        <p:txBody>
          <a:bodyPr/>
          <a:lstStyle/>
          <a:p>
            <a:pPr algn="ctr">
              <a:lnSpc>
                <a:spcPct val="108000"/>
              </a:lnSpc>
              <a:buNone/>
              <a:defRPr sz="788" b="1">
                <a:solidFill>
                  <a:srgbClr val="2A9D8F"/>
                </a:solidFill>
              </a:defRPr>
            </a:pPr>
            <a:r>
              <a:rPr sz="1000" b="1">
                <a:solidFill>
                  <a:srgbClr val="2A9D8F"/>
                </a:solidFill>
              </a:rPr>
              <a:t>+0.063</a:t>
            </a:r>
          </a:p>
        </p:txBody>
      </p:sp>
      <p:sp>
        <p:nvSpPr>
          <p:cNvPr id="35" name="Rectangle 34">
            <a:extLst>
              <a:ext uri="{FF2B5EF4-FFF2-40B4-BE49-F238E27FC236}">
                <a16:creationId xmlns:a16="http://schemas.microsoft.com/office/drawing/2014/main" id="{1C3E6793-7686-40C7-92C8-DC52FCA814BC}"/>
              </a:ext>
            </a:extLst>
          </p:cNvPr>
          <p:cNvSpPr>
            <a:spLocks noGrp="1"/>
          </p:cNvSpPr>
          <p:nvPr/>
        </p:nvSpPr>
        <p:spPr>
          <a:xfrm>
            <a:off x="4124325" y="2857500"/>
            <a:ext cx="1800225" cy="561975"/>
          </a:xfrm>
          <a:prstGeom prst="rect">
            <a:avLst/>
          </a:prstGeom>
        </p:spPr>
        <p:txBody>
          <a:bodyPr/>
          <a:lstStyle/>
          <a:p>
            <a:pPr algn="l">
              <a:lnSpc>
                <a:spcPct val="108000"/>
              </a:lnSpc>
              <a:buNone/>
              <a:defRPr sz="750" b="0">
                <a:solidFill>
                  <a:srgbClr val="223941"/>
                </a:solidFill>
              </a:defRPr>
            </a:pPr>
            <a:r>
              <a:rPr sz="1000" b="0">
                <a:solidFill>
                  <a:srgbClr val="223941"/>
                </a:solidFill>
              </a:rPr>
              <a:t>NNTP split short "andria." and merged the remainder into the next numbered line.</a:t>
            </a:r>
          </a:p>
        </p:txBody>
      </p:sp>
      <p:sp>
        <p:nvSpPr>
          <p:cNvPr id="36" name="Rectangle 35">
            <a:extLst>
              <a:ext uri="{FF2B5EF4-FFF2-40B4-BE49-F238E27FC236}">
                <a16:creationId xmlns:a16="http://schemas.microsoft.com/office/drawing/2014/main" id="{8430C705-6EAC-463F-9A11-4A3A0E425F4D}"/>
              </a:ext>
            </a:extLst>
          </p:cNvPr>
          <p:cNvSpPr>
            <a:spLocks noGrp="1"/>
          </p:cNvSpPr>
          <p:nvPr/>
        </p:nvSpPr>
        <p:spPr>
          <a:xfrm>
            <a:off x="6076950" y="2857500"/>
            <a:ext cx="3790950" cy="561975"/>
          </a:xfrm>
          <a:prstGeom prst="rect">
            <a:avLst/>
          </a:prstGeom>
        </p:spPr>
        <p:txBody>
          <a:bodyPr/>
          <a:lstStyle/>
          <a:p>
            <a:pPr algn="l">
              <a:lnSpc>
                <a:spcPct val="102000"/>
              </a:lnSpc>
              <a:buNone/>
              <a:defRPr sz="728" b="0">
                <a:solidFill>
                  <a:srgbClr val="223941"/>
                </a:solidFill>
              </a:defRPr>
            </a:pPr>
            <a:r>
              <a:rPr sz="1000" b="0">
                <a:solidFill>
                  <a:srgbClr val="223941"/>
                </a:solidFill>
              </a:rPr>
              <a:t>GT/M5: "Alex- | andria. | 1st. To..."</a:t>
            </a:r>
          </a:p>
          <a:p>
            <a:pPr algn="l">
              <a:lnSpc>
                <a:spcPct val="102000"/>
              </a:lnSpc>
              <a:buNone/>
              <a:defRPr sz="728" b="0">
                <a:solidFill>
                  <a:srgbClr val="223941"/>
                </a:solidFill>
              </a:defRPr>
            </a:pPr>
            <a:r>
              <a:rPr sz="1000" b="0">
                <a:solidFill>
                  <a:srgbClr val="223941"/>
                </a:solidFill>
              </a:rPr>
              <a:t>NNTP: "Alex- | andri | a. 1st. To..."</a:t>
            </a:r>
          </a:p>
        </p:txBody>
      </p:sp>
      <p:sp>
        <p:nvSpPr>
          <p:cNvPr id="37" name="Rectangle 36">
            <a:extLst>
              <a:ext uri="{FF2B5EF4-FFF2-40B4-BE49-F238E27FC236}">
                <a16:creationId xmlns:a16="http://schemas.microsoft.com/office/drawing/2014/main" id="{ECF6204A-CD66-4444-9806-AF6679965E8E}"/>
              </a:ext>
            </a:extLst>
          </p:cNvPr>
          <p:cNvSpPr>
            <a:spLocks noGrp="1"/>
          </p:cNvSpPr>
          <p:nvPr/>
        </p:nvSpPr>
        <p:spPr>
          <a:xfrm>
            <a:off x="10020300" y="2857500"/>
            <a:ext cx="1466850" cy="561975"/>
          </a:xfrm>
          <a:prstGeom prst="rect">
            <a:avLst/>
          </a:prstGeom>
        </p:spPr>
        <p:txBody>
          <a:bodyPr/>
          <a:lstStyle/>
          <a:p>
            <a:pPr algn="l">
              <a:lnSpc>
                <a:spcPct val="108000"/>
              </a:lnSpc>
              <a:buNone/>
              <a:defRPr sz="788" b="0">
                <a:solidFill>
                  <a:srgbClr val="223941"/>
                </a:solidFill>
              </a:defRPr>
            </a:pPr>
            <a:r>
              <a:rPr sz="1000" b="0">
                <a:solidFill>
                  <a:srgbClr val="223941"/>
                </a:solidFill>
              </a:rPr>
              <a:t>M5 trace JSON</a:t>
            </a:r>
          </a:p>
          <a:p>
            <a:pPr algn="l">
              <a:lnSpc>
                <a:spcPct val="108000"/>
              </a:lnSpc>
              <a:buNone/>
              <a:defRPr sz="788" b="0">
                <a:solidFill>
                  <a:srgbClr val="223941"/>
                </a:solidFill>
              </a:defRPr>
            </a:pPr>
            <a:r>
              <a:rPr sz="1000" b="0">
                <a:solidFill>
                  <a:srgbClr val="223941"/>
                </a:solidFill>
              </a:rPr>
              <a:t>NNTP pred TXT</a:t>
            </a:r>
          </a:p>
        </p:txBody>
      </p:sp>
      <p:sp>
        <p:nvSpPr>
          <p:cNvPr id="38" name="Rectangle 37">
            <a:extLst>
              <a:ext uri="{FF2B5EF4-FFF2-40B4-BE49-F238E27FC236}">
                <a16:creationId xmlns:a16="http://schemas.microsoft.com/office/drawing/2014/main" id="{6FC66657-1E8F-440D-88F1-D31DF52E185D}"/>
              </a:ext>
            </a:extLst>
          </p:cNvPr>
          <p:cNvSpPr>
            <a:spLocks noGrp="1"/>
          </p:cNvSpPr>
          <p:nvPr/>
        </p:nvSpPr>
        <p:spPr>
          <a:xfrm>
            <a:off x="533400" y="3457575"/>
            <a:ext cx="11029950" cy="657225"/>
          </a:xfrm>
          <a:prstGeom prst="rect">
            <a:avLst/>
          </a:prstGeom>
          <a:solidFill>
            <a:srgbClr val="F7F3EA"/>
          </a:solidFill>
          <a:ln w="0">
            <a:solidFill>
              <a:srgbClr val="F7F3EA"/>
            </a:solidFill>
            <a:prstDash val="solid"/>
          </a:ln>
        </p:spPr>
        <p:txBody>
          <a:bodyPr/>
          <a:lstStyle/>
          <a:p>
            <a:endParaRPr/>
          </a:p>
        </p:txBody>
      </p:sp>
      <p:sp>
        <p:nvSpPr>
          <p:cNvPr id="39" name="Rectangle 38">
            <a:extLst>
              <a:ext uri="{FF2B5EF4-FFF2-40B4-BE49-F238E27FC236}">
                <a16:creationId xmlns:a16="http://schemas.microsoft.com/office/drawing/2014/main" id="{9F116928-8688-4A5F-9544-D56C08FE75C5}"/>
              </a:ext>
            </a:extLst>
          </p:cNvPr>
          <p:cNvSpPr>
            <a:spLocks noGrp="1"/>
          </p:cNvSpPr>
          <p:nvPr/>
        </p:nvSpPr>
        <p:spPr>
          <a:xfrm>
            <a:off x="609600" y="3514725"/>
            <a:ext cx="847725" cy="561975"/>
          </a:xfrm>
          <a:prstGeom prst="rect">
            <a:avLst/>
          </a:prstGeom>
        </p:spPr>
        <p:txBody>
          <a:bodyPr/>
          <a:lstStyle/>
          <a:p>
            <a:pPr algn="l">
              <a:lnSpc>
                <a:spcPct val="108000"/>
              </a:lnSpc>
              <a:buNone/>
              <a:defRPr sz="788" b="1">
                <a:solidFill>
                  <a:srgbClr val="223941"/>
                </a:solidFill>
              </a:defRPr>
            </a:pPr>
            <a:r>
              <a:rPr sz="1000" b="1">
                <a:solidFill>
                  <a:srgbClr val="223941"/>
                </a:solidFill>
              </a:rPr>
              <a:t>Washington</a:t>
            </a:r>
          </a:p>
        </p:txBody>
      </p:sp>
      <p:sp>
        <p:nvSpPr>
          <p:cNvPr id="40" name="Rectangle 39">
            <a:extLst>
              <a:ext uri="{FF2B5EF4-FFF2-40B4-BE49-F238E27FC236}">
                <a16:creationId xmlns:a16="http://schemas.microsoft.com/office/drawing/2014/main" id="{4215227D-A031-4649-921C-B42C9BBDE851}"/>
              </a:ext>
            </a:extLst>
          </p:cNvPr>
          <p:cNvSpPr>
            <a:spLocks noGrp="1"/>
          </p:cNvSpPr>
          <p:nvPr/>
        </p:nvSpPr>
        <p:spPr>
          <a:xfrm>
            <a:off x="1609725" y="3514725"/>
            <a:ext cx="876300" cy="561975"/>
          </a:xfrm>
          <a:prstGeom prst="rect">
            <a:avLst/>
          </a:prstGeom>
        </p:spPr>
        <p:txBody>
          <a:bodyPr/>
          <a:lstStyle/>
          <a:p>
            <a:pPr algn="l">
              <a:lnSpc>
                <a:spcPct val="108000"/>
              </a:lnSpc>
              <a:buNone/>
              <a:defRPr sz="788" b="1">
                <a:solidFill>
                  <a:srgbClr val="223941"/>
                </a:solidFill>
              </a:defRPr>
            </a:pPr>
            <a:r>
              <a:rPr sz="1000" b="1">
                <a:solidFill>
                  <a:srgbClr val="223941"/>
                </a:solidFill>
              </a:rPr>
              <a:t>272</a:t>
            </a:r>
          </a:p>
        </p:txBody>
      </p:sp>
      <p:sp>
        <p:nvSpPr>
          <p:cNvPr id="41" name="Rectangle 40">
            <a:extLst>
              <a:ext uri="{FF2B5EF4-FFF2-40B4-BE49-F238E27FC236}">
                <a16:creationId xmlns:a16="http://schemas.microsoft.com/office/drawing/2014/main" id="{468815AA-E658-4CE1-8AEB-F5E70250C08F}"/>
              </a:ext>
            </a:extLst>
          </p:cNvPr>
          <p:cNvSpPr>
            <a:spLocks noGrp="1"/>
          </p:cNvSpPr>
          <p:nvPr/>
        </p:nvSpPr>
        <p:spPr>
          <a:xfrm>
            <a:off x="2638425" y="3514725"/>
            <a:ext cx="514350" cy="561975"/>
          </a:xfrm>
          <a:prstGeom prst="rect">
            <a:avLst/>
          </a:prstGeom>
        </p:spPr>
        <p:txBody>
          <a:bodyPr/>
          <a:lstStyle/>
          <a:p>
            <a:pPr algn="ctr">
              <a:lnSpc>
                <a:spcPct val="108000"/>
              </a:lnSpc>
              <a:buNone/>
              <a:defRPr sz="788" b="1">
                <a:solidFill>
                  <a:srgbClr val="D9A36A"/>
                </a:solidFill>
              </a:defRPr>
            </a:pPr>
            <a:r>
              <a:rPr sz="1000" b="1">
                <a:solidFill>
                  <a:srgbClr val="D9A36A"/>
                </a:solidFill>
              </a:rPr>
              <a:t>NNTP</a:t>
            </a:r>
          </a:p>
        </p:txBody>
      </p:sp>
      <p:sp>
        <p:nvSpPr>
          <p:cNvPr id="42" name="Rectangle 41">
            <a:extLst>
              <a:ext uri="{FF2B5EF4-FFF2-40B4-BE49-F238E27FC236}">
                <a16:creationId xmlns:a16="http://schemas.microsoft.com/office/drawing/2014/main" id="{9DAE4707-091F-4B4E-9871-6145C2111F50}"/>
              </a:ext>
            </a:extLst>
          </p:cNvPr>
          <p:cNvSpPr>
            <a:spLocks noGrp="1"/>
          </p:cNvSpPr>
          <p:nvPr/>
        </p:nvSpPr>
        <p:spPr>
          <a:xfrm>
            <a:off x="3305175" y="3514725"/>
            <a:ext cx="666750" cy="561975"/>
          </a:xfrm>
          <a:prstGeom prst="rect">
            <a:avLst/>
          </a:prstGeom>
        </p:spPr>
        <p:txBody>
          <a:bodyPr/>
          <a:lstStyle/>
          <a:p>
            <a:pPr algn="ctr">
              <a:lnSpc>
                <a:spcPct val="108000"/>
              </a:lnSpc>
              <a:buNone/>
              <a:defRPr sz="788" b="1">
                <a:solidFill>
                  <a:srgbClr val="E76F51"/>
                </a:solidFill>
              </a:defRPr>
            </a:pPr>
            <a:r>
              <a:rPr sz="1000" b="1">
                <a:solidFill>
                  <a:srgbClr val="E76F51"/>
                </a:solidFill>
              </a:rPr>
              <a:t>-0.059</a:t>
            </a:r>
          </a:p>
        </p:txBody>
      </p:sp>
      <p:sp>
        <p:nvSpPr>
          <p:cNvPr id="43" name="Rectangle 42">
            <a:extLst>
              <a:ext uri="{FF2B5EF4-FFF2-40B4-BE49-F238E27FC236}">
                <a16:creationId xmlns:a16="http://schemas.microsoft.com/office/drawing/2014/main" id="{051B2716-AC67-44E1-B113-F110A391A941}"/>
              </a:ext>
            </a:extLst>
          </p:cNvPr>
          <p:cNvSpPr>
            <a:spLocks noGrp="1"/>
          </p:cNvSpPr>
          <p:nvPr/>
        </p:nvSpPr>
        <p:spPr>
          <a:xfrm>
            <a:off x="4124325" y="3514725"/>
            <a:ext cx="1800225" cy="561975"/>
          </a:xfrm>
          <a:prstGeom prst="rect">
            <a:avLst/>
          </a:prstGeom>
        </p:spPr>
        <p:txBody>
          <a:bodyPr/>
          <a:lstStyle/>
          <a:p>
            <a:pPr algn="l">
              <a:lnSpc>
                <a:spcPct val="108000"/>
              </a:lnSpc>
              <a:buNone/>
              <a:defRPr sz="750" b="0">
                <a:solidFill>
                  <a:srgbClr val="223941"/>
                </a:solidFill>
              </a:defRPr>
            </a:pPr>
            <a:r>
              <a:rPr sz="1000" b="0">
                <a:solidFill>
                  <a:srgbClr val="223941"/>
                </a:solidFill>
              </a:rPr>
              <a:t>M5 merged a header/date boundary; NNTP matches the date split.</a:t>
            </a:r>
          </a:p>
        </p:txBody>
      </p:sp>
      <p:sp>
        <p:nvSpPr>
          <p:cNvPr id="44" name="Rectangle 43">
            <a:extLst>
              <a:ext uri="{FF2B5EF4-FFF2-40B4-BE49-F238E27FC236}">
                <a16:creationId xmlns:a16="http://schemas.microsoft.com/office/drawing/2014/main" id="{856E0D97-8F74-488D-A4A8-6C4B6ACB266B}"/>
              </a:ext>
            </a:extLst>
          </p:cNvPr>
          <p:cNvSpPr>
            <a:spLocks noGrp="1"/>
          </p:cNvSpPr>
          <p:nvPr/>
        </p:nvSpPr>
        <p:spPr>
          <a:xfrm>
            <a:off x="6076950" y="3514725"/>
            <a:ext cx="3790950" cy="561975"/>
          </a:xfrm>
          <a:prstGeom prst="rect">
            <a:avLst/>
          </a:prstGeom>
        </p:spPr>
        <p:txBody>
          <a:bodyPr/>
          <a:lstStyle/>
          <a:p>
            <a:pPr algn="l">
              <a:lnSpc>
                <a:spcPct val="102000"/>
              </a:lnSpc>
              <a:buNone/>
              <a:defRPr sz="728" b="0">
                <a:solidFill>
                  <a:srgbClr val="223941"/>
                </a:solidFill>
              </a:defRPr>
            </a:pPr>
            <a:r>
              <a:rPr sz="1000" b="0">
                <a:solidFill>
                  <a:srgbClr val="223941"/>
                </a:solidFill>
              </a:rPr>
              <a:t>GT/NNTP: "...Instructions. October | 28th. To..."</a:t>
            </a:r>
          </a:p>
          <a:p>
            <a:pPr algn="l">
              <a:lnSpc>
                <a:spcPct val="102000"/>
              </a:lnSpc>
              <a:buNone/>
              <a:defRPr sz="728" b="0">
                <a:solidFill>
                  <a:srgbClr val="223941"/>
                </a:solidFill>
              </a:defRPr>
            </a:pPr>
            <a:r>
              <a:rPr sz="1000" b="0">
                <a:solidFill>
                  <a:srgbClr val="223941"/>
                </a:solidFill>
              </a:rPr>
              <a:t>M5: "...Instructions. October 28th. | To..."</a:t>
            </a:r>
          </a:p>
        </p:txBody>
      </p:sp>
      <p:sp>
        <p:nvSpPr>
          <p:cNvPr id="45" name="Rectangle 44">
            <a:extLst>
              <a:ext uri="{FF2B5EF4-FFF2-40B4-BE49-F238E27FC236}">
                <a16:creationId xmlns:a16="http://schemas.microsoft.com/office/drawing/2014/main" id="{B62C1E73-3CA5-41D7-9A8F-2D465F18F7BD}"/>
              </a:ext>
            </a:extLst>
          </p:cNvPr>
          <p:cNvSpPr>
            <a:spLocks noGrp="1"/>
          </p:cNvSpPr>
          <p:nvPr/>
        </p:nvSpPr>
        <p:spPr>
          <a:xfrm>
            <a:off x="10020300" y="3514725"/>
            <a:ext cx="1466850" cy="561975"/>
          </a:xfrm>
          <a:prstGeom prst="rect">
            <a:avLst/>
          </a:prstGeom>
        </p:spPr>
        <p:txBody>
          <a:bodyPr/>
          <a:lstStyle/>
          <a:p>
            <a:pPr algn="l">
              <a:lnSpc>
                <a:spcPct val="108000"/>
              </a:lnSpc>
              <a:buNone/>
              <a:defRPr sz="788" b="0">
                <a:solidFill>
                  <a:srgbClr val="223941"/>
                </a:solidFill>
              </a:defRPr>
            </a:pPr>
            <a:r>
              <a:rPr sz="1000" b="0">
                <a:solidFill>
                  <a:srgbClr val="223941"/>
                </a:solidFill>
              </a:rPr>
              <a:t>M5 trace JSON</a:t>
            </a:r>
          </a:p>
          <a:p>
            <a:pPr algn="l">
              <a:lnSpc>
                <a:spcPct val="108000"/>
              </a:lnSpc>
              <a:buNone/>
              <a:defRPr sz="788" b="0">
                <a:solidFill>
                  <a:srgbClr val="223941"/>
                </a:solidFill>
              </a:defRPr>
            </a:pPr>
            <a:r>
              <a:rPr sz="1000" b="0">
                <a:solidFill>
                  <a:srgbClr val="223941"/>
                </a:solidFill>
              </a:rPr>
              <a:t>NNTP pred TXT</a:t>
            </a:r>
          </a:p>
        </p:txBody>
      </p:sp>
      <p:sp>
        <p:nvSpPr>
          <p:cNvPr id="46" name="Rectangle 45">
            <a:extLst>
              <a:ext uri="{FF2B5EF4-FFF2-40B4-BE49-F238E27FC236}">
                <a16:creationId xmlns:a16="http://schemas.microsoft.com/office/drawing/2014/main" id="{76889F7D-CACA-4EBE-8036-62F1E760B2A6}"/>
              </a:ext>
            </a:extLst>
          </p:cNvPr>
          <p:cNvSpPr>
            <a:spLocks noGrp="1"/>
          </p:cNvSpPr>
          <p:nvPr/>
        </p:nvSpPr>
        <p:spPr>
          <a:xfrm>
            <a:off x="1533525" y="1152525"/>
            <a:ext cx="9525" cy="2962275"/>
          </a:xfrm>
          <a:prstGeom prst="rect">
            <a:avLst/>
          </a:prstGeom>
          <a:solidFill>
            <a:srgbClr val="D8D0C2"/>
          </a:solidFill>
          <a:ln w="0">
            <a:solidFill>
              <a:srgbClr val="D8D0C2"/>
            </a:solidFill>
            <a:prstDash val="solid"/>
          </a:ln>
        </p:spPr>
        <p:txBody>
          <a:bodyPr/>
          <a:lstStyle/>
          <a:p>
            <a:endParaRPr/>
          </a:p>
        </p:txBody>
      </p:sp>
      <p:sp>
        <p:nvSpPr>
          <p:cNvPr id="47" name="Rectangle 46">
            <a:extLst>
              <a:ext uri="{FF2B5EF4-FFF2-40B4-BE49-F238E27FC236}">
                <a16:creationId xmlns:a16="http://schemas.microsoft.com/office/drawing/2014/main" id="{13114609-3A16-4225-B264-EE92D5EA084D}"/>
              </a:ext>
            </a:extLst>
          </p:cNvPr>
          <p:cNvSpPr>
            <a:spLocks noGrp="1"/>
          </p:cNvSpPr>
          <p:nvPr/>
        </p:nvSpPr>
        <p:spPr>
          <a:xfrm>
            <a:off x="2562225" y="1152525"/>
            <a:ext cx="9525" cy="2962275"/>
          </a:xfrm>
          <a:prstGeom prst="rect">
            <a:avLst/>
          </a:prstGeom>
          <a:solidFill>
            <a:srgbClr val="D8D0C2"/>
          </a:solidFill>
          <a:ln w="0">
            <a:solidFill>
              <a:srgbClr val="D8D0C2"/>
            </a:solidFill>
            <a:prstDash val="solid"/>
          </a:ln>
        </p:spPr>
        <p:txBody>
          <a:bodyPr/>
          <a:lstStyle/>
          <a:p>
            <a:endParaRPr/>
          </a:p>
        </p:txBody>
      </p:sp>
      <p:sp>
        <p:nvSpPr>
          <p:cNvPr id="48" name="Rectangle 47">
            <a:extLst>
              <a:ext uri="{FF2B5EF4-FFF2-40B4-BE49-F238E27FC236}">
                <a16:creationId xmlns:a16="http://schemas.microsoft.com/office/drawing/2014/main" id="{6E8D6817-1B00-4AAB-A156-399C2A87BEFC}"/>
              </a:ext>
            </a:extLst>
          </p:cNvPr>
          <p:cNvSpPr>
            <a:spLocks noGrp="1"/>
          </p:cNvSpPr>
          <p:nvPr/>
        </p:nvSpPr>
        <p:spPr>
          <a:xfrm>
            <a:off x="3228975" y="1152525"/>
            <a:ext cx="9525" cy="2962275"/>
          </a:xfrm>
          <a:prstGeom prst="rect">
            <a:avLst/>
          </a:prstGeom>
          <a:solidFill>
            <a:srgbClr val="D8D0C2"/>
          </a:solidFill>
          <a:ln w="0">
            <a:solidFill>
              <a:srgbClr val="D8D0C2"/>
            </a:solidFill>
            <a:prstDash val="solid"/>
          </a:ln>
        </p:spPr>
        <p:txBody>
          <a:bodyPr/>
          <a:lstStyle/>
          <a:p>
            <a:endParaRPr/>
          </a:p>
        </p:txBody>
      </p:sp>
      <p:sp>
        <p:nvSpPr>
          <p:cNvPr id="49" name="Rectangle 48">
            <a:extLst>
              <a:ext uri="{FF2B5EF4-FFF2-40B4-BE49-F238E27FC236}">
                <a16:creationId xmlns:a16="http://schemas.microsoft.com/office/drawing/2014/main" id="{4075A1DD-FEB8-4017-A07A-30DB21383A95}"/>
              </a:ext>
            </a:extLst>
          </p:cNvPr>
          <p:cNvSpPr>
            <a:spLocks noGrp="1"/>
          </p:cNvSpPr>
          <p:nvPr/>
        </p:nvSpPr>
        <p:spPr>
          <a:xfrm>
            <a:off x="4048125" y="1152525"/>
            <a:ext cx="9525" cy="2962275"/>
          </a:xfrm>
          <a:prstGeom prst="rect">
            <a:avLst/>
          </a:prstGeom>
          <a:solidFill>
            <a:srgbClr val="D8D0C2"/>
          </a:solidFill>
          <a:ln w="0">
            <a:solidFill>
              <a:srgbClr val="D8D0C2"/>
            </a:solidFill>
            <a:prstDash val="solid"/>
          </a:ln>
        </p:spPr>
        <p:txBody>
          <a:bodyPr/>
          <a:lstStyle/>
          <a:p>
            <a:endParaRPr/>
          </a:p>
        </p:txBody>
      </p:sp>
      <p:sp>
        <p:nvSpPr>
          <p:cNvPr id="50" name="Rectangle 49">
            <a:extLst>
              <a:ext uri="{FF2B5EF4-FFF2-40B4-BE49-F238E27FC236}">
                <a16:creationId xmlns:a16="http://schemas.microsoft.com/office/drawing/2014/main" id="{2355C57E-DF75-455F-9348-2889949AB990}"/>
              </a:ext>
            </a:extLst>
          </p:cNvPr>
          <p:cNvSpPr>
            <a:spLocks noGrp="1"/>
          </p:cNvSpPr>
          <p:nvPr/>
        </p:nvSpPr>
        <p:spPr>
          <a:xfrm>
            <a:off x="6000750" y="1152525"/>
            <a:ext cx="9525" cy="2962275"/>
          </a:xfrm>
          <a:prstGeom prst="rect">
            <a:avLst/>
          </a:prstGeom>
          <a:solidFill>
            <a:srgbClr val="D8D0C2"/>
          </a:solidFill>
          <a:ln w="0">
            <a:solidFill>
              <a:srgbClr val="D8D0C2"/>
            </a:solidFill>
            <a:prstDash val="solid"/>
          </a:ln>
        </p:spPr>
        <p:txBody>
          <a:bodyPr/>
          <a:lstStyle/>
          <a:p>
            <a:endParaRPr/>
          </a:p>
        </p:txBody>
      </p:sp>
      <p:sp>
        <p:nvSpPr>
          <p:cNvPr id="51" name="Rectangle 50">
            <a:extLst>
              <a:ext uri="{FF2B5EF4-FFF2-40B4-BE49-F238E27FC236}">
                <a16:creationId xmlns:a16="http://schemas.microsoft.com/office/drawing/2014/main" id="{5E612ADA-1FAD-429D-99C7-194499D2E414}"/>
              </a:ext>
            </a:extLst>
          </p:cNvPr>
          <p:cNvSpPr>
            <a:spLocks noGrp="1"/>
          </p:cNvSpPr>
          <p:nvPr/>
        </p:nvSpPr>
        <p:spPr>
          <a:xfrm>
            <a:off x="9944100" y="1152525"/>
            <a:ext cx="9525" cy="2962275"/>
          </a:xfrm>
          <a:prstGeom prst="rect">
            <a:avLst/>
          </a:prstGeom>
          <a:solidFill>
            <a:srgbClr val="D8D0C2"/>
          </a:solidFill>
          <a:ln w="0">
            <a:solidFill>
              <a:srgbClr val="D8D0C2"/>
            </a:solidFill>
            <a:prstDash val="solid"/>
          </a:ln>
        </p:spPr>
        <p:txBody>
          <a:bodyPr/>
          <a:lstStyle/>
          <a:p>
            <a:endParaRPr/>
          </a:p>
        </p:txBody>
      </p:sp>
      <p:sp>
        <p:nvSpPr>
          <p:cNvPr id="52" name="Rectangle 51">
            <a:extLst>
              <a:ext uri="{FF2B5EF4-FFF2-40B4-BE49-F238E27FC236}">
                <a16:creationId xmlns:a16="http://schemas.microsoft.com/office/drawing/2014/main" id="{73B16506-0F7F-4683-BE3C-BBBEF26F82DB}"/>
              </a:ext>
            </a:extLst>
          </p:cNvPr>
          <p:cNvSpPr>
            <a:spLocks noGrp="1"/>
          </p:cNvSpPr>
          <p:nvPr/>
        </p:nvSpPr>
        <p:spPr>
          <a:xfrm>
            <a:off x="533400" y="2143125"/>
            <a:ext cx="11029950" cy="9525"/>
          </a:xfrm>
          <a:prstGeom prst="rect">
            <a:avLst/>
          </a:prstGeom>
          <a:solidFill>
            <a:srgbClr val="D8D0C2"/>
          </a:solidFill>
          <a:ln w="0">
            <a:solidFill>
              <a:srgbClr val="D8D0C2"/>
            </a:solidFill>
            <a:prstDash val="solid"/>
          </a:ln>
        </p:spPr>
        <p:txBody>
          <a:bodyPr/>
          <a:lstStyle/>
          <a:p>
            <a:endParaRPr/>
          </a:p>
        </p:txBody>
      </p:sp>
      <p:sp>
        <p:nvSpPr>
          <p:cNvPr id="53" name="Rectangle 52">
            <a:extLst>
              <a:ext uri="{FF2B5EF4-FFF2-40B4-BE49-F238E27FC236}">
                <a16:creationId xmlns:a16="http://schemas.microsoft.com/office/drawing/2014/main" id="{1E4008FE-A000-4E1C-8497-7453672051F2}"/>
              </a:ext>
            </a:extLst>
          </p:cNvPr>
          <p:cNvSpPr>
            <a:spLocks noGrp="1"/>
          </p:cNvSpPr>
          <p:nvPr/>
        </p:nvSpPr>
        <p:spPr>
          <a:xfrm>
            <a:off x="533400" y="2800350"/>
            <a:ext cx="11029950" cy="9525"/>
          </a:xfrm>
          <a:prstGeom prst="rect">
            <a:avLst/>
          </a:prstGeom>
          <a:solidFill>
            <a:srgbClr val="D8D0C2"/>
          </a:solidFill>
          <a:ln w="0">
            <a:solidFill>
              <a:srgbClr val="D8D0C2"/>
            </a:solidFill>
            <a:prstDash val="solid"/>
          </a:ln>
        </p:spPr>
        <p:txBody>
          <a:bodyPr/>
          <a:lstStyle/>
          <a:p>
            <a:endParaRPr/>
          </a:p>
        </p:txBody>
      </p:sp>
      <p:sp>
        <p:nvSpPr>
          <p:cNvPr id="54" name="Rectangle 53">
            <a:extLst>
              <a:ext uri="{FF2B5EF4-FFF2-40B4-BE49-F238E27FC236}">
                <a16:creationId xmlns:a16="http://schemas.microsoft.com/office/drawing/2014/main" id="{762D930B-4D1C-4A52-ABE9-5708AD81FF3F}"/>
              </a:ext>
            </a:extLst>
          </p:cNvPr>
          <p:cNvSpPr>
            <a:spLocks noGrp="1"/>
          </p:cNvSpPr>
          <p:nvPr/>
        </p:nvSpPr>
        <p:spPr>
          <a:xfrm>
            <a:off x="533400" y="3457575"/>
            <a:ext cx="11029950" cy="9525"/>
          </a:xfrm>
          <a:prstGeom prst="rect">
            <a:avLst/>
          </a:prstGeom>
          <a:solidFill>
            <a:srgbClr val="D8D0C2"/>
          </a:solidFill>
          <a:ln w="0">
            <a:solidFill>
              <a:srgbClr val="D8D0C2"/>
            </a:solidFill>
            <a:prstDash val="solid"/>
          </a:ln>
        </p:spPr>
        <p:txBody>
          <a:bodyPr/>
          <a:lstStyle/>
          <a:p>
            <a:endParaRPr/>
          </a:p>
        </p:txBody>
      </p:sp>
      <p:sp>
        <p:nvSpPr>
          <p:cNvPr id="55" name="Rectangle 54">
            <a:extLst>
              <a:ext uri="{FF2B5EF4-FFF2-40B4-BE49-F238E27FC236}">
                <a16:creationId xmlns:a16="http://schemas.microsoft.com/office/drawing/2014/main" id="{BFC2CA14-2BAD-46D2-A392-837EA2E52119}"/>
              </a:ext>
            </a:extLst>
          </p:cNvPr>
          <p:cNvSpPr>
            <a:spLocks noGrp="1"/>
          </p:cNvSpPr>
          <p:nvPr/>
        </p:nvSpPr>
        <p:spPr>
          <a:xfrm>
            <a:off x="533400" y="4114800"/>
            <a:ext cx="11029950" cy="9525"/>
          </a:xfrm>
          <a:prstGeom prst="rect">
            <a:avLst/>
          </a:prstGeom>
          <a:solidFill>
            <a:srgbClr val="D8D0C2"/>
          </a:solidFill>
          <a:ln w="0">
            <a:solidFill>
              <a:srgbClr val="D8D0C2"/>
            </a:solidFill>
            <a:prstDash val="solid"/>
          </a:ln>
        </p:spPr>
        <p:txBody>
          <a:bodyPr/>
          <a:lstStyle/>
          <a:p>
            <a:endParaRPr/>
          </a:p>
        </p:txBody>
      </p:sp>
      <p:sp>
        <p:nvSpPr>
          <p:cNvPr id="56" name="Rounded Rectangle 55">
            <a:extLst>
              <a:ext uri="{FF2B5EF4-FFF2-40B4-BE49-F238E27FC236}">
                <a16:creationId xmlns:a16="http://schemas.microsoft.com/office/drawing/2014/main" id="{E6EB8370-9CB3-4867-B174-DCF4772D97B1}"/>
              </a:ext>
            </a:extLst>
          </p:cNvPr>
          <p:cNvSpPr>
            <a:spLocks noGrp="1"/>
          </p:cNvSpPr>
          <p:nvPr/>
        </p:nvSpPr>
        <p:spPr>
          <a:xfrm>
            <a:off x="723900" y="4305300"/>
            <a:ext cx="5000625" cy="1352550"/>
          </a:xfrm>
          <a:prstGeom prst="roundRect">
            <a:avLst>
              <a:gd name="adj" fmla="val 1408"/>
            </a:avLst>
          </a:prstGeom>
          <a:solidFill>
            <a:srgbClr val="E6F3EF"/>
          </a:solidFill>
          <a:ln w="9525">
            <a:solidFill>
              <a:srgbClr val="2A9D8F"/>
            </a:solidFill>
            <a:prstDash val="solid"/>
          </a:ln>
        </p:spPr>
        <p:txBody>
          <a:bodyPr/>
          <a:lstStyle/>
          <a:p>
            <a:endParaRPr/>
          </a:p>
        </p:txBody>
      </p:sp>
      <p:sp>
        <p:nvSpPr>
          <p:cNvPr id="57" name="Rectangle 56">
            <a:extLst>
              <a:ext uri="{FF2B5EF4-FFF2-40B4-BE49-F238E27FC236}">
                <a16:creationId xmlns:a16="http://schemas.microsoft.com/office/drawing/2014/main" id="{964E8EBA-3CDB-4A9A-946F-E40CBBE6A151}"/>
              </a:ext>
            </a:extLst>
          </p:cNvPr>
          <p:cNvSpPr>
            <a:spLocks noGrp="1"/>
          </p:cNvSpPr>
          <p:nvPr/>
        </p:nvSpPr>
        <p:spPr>
          <a:xfrm>
            <a:off x="914400" y="4467225"/>
            <a:ext cx="4572000" cy="228600"/>
          </a:xfrm>
          <a:prstGeom prst="rect">
            <a:avLst/>
          </a:prstGeom>
        </p:spPr>
        <p:txBody>
          <a:bodyPr/>
          <a:lstStyle/>
          <a:p>
            <a:pPr>
              <a:lnSpc>
                <a:spcPct val="112000"/>
              </a:lnSpc>
              <a:buNone/>
              <a:defRPr sz="1125" b="1">
                <a:solidFill>
                  <a:srgbClr val="264653"/>
                </a:solidFill>
              </a:defRPr>
            </a:pPr>
            <a:r>
              <a:rPr sz="1125" b="1">
                <a:solidFill>
                  <a:srgbClr val="264653"/>
                </a:solidFill>
              </a:rPr>
              <a:t>Observed mechanism</a:t>
            </a:r>
          </a:p>
        </p:txBody>
      </p:sp>
      <p:sp>
        <p:nvSpPr>
          <p:cNvPr id="58" name="Rectangle 57">
            <a:extLst>
              <a:ext uri="{FF2B5EF4-FFF2-40B4-BE49-F238E27FC236}">
                <a16:creationId xmlns:a16="http://schemas.microsoft.com/office/drawing/2014/main" id="{7554488C-793C-45F7-B41B-0C5286881CF5}"/>
              </a:ext>
            </a:extLst>
          </p:cNvPr>
          <p:cNvSpPr>
            <a:spLocks noGrp="1"/>
          </p:cNvSpPr>
          <p:nvPr/>
        </p:nvSpPr>
        <p:spPr>
          <a:xfrm>
            <a:off x="914400" y="4772025"/>
            <a:ext cx="4572000" cy="685800"/>
          </a:xfrm>
          <a:prstGeom prst="rect">
            <a:avLst/>
          </a:prstGeom>
        </p:spPr>
        <p:txBody>
          <a:bodyPr/>
          <a:lstStyle/>
          <a:p>
            <a:pPr>
              <a:lnSpc>
                <a:spcPct val="115000"/>
              </a:lnSpc>
              <a:buNone/>
              <a:defRPr sz="938">
                <a:solidFill>
                  <a:srgbClr val="223941"/>
                </a:solidFill>
              </a:defRPr>
            </a:pPr>
            <a:r>
              <a:rPr sz="938">
                <a:solidFill>
                  <a:srgbClr val="223941"/>
                </a:solidFill>
              </a:rPr>
              <a:t>- Non-ties are local boundary placements.</a:t>
            </a:r>
          </a:p>
          <a:p>
            <a:pPr>
              <a:lnSpc>
                <a:spcPct val="115000"/>
              </a:lnSpc>
              <a:buNone/>
              <a:defRPr sz="938">
                <a:solidFill>
                  <a:srgbClr val="223941"/>
                </a:solidFill>
              </a:defRPr>
            </a:pPr>
            <a:r>
              <a:rPr sz="938">
                <a:solidFill>
                  <a:srgbClr val="223941"/>
                </a:solidFill>
              </a:rPr>
              <a:t>- Repeated sites: short fragments, header/date lines, hyphenated continuations, and mid-word splits.</a:t>
            </a:r>
          </a:p>
          <a:p>
            <a:pPr>
              <a:lnSpc>
                <a:spcPct val="115000"/>
              </a:lnSpc>
              <a:buNone/>
              <a:defRPr sz="938">
                <a:solidFill>
                  <a:srgbClr val="223941"/>
                </a:solidFill>
              </a:defRPr>
            </a:pPr>
            <a:r>
              <a:rPr sz="938">
                <a:solidFill>
                  <a:srgbClr val="223941"/>
                </a:solidFill>
              </a:rPr>
              <a:t>- Mixed cases are not shown here.</a:t>
            </a:r>
          </a:p>
        </p:txBody>
      </p:sp>
      <p:sp>
        <p:nvSpPr>
          <p:cNvPr id="59" name="Rounded Rectangle 58">
            <a:extLst>
              <a:ext uri="{FF2B5EF4-FFF2-40B4-BE49-F238E27FC236}">
                <a16:creationId xmlns:a16="http://schemas.microsoft.com/office/drawing/2014/main" id="{9705E86D-75A7-4FC5-8EFF-C67B8EA70D5F}"/>
              </a:ext>
            </a:extLst>
          </p:cNvPr>
          <p:cNvSpPr>
            <a:spLocks noGrp="1"/>
          </p:cNvSpPr>
          <p:nvPr/>
        </p:nvSpPr>
        <p:spPr>
          <a:xfrm>
            <a:off x="6457950" y="4305300"/>
            <a:ext cx="5000625" cy="1352550"/>
          </a:xfrm>
          <a:prstGeom prst="roundRect">
            <a:avLst>
              <a:gd name="adj" fmla="val 1408"/>
            </a:avLst>
          </a:prstGeom>
          <a:solidFill>
            <a:srgbClr val="D9EDF7"/>
          </a:solidFill>
          <a:ln w="9525">
            <a:solidFill>
              <a:srgbClr val="264653"/>
            </a:solidFill>
            <a:prstDash val="solid"/>
          </a:ln>
        </p:spPr>
        <p:txBody>
          <a:bodyPr/>
          <a:lstStyle/>
          <a:p>
            <a:endParaRPr/>
          </a:p>
        </p:txBody>
      </p:sp>
      <p:sp>
        <p:nvSpPr>
          <p:cNvPr id="60" name="Rectangle 59">
            <a:extLst>
              <a:ext uri="{FF2B5EF4-FFF2-40B4-BE49-F238E27FC236}">
                <a16:creationId xmlns:a16="http://schemas.microsoft.com/office/drawing/2014/main" id="{E352D812-C128-4903-A46E-9675637C3A69}"/>
              </a:ext>
            </a:extLst>
          </p:cNvPr>
          <p:cNvSpPr>
            <a:spLocks noGrp="1"/>
          </p:cNvSpPr>
          <p:nvPr/>
        </p:nvSpPr>
        <p:spPr>
          <a:xfrm>
            <a:off x="6648450" y="4467225"/>
            <a:ext cx="4572000" cy="228600"/>
          </a:xfrm>
          <a:prstGeom prst="rect">
            <a:avLst/>
          </a:prstGeom>
        </p:spPr>
        <p:txBody>
          <a:bodyPr/>
          <a:lstStyle/>
          <a:p>
            <a:pPr>
              <a:lnSpc>
                <a:spcPct val="112000"/>
              </a:lnSpc>
              <a:buNone/>
              <a:defRPr sz="1125" b="1">
                <a:solidFill>
                  <a:srgbClr val="264653"/>
                </a:solidFill>
              </a:defRPr>
            </a:pPr>
            <a:r>
              <a:rPr sz="1125" b="1">
                <a:solidFill>
                  <a:srgbClr val="264653"/>
                </a:solidFill>
              </a:rPr>
              <a:t>Possible explanation supported by artifacts</a:t>
            </a:r>
          </a:p>
        </p:txBody>
      </p:sp>
      <p:sp>
        <p:nvSpPr>
          <p:cNvPr id="61" name="Rectangle 60">
            <a:extLst>
              <a:ext uri="{FF2B5EF4-FFF2-40B4-BE49-F238E27FC236}">
                <a16:creationId xmlns:a16="http://schemas.microsoft.com/office/drawing/2014/main" id="{55F6E2EF-75C5-41FB-9858-613E47247463}"/>
              </a:ext>
            </a:extLst>
          </p:cNvPr>
          <p:cNvSpPr>
            <a:spLocks noGrp="1"/>
          </p:cNvSpPr>
          <p:nvPr/>
        </p:nvSpPr>
        <p:spPr>
          <a:xfrm>
            <a:off x="6648450" y="4772025"/>
            <a:ext cx="4572000" cy="685800"/>
          </a:xfrm>
          <a:prstGeom prst="rect">
            <a:avLst/>
          </a:prstGeom>
        </p:spPr>
        <p:txBody>
          <a:bodyPr/>
          <a:lstStyle/>
          <a:p>
            <a:pPr>
              <a:lnSpc>
                <a:spcPct val="115000"/>
              </a:lnSpc>
              <a:buNone/>
              <a:defRPr sz="938">
                <a:solidFill>
                  <a:srgbClr val="223941"/>
                </a:solidFill>
              </a:defRPr>
            </a:pPr>
            <a:r>
              <a:rPr sz="938">
                <a:solidFill>
                  <a:srgbClr val="223941"/>
                </a:solidFill>
              </a:rPr>
              <a:t>- M5 records line crops, page context, OCR/HTR hints, expected line count, and projection/fallback paths.</a:t>
            </a:r>
          </a:p>
          <a:p>
            <a:pPr>
              <a:lnSpc>
                <a:spcPct val="115000"/>
              </a:lnSpc>
              <a:buNone/>
              <a:defRPr sz="938">
                <a:solidFill>
                  <a:srgbClr val="223941"/>
                </a:solidFill>
              </a:defRPr>
            </a:pPr>
            <a:r>
              <a:rPr sz="938">
                <a:solidFill>
                  <a:srgbClr val="223941"/>
                </a:solidFill>
              </a:rPr>
              <a:t>- NNTP records recognizer-derived forced-alignment output.</a:t>
            </a:r>
          </a:p>
          <a:p>
            <a:pPr>
              <a:lnSpc>
                <a:spcPct val="115000"/>
              </a:lnSpc>
              <a:buNone/>
              <a:defRPr sz="938">
                <a:solidFill>
                  <a:srgbClr val="223941"/>
                </a:solidFill>
              </a:defRPr>
            </a:pPr>
            <a:r>
              <a:rPr sz="938">
                <a:solidFill>
                  <a:srgbClr val="223941"/>
                </a:solidFill>
              </a:rPr>
              <a:t>- No ablation proves a stronger causal story.</a:t>
            </a:r>
          </a:p>
        </p:txBody>
      </p:sp>
      <p:sp>
        <p:nvSpPr>
          <p:cNvPr id="62" name="Rectangle 61">
            <a:extLst>
              <a:ext uri="{FF2B5EF4-FFF2-40B4-BE49-F238E27FC236}">
                <a16:creationId xmlns:a16="http://schemas.microsoft.com/office/drawing/2014/main" id="{404A519F-72D4-4D58-88AC-F7ECE7A80F2E}"/>
              </a:ext>
            </a:extLst>
          </p:cNvPr>
          <p:cNvSpPr>
            <a:spLocks noGrp="1"/>
          </p:cNvSpPr>
          <p:nvPr/>
        </p:nvSpPr>
        <p:spPr>
          <a:xfrm>
            <a:off x="342900" y="6572250"/>
            <a:ext cx="2381250" cy="133350"/>
          </a:xfrm>
          <a:prstGeom prst="rect">
            <a:avLst/>
          </a:prstGeom>
        </p:spPr>
        <p:txBody>
          <a:bodyPr/>
          <a:lstStyle/>
          <a:p>
            <a:pPr>
              <a:lnSpc>
                <a:spcPct val="112000"/>
              </a:lnSpc>
              <a:buNone/>
              <a:defRPr sz="488">
                <a:solidFill>
                  <a:srgbClr val="596B6F"/>
                </a:solidFill>
              </a:defRPr>
            </a:pPr>
            <a:r>
              <a:rPr sz="488">
                <a:solidFill>
                  <a:srgbClr val="596B6F"/>
                </a:solidFill>
              </a:rPr>
              <a:t>Dennis Berger | University of Fribourg</a:t>
            </a:r>
          </a:p>
        </p:txBody>
      </p:sp>
      <p:sp>
        <p:nvSpPr>
          <p:cNvPr id="63" name="Rectangle 62">
            <a:extLst>
              <a:ext uri="{FF2B5EF4-FFF2-40B4-BE49-F238E27FC236}">
                <a16:creationId xmlns:a16="http://schemas.microsoft.com/office/drawing/2014/main" id="{6F9E4F9A-2588-4429-8511-3D013CD6A20D}"/>
              </a:ext>
            </a:extLst>
          </p:cNvPr>
          <p:cNvSpPr>
            <a:spLocks noGrp="1"/>
          </p:cNvSpPr>
          <p:nvPr/>
        </p:nvSpPr>
        <p:spPr>
          <a:xfrm>
            <a:off x="11334750" y="6572250"/>
            <a:ext cx="514350" cy="133350"/>
          </a:xfrm>
          <a:prstGeom prst="rect">
            <a:avLst/>
          </a:prstGeom>
        </p:spPr>
        <p:txBody>
          <a:bodyPr/>
          <a:lstStyle/>
          <a:p>
            <a:pPr algn="r">
              <a:lnSpc>
                <a:spcPct val="112000"/>
              </a:lnSpc>
              <a:buNone/>
              <a:defRPr sz="488">
                <a:solidFill>
                  <a:srgbClr val="596B6F"/>
                </a:solidFill>
              </a:defRPr>
            </a:pPr>
            <a:r>
              <a:rPr sz="488" dirty="0">
                <a:solidFill>
                  <a:srgbClr val="596B6F"/>
                </a:solidFill>
              </a:rPr>
              <a:t>34 </a:t>
            </a:r>
            <a:r>
              <a:rPr lang="en-CH" sz="488" dirty="0">
                <a:solidFill>
                  <a:srgbClr val="596B6F"/>
                </a:solidFill>
              </a:rPr>
              <a:t>/ 14</a:t>
            </a:r>
            <a:endParaRPr sz="488" dirty="0">
              <a:solidFill>
                <a:srgbClr val="596B6F"/>
              </a:solidFill>
            </a:endParaRPr>
          </a:p>
        </p:txBody>
      </p:sp>
    </p:spTree>
    <p:extLst>
      <p:ext uri="{BB962C8B-B14F-4D97-AF65-F5344CB8AC3E}">
        <p14:creationId xmlns:p14="http://schemas.microsoft.com/office/powerpoint/2010/main" val="2880164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31" name="appendix-title-band">
            <a:extLst>
              <a:ext uri="{FF2B5EF4-FFF2-40B4-BE49-F238E27FC236}">
                <a16:creationId xmlns:a16="http://schemas.microsoft.com/office/drawing/2014/main" id="{1DC96AD3-BD07-4B5E-9B9E-0DA66B3A8A7A}"/>
              </a:ext>
            </a:extLst>
          </p:cNvPr>
          <p:cNvSpPr>
            <a:spLocks noGrp="1"/>
          </p:cNvSpPr>
          <p:nvPr/>
        </p:nvSpPr>
        <p:spPr>
          <a:xfrm>
            <a:off x="0" y="0"/>
            <a:ext cx="12192000" cy="552450"/>
          </a:xfrm>
          <a:prstGeom prst="rect">
            <a:avLst/>
          </a:prstGeom>
          <a:solidFill>
            <a:srgbClr val="224A55"/>
          </a:solidFill>
          <a:ln w="0">
            <a:solidFill>
              <a:srgbClr val="224A55"/>
            </a:solidFill>
            <a:prstDash val="solid"/>
          </a:ln>
        </p:spPr>
        <p:txBody>
          <a:bodyPr/>
          <a:lstStyle/>
          <a:p>
            <a:endParaRPr lang="en-CH"/>
          </a:p>
        </p:txBody>
      </p:sp>
      <p:sp>
        <p:nvSpPr>
          <p:cNvPr id="2" name="appendix-accent">
            <a:extLst>
              <a:ext uri="{FF2B5EF4-FFF2-40B4-BE49-F238E27FC236}">
                <a16:creationId xmlns:a16="http://schemas.microsoft.com/office/drawing/2014/main" id="{C9400C64-1F79-4B9D-AA77-422F62548A00}"/>
              </a:ext>
            </a:extLst>
          </p:cNvPr>
          <p:cNvSpPr>
            <a:spLocks noGrp="1"/>
          </p:cNvSpPr>
          <p:nvPr/>
        </p:nvSpPr>
        <p:spPr>
          <a:xfrm>
            <a:off x="0" y="161925"/>
            <a:ext cx="361950" cy="228600"/>
          </a:xfrm>
          <a:prstGeom prst="rect">
            <a:avLst/>
          </a:prstGeom>
          <a:solidFill>
            <a:srgbClr val="169C8E"/>
          </a:solidFill>
          <a:ln w="0">
            <a:solidFill>
              <a:srgbClr val="169C8E"/>
            </a:solidFill>
            <a:prstDash val="solid"/>
          </a:ln>
        </p:spPr>
        <p:txBody>
          <a:bodyPr/>
          <a:lstStyle/>
          <a:p>
            <a:endParaRPr lang="en-CH"/>
          </a:p>
        </p:txBody>
      </p:sp>
      <p:sp>
        <p:nvSpPr>
          <p:cNvPr id="3" name="appendix-label">
            <a:extLst>
              <a:ext uri="{FF2B5EF4-FFF2-40B4-BE49-F238E27FC236}">
                <a16:creationId xmlns:a16="http://schemas.microsoft.com/office/drawing/2014/main" id="{1BB73205-CC1E-4553-9F9B-DBD1CBC38BD2}"/>
              </a:ext>
            </a:extLst>
          </p:cNvPr>
          <p:cNvSpPr>
            <a:spLocks noGrp="1"/>
          </p:cNvSpPr>
          <p:nvPr/>
        </p:nvSpPr>
        <p:spPr>
          <a:xfrm>
            <a:off x="552450" y="200025"/>
            <a:ext cx="1428750" cy="171450"/>
          </a:xfrm>
          <a:prstGeom prst="rect">
            <a:avLst/>
          </a:prstGeom>
          <a:noFill/>
          <a:ln w="0">
            <a:noFill/>
            <a:prstDash val="solid"/>
          </a:ln>
        </p:spPr>
        <p:txBody>
          <a:bodyPr/>
          <a:lstStyle/>
          <a:p>
            <a:pPr>
              <a:defRPr sz="900" b="1">
                <a:solidFill>
                  <a:srgbClr val="FFFFFF"/>
                </a:solidFill>
                <a:latin typeface="Aptos"/>
                <a:ea typeface="Aptos"/>
                <a:cs typeface="Aptos"/>
              </a:defRPr>
            </a:pPr>
            <a:r>
              <a:rPr sz="900" b="1">
                <a:solidFill>
                  <a:srgbClr val="FFFFFF"/>
                </a:solidFill>
                <a:latin typeface="Aptos"/>
                <a:ea typeface="Aptos"/>
                <a:cs typeface="Aptos"/>
              </a:rPr>
              <a:t>Appendix A21</a:t>
            </a:r>
          </a:p>
        </p:txBody>
      </p:sp>
      <p:sp>
        <p:nvSpPr>
          <p:cNvPr id="4" name="appendix-title">
            <a:extLst>
              <a:ext uri="{FF2B5EF4-FFF2-40B4-BE49-F238E27FC236}">
                <a16:creationId xmlns:a16="http://schemas.microsoft.com/office/drawing/2014/main" id="{642600B1-BDC9-487D-BEF2-7FE27EDA4940}"/>
              </a:ext>
            </a:extLst>
          </p:cNvPr>
          <p:cNvSpPr>
            <a:spLocks noGrp="1"/>
          </p:cNvSpPr>
          <p:nvPr/>
        </p:nvSpPr>
        <p:spPr>
          <a:xfrm>
            <a:off x="0" y="190500"/>
            <a:ext cx="12192000" cy="304800"/>
          </a:xfrm>
          <a:prstGeom prst="rect">
            <a:avLst/>
          </a:prstGeom>
          <a:noFill/>
          <a:ln w="0">
            <a:noFill/>
            <a:prstDash val="solid"/>
          </a:ln>
        </p:spPr>
        <p:txBody>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How Fallback And Recovery Work</a:t>
            </a:r>
          </a:p>
        </p:txBody>
      </p:sp>
      <p:sp>
        <p:nvSpPr>
          <p:cNvPr id="5" name="subtitle">
            <a:extLst>
              <a:ext uri="{FF2B5EF4-FFF2-40B4-BE49-F238E27FC236}">
                <a16:creationId xmlns:a16="http://schemas.microsoft.com/office/drawing/2014/main" id="{07589011-6933-4B30-BA63-AFD5B8C46B46}"/>
              </a:ext>
            </a:extLst>
          </p:cNvPr>
          <p:cNvSpPr>
            <a:spLocks noGrp="1"/>
          </p:cNvSpPr>
          <p:nvPr/>
        </p:nvSpPr>
        <p:spPr>
          <a:xfrm>
            <a:off x="666750" y="781050"/>
            <a:ext cx="7239000" cy="247650"/>
          </a:xfrm>
          <a:prstGeom prst="rect">
            <a:avLst/>
          </a:prstGeom>
          <a:noFill/>
          <a:ln w="0">
            <a:noFill/>
            <a:prstDash val="solid"/>
          </a:ln>
        </p:spPr>
        <p:txBody>
          <a:bodyPr/>
          <a:lstStyle/>
          <a:p>
            <a:pPr>
              <a:defRPr sz="1200">
                <a:solidFill>
                  <a:srgbClr val="173A43"/>
                </a:solidFill>
                <a:latin typeface="Aptos"/>
                <a:ea typeface="Aptos"/>
                <a:cs typeface="Aptos"/>
              </a:defRPr>
            </a:pPr>
            <a:r>
              <a:rPr sz="1200">
                <a:solidFill>
                  <a:srgbClr val="173A43"/>
                </a:solidFill>
                <a:latin typeface="Aptos"/>
                <a:ea typeface="Aptos"/>
                <a:cs typeface="Aptos"/>
              </a:rPr>
              <a:t>Safety path when strict M5 JSON or expected line count validation fails.</a:t>
            </a:r>
          </a:p>
        </p:txBody>
      </p:sp>
      <p:sp>
        <p:nvSpPr>
          <p:cNvPr id="6" name="key-message">
            <a:extLst>
              <a:ext uri="{FF2B5EF4-FFF2-40B4-BE49-F238E27FC236}">
                <a16:creationId xmlns:a16="http://schemas.microsoft.com/office/drawing/2014/main" id="{B940E1A1-EAA9-48AD-9122-3FF98912D9CD}"/>
              </a:ext>
            </a:extLst>
          </p:cNvPr>
          <p:cNvSpPr>
            <a:spLocks noGrp="1"/>
          </p:cNvSpPr>
          <p:nvPr/>
        </p:nvSpPr>
        <p:spPr>
          <a:xfrm>
            <a:off x="7924800" y="714375"/>
            <a:ext cx="3562350" cy="419100"/>
          </a:xfrm>
          <a:prstGeom prst="roundRect">
            <a:avLst>
              <a:gd name="adj" fmla="val 18182"/>
            </a:avLst>
          </a:prstGeom>
          <a:solidFill>
            <a:srgbClr val="DDF2EF"/>
          </a:solidFill>
          <a:ln w="9525">
            <a:solidFill>
              <a:srgbClr val="169C8E"/>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Boundary hints only: final characters come from fixed transcription.</a:t>
            </a:r>
          </a:p>
        </p:txBody>
      </p:sp>
      <p:sp>
        <p:nvSpPr>
          <p:cNvPr id="7" name="flow-1">
            <a:extLst>
              <a:ext uri="{FF2B5EF4-FFF2-40B4-BE49-F238E27FC236}">
                <a16:creationId xmlns:a16="http://schemas.microsoft.com/office/drawing/2014/main" id="{D743E17A-C9D0-4F7D-9A94-CCE7B5FE2441}"/>
              </a:ext>
            </a:extLst>
          </p:cNvPr>
          <p:cNvSpPr>
            <a:spLocks noGrp="1"/>
          </p:cNvSpPr>
          <p:nvPr/>
        </p:nvSpPr>
        <p:spPr>
          <a:xfrm>
            <a:off x="514350" y="1352550"/>
            <a:ext cx="1524000" cy="762000"/>
          </a:xfrm>
          <a:prstGeom prst="roundRect">
            <a:avLst>
              <a:gd name="adj" fmla="val 10000"/>
            </a:avLst>
          </a:prstGeom>
          <a:solidFill>
            <a:srgbClr val="FFFDF8"/>
          </a:solidFill>
          <a:ln w="9525">
            <a:solidFill>
              <a:srgbClr val="D8CDC0"/>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Initial</a:t>
            </a:r>
          </a:p>
          <a:p>
            <a:pPr algn="ctr">
              <a:defRPr sz="1050" b="1">
                <a:solidFill>
                  <a:srgbClr val="173A43"/>
                </a:solidFill>
                <a:latin typeface="Aptos"/>
                <a:ea typeface="Aptos"/>
                <a:cs typeface="Aptos"/>
              </a:defRPr>
            </a:pPr>
            <a:r>
              <a:rPr sz="1050" b="1">
                <a:solidFill>
                  <a:srgbClr val="173A43"/>
                </a:solidFill>
                <a:latin typeface="Aptos"/>
                <a:ea typeface="Aptos"/>
                <a:cs typeface="Aptos"/>
              </a:rPr>
              <a:t>JSON invalid</a:t>
            </a:r>
          </a:p>
          <a:p>
            <a:pPr algn="ctr">
              <a:defRPr sz="1050" b="1">
                <a:solidFill>
                  <a:srgbClr val="173A43"/>
                </a:solidFill>
                <a:latin typeface="Aptos"/>
                <a:ea typeface="Aptos"/>
                <a:cs typeface="Aptos"/>
              </a:defRPr>
            </a:pPr>
            <a:r>
              <a:rPr sz="1050" b="1">
                <a:solidFill>
                  <a:srgbClr val="173A43"/>
                </a:solidFill>
                <a:latin typeface="Aptos"/>
                <a:ea typeface="Aptos"/>
                <a:cs typeface="Aptos"/>
              </a:rPr>
              <a:t>or wrong count</a:t>
            </a:r>
          </a:p>
        </p:txBody>
      </p:sp>
      <p:sp>
        <p:nvSpPr>
          <p:cNvPr id="8" name="flow-arrow-1">
            <a:extLst>
              <a:ext uri="{FF2B5EF4-FFF2-40B4-BE49-F238E27FC236}">
                <a16:creationId xmlns:a16="http://schemas.microsoft.com/office/drawing/2014/main" id="{9CF782C2-D402-4B54-AEEB-66689F386B9F}"/>
              </a:ext>
            </a:extLst>
          </p:cNvPr>
          <p:cNvSpPr>
            <a:spLocks noGrp="1"/>
          </p:cNvSpPr>
          <p:nvPr/>
        </p:nvSpPr>
        <p:spPr>
          <a:xfrm>
            <a:off x="2076450" y="1609725"/>
            <a:ext cx="228600" cy="228600"/>
          </a:xfrm>
          <a:prstGeom prst="rect">
            <a:avLst/>
          </a:prstGeom>
          <a:noFill/>
          <a:ln w="0">
            <a:noFill/>
            <a:prstDash val="solid"/>
          </a:ln>
        </p:spPr>
        <p:txBody>
          <a:bodyPr/>
          <a:lstStyle/>
          <a:p>
            <a:pPr algn="ctr">
              <a:defRPr sz="1650" b="1">
                <a:solidFill>
                  <a:srgbClr val="169C8E"/>
                </a:solidFill>
                <a:latin typeface="Aptos"/>
                <a:ea typeface="Aptos"/>
                <a:cs typeface="Aptos"/>
              </a:defRPr>
            </a:pPr>
            <a:r>
              <a:rPr sz="1650" b="1">
                <a:solidFill>
                  <a:srgbClr val="169C8E"/>
                </a:solidFill>
                <a:latin typeface="Aptos"/>
                <a:ea typeface="Aptos"/>
                <a:cs typeface="Aptos"/>
              </a:rPr>
              <a:t>&gt;</a:t>
            </a:r>
          </a:p>
        </p:txBody>
      </p:sp>
      <p:sp>
        <p:nvSpPr>
          <p:cNvPr id="9" name="flow-2">
            <a:extLst>
              <a:ext uri="{FF2B5EF4-FFF2-40B4-BE49-F238E27FC236}">
                <a16:creationId xmlns:a16="http://schemas.microsoft.com/office/drawing/2014/main" id="{72C91F67-23F7-48B1-ACDE-8A83EA27C193}"/>
              </a:ext>
            </a:extLst>
          </p:cNvPr>
          <p:cNvSpPr>
            <a:spLocks noGrp="1"/>
          </p:cNvSpPr>
          <p:nvPr/>
        </p:nvSpPr>
        <p:spPr>
          <a:xfrm>
            <a:off x="2343150" y="1352550"/>
            <a:ext cx="1524000" cy="762000"/>
          </a:xfrm>
          <a:prstGeom prst="roundRect">
            <a:avLst>
              <a:gd name="adj" fmla="val 10000"/>
            </a:avLst>
          </a:prstGeom>
          <a:solidFill>
            <a:srgbClr val="FFFDF8"/>
          </a:solidFill>
          <a:ln w="9525">
            <a:solidFill>
              <a:srgbClr val="D8CDC0"/>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Repair</a:t>
            </a:r>
          </a:p>
          <a:p>
            <a:pPr algn="ctr">
              <a:defRPr sz="1050" b="1">
                <a:solidFill>
                  <a:srgbClr val="173A43"/>
                </a:solidFill>
                <a:latin typeface="Aptos"/>
                <a:ea typeface="Aptos"/>
                <a:cs typeface="Aptos"/>
              </a:defRPr>
            </a:pPr>
            <a:r>
              <a:rPr sz="1050" b="1">
                <a:solidFill>
                  <a:srgbClr val="173A43"/>
                </a:solidFill>
                <a:latin typeface="Aptos"/>
                <a:ea typeface="Aptos"/>
                <a:cs typeface="Aptos"/>
              </a:rPr>
              <a:t>Ask model once</a:t>
            </a:r>
          </a:p>
          <a:p>
            <a:pPr algn="ctr">
              <a:defRPr sz="1050" b="1">
                <a:solidFill>
                  <a:srgbClr val="173A43"/>
                </a:solidFill>
                <a:latin typeface="Aptos"/>
                <a:ea typeface="Aptos"/>
                <a:cs typeface="Aptos"/>
              </a:defRPr>
            </a:pPr>
            <a:r>
              <a:rPr sz="1050" b="1">
                <a:solidFill>
                  <a:srgbClr val="173A43"/>
                </a:solidFill>
                <a:latin typeface="Aptos"/>
                <a:ea typeface="Aptos"/>
                <a:cs typeface="Aptos"/>
              </a:rPr>
              <a:t>to fix response</a:t>
            </a:r>
          </a:p>
        </p:txBody>
      </p:sp>
      <p:sp>
        <p:nvSpPr>
          <p:cNvPr id="10" name="flow-arrow-2">
            <a:extLst>
              <a:ext uri="{FF2B5EF4-FFF2-40B4-BE49-F238E27FC236}">
                <a16:creationId xmlns:a16="http://schemas.microsoft.com/office/drawing/2014/main" id="{D2C2B933-9C9F-4C30-9011-FBB31FBD6DD5}"/>
              </a:ext>
            </a:extLst>
          </p:cNvPr>
          <p:cNvSpPr>
            <a:spLocks noGrp="1"/>
          </p:cNvSpPr>
          <p:nvPr/>
        </p:nvSpPr>
        <p:spPr>
          <a:xfrm>
            <a:off x="3905250" y="1609725"/>
            <a:ext cx="228600" cy="228600"/>
          </a:xfrm>
          <a:prstGeom prst="rect">
            <a:avLst/>
          </a:prstGeom>
          <a:noFill/>
          <a:ln w="0">
            <a:noFill/>
            <a:prstDash val="solid"/>
          </a:ln>
        </p:spPr>
        <p:txBody>
          <a:bodyPr/>
          <a:lstStyle/>
          <a:p>
            <a:pPr algn="ctr">
              <a:defRPr sz="1650" b="1">
                <a:solidFill>
                  <a:srgbClr val="169C8E"/>
                </a:solidFill>
                <a:latin typeface="Aptos"/>
                <a:ea typeface="Aptos"/>
                <a:cs typeface="Aptos"/>
              </a:defRPr>
            </a:pPr>
            <a:r>
              <a:rPr sz="1650" b="1">
                <a:solidFill>
                  <a:srgbClr val="169C8E"/>
                </a:solidFill>
                <a:latin typeface="Aptos"/>
                <a:ea typeface="Aptos"/>
                <a:cs typeface="Aptos"/>
              </a:rPr>
              <a:t>&gt;</a:t>
            </a:r>
          </a:p>
        </p:txBody>
      </p:sp>
      <p:sp>
        <p:nvSpPr>
          <p:cNvPr id="11" name="flow-3">
            <a:extLst>
              <a:ext uri="{FF2B5EF4-FFF2-40B4-BE49-F238E27FC236}">
                <a16:creationId xmlns:a16="http://schemas.microsoft.com/office/drawing/2014/main" id="{F7A24BFC-8F1A-4E59-BD39-6F17B5EDEF02}"/>
              </a:ext>
            </a:extLst>
          </p:cNvPr>
          <p:cNvSpPr>
            <a:spLocks noGrp="1"/>
          </p:cNvSpPr>
          <p:nvPr/>
        </p:nvSpPr>
        <p:spPr>
          <a:xfrm>
            <a:off x="4171950" y="1352550"/>
            <a:ext cx="1524000" cy="762000"/>
          </a:xfrm>
          <a:prstGeom prst="roundRect">
            <a:avLst>
              <a:gd name="adj" fmla="val 10000"/>
            </a:avLst>
          </a:prstGeom>
          <a:solidFill>
            <a:srgbClr val="DDF2EF"/>
          </a:solidFill>
          <a:ln w="9525">
            <a:solidFill>
              <a:srgbClr val="169C8E"/>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Recovery</a:t>
            </a:r>
          </a:p>
          <a:p>
            <a:pPr algn="ctr">
              <a:defRPr sz="1050" b="1">
                <a:solidFill>
                  <a:srgbClr val="173A43"/>
                </a:solidFill>
                <a:latin typeface="Aptos"/>
                <a:ea typeface="Aptos"/>
                <a:cs typeface="Aptos"/>
              </a:defRPr>
            </a:pPr>
            <a:r>
              <a:rPr sz="1050" b="1">
                <a:solidFill>
                  <a:srgbClr val="173A43"/>
                </a:solidFill>
                <a:latin typeface="Aptos"/>
                <a:ea typeface="Aptos"/>
                <a:cs typeface="Aptos"/>
              </a:rPr>
              <a:t>Salvage loose</a:t>
            </a:r>
          </a:p>
          <a:p>
            <a:pPr algn="ctr">
              <a:defRPr sz="1050" b="1">
                <a:solidFill>
                  <a:srgbClr val="173A43"/>
                </a:solidFill>
                <a:latin typeface="Aptos"/>
                <a:ea typeface="Aptos"/>
                <a:cs typeface="Aptos"/>
              </a:defRPr>
            </a:pPr>
            <a:r>
              <a:rPr sz="1050" b="1">
                <a:solidFill>
                  <a:srgbClr val="173A43"/>
                </a:solidFill>
                <a:latin typeface="Aptos"/>
                <a:ea typeface="Aptos"/>
                <a:cs typeface="Aptos"/>
              </a:rPr>
              <a:t>model line plan</a:t>
            </a:r>
          </a:p>
        </p:txBody>
      </p:sp>
      <p:sp>
        <p:nvSpPr>
          <p:cNvPr id="12" name="flow-arrow-3">
            <a:extLst>
              <a:ext uri="{FF2B5EF4-FFF2-40B4-BE49-F238E27FC236}">
                <a16:creationId xmlns:a16="http://schemas.microsoft.com/office/drawing/2014/main" id="{7E2CCC3F-DFA2-4056-99EB-571AD2AFF610}"/>
              </a:ext>
            </a:extLst>
          </p:cNvPr>
          <p:cNvSpPr>
            <a:spLocks noGrp="1"/>
          </p:cNvSpPr>
          <p:nvPr/>
        </p:nvSpPr>
        <p:spPr>
          <a:xfrm>
            <a:off x="5734050" y="1609725"/>
            <a:ext cx="228600" cy="228600"/>
          </a:xfrm>
          <a:prstGeom prst="rect">
            <a:avLst/>
          </a:prstGeom>
          <a:noFill/>
          <a:ln w="0">
            <a:noFill/>
            <a:prstDash val="solid"/>
          </a:ln>
        </p:spPr>
        <p:txBody>
          <a:bodyPr/>
          <a:lstStyle/>
          <a:p>
            <a:pPr algn="ctr">
              <a:defRPr sz="1650" b="1">
                <a:solidFill>
                  <a:srgbClr val="169C8E"/>
                </a:solidFill>
                <a:latin typeface="Aptos"/>
                <a:ea typeface="Aptos"/>
                <a:cs typeface="Aptos"/>
              </a:defRPr>
            </a:pPr>
            <a:r>
              <a:rPr sz="1650" b="1">
                <a:solidFill>
                  <a:srgbClr val="169C8E"/>
                </a:solidFill>
                <a:latin typeface="Aptos"/>
                <a:ea typeface="Aptos"/>
                <a:cs typeface="Aptos"/>
              </a:rPr>
              <a:t>&gt;</a:t>
            </a:r>
          </a:p>
        </p:txBody>
      </p:sp>
      <p:sp>
        <p:nvSpPr>
          <p:cNvPr id="13" name="flow-4">
            <a:extLst>
              <a:ext uri="{FF2B5EF4-FFF2-40B4-BE49-F238E27FC236}">
                <a16:creationId xmlns:a16="http://schemas.microsoft.com/office/drawing/2014/main" id="{14126311-60B4-4180-A08F-70C8445D58BE}"/>
              </a:ext>
            </a:extLst>
          </p:cNvPr>
          <p:cNvSpPr>
            <a:spLocks noGrp="1"/>
          </p:cNvSpPr>
          <p:nvPr/>
        </p:nvSpPr>
        <p:spPr>
          <a:xfrm>
            <a:off x="6000750" y="1352550"/>
            <a:ext cx="1524000" cy="762000"/>
          </a:xfrm>
          <a:prstGeom prst="roundRect">
            <a:avLst>
              <a:gd name="adj" fmla="val 10000"/>
            </a:avLst>
          </a:prstGeom>
          <a:solidFill>
            <a:srgbClr val="FBE4DC"/>
          </a:solidFill>
          <a:ln w="9525">
            <a:solidFill>
              <a:srgbClr val="F06445"/>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Fallback</a:t>
            </a:r>
          </a:p>
          <a:p>
            <a:pPr algn="ctr">
              <a:defRPr sz="1050" b="1">
                <a:solidFill>
                  <a:srgbClr val="173A43"/>
                </a:solidFill>
                <a:latin typeface="Aptos"/>
                <a:ea typeface="Aptos"/>
                <a:cs typeface="Aptos"/>
              </a:defRPr>
            </a:pPr>
            <a:r>
              <a:rPr sz="1050" b="1">
                <a:solidFill>
                  <a:srgbClr val="173A43"/>
                </a:solidFill>
                <a:latin typeface="Aptos"/>
                <a:ea typeface="Aptos"/>
                <a:cs typeface="Aptos"/>
              </a:rPr>
              <a:t>Use OCR/HTR</a:t>
            </a:r>
          </a:p>
          <a:p>
            <a:pPr algn="ctr">
              <a:defRPr sz="1050" b="1">
                <a:solidFill>
                  <a:srgbClr val="173A43"/>
                </a:solidFill>
                <a:latin typeface="Aptos"/>
                <a:ea typeface="Aptos"/>
                <a:cs typeface="Aptos"/>
              </a:defRPr>
            </a:pPr>
            <a:r>
              <a:rPr sz="1050" b="1">
                <a:solidFill>
                  <a:srgbClr val="173A43"/>
                </a:solidFill>
                <a:latin typeface="Aptos"/>
                <a:ea typeface="Aptos"/>
                <a:cs typeface="Aptos"/>
              </a:rPr>
              <a:t>line hints</a:t>
            </a:r>
          </a:p>
        </p:txBody>
      </p:sp>
      <p:sp>
        <p:nvSpPr>
          <p:cNvPr id="14" name="flow-arrow-4">
            <a:extLst>
              <a:ext uri="{FF2B5EF4-FFF2-40B4-BE49-F238E27FC236}">
                <a16:creationId xmlns:a16="http://schemas.microsoft.com/office/drawing/2014/main" id="{F4D3F4AD-6C16-4009-8229-C5CC0A9BA1DC}"/>
              </a:ext>
            </a:extLst>
          </p:cNvPr>
          <p:cNvSpPr>
            <a:spLocks noGrp="1"/>
          </p:cNvSpPr>
          <p:nvPr/>
        </p:nvSpPr>
        <p:spPr>
          <a:xfrm>
            <a:off x="7562850" y="1609725"/>
            <a:ext cx="228600" cy="228600"/>
          </a:xfrm>
          <a:prstGeom prst="rect">
            <a:avLst/>
          </a:prstGeom>
          <a:noFill/>
          <a:ln w="0">
            <a:noFill/>
            <a:prstDash val="solid"/>
          </a:ln>
        </p:spPr>
        <p:txBody>
          <a:bodyPr/>
          <a:lstStyle/>
          <a:p>
            <a:pPr algn="ctr">
              <a:defRPr sz="1650" b="1">
                <a:solidFill>
                  <a:srgbClr val="F06445"/>
                </a:solidFill>
                <a:latin typeface="Aptos"/>
                <a:ea typeface="Aptos"/>
                <a:cs typeface="Aptos"/>
              </a:defRPr>
            </a:pPr>
            <a:r>
              <a:rPr sz="1650" b="1">
                <a:solidFill>
                  <a:srgbClr val="F06445"/>
                </a:solidFill>
                <a:latin typeface="Aptos"/>
                <a:ea typeface="Aptos"/>
                <a:cs typeface="Aptos"/>
              </a:rPr>
              <a:t>&gt;</a:t>
            </a:r>
          </a:p>
        </p:txBody>
      </p:sp>
      <p:sp>
        <p:nvSpPr>
          <p:cNvPr id="15" name="flow-5">
            <a:extLst>
              <a:ext uri="{FF2B5EF4-FFF2-40B4-BE49-F238E27FC236}">
                <a16:creationId xmlns:a16="http://schemas.microsoft.com/office/drawing/2014/main" id="{3BA88DA0-E63F-478C-9486-5C285847DF71}"/>
              </a:ext>
            </a:extLst>
          </p:cNvPr>
          <p:cNvSpPr>
            <a:spLocks noGrp="1"/>
          </p:cNvSpPr>
          <p:nvPr/>
        </p:nvSpPr>
        <p:spPr>
          <a:xfrm>
            <a:off x="7829550" y="1352550"/>
            <a:ext cx="1524000" cy="762000"/>
          </a:xfrm>
          <a:prstGeom prst="roundRect">
            <a:avLst>
              <a:gd name="adj" fmla="val 10000"/>
            </a:avLst>
          </a:prstGeom>
          <a:solidFill>
            <a:srgbClr val="FFFDF8"/>
          </a:solidFill>
          <a:ln w="9525">
            <a:solidFill>
              <a:srgbClr val="F06445"/>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Projection</a:t>
            </a:r>
          </a:p>
          <a:p>
            <a:pPr algn="ctr">
              <a:defRPr sz="1050" b="1">
                <a:solidFill>
                  <a:srgbClr val="173A43"/>
                </a:solidFill>
                <a:latin typeface="Aptos"/>
                <a:ea typeface="Aptos"/>
                <a:cs typeface="Aptos"/>
              </a:defRPr>
            </a:pPr>
            <a:r>
              <a:rPr sz="1050" b="1">
                <a:solidFill>
                  <a:srgbClr val="173A43"/>
                </a:solidFill>
                <a:latin typeface="Aptos"/>
                <a:ea typeface="Aptos"/>
                <a:cs typeface="Aptos"/>
              </a:rPr>
              <a:t>Map hint offsets;</a:t>
            </a:r>
          </a:p>
          <a:p>
            <a:pPr algn="ctr">
              <a:defRPr sz="1050" b="1">
                <a:solidFill>
                  <a:srgbClr val="173A43"/>
                </a:solidFill>
                <a:latin typeface="Aptos"/>
                <a:ea typeface="Aptos"/>
                <a:cs typeface="Aptos"/>
              </a:defRPr>
            </a:pPr>
            <a:r>
              <a:rPr sz="1050" b="1">
                <a:solidFill>
                  <a:srgbClr val="173A43"/>
                </a:solidFill>
                <a:latin typeface="Aptos"/>
                <a:ea typeface="Aptos"/>
                <a:cs typeface="Aptos"/>
              </a:rPr>
              <a:t>slice fixed text</a:t>
            </a:r>
          </a:p>
        </p:txBody>
      </p:sp>
      <p:sp>
        <p:nvSpPr>
          <p:cNvPr id="16" name="flow-arrow-5">
            <a:extLst>
              <a:ext uri="{FF2B5EF4-FFF2-40B4-BE49-F238E27FC236}">
                <a16:creationId xmlns:a16="http://schemas.microsoft.com/office/drawing/2014/main" id="{AAE5BE51-4BF5-4EFF-B9A7-13780D7B59EC}"/>
              </a:ext>
            </a:extLst>
          </p:cNvPr>
          <p:cNvSpPr>
            <a:spLocks noGrp="1"/>
          </p:cNvSpPr>
          <p:nvPr/>
        </p:nvSpPr>
        <p:spPr>
          <a:xfrm>
            <a:off x="9391650" y="1609725"/>
            <a:ext cx="228600" cy="228600"/>
          </a:xfrm>
          <a:prstGeom prst="rect">
            <a:avLst/>
          </a:prstGeom>
          <a:noFill/>
          <a:ln w="0">
            <a:noFill/>
            <a:prstDash val="solid"/>
          </a:ln>
        </p:spPr>
        <p:txBody>
          <a:bodyPr/>
          <a:lstStyle/>
          <a:p>
            <a:pPr algn="ctr">
              <a:defRPr sz="1650" b="1">
                <a:solidFill>
                  <a:srgbClr val="F06445"/>
                </a:solidFill>
                <a:latin typeface="Aptos"/>
                <a:ea typeface="Aptos"/>
                <a:cs typeface="Aptos"/>
              </a:defRPr>
            </a:pPr>
            <a:r>
              <a:rPr sz="1650" b="1">
                <a:solidFill>
                  <a:srgbClr val="F06445"/>
                </a:solidFill>
                <a:latin typeface="Aptos"/>
                <a:ea typeface="Aptos"/>
                <a:cs typeface="Aptos"/>
              </a:rPr>
              <a:t>&gt;</a:t>
            </a:r>
          </a:p>
        </p:txBody>
      </p:sp>
      <p:sp>
        <p:nvSpPr>
          <p:cNvPr id="17" name="flow-6">
            <a:extLst>
              <a:ext uri="{FF2B5EF4-FFF2-40B4-BE49-F238E27FC236}">
                <a16:creationId xmlns:a16="http://schemas.microsoft.com/office/drawing/2014/main" id="{DD3ED3FF-AC9C-4EAA-8400-AC6FFF4AE5F9}"/>
              </a:ext>
            </a:extLst>
          </p:cNvPr>
          <p:cNvSpPr>
            <a:spLocks noGrp="1"/>
          </p:cNvSpPr>
          <p:nvPr/>
        </p:nvSpPr>
        <p:spPr>
          <a:xfrm>
            <a:off x="9658350" y="1352550"/>
            <a:ext cx="1524000" cy="762000"/>
          </a:xfrm>
          <a:prstGeom prst="roundRect">
            <a:avLst>
              <a:gd name="adj" fmla="val 10000"/>
            </a:avLst>
          </a:prstGeom>
          <a:solidFill>
            <a:srgbClr val="DDF2EF"/>
          </a:solidFill>
          <a:ln w="9525">
            <a:solidFill>
              <a:srgbClr val="169C8E"/>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Final</a:t>
            </a:r>
          </a:p>
          <a:p>
            <a:pPr algn="ctr">
              <a:defRPr sz="1050" b="1">
                <a:solidFill>
                  <a:srgbClr val="173A43"/>
                </a:solidFill>
                <a:latin typeface="Aptos"/>
                <a:ea typeface="Aptos"/>
                <a:cs typeface="Aptos"/>
              </a:defRPr>
            </a:pPr>
            <a:r>
              <a:rPr sz="1050" b="1">
                <a:solidFill>
                  <a:srgbClr val="173A43"/>
                </a:solidFill>
                <a:latin typeface="Aptos"/>
                <a:ea typeface="Aptos"/>
                <a:cs typeface="Aptos"/>
              </a:rPr>
              <a:t>Newline-only</a:t>
            </a:r>
          </a:p>
          <a:p>
            <a:pPr algn="ctr">
              <a:defRPr sz="1050" b="1">
                <a:solidFill>
                  <a:srgbClr val="173A43"/>
                </a:solidFill>
                <a:latin typeface="Aptos"/>
                <a:ea typeface="Aptos"/>
                <a:cs typeface="Aptos"/>
              </a:defRPr>
            </a:pPr>
            <a:r>
              <a:rPr sz="1050" b="1">
                <a:solidFill>
                  <a:srgbClr val="173A43"/>
                </a:solidFill>
                <a:latin typeface="Aptos"/>
                <a:ea typeface="Aptos"/>
                <a:cs typeface="Aptos"/>
              </a:rPr>
              <a:t>output</a:t>
            </a:r>
          </a:p>
        </p:txBody>
      </p:sp>
      <p:sp>
        <p:nvSpPr>
          <p:cNvPr id="18" name="flow-caption">
            <a:extLst>
              <a:ext uri="{FF2B5EF4-FFF2-40B4-BE49-F238E27FC236}">
                <a16:creationId xmlns:a16="http://schemas.microsoft.com/office/drawing/2014/main" id="{4BEF2FEA-AC3A-481F-B3AE-0F748F7AD6B7}"/>
              </a:ext>
            </a:extLst>
          </p:cNvPr>
          <p:cNvSpPr>
            <a:spLocks noGrp="1"/>
          </p:cNvSpPr>
          <p:nvPr/>
        </p:nvSpPr>
        <p:spPr>
          <a:xfrm>
            <a:off x="762000" y="2266950"/>
            <a:ext cx="10668000" cy="304800"/>
          </a:xfrm>
          <a:prstGeom prst="rect">
            <a:avLst/>
          </a:prstGeom>
          <a:noFill/>
          <a:ln w="0">
            <a:noFill/>
            <a:prstDash val="solid"/>
          </a:ln>
        </p:spPr>
        <p:txBody>
          <a:bodyPr/>
          <a:lstStyle/>
          <a:p>
            <a:pPr algn="ctr">
              <a:defRPr sz="1050">
                <a:solidFill>
                  <a:srgbClr val="5E7174"/>
                </a:solidFill>
                <a:latin typeface="Aptos"/>
                <a:ea typeface="Aptos"/>
                <a:cs typeface="Aptos"/>
              </a:defRPr>
            </a:pPr>
            <a:r>
              <a:rPr sz="1050">
                <a:solidFill>
                  <a:srgbClr val="5E7174"/>
                </a:solidFill>
                <a:latin typeface="Aptos"/>
                <a:ea typeface="Aptos"/>
                <a:cs typeface="Aptos"/>
              </a:rPr>
              <a:t>Recovery is tried before fallback: the system prefers a usable model boundary plan, but falls back to deterministic line hints if no plan can be reconciled.</a:t>
            </a:r>
          </a:p>
        </p:txBody>
      </p:sp>
      <p:sp>
        <p:nvSpPr>
          <p:cNvPr id="19" name="example-panel">
            <a:extLst>
              <a:ext uri="{FF2B5EF4-FFF2-40B4-BE49-F238E27FC236}">
                <a16:creationId xmlns:a16="http://schemas.microsoft.com/office/drawing/2014/main" id="{8CDA238A-849A-41F9-9F24-AC9C4F7959B2}"/>
              </a:ext>
            </a:extLst>
          </p:cNvPr>
          <p:cNvSpPr>
            <a:spLocks noGrp="1"/>
          </p:cNvSpPr>
          <p:nvPr/>
        </p:nvSpPr>
        <p:spPr>
          <a:xfrm>
            <a:off x="704850" y="2781300"/>
            <a:ext cx="5095875" cy="2571750"/>
          </a:xfrm>
          <a:prstGeom prst="roundRect">
            <a:avLst>
              <a:gd name="adj" fmla="val 2963"/>
            </a:avLst>
          </a:prstGeom>
          <a:solidFill>
            <a:srgbClr val="FFFDF8"/>
          </a:solidFill>
          <a:ln w="9525">
            <a:solidFill>
              <a:srgbClr val="E5D9CA"/>
            </a:solidFill>
            <a:prstDash val="solid"/>
          </a:ln>
        </p:spPr>
        <p:txBody>
          <a:bodyPr/>
          <a:lstStyle/>
          <a:p>
            <a:endParaRPr/>
          </a:p>
        </p:txBody>
      </p:sp>
      <p:sp>
        <p:nvSpPr>
          <p:cNvPr id="20" name="example-title">
            <a:extLst>
              <a:ext uri="{FF2B5EF4-FFF2-40B4-BE49-F238E27FC236}">
                <a16:creationId xmlns:a16="http://schemas.microsoft.com/office/drawing/2014/main" id="{65D06BAE-1F99-4A42-95F9-41F61E1DE487}"/>
              </a:ext>
            </a:extLst>
          </p:cNvPr>
          <p:cNvSpPr>
            <a:spLocks noGrp="1"/>
          </p:cNvSpPr>
          <p:nvPr/>
        </p:nvSpPr>
        <p:spPr>
          <a:xfrm>
            <a:off x="952500" y="3009900"/>
            <a:ext cx="4381500" cy="228600"/>
          </a:xfrm>
          <a:prstGeom prst="rect">
            <a:avLst/>
          </a:prstGeom>
          <a:noFill/>
          <a:ln w="0">
            <a:noFill/>
            <a:prstDash val="solid"/>
          </a:ln>
        </p:spPr>
        <p:txBody>
          <a:bodyPr/>
          <a:lstStyle/>
          <a:p>
            <a:pPr>
              <a:defRPr sz="1350" b="1">
                <a:solidFill>
                  <a:srgbClr val="F06445"/>
                </a:solidFill>
                <a:latin typeface="Aptos"/>
                <a:ea typeface="Aptos"/>
                <a:cs typeface="Aptos"/>
              </a:defRPr>
            </a:pPr>
            <a:r>
              <a:rPr sz="1350" b="1">
                <a:solidFill>
                  <a:srgbClr val="F06445"/>
                </a:solidFill>
                <a:latin typeface="Aptos"/>
                <a:ea typeface="Aptos"/>
                <a:cs typeface="Aptos"/>
              </a:rPr>
              <a:t>Tiny recovery example</a:t>
            </a:r>
          </a:p>
        </p:txBody>
      </p:sp>
      <p:sp>
        <p:nvSpPr>
          <p:cNvPr id="21" name="example-labels">
            <a:extLst>
              <a:ext uri="{FF2B5EF4-FFF2-40B4-BE49-F238E27FC236}">
                <a16:creationId xmlns:a16="http://schemas.microsoft.com/office/drawing/2014/main" id="{ED31E45F-8749-4FAC-A501-6C1639402FCD}"/>
              </a:ext>
            </a:extLst>
          </p:cNvPr>
          <p:cNvSpPr>
            <a:spLocks noGrp="1"/>
          </p:cNvSpPr>
          <p:nvPr/>
        </p:nvSpPr>
        <p:spPr>
          <a:xfrm>
            <a:off x="952500" y="3409950"/>
            <a:ext cx="1524000" cy="1428750"/>
          </a:xfrm>
          <a:prstGeom prst="rect">
            <a:avLst/>
          </a:prstGeom>
          <a:noFill/>
          <a:ln w="0">
            <a:noFill/>
            <a:prstDash val="solid"/>
          </a:ln>
        </p:spPr>
        <p:txBody>
          <a:bodyPr/>
          <a:lstStyle/>
          <a:p>
            <a:pPr>
              <a:defRPr sz="1050" b="1">
                <a:solidFill>
                  <a:srgbClr val="5E7174"/>
                </a:solidFill>
                <a:latin typeface="Aptos"/>
                <a:ea typeface="Aptos"/>
                <a:cs typeface="Aptos"/>
              </a:defRPr>
            </a:pPr>
            <a:r>
              <a:rPr sz="1050" b="1">
                <a:solidFill>
                  <a:srgbClr val="5E7174"/>
                </a:solidFill>
                <a:latin typeface="Aptos"/>
                <a:ea typeface="Aptos"/>
                <a:cs typeface="Aptos"/>
              </a:rPr>
              <a:t>Fixed transcription:</a:t>
            </a:r>
          </a:p>
          <a:p>
            <a:pPr>
              <a:defRPr sz="1050" b="1">
                <a:solidFill>
                  <a:srgbClr val="5E7174"/>
                </a:solidFill>
                <a:latin typeface="Aptos"/>
                <a:ea typeface="Aptos"/>
                <a:cs typeface="Aptos"/>
              </a:defRPr>
            </a:pPr>
            <a:r>
              <a:rPr sz="1050" b="1">
                <a:solidFill>
                  <a:srgbClr val="5E7174"/>
                </a:solidFill>
                <a:latin typeface="Aptos"/>
                <a:ea typeface="Aptos"/>
                <a:cs typeface="Aptos"/>
              </a:rPr>
              <a:t>Expected lines:</a:t>
            </a:r>
          </a:p>
          <a:p>
            <a:pPr>
              <a:defRPr sz="1050" b="1">
                <a:solidFill>
                  <a:srgbClr val="5E7174"/>
                </a:solidFill>
                <a:latin typeface="Aptos"/>
                <a:ea typeface="Aptos"/>
                <a:cs typeface="Aptos"/>
              </a:defRPr>
            </a:pPr>
            <a:r>
              <a:rPr sz="1050" b="1">
                <a:solidFill>
                  <a:srgbClr val="5E7174"/>
                </a:solidFill>
                <a:latin typeface="Aptos"/>
                <a:ea typeface="Aptos"/>
                <a:cs typeface="Aptos"/>
              </a:rPr>
              <a:t>Loose model plan:</a:t>
            </a:r>
          </a:p>
          <a:p>
            <a:pPr>
              <a:defRPr sz="1050" b="1">
                <a:solidFill>
                  <a:srgbClr val="5E7174"/>
                </a:solidFill>
                <a:latin typeface="Aptos"/>
                <a:ea typeface="Aptos"/>
                <a:cs typeface="Aptos"/>
              </a:defRPr>
            </a:pPr>
            <a:r>
              <a:rPr sz="1050" b="1">
                <a:solidFill>
                  <a:srgbClr val="5E7174"/>
                </a:solidFill>
                <a:latin typeface="Aptos"/>
                <a:ea typeface="Aptos"/>
                <a:cs typeface="Aptos"/>
              </a:rPr>
              <a:t>OCR/HTR hint:</a:t>
            </a:r>
          </a:p>
          <a:p>
            <a:pPr>
              <a:defRPr sz="1050" b="1">
                <a:solidFill>
                  <a:srgbClr val="5E7174"/>
                </a:solidFill>
                <a:latin typeface="Aptos"/>
                <a:ea typeface="Aptos"/>
                <a:cs typeface="Aptos"/>
              </a:defRPr>
            </a:pPr>
            <a:r>
              <a:rPr sz="1050" b="1">
                <a:solidFill>
                  <a:srgbClr val="5E7174"/>
                </a:solidFill>
                <a:latin typeface="Aptos"/>
                <a:ea typeface="Aptos"/>
                <a:cs typeface="Aptos"/>
              </a:rPr>
              <a:t>Recovered hints:</a:t>
            </a:r>
          </a:p>
          <a:p>
            <a:pPr>
              <a:defRPr sz="1050" b="1">
                <a:solidFill>
                  <a:srgbClr val="5E7174"/>
                </a:solidFill>
                <a:latin typeface="Aptos"/>
                <a:ea typeface="Aptos"/>
                <a:cs typeface="Aptos"/>
              </a:defRPr>
            </a:pPr>
            <a:r>
              <a:rPr sz="1050" b="1">
                <a:solidFill>
                  <a:srgbClr val="5E7174"/>
                </a:solidFill>
                <a:latin typeface="Aptos"/>
                <a:ea typeface="Aptos"/>
                <a:cs typeface="Aptos"/>
              </a:rPr>
              <a:t>Projected final:</a:t>
            </a:r>
          </a:p>
        </p:txBody>
      </p:sp>
      <p:sp>
        <p:nvSpPr>
          <p:cNvPr id="22" name="example-values">
            <a:extLst>
              <a:ext uri="{FF2B5EF4-FFF2-40B4-BE49-F238E27FC236}">
                <a16:creationId xmlns:a16="http://schemas.microsoft.com/office/drawing/2014/main" id="{BBF071FF-ADB6-4E71-B8A5-ECA275B3756F}"/>
              </a:ext>
            </a:extLst>
          </p:cNvPr>
          <p:cNvSpPr>
            <a:spLocks noGrp="1"/>
          </p:cNvSpPr>
          <p:nvPr/>
        </p:nvSpPr>
        <p:spPr>
          <a:xfrm>
            <a:off x="2495550" y="3409950"/>
            <a:ext cx="2952750" cy="1619250"/>
          </a:xfrm>
          <a:prstGeom prst="rect">
            <a:avLst/>
          </a:prstGeom>
          <a:noFill/>
          <a:ln w="0">
            <a:noFill/>
            <a:prstDash val="solid"/>
          </a:ln>
        </p:spPr>
        <p:txBody>
          <a:bodyPr/>
          <a:lstStyle/>
          <a:p>
            <a:pPr>
              <a:defRPr sz="1050">
                <a:solidFill>
                  <a:srgbClr val="173A43"/>
                </a:solidFill>
                <a:latin typeface="Aptos"/>
                <a:ea typeface="Aptos"/>
                <a:cs typeface="Aptos"/>
              </a:defRPr>
            </a:pPr>
            <a:r>
              <a:rPr sz="1050">
                <a:solidFill>
                  <a:srgbClr val="173A43"/>
                </a:solidFill>
                <a:latin typeface="Aptos"/>
                <a:ea typeface="Aptos"/>
                <a:cs typeface="Aptos"/>
              </a:rPr>
              <a:t>abcdefgh</a:t>
            </a:r>
          </a:p>
          <a:p>
            <a:pPr>
              <a:defRPr sz="1050">
                <a:solidFill>
                  <a:srgbClr val="173A43"/>
                </a:solidFill>
                <a:latin typeface="Aptos"/>
                <a:ea typeface="Aptos"/>
                <a:cs typeface="Aptos"/>
              </a:defRPr>
            </a:pPr>
            <a:r>
              <a:rPr sz="1050">
                <a:solidFill>
                  <a:srgbClr val="173A43"/>
                </a:solidFill>
                <a:latin typeface="Aptos"/>
                <a:ea typeface="Aptos"/>
                <a:cs typeface="Aptos"/>
              </a:rPr>
              <a:t>4</a:t>
            </a:r>
          </a:p>
          <a:p>
            <a:pPr>
              <a:defRPr sz="1050">
                <a:solidFill>
                  <a:srgbClr val="173A43"/>
                </a:solidFill>
                <a:latin typeface="Aptos"/>
                <a:ea typeface="Aptos"/>
                <a:cs typeface="Aptos"/>
              </a:defRPr>
            </a:pPr>
            <a:r>
              <a:rPr sz="1050">
                <a:solidFill>
                  <a:srgbClr val="173A43"/>
                </a:solidFill>
                <a:latin typeface="Aptos"/>
                <a:ea typeface="Aptos"/>
                <a:cs typeface="Aptos"/>
              </a:rPr>
              <a:t>ab | cdef | gh    (wrong count)</a:t>
            </a:r>
          </a:p>
          <a:p>
            <a:pPr>
              <a:defRPr sz="1050">
                <a:solidFill>
                  <a:srgbClr val="173A43"/>
                </a:solidFill>
                <a:latin typeface="Aptos"/>
                <a:ea typeface="Aptos"/>
                <a:cs typeface="Aptos"/>
              </a:defRPr>
            </a:pPr>
            <a:r>
              <a:rPr sz="1050">
                <a:solidFill>
                  <a:srgbClr val="173A43"/>
                </a:solidFill>
                <a:latin typeface="Aptos"/>
                <a:ea typeface="Aptos"/>
                <a:cs typeface="Aptos"/>
              </a:rPr>
              <a:t>ab | cd | ef | gh</a:t>
            </a:r>
          </a:p>
          <a:p>
            <a:pPr>
              <a:defRPr sz="1050">
                <a:solidFill>
                  <a:srgbClr val="173A43"/>
                </a:solidFill>
                <a:latin typeface="Aptos"/>
                <a:ea typeface="Aptos"/>
                <a:cs typeface="Aptos"/>
              </a:defRPr>
            </a:pPr>
            <a:r>
              <a:rPr sz="1050">
                <a:solidFill>
                  <a:srgbClr val="173A43"/>
                </a:solidFill>
                <a:latin typeface="Aptos"/>
                <a:ea typeface="Aptos"/>
                <a:cs typeface="Aptos"/>
              </a:rPr>
              <a:t>ab | cd | ef | gh</a:t>
            </a:r>
          </a:p>
          <a:p>
            <a:pPr>
              <a:defRPr sz="1050">
                <a:solidFill>
                  <a:srgbClr val="173A43"/>
                </a:solidFill>
                <a:latin typeface="Aptos"/>
                <a:ea typeface="Aptos"/>
                <a:cs typeface="Aptos"/>
              </a:defRPr>
            </a:pPr>
            <a:r>
              <a:rPr sz="1050">
                <a:solidFill>
                  <a:srgbClr val="173A43"/>
                </a:solidFill>
                <a:latin typeface="Aptos"/>
                <a:ea typeface="Aptos"/>
                <a:cs typeface="Aptos"/>
              </a:rPr>
              <a:t>ab | cd | ef | gh</a:t>
            </a:r>
          </a:p>
        </p:txBody>
      </p:sp>
      <p:sp>
        <p:nvSpPr>
          <p:cNvPr id="23" name="example-takeaway">
            <a:extLst>
              <a:ext uri="{FF2B5EF4-FFF2-40B4-BE49-F238E27FC236}">
                <a16:creationId xmlns:a16="http://schemas.microsoft.com/office/drawing/2014/main" id="{EB1542B6-89ED-41BD-BE4A-1983D6D60894}"/>
              </a:ext>
            </a:extLst>
          </p:cNvPr>
          <p:cNvSpPr>
            <a:spLocks noGrp="1"/>
          </p:cNvSpPr>
          <p:nvPr/>
        </p:nvSpPr>
        <p:spPr>
          <a:xfrm>
            <a:off x="990600" y="4895850"/>
            <a:ext cx="4286250" cy="361950"/>
          </a:xfrm>
          <a:prstGeom prst="roundRect">
            <a:avLst>
              <a:gd name="adj" fmla="val 21053"/>
            </a:avLst>
          </a:prstGeom>
          <a:solidFill>
            <a:srgbClr val="FBE4DC"/>
          </a:solidFill>
          <a:ln w="9525">
            <a:solidFill>
              <a:srgbClr val="F06445"/>
            </a:solidFill>
            <a:prstDash val="solid"/>
          </a:ln>
        </p:spPr>
        <p:txBody>
          <a:bodyPr/>
          <a:lstStyle/>
          <a:p>
            <a:pPr algn="ctr">
              <a:defRPr sz="900" b="1">
                <a:solidFill>
                  <a:srgbClr val="173A43"/>
                </a:solidFill>
                <a:latin typeface="Aptos"/>
                <a:ea typeface="Aptos"/>
                <a:cs typeface="Aptos"/>
              </a:defRPr>
            </a:pPr>
            <a:r>
              <a:rPr sz="900" b="1" dirty="0">
                <a:solidFill>
                  <a:srgbClr val="173A43"/>
                </a:solidFill>
                <a:latin typeface="Aptos"/>
                <a:ea typeface="Aptos"/>
                <a:cs typeface="Aptos"/>
              </a:rPr>
              <a:t>The recovered text is not copied as final content</a:t>
            </a:r>
            <a:r>
              <a:rPr lang="de-CH" sz="900" b="1" dirty="0">
                <a:solidFill>
                  <a:srgbClr val="173A43"/>
                </a:solidFill>
                <a:latin typeface="Aptos"/>
                <a:ea typeface="Aptos"/>
                <a:cs typeface="Aptos"/>
              </a:rPr>
              <a:t>. I</a:t>
            </a:r>
            <a:r>
              <a:rPr sz="900" b="1" dirty="0">
                <a:solidFill>
                  <a:srgbClr val="173A43"/>
                </a:solidFill>
                <a:latin typeface="Aptos"/>
                <a:ea typeface="Aptos"/>
                <a:cs typeface="Aptos"/>
              </a:rPr>
              <a:t>t supplies boundary positions.</a:t>
            </a:r>
          </a:p>
        </p:txBody>
      </p:sp>
      <p:sp>
        <p:nvSpPr>
          <p:cNvPr id="24" name="qa-panel">
            <a:extLst>
              <a:ext uri="{FF2B5EF4-FFF2-40B4-BE49-F238E27FC236}">
                <a16:creationId xmlns:a16="http://schemas.microsoft.com/office/drawing/2014/main" id="{34667E07-C35F-48D8-8267-9DF1A500A0B2}"/>
              </a:ext>
            </a:extLst>
          </p:cNvPr>
          <p:cNvSpPr>
            <a:spLocks noGrp="1"/>
          </p:cNvSpPr>
          <p:nvPr/>
        </p:nvSpPr>
        <p:spPr>
          <a:xfrm>
            <a:off x="6191250" y="2781300"/>
            <a:ext cx="5295900" cy="2571750"/>
          </a:xfrm>
          <a:prstGeom prst="roundRect">
            <a:avLst>
              <a:gd name="adj" fmla="val 2963"/>
            </a:avLst>
          </a:prstGeom>
          <a:solidFill>
            <a:srgbClr val="FFFDF8"/>
          </a:solidFill>
          <a:ln w="9525">
            <a:solidFill>
              <a:srgbClr val="E5D9CA"/>
            </a:solidFill>
            <a:prstDash val="solid"/>
          </a:ln>
        </p:spPr>
        <p:txBody>
          <a:bodyPr/>
          <a:lstStyle/>
          <a:p>
            <a:endParaRPr/>
          </a:p>
        </p:txBody>
      </p:sp>
      <p:sp>
        <p:nvSpPr>
          <p:cNvPr id="25" name="qa-title">
            <a:extLst>
              <a:ext uri="{FF2B5EF4-FFF2-40B4-BE49-F238E27FC236}">
                <a16:creationId xmlns:a16="http://schemas.microsoft.com/office/drawing/2014/main" id="{CB2303A7-BFAF-4EAE-BF87-1E8FCAB3AE8E}"/>
              </a:ext>
            </a:extLst>
          </p:cNvPr>
          <p:cNvSpPr>
            <a:spLocks noGrp="1"/>
          </p:cNvSpPr>
          <p:nvPr/>
        </p:nvSpPr>
        <p:spPr>
          <a:xfrm>
            <a:off x="6496050" y="3009900"/>
            <a:ext cx="4476750" cy="228600"/>
          </a:xfrm>
          <a:prstGeom prst="rect">
            <a:avLst/>
          </a:prstGeom>
          <a:noFill/>
          <a:ln w="0">
            <a:noFill/>
            <a:prstDash val="solid"/>
          </a:ln>
        </p:spPr>
        <p:txBody>
          <a:bodyPr/>
          <a:lstStyle/>
          <a:p>
            <a:pPr>
              <a:defRPr sz="1350" b="1">
                <a:solidFill>
                  <a:srgbClr val="173A43"/>
                </a:solidFill>
                <a:latin typeface="Aptos"/>
                <a:ea typeface="Aptos"/>
                <a:cs typeface="Aptos"/>
              </a:defRPr>
            </a:pPr>
            <a:r>
              <a:rPr lang="de-CH" sz="1350" b="1" dirty="0" err="1">
                <a:solidFill>
                  <a:srgbClr val="173A43"/>
                </a:solidFill>
                <a:latin typeface="Aptos"/>
                <a:ea typeface="Aptos"/>
                <a:cs typeface="Aptos"/>
              </a:rPr>
              <a:t>Definitions</a:t>
            </a:r>
            <a:endParaRPr sz="1350" b="1" dirty="0">
              <a:solidFill>
                <a:srgbClr val="173A43"/>
              </a:solidFill>
              <a:latin typeface="Aptos"/>
              <a:ea typeface="Aptos"/>
              <a:cs typeface="Aptos"/>
            </a:endParaRPr>
          </a:p>
        </p:txBody>
      </p:sp>
      <p:sp>
        <p:nvSpPr>
          <p:cNvPr id="26" name="qa-bullets">
            <a:extLst>
              <a:ext uri="{FF2B5EF4-FFF2-40B4-BE49-F238E27FC236}">
                <a16:creationId xmlns:a16="http://schemas.microsoft.com/office/drawing/2014/main" id="{FE79792E-BED2-4153-A92E-65519F9983C4}"/>
              </a:ext>
            </a:extLst>
          </p:cNvPr>
          <p:cNvSpPr>
            <a:spLocks noGrp="1"/>
          </p:cNvSpPr>
          <p:nvPr/>
        </p:nvSpPr>
        <p:spPr>
          <a:xfrm>
            <a:off x="6496050" y="3409950"/>
            <a:ext cx="4524375" cy="1381125"/>
          </a:xfrm>
          <a:prstGeom prst="rect">
            <a:avLst/>
          </a:prstGeom>
          <a:noFill/>
          <a:ln w="0">
            <a:noFill/>
            <a:prstDash val="solid"/>
          </a:ln>
        </p:spPr>
        <p:txBody>
          <a:bodyPr/>
          <a:lstStyle/>
          <a:p>
            <a:pPr>
              <a:defRPr sz="1125">
                <a:solidFill>
                  <a:srgbClr val="173A43"/>
                </a:solidFill>
                <a:latin typeface="Aptos"/>
                <a:ea typeface="Aptos"/>
                <a:cs typeface="Aptos"/>
              </a:defRPr>
            </a:pPr>
            <a:r>
              <a:rPr sz="1125" dirty="0">
                <a:solidFill>
                  <a:srgbClr val="173A43"/>
                </a:solidFill>
                <a:latin typeface="Aptos"/>
                <a:ea typeface="Aptos"/>
                <a:cs typeface="Aptos"/>
              </a:rPr>
              <a:t>- Repair: ask once for valid JSON and count.</a:t>
            </a:r>
          </a:p>
          <a:p>
            <a:pPr>
              <a:defRPr sz="1125">
                <a:solidFill>
                  <a:srgbClr val="173A43"/>
                </a:solidFill>
                <a:latin typeface="Aptos"/>
                <a:ea typeface="Aptos"/>
                <a:cs typeface="Aptos"/>
              </a:defRPr>
            </a:pPr>
            <a:r>
              <a:rPr sz="1125" dirty="0">
                <a:solidFill>
                  <a:srgbClr val="173A43"/>
                </a:solidFill>
                <a:latin typeface="Aptos"/>
                <a:ea typeface="Aptos"/>
                <a:cs typeface="Aptos"/>
              </a:rPr>
              <a:t>- Recovery: reconcile loose model lines with expected count and OCR/HTR hints.</a:t>
            </a:r>
          </a:p>
          <a:p>
            <a:pPr>
              <a:defRPr sz="1125">
                <a:solidFill>
                  <a:srgbClr val="173A43"/>
                </a:solidFill>
                <a:latin typeface="Aptos"/>
                <a:ea typeface="Aptos"/>
                <a:cs typeface="Aptos"/>
              </a:defRPr>
            </a:pPr>
            <a:r>
              <a:rPr sz="1125" dirty="0">
                <a:solidFill>
                  <a:srgbClr val="173A43"/>
                </a:solidFill>
                <a:latin typeface="Aptos"/>
                <a:ea typeface="Aptos"/>
                <a:cs typeface="Aptos"/>
              </a:rPr>
              <a:t>- Fallback: use OCR/HTR line texts as boundary hints when model hints fail.</a:t>
            </a:r>
          </a:p>
          <a:p>
            <a:pPr>
              <a:defRPr sz="1125">
                <a:solidFill>
                  <a:srgbClr val="173A43"/>
                </a:solidFill>
                <a:latin typeface="Aptos"/>
                <a:ea typeface="Aptos"/>
                <a:cs typeface="Aptos"/>
              </a:defRPr>
            </a:pPr>
            <a:r>
              <a:rPr sz="1125" dirty="0">
                <a:solidFill>
                  <a:srgbClr val="173A43"/>
                </a:solidFill>
                <a:latin typeface="Aptos"/>
                <a:ea typeface="Aptos"/>
                <a:cs typeface="Aptos"/>
              </a:rPr>
              <a:t>- Projection: map hint offsets, then slice fixed text.</a:t>
            </a:r>
          </a:p>
        </p:txBody>
      </p:sp>
      <p:sp>
        <p:nvSpPr>
          <p:cNvPr id="27" name="not-recognition-pill">
            <a:extLst>
              <a:ext uri="{FF2B5EF4-FFF2-40B4-BE49-F238E27FC236}">
                <a16:creationId xmlns:a16="http://schemas.microsoft.com/office/drawing/2014/main" id="{55F56AE8-D5D2-40A9-AA2B-2B8A5900FB15}"/>
              </a:ext>
            </a:extLst>
          </p:cNvPr>
          <p:cNvSpPr>
            <a:spLocks noGrp="1"/>
          </p:cNvSpPr>
          <p:nvPr/>
        </p:nvSpPr>
        <p:spPr>
          <a:xfrm>
            <a:off x="6724650" y="4972050"/>
            <a:ext cx="3905250" cy="342900"/>
          </a:xfrm>
          <a:prstGeom prst="roundRect">
            <a:avLst>
              <a:gd name="adj" fmla="val 22222"/>
            </a:avLst>
          </a:prstGeom>
          <a:solidFill>
            <a:srgbClr val="DDF2EF"/>
          </a:solidFill>
          <a:ln w="9525">
            <a:solidFill>
              <a:srgbClr val="169C8E"/>
            </a:solidFill>
            <a:prstDash val="solid"/>
          </a:ln>
        </p:spPr>
        <p:txBody>
          <a:bodyPr/>
          <a:lstStyle/>
          <a:p>
            <a:pPr algn="ctr">
              <a:defRPr sz="1050" b="1">
                <a:solidFill>
                  <a:srgbClr val="173A43"/>
                </a:solidFill>
                <a:latin typeface="Aptos"/>
                <a:ea typeface="Aptos"/>
                <a:cs typeface="Aptos"/>
              </a:defRPr>
            </a:pPr>
            <a:r>
              <a:rPr sz="1050" b="1">
                <a:solidFill>
                  <a:srgbClr val="173A43"/>
                </a:solidFill>
                <a:latin typeface="Aptos"/>
                <a:ea typeface="Aptos"/>
                <a:cs typeface="Aptos"/>
              </a:rPr>
              <a:t>Not OCR/HTR replacement; boundary projection only.</a:t>
            </a:r>
          </a:p>
        </p:txBody>
      </p:sp>
      <p:sp>
        <p:nvSpPr>
          <p:cNvPr id="28" name="source-note">
            <a:extLst>
              <a:ext uri="{FF2B5EF4-FFF2-40B4-BE49-F238E27FC236}">
                <a16:creationId xmlns:a16="http://schemas.microsoft.com/office/drawing/2014/main" id="{3B70115E-E69C-4A7F-B7DD-F23FF7D318AC}"/>
              </a:ext>
            </a:extLst>
          </p:cNvPr>
          <p:cNvSpPr>
            <a:spLocks noGrp="1"/>
          </p:cNvSpPr>
          <p:nvPr/>
        </p:nvSpPr>
        <p:spPr>
          <a:xfrm>
            <a:off x="2952750" y="6096000"/>
            <a:ext cx="6286500" cy="228600"/>
          </a:xfrm>
          <a:prstGeom prst="rect">
            <a:avLst/>
          </a:prstGeom>
          <a:noFill/>
          <a:ln w="0">
            <a:noFill/>
            <a:prstDash val="solid"/>
          </a:ln>
        </p:spPr>
        <p:txBody>
          <a:bodyPr/>
          <a:lstStyle/>
          <a:p>
            <a:pPr algn="ctr">
              <a:defRPr sz="825">
                <a:solidFill>
                  <a:srgbClr val="5E7174"/>
                </a:solidFill>
                <a:latin typeface="Aptos"/>
                <a:ea typeface="Aptos"/>
                <a:cs typeface="Aptos"/>
              </a:defRPr>
            </a:pPr>
            <a:r>
              <a:rPr sz="825">
                <a:solidFill>
                  <a:srgbClr val="5E7174"/>
                </a:solidFill>
                <a:latin typeface="Aptos"/>
                <a:ea typeface="Aptos"/>
                <a:cs typeface="Aptos"/>
              </a:rPr>
              <a:t>Source: M5 inference code and regression tests; mechanism shown as implemented behavior, not a metric claim.</a:t>
            </a:r>
          </a:p>
        </p:txBody>
      </p:sp>
      <p:sp>
        <p:nvSpPr>
          <p:cNvPr id="29" name="footer-left">
            <a:extLst>
              <a:ext uri="{FF2B5EF4-FFF2-40B4-BE49-F238E27FC236}">
                <a16:creationId xmlns:a16="http://schemas.microsoft.com/office/drawing/2014/main" id="{67DFB179-FAB3-4246-A14E-07CCD46CEFC9}"/>
              </a:ext>
            </a:extLst>
          </p:cNvPr>
          <p:cNvSpPr>
            <a:spLocks noGrp="1"/>
          </p:cNvSpPr>
          <p:nvPr/>
        </p:nvSpPr>
        <p:spPr>
          <a:xfrm>
            <a:off x="342900" y="6572250"/>
            <a:ext cx="2381250" cy="133350"/>
          </a:xfrm>
          <a:prstGeom prst="rect">
            <a:avLst/>
          </a:prstGeom>
          <a:noFill/>
          <a:ln w="0">
            <a:noFill/>
            <a:prstDash val="solid"/>
          </a:ln>
        </p:spPr>
        <p:txBody>
          <a:bodyPr/>
          <a:lstStyle/>
          <a:p>
            <a:pPr>
              <a:defRPr sz="450">
                <a:solidFill>
                  <a:srgbClr val="5E7174"/>
                </a:solidFill>
                <a:latin typeface="Aptos"/>
                <a:ea typeface="Aptos"/>
                <a:cs typeface="Aptos"/>
              </a:defRPr>
            </a:pPr>
            <a:r>
              <a:rPr sz="450">
                <a:solidFill>
                  <a:srgbClr val="5E7174"/>
                </a:solidFill>
                <a:latin typeface="Aptos"/>
                <a:ea typeface="Aptos"/>
                <a:cs typeface="Aptos"/>
              </a:rPr>
              <a:t>Dennis Berger | University of Fribourg</a:t>
            </a:r>
          </a:p>
        </p:txBody>
      </p:sp>
      <p:sp>
        <p:nvSpPr>
          <p:cNvPr id="30" name="footer-right">
            <a:extLst>
              <a:ext uri="{FF2B5EF4-FFF2-40B4-BE49-F238E27FC236}">
                <a16:creationId xmlns:a16="http://schemas.microsoft.com/office/drawing/2014/main" id="{18D7F2E0-9592-48EA-A7DF-8A23BF3DE273}"/>
              </a:ext>
            </a:extLst>
          </p:cNvPr>
          <p:cNvSpPr>
            <a:spLocks noGrp="1"/>
          </p:cNvSpPr>
          <p:nvPr/>
        </p:nvSpPr>
        <p:spPr>
          <a:xfrm>
            <a:off x="11334750" y="6572250"/>
            <a:ext cx="514350" cy="133350"/>
          </a:xfrm>
          <a:prstGeom prst="rect">
            <a:avLst/>
          </a:prstGeom>
          <a:noFill/>
          <a:ln w="0">
            <a:noFill/>
            <a:prstDash val="solid"/>
          </a:ln>
        </p:spPr>
        <p:txBody>
          <a:bodyPr/>
          <a:lstStyle/>
          <a:p>
            <a:pPr algn="r">
              <a:defRPr sz="525">
                <a:solidFill>
                  <a:srgbClr val="5E7174"/>
                </a:solidFill>
                <a:latin typeface="Aptos"/>
                <a:ea typeface="Aptos"/>
                <a:cs typeface="Aptos"/>
              </a:defRPr>
            </a:pPr>
            <a:r>
              <a:rPr sz="525">
                <a:solidFill>
                  <a:srgbClr val="5E7174"/>
                </a:solidFill>
                <a:latin typeface="Aptos"/>
                <a:ea typeface="Aptos"/>
                <a:cs typeface="Aptos"/>
              </a:rPr>
              <a:t>35 / 35</a:t>
            </a:r>
          </a:p>
        </p:txBody>
      </p:sp>
    </p:spTree>
    <p:extLst>
      <p:ext uri="{BB962C8B-B14F-4D97-AF65-F5344CB8AC3E}">
        <p14:creationId xmlns:p14="http://schemas.microsoft.com/office/powerpoint/2010/main" val="19400831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13538</Words>
  <Application>Microsoft Macintosh PowerPoint</Application>
  <DocSecurity>0</DocSecurity>
  <PresentationFormat>Widescreen</PresentationFormat>
  <Paragraphs>1540</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BERGER Dennis</cp:lastModifiedBy>
  <cp:revision>5</cp:revision>
  <dcterms:created xsi:type="dcterms:W3CDTF">2026-06-15T11:57:40Z</dcterms:created>
  <dcterms:modified xsi:type="dcterms:W3CDTF">2026-06-16T06:18:53Z</dcterms:modified>
</cp:coreProperties>
</file>